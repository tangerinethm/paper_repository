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11"/>
  </p:notesMasterIdLst>
  <p:sldIdLst>
    <p:sldId id="410" r:id="rId4"/>
    <p:sldId id="412" r:id="rId5"/>
    <p:sldId id="413" r:id="rId6"/>
    <p:sldId id="414" r:id="rId7"/>
    <p:sldId id="416" r:id="rId8"/>
    <p:sldId id="415" r:id="rId9"/>
    <p:sldId id="417" r:id="rId10"/>
    <p:sldId id="418" r:id="rId12"/>
    <p:sldId id="421" r:id="rId13"/>
    <p:sldId id="420" r:id="rId14"/>
    <p:sldId id="422" r:id="rId15"/>
    <p:sldId id="423" r:id="rId16"/>
    <p:sldId id="419" r:id="rId17"/>
    <p:sldId id="425" r:id="rId18"/>
    <p:sldId id="426"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notesMaster" Target="notesMasters/notesMaster1.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1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为了确保不发生部分信息泄漏，我们进一步应用隐私放大技术。</a:t>
            </a:r>
            <a:endParaRPr lang="zh-CN" altLang="en-US"/>
          </a:p>
          <a:p>
            <a:r>
              <a:rPr lang="zh-CN" altLang="en-US">
                <a:sym typeface="+mn-ea"/>
              </a:rPr>
              <a:t>隐私放大中的异或函数如何有助于增强最终密钥的随机性</a:t>
            </a:r>
            <a:endParaRPr lang="zh-CN" altLang="en-US"/>
          </a:p>
          <a:p>
            <a:r>
              <a:rPr lang="zh-CN" altLang="en-US">
                <a:sym typeface="+mn-ea"/>
              </a:rPr>
              <a:t>如图所示，我们可以看到，经过异或运算后熵的分布更接近于1，</a:t>
            </a:r>
            <a:endParaRPr lang="zh-CN" altLang="en-US"/>
          </a:p>
          <a:p>
            <a:r>
              <a:rPr lang="zh-CN" altLang="en-US">
                <a:sym typeface="+mn-ea"/>
              </a:rPr>
              <a:t>我们还注意到，最终密钥的熵值在0.94到1之间变化，这表明该方法能够以良好的熵值提取密钥。</a:t>
            </a:r>
            <a:endParaRPr lang="zh-CN" altLang="en-US"/>
          </a:p>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524000" y="3602038"/>
            <a:ext cx="9144000" cy="1655762"/>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955"/>
            <a:ext cx="109728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609600" y="1600200"/>
            <a:ext cx="10972800" cy="4526280"/>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8"/>
            <a:ext cx="10515600" cy="2852737"/>
          </a:xfrm>
          <a:prstGeom prst="rect">
            <a:avLst/>
          </a:prstGeo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31851" y="4589463"/>
            <a:ext cx="10515600" cy="1500187"/>
          </a:xfrm>
          <a:prstGeom prst="rect">
            <a:avLst/>
          </a:prstGeo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955"/>
            <a:ext cx="109728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838200" y="1825625"/>
            <a:ext cx="5181600" cy="4351338"/>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72200" y="1825625"/>
            <a:ext cx="5181600" cy="4351338"/>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1186775" y="1778438"/>
            <a:ext cx="4873575" cy="823912"/>
          </a:xfrm>
          <a:prstGeom prst="rect">
            <a:avLst/>
          </a:prstGeo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1186775" y="2665379"/>
            <a:ext cx="4873575" cy="3524284"/>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256939" y="1778438"/>
            <a:ext cx="4897576" cy="823912"/>
          </a:xfrm>
          <a:prstGeom prst="rect">
            <a:avLst/>
          </a:prstGeo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256939" y="2665379"/>
            <a:ext cx="4897576" cy="3524284"/>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955"/>
            <a:ext cx="109728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5183188" y="987425"/>
            <a:ext cx="6172200" cy="4873625"/>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a:prstGeom prst="rect">
            <a:avLst/>
          </a:prstGeo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5183188" y="457201"/>
            <a:ext cx="6172200" cy="5403850"/>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839788" y="2057400"/>
            <a:ext cx="4165349" cy="3811588"/>
          </a:xfrm>
          <a:prstGeom prst="rect">
            <a:avLst/>
          </a:prstGeo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955"/>
            <a:ext cx="109728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1600200"/>
            <a:ext cx="10972800" cy="4526280"/>
          </a:xfrm>
          <a:prstGeom prst="rect">
            <a:avLst/>
          </a:prstGeo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838200" y="365125"/>
            <a:ext cx="7734300" cy="5811838"/>
          </a:xfrm>
          <a:prstGeom prst="rect">
            <a:avLst/>
          </a:prstGeo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524000" y="3602038"/>
            <a:ext cx="9144000" cy="1655762"/>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955"/>
            <a:ext cx="109728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609600" y="1600200"/>
            <a:ext cx="10972800" cy="4526280"/>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8"/>
            <a:ext cx="10515600" cy="2852737"/>
          </a:xfrm>
          <a:prstGeom prst="rect">
            <a:avLst/>
          </a:prstGeo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31851" y="4589463"/>
            <a:ext cx="10515600" cy="1500187"/>
          </a:xfrm>
          <a:prstGeom prst="rect">
            <a:avLst/>
          </a:prstGeo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955"/>
            <a:ext cx="109728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838200" y="1825625"/>
            <a:ext cx="5181600" cy="4351338"/>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72200" y="1825625"/>
            <a:ext cx="5181600" cy="4351338"/>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1186775" y="1778438"/>
            <a:ext cx="4873575" cy="823912"/>
          </a:xfrm>
          <a:prstGeom prst="rect">
            <a:avLst/>
          </a:prstGeo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1186775" y="2665379"/>
            <a:ext cx="4873575" cy="3524284"/>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256939" y="1778438"/>
            <a:ext cx="4897576" cy="823912"/>
          </a:xfrm>
          <a:prstGeom prst="rect">
            <a:avLst/>
          </a:prstGeo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256939" y="2665379"/>
            <a:ext cx="4897576" cy="3524284"/>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955"/>
            <a:ext cx="109728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5183188" y="987425"/>
            <a:ext cx="6172200" cy="4873625"/>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a:prstGeom prst="rect">
            <a:avLst/>
          </a:prstGeo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5183188" y="457201"/>
            <a:ext cx="6172200" cy="5403850"/>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839788" y="2057400"/>
            <a:ext cx="4165349" cy="3811588"/>
          </a:xfrm>
          <a:prstGeom prst="rect">
            <a:avLst/>
          </a:prstGeo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955"/>
            <a:ext cx="109728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1600200"/>
            <a:ext cx="10972800" cy="4526280"/>
          </a:xfrm>
          <a:prstGeom prst="rect">
            <a:avLst/>
          </a:prstGeo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838200" y="365125"/>
            <a:ext cx="7734300" cy="5811838"/>
          </a:xfrm>
          <a:prstGeom prst="rect">
            <a:avLst/>
          </a:prstGeo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image" Target="../media/image2.jpe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图片 1030" descr="12"/>
          <p:cNvPicPr>
            <a:picLocks noChangeAspect="1"/>
          </p:cNvPicPr>
          <p:nvPr userDrawn="1"/>
        </p:nvPicPr>
        <p:blipFill>
          <a:blip r:embed="rId12"/>
          <a:stretch>
            <a:fillRect/>
          </a:stretch>
        </p:blipFill>
        <p:spPr>
          <a:xfrm>
            <a:off x="0" y="0"/>
            <a:ext cx="12192000" cy="683577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914400" rtl="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rtl="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2050" name="图片 3078" descr="52"/>
          <p:cNvPicPr>
            <a:picLocks noChangeAspect="1"/>
          </p:cNvPicPr>
          <p:nvPr userDrawn="1"/>
        </p:nvPicPr>
        <p:blipFill>
          <a:blip r:embed="rId12"/>
          <a:stretch>
            <a:fillRect/>
          </a:stretch>
        </p:blipFill>
        <p:spPr>
          <a:xfrm>
            <a:off x="0" y="0"/>
            <a:ext cx="12192000" cy="6858000"/>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marL="0" lvl="0" indent="0" algn="ctr" defTabSz="914400" rtl="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rtl="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8" Type="http://schemas.openxmlformats.org/officeDocument/2006/relationships/notesSlide" Target="../notesSlides/notesSlide1.xml"/><Relationship Id="rId7" Type="http://schemas.openxmlformats.org/officeDocument/2006/relationships/vmlDrawing" Target="../drawings/vmlDrawing1.vml"/><Relationship Id="rId6" Type="http://schemas.openxmlformats.org/officeDocument/2006/relationships/slideLayout" Target="../slideLayouts/slideLayout13.xml"/><Relationship Id="rId5" Type="http://schemas.openxmlformats.org/officeDocument/2006/relationships/image" Target="../media/image9.wmf"/><Relationship Id="rId4" Type="http://schemas.openxmlformats.org/officeDocument/2006/relationships/oleObject" Target="../embeddings/oleObject1.bin"/><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2.png"/><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3.png"/></Relationships>
</file>

<file path=ppt/slides/_rels/slide11.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image" Target="../media/image18.png"/><Relationship Id="rId7" Type="http://schemas.openxmlformats.org/officeDocument/2006/relationships/image" Target="../media/image17.png"/><Relationship Id="rId6" Type="http://schemas.openxmlformats.org/officeDocument/2006/relationships/image" Target="../media/image16.wmf"/><Relationship Id="rId5" Type="http://schemas.openxmlformats.org/officeDocument/2006/relationships/oleObject" Target="../embeddings/oleObject3.bin"/><Relationship Id="rId4" Type="http://schemas.openxmlformats.org/officeDocument/2006/relationships/image" Target="../media/image15.wmf"/><Relationship Id="rId3" Type="http://schemas.openxmlformats.org/officeDocument/2006/relationships/oleObject" Target="../embeddings/oleObject2.bin"/><Relationship Id="rId2" Type="http://schemas.openxmlformats.org/officeDocument/2006/relationships/image" Target="../media/image13.png"/><Relationship Id="rId10" Type="http://schemas.openxmlformats.org/officeDocument/2006/relationships/vmlDrawing" Target="../drawings/vmlDrawing2.vml"/><Relationship Id="rId1" Type="http://schemas.openxmlformats.org/officeDocument/2006/relationships/image" Target="../media/image14.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9.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8" name="Google Shape;188;p33"/>
          <p:cNvSpPr txBox="1"/>
          <p:nvPr>
            <p:ph type="ctrTitle"/>
          </p:nvPr>
        </p:nvSpPr>
        <p:spPr>
          <a:xfrm>
            <a:off x="674370" y="1850390"/>
            <a:ext cx="10843895" cy="942975"/>
          </a:xfrm>
          <a:prstGeom prst="rect">
            <a:avLst/>
          </a:prstGeom>
        </p:spPr>
        <p:txBody>
          <a:bodyPr spcFirstLastPara="1" wrap="square" lIns="91425" tIns="91425" rIns="91425" bIns="91425" anchor="ctr" anchorCtr="0">
            <a:noAutofit/>
          </a:bodyPr>
          <a:p>
            <a:pPr marL="0" lvl="0" indent="0" algn="ctr" rtl="0">
              <a:spcBef>
                <a:spcPts val="0"/>
              </a:spcBef>
              <a:spcAft>
                <a:spcPts val="0"/>
              </a:spcAft>
              <a:buNone/>
            </a:pPr>
            <a:r>
              <a:rPr sz="3200" b="1">
                <a:solidFill>
                  <a:schemeClr val="bg1"/>
                </a:solidFill>
                <a:latin typeface="Times New Roman" panose="02020603050405020304" charset="0"/>
                <a:ea typeface="楷体" panose="02010609060101010101" charset="-122"/>
                <a:cs typeface="Times New Roman" panose="02020603050405020304" charset="0"/>
              </a:rPr>
              <a:t>Gait-Key: A Gait-Based Shared Secret Key Generation Protocol for Wearable Devices</a:t>
            </a:r>
            <a:endParaRPr sz="3200" b="1">
              <a:solidFill>
                <a:schemeClr val="bg1"/>
              </a:solidFill>
              <a:latin typeface="Times New Roman" panose="02020603050405020304" charset="0"/>
              <a:ea typeface="楷体" panose="02010609060101010101" charset="-122"/>
              <a:cs typeface="Times New Roman" panose="02020603050405020304" charset="0"/>
            </a:endParaRPr>
          </a:p>
        </p:txBody>
      </p:sp>
      <p:sp>
        <p:nvSpPr>
          <p:cNvPr id="4" name="文本框 3"/>
          <p:cNvSpPr txBox="1"/>
          <p:nvPr/>
        </p:nvSpPr>
        <p:spPr>
          <a:xfrm>
            <a:off x="1997075" y="3480435"/>
            <a:ext cx="7456805" cy="1322070"/>
          </a:xfrm>
          <a:prstGeom prst="rect">
            <a:avLst/>
          </a:prstGeom>
          <a:noFill/>
        </p:spPr>
        <p:txBody>
          <a:bodyPr wrap="square" rtlCol="0" anchor="t">
            <a:spAutoFit/>
          </a:bodyPr>
          <a:p>
            <a:r>
              <a:rPr lang="en-US" altLang="zh-CN" sz="2000" b="1">
                <a:solidFill>
                  <a:schemeClr val="bg1"/>
                </a:solidFill>
                <a:latin typeface="Times New Roman" panose="02020603050405020304" charset="0"/>
                <a:cs typeface="Times New Roman" panose="02020603050405020304" charset="0"/>
              </a:rPr>
              <a:t>Authors:</a:t>
            </a:r>
            <a:endParaRPr lang="en-US" altLang="zh-CN" sz="2000" b="1">
              <a:solidFill>
                <a:schemeClr val="bg1"/>
              </a:solidFill>
              <a:latin typeface="Times New Roman" panose="02020603050405020304" charset="0"/>
              <a:cs typeface="Times New Roman" panose="02020603050405020304" charset="0"/>
            </a:endParaRPr>
          </a:p>
          <a:p>
            <a:r>
              <a:rPr lang="zh-CN" altLang="en-US" sz="2000" b="1">
                <a:solidFill>
                  <a:schemeClr val="bg1"/>
                </a:solidFill>
                <a:latin typeface="Times New Roman" panose="02020603050405020304" charset="0"/>
                <a:cs typeface="Times New Roman" panose="02020603050405020304" charset="0"/>
              </a:rPr>
              <a:t>WEITAO XU</a:t>
            </a:r>
            <a:r>
              <a:rPr lang="en-US" altLang="zh-CN" sz="2000" b="1">
                <a:solidFill>
                  <a:schemeClr val="bg1"/>
                </a:solidFill>
                <a:latin typeface="Times New Roman" panose="02020603050405020304" charset="0"/>
                <a:cs typeface="Times New Roman" panose="02020603050405020304" charset="0"/>
              </a:rPr>
              <a:t>;  </a:t>
            </a:r>
            <a:r>
              <a:rPr lang="zh-CN" altLang="en-US" sz="2000" b="1">
                <a:solidFill>
                  <a:schemeClr val="bg1"/>
                </a:solidFill>
                <a:latin typeface="Times New Roman" panose="02020603050405020304" charset="0"/>
                <a:cs typeface="Times New Roman" panose="02020603050405020304" charset="0"/>
              </a:rPr>
              <a:t>CHITRA JAVALI</a:t>
            </a:r>
            <a:r>
              <a:rPr lang="en-US" altLang="zh-CN" sz="2000" b="1">
                <a:solidFill>
                  <a:schemeClr val="bg1"/>
                </a:solidFill>
                <a:latin typeface="Times New Roman" panose="02020603050405020304" charset="0"/>
                <a:cs typeface="Times New Roman" panose="02020603050405020304" charset="0"/>
              </a:rPr>
              <a:t>;  </a:t>
            </a:r>
            <a:r>
              <a:rPr lang="zh-CN" altLang="en-US" sz="2000" b="1">
                <a:solidFill>
                  <a:schemeClr val="bg1"/>
                </a:solidFill>
                <a:latin typeface="Times New Roman" panose="02020603050405020304" charset="0"/>
                <a:cs typeface="Times New Roman" panose="02020603050405020304" charset="0"/>
              </a:rPr>
              <a:t>GIRISH REVADIGAR</a:t>
            </a:r>
            <a:r>
              <a:rPr lang="en-US" sz="2000" b="1">
                <a:solidFill>
                  <a:schemeClr val="bg1"/>
                </a:solidFill>
                <a:latin typeface="Times New Roman" panose="02020603050405020304" charset="0"/>
                <a:cs typeface="Times New Roman" panose="02020603050405020304" charset="0"/>
              </a:rPr>
              <a:t>;  </a:t>
            </a:r>
            <a:r>
              <a:rPr lang="zh-CN" altLang="en-US" sz="2000" b="1">
                <a:solidFill>
                  <a:schemeClr val="bg1"/>
                </a:solidFill>
                <a:latin typeface="Times New Roman" panose="02020603050405020304" charset="0"/>
                <a:cs typeface="Times New Roman" panose="02020603050405020304" charset="0"/>
              </a:rPr>
              <a:t>CHENGWEN LUO</a:t>
            </a:r>
            <a:r>
              <a:rPr lang="en-US" sz="2000" b="1">
                <a:solidFill>
                  <a:schemeClr val="bg1"/>
                </a:solidFill>
                <a:latin typeface="Times New Roman" panose="02020603050405020304" charset="0"/>
                <a:cs typeface="Times New Roman" panose="02020603050405020304" charset="0"/>
              </a:rPr>
              <a:t>;  </a:t>
            </a:r>
            <a:r>
              <a:rPr lang="zh-CN" altLang="en-US" sz="2000" b="1">
                <a:solidFill>
                  <a:schemeClr val="bg1"/>
                </a:solidFill>
                <a:latin typeface="Times New Roman" panose="02020603050405020304" charset="0"/>
                <a:cs typeface="Times New Roman" panose="02020603050405020304" charset="0"/>
              </a:rPr>
              <a:t>NEIL BERGMANN</a:t>
            </a:r>
            <a:r>
              <a:rPr lang="en-US" sz="2000" b="1">
                <a:solidFill>
                  <a:schemeClr val="bg1"/>
                </a:solidFill>
                <a:latin typeface="Times New Roman" panose="02020603050405020304" charset="0"/>
                <a:cs typeface="Times New Roman" panose="02020603050405020304" charset="0"/>
              </a:rPr>
              <a:t>;  </a:t>
            </a:r>
            <a:r>
              <a:rPr lang="zh-CN" altLang="en-US" sz="2000" b="1">
                <a:solidFill>
                  <a:schemeClr val="bg1"/>
                </a:solidFill>
                <a:latin typeface="Times New Roman" panose="02020603050405020304" charset="0"/>
                <a:cs typeface="Times New Roman" panose="02020603050405020304" charset="0"/>
              </a:rPr>
              <a:t>WEN HU</a:t>
            </a:r>
            <a:r>
              <a:rPr lang="en-US" altLang="zh-CN" sz="2000" b="1">
                <a:solidFill>
                  <a:schemeClr val="bg1"/>
                </a:solidFill>
                <a:latin typeface="Times New Roman" panose="02020603050405020304" charset="0"/>
                <a:cs typeface="Times New Roman" panose="02020603050405020304" charset="0"/>
              </a:rPr>
              <a:t>;</a:t>
            </a:r>
            <a:endParaRPr lang="zh-CN" altLang="en-US" sz="2000" b="1">
              <a:solidFill>
                <a:schemeClr val="bg1"/>
              </a:solidFill>
              <a:latin typeface="Times New Roman" panose="02020603050405020304" charset="0"/>
              <a:cs typeface="Times New Roman" panose="02020603050405020304" charset="0"/>
            </a:endParaRPr>
          </a:p>
          <a:p>
            <a:r>
              <a:rPr lang="zh-CN" altLang="en-US" sz="2000" b="1">
                <a:solidFill>
                  <a:schemeClr val="bg1"/>
                </a:solidFill>
                <a:latin typeface="Times New Roman" panose="02020603050405020304" charset="0"/>
                <a:cs typeface="Times New Roman" panose="02020603050405020304" charset="0"/>
              </a:rPr>
              <a:t>Publication</a:t>
            </a:r>
            <a:r>
              <a:rPr lang="en-US" altLang="zh-CN" sz="2000" b="1">
                <a:solidFill>
                  <a:schemeClr val="bg1"/>
                </a:solidFill>
                <a:latin typeface="Times New Roman" panose="02020603050405020304" charset="0"/>
                <a:cs typeface="Times New Roman" panose="02020603050405020304" charset="0"/>
              </a:rPr>
              <a:t>: </a:t>
            </a:r>
            <a:r>
              <a:rPr lang="zh-CN" altLang="en-US" sz="2000" b="1">
                <a:solidFill>
                  <a:schemeClr val="bg1"/>
                </a:solidFill>
                <a:latin typeface="Times New Roman" panose="02020603050405020304" charset="0"/>
                <a:cs typeface="Times New Roman" panose="02020603050405020304" charset="0"/>
              </a:rPr>
              <a:t>ACM Transactions on Sensor Networks January 2017</a:t>
            </a:r>
            <a:endParaRPr lang="zh-CN" altLang="en-US" sz="2000" b="1">
              <a:solidFill>
                <a:schemeClr val="bg1"/>
              </a:solidFill>
              <a:latin typeface="Times New Roman" panose="02020603050405020304" charset="0"/>
              <a:cs typeface="Times New Roman" panose="02020603050405020304" charset="0"/>
            </a:endParaRPr>
          </a:p>
        </p:txBody>
      </p:sp>
      <p:sp>
        <p:nvSpPr>
          <p:cNvPr id="3" name="文本框 2"/>
          <p:cNvSpPr txBox="1"/>
          <p:nvPr/>
        </p:nvSpPr>
        <p:spPr>
          <a:xfrm>
            <a:off x="4961890" y="5489575"/>
            <a:ext cx="2136775" cy="829945"/>
          </a:xfrm>
          <a:prstGeom prst="rect">
            <a:avLst/>
          </a:prstGeom>
          <a:noFill/>
        </p:spPr>
        <p:txBody>
          <a:bodyPr wrap="square" rtlCol="0">
            <a:spAutoFit/>
          </a:bodyPr>
          <a:p>
            <a:pPr algn="ctr"/>
            <a:r>
              <a:rPr lang="zh-CN" altLang="en-US" sz="2400">
                <a:solidFill>
                  <a:srgbClr val="000000"/>
                </a:solidFill>
                <a:uFillTx/>
                <a:latin typeface="Times New Roman" panose="02020603050405020304" charset="0"/>
                <a:ea typeface="楷体" panose="02010609060101010101" charset="-122"/>
                <a:cs typeface="楷体" panose="02010609060101010101" charset="-122"/>
              </a:rPr>
              <a:t>唐慧敏   </a:t>
            </a:r>
            <a:endParaRPr lang="zh-CN" altLang="en-US" sz="2400">
              <a:solidFill>
                <a:srgbClr val="000000"/>
              </a:solidFill>
              <a:uFillTx/>
              <a:latin typeface="Times New Roman" panose="02020603050405020304" charset="0"/>
              <a:ea typeface="楷体" panose="02010609060101010101" charset="-122"/>
              <a:cs typeface="楷体" panose="02010609060101010101" charset="-122"/>
            </a:endParaRPr>
          </a:p>
          <a:p>
            <a:pPr algn="ctr"/>
            <a:r>
              <a:rPr lang="en-US" altLang="zh-CN" sz="2400">
                <a:solidFill>
                  <a:srgbClr val="000000"/>
                </a:solidFill>
                <a:uFillTx/>
                <a:latin typeface="Times New Roman" panose="02020603050405020304" charset="0"/>
                <a:ea typeface="楷体" panose="02010609060101010101" charset="-122"/>
                <a:cs typeface="楷体" panose="02010609060101010101" charset="-122"/>
              </a:rPr>
              <a:t>51205902133</a:t>
            </a:r>
            <a:endParaRPr lang="en-US" altLang="zh-CN" sz="2400">
              <a:solidFill>
                <a:srgbClr val="000000"/>
              </a:solidFill>
              <a:uFillTx/>
              <a:latin typeface="Times New Roman" panose="02020603050405020304" charset="0"/>
              <a:ea typeface="楷体" panose="02010609060101010101" charset="-122"/>
              <a:cs typeface="楷体" panose="02010609060101010101"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sp>
        <p:nvSpPr>
          <p:cNvPr id="4" name="标题 3"/>
          <p:cNvSpPr>
            <a:spLocks noGrp="1"/>
          </p:cNvSpPr>
          <p:nvPr>
            <p:ph type="title"/>
          </p:nvPr>
        </p:nvSpPr>
        <p:spPr/>
        <p:txBody>
          <a:bodyPr/>
          <a:p>
            <a:r>
              <a:rPr lang="zh-CN" altLang="en-US">
                <a:solidFill>
                  <a:schemeClr val="bg1"/>
                </a:solidFill>
              </a:rPr>
              <a:t>背景</a:t>
            </a:r>
            <a:endParaRPr lang="zh-CN" altLang="en-US">
              <a:solidFill>
                <a:schemeClr val="bg1"/>
              </a:solidFill>
            </a:endParaRPr>
          </a:p>
        </p:txBody>
      </p:sp>
      <p:sp>
        <p:nvSpPr>
          <p:cNvPr id="3" name="内容占位符 2"/>
          <p:cNvSpPr>
            <a:spLocks noGrp="1"/>
          </p:cNvSpPr>
          <p:nvPr>
            <p:ph idx="1"/>
          </p:nvPr>
        </p:nvSpPr>
        <p:spPr/>
        <p:txBody>
          <a:bodyPr/>
          <a:p>
            <a:pPr marL="0" indent="0">
              <a:buNone/>
            </a:pPr>
            <a:r>
              <a:rPr sz="2400">
                <a:latin typeface="楷体" panose="02010609060101010101" charset="-122"/>
                <a:ea typeface="楷体" panose="02010609060101010101" charset="-122"/>
                <a:cs typeface="宋体" panose="02010600030101010101" pitchFamily="2" charset="-122"/>
                <a:sym typeface="+mn-ea"/>
              </a:rPr>
              <a:t>近年来，智能可穿戴设备的数量出现了显著增长。对于这些</a:t>
            </a:r>
            <a:r>
              <a:rPr lang="zh-CN" sz="2400">
                <a:latin typeface="楷体" panose="02010609060101010101" charset="-122"/>
                <a:ea typeface="楷体" panose="02010609060101010101" charset="-122"/>
                <a:cs typeface="宋体" panose="02010600030101010101" pitchFamily="2" charset="-122"/>
                <a:sym typeface="+mn-ea"/>
              </a:rPr>
              <a:t>可穿戴设备</a:t>
            </a:r>
            <a:r>
              <a:rPr sz="2400">
                <a:latin typeface="楷体" panose="02010609060101010101" charset="-122"/>
                <a:ea typeface="楷体" panose="02010609060101010101" charset="-122"/>
                <a:cs typeface="宋体" panose="02010600030101010101" pitchFamily="2" charset="-122"/>
                <a:sym typeface="+mn-ea"/>
              </a:rPr>
              <a:t>，一个重要的安全问题是在合法设备之间建立一个经过身份验证的通信通道，以保护后续的通信。由于</a:t>
            </a:r>
            <a:r>
              <a:rPr lang="zh-CN" sz="2400">
                <a:latin typeface="楷体" panose="02010609060101010101" charset="-122"/>
                <a:ea typeface="楷体" panose="02010609060101010101" charset="-122"/>
                <a:cs typeface="宋体" panose="02010600030101010101" pitchFamily="2" charset="-122"/>
                <a:sym typeface="+mn-ea"/>
              </a:rPr>
              <a:t>无线通信</a:t>
            </a:r>
            <a:r>
              <a:rPr sz="2400">
                <a:latin typeface="楷体" panose="02010609060101010101" charset="-122"/>
                <a:ea typeface="楷体" panose="02010609060101010101" charset="-122"/>
                <a:cs typeface="宋体" panose="02010600030101010101" pitchFamily="2" charset="-122"/>
                <a:sym typeface="+mn-ea"/>
              </a:rPr>
              <a:t>和</a:t>
            </a:r>
            <a:r>
              <a:rPr lang="zh-CN" sz="2400">
                <a:latin typeface="楷体" panose="02010609060101010101" charset="-122"/>
                <a:ea typeface="楷体" panose="02010609060101010101" charset="-122"/>
                <a:cs typeface="宋体" panose="02010600030101010101" pitchFamily="2" charset="-122"/>
                <a:sym typeface="+mn-ea"/>
              </a:rPr>
              <a:t>资源的限制</a:t>
            </a:r>
            <a:r>
              <a:rPr sz="2400">
                <a:latin typeface="楷体" panose="02010609060101010101" charset="-122"/>
                <a:ea typeface="楷体" panose="02010609060101010101" charset="-122"/>
                <a:cs typeface="宋体" panose="02010600030101010101" pitchFamily="2" charset="-122"/>
                <a:sym typeface="+mn-ea"/>
              </a:rPr>
              <a:t>，提供安全、高效和用户友好的设备配对是一项具有挑战性的任务。</a:t>
            </a:r>
            <a:endParaRPr lang="zh-CN" sz="2400">
              <a:latin typeface="楷体" panose="02010609060101010101" charset="-122"/>
              <a:ea typeface="楷体" panose="02010609060101010101" charset="-122"/>
              <a:cs typeface="宋体" panose="02010600030101010101" pitchFamily="2" charset="-122"/>
              <a:sym typeface="+mn-ea"/>
            </a:endParaRPr>
          </a:p>
        </p:txBody>
      </p:sp>
      <p:sp>
        <p:nvSpPr>
          <p:cNvPr id="6" name="文本框 5"/>
          <p:cNvSpPr txBox="1"/>
          <p:nvPr/>
        </p:nvSpPr>
        <p:spPr>
          <a:xfrm>
            <a:off x="1329055" y="3362325"/>
            <a:ext cx="7440930" cy="2676525"/>
          </a:xfrm>
          <a:prstGeom prst="rect">
            <a:avLst/>
          </a:prstGeom>
          <a:noFill/>
        </p:spPr>
        <p:txBody>
          <a:bodyPr wrap="square" rtlCol="0">
            <a:spAutoFit/>
          </a:bodyPr>
          <a:p>
            <a:r>
              <a:rPr sz="2400" b="1">
                <a:solidFill>
                  <a:schemeClr val="tx2"/>
                </a:solidFill>
                <a:uFillTx/>
                <a:latin typeface="Times New Roman" panose="02020603050405020304" charset="0"/>
                <a:ea typeface="楷体" panose="02010609060101010101" charset="-122"/>
                <a:cs typeface="宋体" panose="02010600030101010101" pitchFamily="2" charset="-122"/>
              </a:rPr>
              <a:t>传统解决方案:	</a:t>
            </a:r>
            <a:endParaRPr sz="2400" b="1">
              <a:solidFill>
                <a:schemeClr val="tx2"/>
              </a:solidFill>
              <a:uFillTx/>
              <a:latin typeface="Times New Roman" panose="02020603050405020304" charset="0"/>
              <a:ea typeface="楷体" panose="02010609060101010101" charset="-122"/>
              <a:cs typeface="宋体" panose="02010600030101010101" pitchFamily="2" charset="-122"/>
            </a:endParaRPr>
          </a:p>
          <a:p>
            <a:pPr marL="914400" lvl="1" indent="-457200">
              <a:buFont typeface="Arial" panose="020B0604020202020204" pitchFamily="34" charset="0"/>
              <a:buChar char="•"/>
            </a:pPr>
            <a:r>
              <a:rPr sz="2400" b="1">
                <a:solidFill>
                  <a:schemeClr val="tx2"/>
                </a:solidFill>
                <a:uFillTx/>
                <a:latin typeface="Times New Roman" panose="02020603050405020304" charset="0"/>
                <a:ea typeface="楷体" panose="02010609060101010101" charset="-122"/>
                <a:cs typeface="宋体" panose="02010600030101010101" pitchFamily="2" charset="-122"/>
              </a:rPr>
              <a:t>显示输入</a:t>
            </a:r>
            <a:endParaRPr sz="2400" b="1">
              <a:solidFill>
                <a:schemeClr val="tx2"/>
              </a:solidFill>
              <a:uFillTx/>
              <a:latin typeface="Times New Roman" panose="02020603050405020304" charset="0"/>
              <a:ea typeface="楷体" panose="02010609060101010101" charset="-122"/>
              <a:cs typeface="宋体" panose="02010600030101010101" pitchFamily="2" charset="-122"/>
            </a:endParaRPr>
          </a:p>
          <a:p>
            <a:pPr marL="914400" lvl="1" indent="-457200">
              <a:buFont typeface="Arial" panose="020B0604020202020204" pitchFamily="34" charset="0"/>
              <a:buChar char="•"/>
            </a:pPr>
            <a:r>
              <a:rPr sz="2400" b="1">
                <a:solidFill>
                  <a:schemeClr val="tx2"/>
                </a:solidFill>
                <a:uFillTx/>
                <a:latin typeface="Times New Roman" panose="02020603050405020304" charset="0"/>
                <a:ea typeface="楷体" panose="02010609060101010101" charset="-122"/>
                <a:cs typeface="宋体" panose="02010600030101010101" pitchFamily="2" charset="-122"/>
              </a:rPr>
              <a:t>点对点密钥交换算法</a:t>
            </a:r>
            <a:endParaRPr sz="2400" b="1">
              <a:solidFill>
                <a:schemeClr val="tx2"/>
              </a:solidFill>
              <a:uFillTx/>
              <a:latin typeface="Times New Roman" panose="02020603050405020304" charset="0"/>
              <a:ea typeface="楷体" panose="02010609060101010101" charset="-122"/>
              <a:cs typeface="宋体" panose="02010600030101010101" pitchFamily="2" charset="-122"/>
            </a:endParaRPr>
          </a:p>
          <a:p>
            <a:pPr marL="914400" lvl="1" indent="-457200">
              <a:buFont typeface="Arial" panose="020B0604020202020204" pitchFamily="34" charset="0"/>
              <a:buChar char="•"/>
            </a:pPr>
            <a:endParaRPr sz="2400" b="1">
              <a:solidFill>
                <a:schemeClr val="tx2"/>
              </a:solidFill>
              <a:uFillTx/>
              <a:latin typeface="Times New Roman" panose="02020603050405020304" charset="0"/>
              <a:ea typeface="楷体" panose="02010609060101010101" charset="-122"/>
              <a:cs typeface="宋体" panose="02010600030101010101" pitchFamily="2" charset="-122"/>
            </a:endParaRPr>
          </a:p>
          <a:p>
            <a:r>
              <a:rPr sz="2400" b="1">
                <a:solidFill>
                  <a:schemeClr val="tx2"/>
                </a:solidFill>
                <a:uFillTx/>
                <a:latin typeface="Times New Roman" panose="02020603050405020304" charset="0"/>
                <a:ea typeface="楷体" panose="02010609060101010101" charset="-122"/>
                <a:cs typeface="宋体" panose="02010600030101010101" pitchFamily="2" charset="-122"/>
              </a:rPr>
              <a:t>本文提出的解决方案:</a:t>
            </a:r>
            <a:endParaRPr sz="2400" b="1">
              <a:solidFill>
                <a:schemeClr val="tx2"/>
              </a:solidFill>
              <a:uFillTx/>
              <a:latin typeface="Times New Roman" panose="02020603050405020304" charset="0"/>
              <a:ea typeface="楷体" panose="02010609060101010101" charset="-122"/>
              <a:cs typeface="宋体" panose="02010600030101010101" pitchFamily="2" charset="-122"/>
            </a:endParaRPr>
          </a:p>
          <a:p>
            <a:r>
              <a:rPr sz="2400" b="1">
                <a:solidFill>
                  <a:schemeClr val="tx2"/>
                </a:solidFill>
                <a:uFillTx/>
                <a:latin typeface="Times New Roman" panose="02020603050405020304" charset="0"/>
                <a:ea typeface="楷体" panose="02010609060101010101" charset="-122"/>
                <a:cs typeface="宋体" panose="02010600030101010101" pitchFamily="2" charset="-122"/>
              </a:rPr>
              <a:t>   Gait Key —— 基于步态的共享密钥生成方案</a:t>
            </a:r>
            <a:endParaRPr sz="2400" b="1">
              <a:solidFill>
                <a:schemeClr val="tx2"/>
              </a:solidFill>
              <a:uFillTx/>
              <a:latin typeface="Times New Roman" panose="02020603050405020304" charset="0"/>
              <a:ea typeface="楷体" panose="02010609060101010101" charset="-122"/>
              <a:cs typeface="宋体" panose="02010600030101010101" pitchFamily="2" charset="-122"/>
            </a:endParaRPr>
          </a:p>
          <a:p>
            <a:endParaRPr sz="2400" b="1">
              <a:solidFill>
                <a:schemeClr val="tx2"/>
              </a:solidFill>
              <a:uFillTx/>
              <a:latin typeface="Times New Roman" panose="02020603050405020304" charset="0"/>
              <a:ea typeface="楷体" panose="02010609060101010101" charset="-122"/>
              <a:cs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chemeClr val="bg1"/>
                </a:solidFill>
              </a:rPr>
              <a:t>挑战</a:t>
            </a:r>
            <a:endParaRPr lang="zh-CN" altLang="en-US">
              <a:solidFill>
                <a:schemeClr val="bg1"/>
              </a:solidFill>
            </a:endParaRPr>
          </a:p>
        </p:txBody>
      </p:sp>
      <p:pic>
        <p:nvPicPr>
          <p:cNvPr id="4" name="内容占位符 3"/>
          <p:cNvPicPr>
            <a:picLocks noChangeAspect="1"/>
          </p:cNvPicPr>
          <p:nvPr>
            <p:ph idx="1"/>
          </p:nvPr>
        </p:nvPicPr>
        <p:blipFill>
          <a:blip r:embed="rId1"/>
          <a:stretch>
            <a:fillRect/>
          </a:stretch>
        </p:blipFill>
        <p:spPr>
          <a:xfrm>
            <a:off x="609600" y="2038350"/>
            <a:ext cx="4130040" cy="3444240"/>
          </a:xfrm>
          <a:prstGeom prst="rect">
            <a:avLst/>
          </a:prstGeom>
          <a:noFill/>
          <a:ln w="9525">
            <a:noFill/>
          </a:ln>
        </p:spPr>
      </p:pic>
      <p:sp>
        <p:nvSpPr>
          <p:cNvPr id="5" name="文本框 4"/>
          <p:cNvSpPr txBox="1"/>
          <p:nvPr/>
        </p:nvSpPr>
        <p:spPr>
          <a:xfrm>
            <a:off x="5092700" y="2143125"/>
            <a:ext cx="6150610" cy="3046095"/>
          </a:xfrm>
          <a:prstGeom prst="rect">
            <a:avLst/>
          </a:prstGeom>
          <a:noFill/>
        </p:spPr>
        <p:txBody>
          <a:bodyPr wrap="square" rtlCol="0" anchor="t">
            <a:spAutoFit/>
          </a:bodyPr>
          <a:p>
            <a:pPr algn="l">
              <a:buClrTx/>
              <a:buSzTx/>
              <a:buNone/>
            </a:pPr>
            <a:r>
              <a:rPr lang="en-US" altLang="zh-CN" sz="2400">
                <a:uFillTx/>
                <a:latin typeface="Times New Roman" panose="02020603050405020304" charset="0"/>
                <a:ea typeface="楷体" panose="02010609060101010101" charset="-122"/>
                <a:cs typeface="楷体" panose="02010609060101010101" charset="-122"/>
                <a:sym typeface="+mn-ea"/>
              </a:rPr>
              <a:t>两个挑战：</a:t>
            </a:r>
            <a:endParaRPr lang="en-US" altLang="zh-CN" sz="2400">
              <a:uFillTx/>
              <a:latin typeface="Times New Roman" panose="02020603050405020304" charset="0"/>
              <a:ea typeface="楷体" panose="02010609060101010101" charset="-122"/>
              <a:cs typeface="楷体" panose="02010609060101010101" charset="-122"/>
            </a:endParaRPr>
          </a:p>
          <a:p>
            <a:pPr algn="l">
              <a:buClrTx/>
              <a:buSzTx/>
              <a:buFont typeface="Arial" panose="020B0604020202020204" pitchFamily="34" charset="0"/>
              <a:buChar char="•"/>
            </a:pPr>
            <a:r>
              <a:rPr lang="en-US" altLang="zh-CN" sz="2400">
                <a:uFillTx/>
                <a:latin typeface="Times New Roman" panose="02020603050405020304" charset="0"/>
                <a:ea typeface="楷体" panose="02010609060101010101" charset="-122"/>
                <a:cs typeface="楷体" panose="02010609060101010101" charset="-122"/>
                <a:sym typeface="+mn-ea"/>
              </a:rPr>
              <a:t>步态产生的信号被手臂摆动产生的噪声信号干扰</a:t>
            </a:r>
            <a:endParaRPr lang="en-US" altLang="zh-CN" sz="2400">
              <a:uFillTx/>
              <a:latin typeface="Times New Roman" panose="02020603050405020304" charset="0"/>
              <a:ea typeface="楷体" panose="02010609060101010101" charset="-122"/>
              <a:cs typeface="楷体" panose="02010609060101010101" charset="-122"/>
            </a:endParaRPr>
          </a:p>
          <a:p>
            <a:pPr algn="l">
              <a:buClrTx/>
              <a:buSzTx/>
              <a:buFont typeface="Arial" panose="020B0604020202020204" pitchFamily="34" charset="0"/>
              <a:buChar char="•"/>
            </a:pPr>
            <a:r>
              <a:rPr lang="en-US" altLang="zh-CN" sz="2400">
                <a:uFillTx/>
                <a:latin typeface="Times New Roman" panose="02020603050405020304" charset="0"/>
                <a:ea typeface="楷体" panose="02010609060101010101" charset="-122"/>
                <a:cs typeface="楷体" panose="02010609060101010101" charset="-122"/>
                <a:sym typeface="+mn-ea"/>
              </a:rPr>
              <a:t>可穿戴设备的计算能力和电池容量受到限制</a:t>
            </a:r>
            <a:endParaRPr lang="en-US" altLang="zh-CN" sz="2400">
              <a:uFillTx/>
              <a:latin typeface="Times New Roman" panose="02020603050405020304" charset="0"/>
              <a:ea typeface="楷体" panose="02010609060101010101" charset="-122"/>
              <a:cs typeface="楷体" panose="02010609060101010101" charset="-122"/>
            </a:endParaRPr>
          </a:p>
          <a:p>
            <a:pPr algn="l">
              <a:buClrTx/>
              <a:buSzTx/>
              <a:buFont typeface="Arial" panose="020B0604020202020204" pitchFamily="34" charset="0"/>
              <a:buChar char="•"/>
            </a:pPr>
            <a:endParaRPr lang="en-US" altLang="zh-CN" sz="2400">
              <a:uFillTx/>
              <a:latin typeface="Times New Roman" panose="02020603050405020304" charset="0"/>
              <a:ea typeface="楷体" panose="02010609060101010101" charset="-122"/>
              <a:cs typeface="楷体" panose="02010609060101010101" charset="-122"/>
            </a:endParaRPr>
          </a:p>
          <a:p>
            <a:pPr marL="0" algn="l">
              <a:buClrTx/>
              <a:buSzTx/>
              <a:buFont typeface="Arial" panose="020B0604020202020204" pitchFamily="34" charset="0"/>
              <a:buNone/>
            </a:pPr>
            <a:r>
              <a:rPr lang="en-US" altLang="zh-CN" sz="2400">
                <a:uFillTx/>
                <a:latin typeface="Times New Roman" panose="02020603050405020304" charset="0"/>
                <a:ea typeface="楷体" panose="02010609060101010101" charset="-122"/>
                <a:cs typeface="楷体" panose="02010609060101010101" charset="-122"/>
                <a:sym typeface="+mn-ea"/>
              </a:rPr>
              <a:t>解决方案：</a:t>
            </a:r>
            <a:endParaRPr lang="en-US" altLang="zh-CN" sz="2400">
              <a:uFillTx/>
              <a:latin typeface="Times New Roman" panose="02020603050405020304" charset="0"/>
              <a:ea typeface="楷体" panose="02010609060101010101" charset="-122"/>
              <a:cs typeface="楷体" panose="02010609060101010101" charset="-122"/>
            </a:endParaRPr>
          </a:p>
          <a:p>
            <a:pPr algn="l">
              <a:buClrTx/>
              <a:buSzTx/>
              <a:buFont typeface="Arial" panose="020B0604020202020204" pitchFamily="34" charset="0"/>
              <a:buChar char="•"/>
            </a:pPr>
            <a:r>
              <a:rPr lang="en-US" altLang="zh-CN" sz="2400">
                <a:uFillTx/>
                <a:latin typeface="Times New Roman" panose="02020603050405020304" charset="0"/>
                <a:ea typeface="楷体" panose="02010609060101010101" charset="-122"/>
                <a:cs typeface="楷体" panose="02010609060101010101" charset="-122"/>
                <a:sym typeface="+mn-ea"/>
              </a:rPr>
              <a:t>盲源分离技术(BSS)</a:t>
            </a:r>
            <a:endParaRPr lang="en-US" altLang="zh-CN" sz="2400">
              <a:uFillTx/>
              <a:latin typeface="Times New Roman" panose="02020603050405020304" charset="0"/>
              <a:ea typeface="楷体" panose="02010609060101010101" charset="-122"/>
              <a:cs typeface="楷体" panose="02010609060101010101" charset="-122"/>
            </a:endParaRPr>
          </a:p>
          <a:p>
            <a:pPr algn="l">
              <a:buClrTx/>
              <a:buSzTx/>
              <a:buFont typeface="Arial" panose="020B0604020202020204" pitchFamily="34" charset="0"/>
              <a:buChar char="•"/>
            </a:pPr>
            <a:r>
              <a:rPr lang="en-US" altLang="zh-CN" sz="2400">
                <a:uFillTx/>
                <a:latin typeface="Times New Roman" panose="02020603050405020304" charset="0"/>
                <a:ea typeface="楷体" panose="02010609060101010101" charset="-122"/>
                <a:cs typeface="楷体" panose="02010609060101010101" charset="-122"/>
                <a:sym typeface="+mn-ea"/>
              </a:rPr>
              <a:t>采用轻量级的信号处理技术</a:t>
            </a:r>
            <a:endParaRPr lang="en-US" altLang="zh-CN" sz="2400">
              <a:uFillTx/>
              <a:latin typeface="Times New Roman" panose="02020603050405020304" charset="0"/>
              <a:ea typeface="楷体" panose="02010609060101010101" charset="-122"/>
              <a:cs typeface="楷体" panose="02010609060101010101"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chemeClr val="bg1"/>
                </a:solidFill>
              </a:rPr>
              <a:t>流程图</a:t>
            </a:r>
            <a:endParaRPr lang="zh-CN" altLang="en-US">
              <a:solidFill>
                <a:schemeClr val="bg1"/>
              </a:solidFill>
            </a:endParaRPr>
          </a:p>
        </p:txBody>
      </p:sp>
      <p:pic>
        <p:nvPicPr>
          <p:cNvPr id="4" name="内容占位符 3"/>
          <p:cNvPicPr>
            <a:picLocks noChangeAspect="1"/>
          </p:cNvPicPr>
          <p:nvPr>
            <p:ph idx="1"/>
          </p:nvPr>
        </p:nvPicPr>
        <p:blipFill>
          <a:blip r:embed="rId1"/>
          <a:stretch>
            <a:fillRect/>
          </a:stretch>
        </p:blipFill>
        <p:spPr>
          <a:xfrm>
            <a:off x="2402840" y="1600200"/>
            <a:ext cx="7385685" cy="452628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chemeClr val="bg1"/>
                </a:solidFill>
              </a:rPr>
              <a:t>流程图</a:t>
            </a:r>
            <a:endParaRPr lang="zh-CN" altLang="en-US">
              <a:solidFill>
                <a:schemeClr val="bg1"/>
              </a:solidFill>
            </a:endParaRPr>
          </a:p>
        </p:txBody>
      </p:sp>
      <p:pic>
        <p:nvPicPr>
          <p:cNvPr id="4" name="内容占位符 3"/>
          <p:cNvPicPr>
            <a:picLocks noChangeAspect="1"/>
          </p:cNvPicPr>
          <p:nvPr>
            <p:ph idx="1"/>
          </p:nvPr>
        </p:nvPicPr>
        <p:blipFill>
          <a:blip r:embed="rId1"/>
          <a:stretch>
            <a:fillRect/>
          </a:stretch>
        </p:blipFill>
        <p:spPr>
          <a:xfrm>
            <a:off x="2402840" y="1600200"/>
            <a:ext cx="7385685" cy="4526280"/>
          </a:xfrm>
          <a:prstGeom prst="rect">
            <a:avLst/>
          </a:prstGeom>
        </p:spPr>
      </p:pic>
      <p:sp>
        <p:nvSpPr>
          <p:cNvPr id="3" name="矩形 2"/>
          <p:cNvSpPr/>
          <p:nvPr/>
        </p:nvSpPr>
        <p:spPr>
          <a:xfrm>
            <a:off x="2697480" y="4742180"/>
            <a:ext cx="2535555" cy="720090"/>
          </a:xfrm>
          <a:prstGeom prst="rect">
            <a:avLst/>
          </a:prstGeom>
          <a:noFill/>
          <a:ln w="63500" cmpd="sng">
            <a:solidFill>
              <a:srgbClr val="FF0000"/>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 name="矩形 4"/>
          <p:cNvSpPr/>
          <p:nvPr/>
        </p:nvSpPr>
        <p:spPr>
          <a:xfrm>
            <a:off x="5542915" y="4742180"/>
            <a:ext cx="4005580" cy="720090"/>
          </a:xfrm>
          <a:prstGeom prst="rect">
            <a:avLst/>
          </a:prstGeom>
          <a:noFill/>
          <a:ln w="63500" cmpd="sng">
            <a:solidFill>
              <a:srgbClr val="FF0000"/>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chemeClr val="bg1"/>
                </a:solidFill>
              </a:rPr>
              <a:t>信号处理</a:t>
            </a:r>
            <a:endParaRPr lang="zh-CN" altLang="en-US">
              <a:solidFill>
                <a:schemeClr val="bg1"/>
              </a:solidFill>
            </a:endParaRPr>
          </a:p>
        </p:txBody>
      </p:sp>
      <p:sp>
        <p:nvSpPr>
          <p:cNvPr id="3" name="内容占位符 2"/>
          <p:cNvSpPr>
            <a:spLocks noGrp="1"/>
          </p:cNvSpPr>
          <p:nvPr>
            <p:ph idx="1"/>
          </p:nvPr>
        </p:nvSpPr>
        <p:spPr/>
        <p:txBody>
          <a:bodyPr/>
          <a:p>
            <a:pPr marL="0" algn="l">
              <a:buClrTx/>
              <a:buSzTx/>
              <a:buFontTx/>
              <a:buNone/>
            </a:pPr>
            <a:r>
              <a:rPr lang="zh-CN" altLang="en-US" sz="2400" b="1">
                <a:uFillTx/>
                <a:latin typeface="Times New Roman" panose="02020603050405020304" charset="0"/>
                <a:ea typeface="楷体" panose="02010609060101010101" charset="-122"/>
                <a:cs typeface="+mn-lt"/>
              </a:rPr>
              <a:t>1. 信号分离——ICA技术</a:t>
            </a:r>
            <a:endParaRPr lang="zh-CN" altLang="en-US" sz="2400" b="1">
              <a:uFillTx/>
              <a:latin typeface="Times New Roman" panose="02020603050405020304" charset="0"/>
              <a:ea typeface="楷体" panose="02010609060101010101" charset="-122"/>
              <a:cs typeface="+mn-lt"/>
            </a:endParaRPr>
          </a:p>
          <a:p>
            <a:pPr marL="0" algn="l">
              <a:buClrTx/>
              <a:buSzTx/>
              <a:buNone/>
            </a:pPr>
            <a:r>
              <a:rPr lang="zh-CN" altLang="en-US" sz="2000">
                <a:uFillTx/>
                <a:ea typeface="楷体" panose="02010609060101010101" charset="-122"/>
                <a:cs typeface="+mn-lt"/>
                <a:sym typeface="+mn-ea"/>
              </a:rPr>
              <a:t>   ICA是指在只知道混合信号，而不知道源信号、噪声以及混合机制的情况下，分离或近似地分离出源信号的一种分析过程。</a:t>
            </a:r>
            <a:endParaRPr lang="zh-CN" altLang="en-US" sz="2000">
              <a:solidFill>
                <a:schemeClr val="tx1"/>
              </a:solidFill>
              <a:uFillTx/>
              <a:ea typeface="楷体" panose="02010609060101010101" charset="-122"/>
              <a:cs typeface="+mn-lt"/>
            </a:endParaRPr>
          </a:p>
          <a:p>
            <a:pPr marL="0" indent="0">
              <a:buNone/>
            </a:pPr>
            <a:endParaRPr lang="zh-CN" altLang="en-US" sz="2000">
              <a:solidFill>
                <a:schemeClr val="tx1"/>
              </a:solidFill>
              <a:uFillTx/>
              <a:ea typeface="楷体" panose="02010609060101010101" charset="-122"/>
              <a:cs typeface="+mn-lt"/>
            </a:endParaRPr>
          </a:p>
          <a:p>
            <a:pPr marL="0" indent="0">
              <a:buNone/>
            </a:pPr>
            <a:r>
              <a:rPr lang="zh-CN" altLang="en-US" sz="2000">
                <a:uFillTx/>
                <a:ea typeface="楷体" panose="02010609060101010101" charset="-122"/>
                <a:cs typeface="+mn-lt"/>
                <a:sym typeface="+mn-ea"/>
              </a:rPr>
              <a:t>条件：</a:t>
            </a:r>
            <a:endParaRPr lang="zh-CN" altLang="en-US" sz="2000">
              <a:solidFill>
                <a:schemeClr val="tx1"/>
              </a:solidFill>
              <a:uFillTx/>
              <a:ea typeface="楷体" panose="02010609060101010101" charset="-122"/>
              <a:cs typeface="+mn-lt"/>
            </a:endParaRPr>
          </a:p>
          <a:p>
            <a:pPr marL="0" indent="0">
              <a:buNone/>
            </a:pPr>
            <a:r>
              <a:rPr lang="zh-CN" altLang="en-US" sz="2000">
                <a:uFillTx/>
                <a:ea typeface="楷体" panose="02010609060101010101" charset="-122"/>
                <a:cs typeface="+mn-lt"/>
                <a:sym typeface="+mn-ea"/>
              </a:rPr>
              <a:t>（</a:t>
            </a:r>
            <a:r>
              <a:rPr lang="en-US" altLang="zh-CN" sz="2000">
                <a:uFillTx/>
                <a:ea typeface="楷体" panose="02010609060101010101" charset="-122"/>
                <a:cs typeface="+mn-lt"/>
                <a:sym typeface="+mn-ea"/>
              </a:rPr>
              <a:t>1</a:t>
            </a:r>
            <a:r>
              <a:rPr lang="zh-CN" altLang="en-US" sz="2000">
                <a:uFillTx/>
                <a:ea typeface="楷体" panose="02010609060101010101" charset="-122"/>
                <a:cs typeface="+mn-lt"/>
                <a:sym typeface="+mn-ea"/>
              </a:rPr>
              <a:t>）</a:t>
            </a:r>
            <a:r>
              <a:rPr lang="zh-CN" altLang="en-US" sz="2000">
                <a:uFillTx/>
                <a:ea typeface="楷体" panose="02010609060101010101" charset="-122"/>
                <a:cs typeface="+mn-lt"/>
                <a:sym typeface="+mn-ea"/>
              </a:rPr>
              <a:t>对于每个位置，我们附加一个三通道的加速度计量器，因此我们有三个通道的观测，信号主要来自于：手臂摆动和行走；</a:t>
            </a:r>
            <a:endParaRPr lang="zh-CN" altLang="en-US" sz="2000">
              <a:solidFill>
                <a:schemeClr val="tx1"/>
              </a:solidFill>
              <a:uFillTx/>
              <a:ea typeface="楷体" panose="02010609060101010101" charset="-122"/>
              <a:cs typeface="+mn-lt"/>
              <a:sym typeface="+mn-ea"/>
            </a:endParaRPr>
          </a:p>
          <a:p>
            <a:pPr marL="0" indent="0">
              <a:buNone/>
            </a:pPr>
            <a:r>
              <a:rPr lang="zh-CN" altLang="en-US" sz="2000">
                <a:uFillTx/>
                <a:ea typeface="楷体" panose="02010609060101010101" charset="-122"/>
                <a:cs typeface="+mn-lt"/>
                <a:sym typeface="+mn-ea"/>
              </a:rPr>
              <a:t>（</a:t>
            </a:r>
            <a:r>
              <a:rPr lang="en-US" altLang="zh-CN" sz="2000">
                <a:uFillTx/>
                <a:ea typeface="楷体" panose="02010609060101010101" charset="-122"/>
                <a:cs typeface="+mn-lt"/>
                <a:sym typeface="+mn-ea"/>
              </a:rPr>
              <a:t>2</a:t>
            </a:r>
            <a:r>
              <a:rPr lang="zh-CN" altLang="en-US" sz="2000">
                <a:uFillTx/>
                <a:ea typeface="楷体" panose="02010609060101010101" charset="-122"/>
                <a:cs typeface="+mn-lt"/>
                <a:sym typeface="+mn-ea"/>
              </a:rPr>
              <a:t>）</a:t>
            </a:r>
            <a:r>
              <a:rPr lang="zh-CN" altLang="en-US" sz="2000">
                <a:uFillTx/>
                <a:ea typeface="楷体" panose="02010609060101010101" charset="-122"/>
                <a:cs typeface="+mn-lt"/>
                <a:sym typeface="+mn-ea"/>
              </a:rPr>
              <a:t>在每个传感器位置，不同来源的加速度线性混合；</a:t>
            </a:r>
            <a:endParaRPr lang="zh-CN" altLang="en-US" sz="2000">
              <a:solidFill>
                <a:schemeClr val="tx1"/>
              </a:solidFill>
              <a:uFillTx/>
              <a:ea typeface="楷体" panose="02010609060101010101" charset="-122"/>
              <a:cs typeface="+mn-lt"/>
            </a:endParaRPr>
          </a:p>
          <a:p>
            <a:pPr marL="0" indent="0">
              <a:buNone/>
            </a:pPr>
            <a:r>
              <a:rPr lang="zh-CN" altLang="en-US" sz="2000">
                <a:uFillTx/>
                <a:ea typeface="楷体" panose="02010609060101010101" charset="-122"/>
                <a:cs typeface="+mn-lt"/>
                <a:sym typeface="+mn-ea"/>
              </a:rPr>
              <a:t>（</a:t>
            </a:r>
            <a:r>
              <a:rPr lang="en-US" altLang="zh-CN" sz="2000">
                <a:uFillTx/>
                <a:ea typeface="楷体" panose="02010609060101010101" charset="-122"/>
                <a:cs typeface="+mn-lt"/>
                <a:sym typeface="+mn-ea"/>
              </a:rPr>
              <a:t>3</a:t>
            </a:r>
            <a:r>
              <a:rPr lang="zh-CN" altLang="en-US" sz="2000">
                <a:uFillTx/>
                <a:ea typeface="楷体" panose="02010609060101010101" charset="-122"/>
                <a:cs typeface="+mn-lt"/>
                <a:sym typeface="+mn-ea"/>
              </a:rPr>
              <a:t>）身体各部分的运动模式是独立的，而步态是身体各部分结合得到的总体模式；</a:t>
            </a:r>
            <a:endParaRPr lang="zh-CN" altLang="en-US" sz="2000">
              <a:solidFill>
                <a:schemeClr val="tx1"/>
              </a:solidFill>
              <a:uFillTx/>
              <a:ea typeface="楷体" panose="02010609060101010101" charset="-122"/>
              <a:cs typeface="+mn-lt"/>
            </a:endParaRPr>
          </a:p>
          <a:p>
            <a:pPr marL="0" indent="0">
              <a:buNone/>
            </a:pPr>
            <a:r>
              <a:rPr lang="zh-CN" altLang="en-US" sz="2000">
                <a:uFillTx/>
                <a:ea typeface="楷体" panose="02010609060101010101" charset="-122"/>
                <a:cs typeface="+mn-lt"/>
                <a:sym typeface="+mn-ea"/>
              </a:rPr>
              <a:t>（</a:t>
            </a:r>
            <a:r>
              <a:rPr lang="en-US" altLang="zh-CN" sz="2000">
                <a:uFillTx/>
                <a:ea typeface="楷体" panose="02010609060101010101" charset="-122"/>
                <a:cs typeface="+mn-lt"/>
                <a:sym typeface="+mn-ea"/>
              </a:rPr>
              <a:t>4</a:t>
            </a:r>
            <a:r>
              <a:rPr lang="zh-CN" altLang="en-US" sz="2000">
                <a:uFillTx/>
                <a:ea typeface="楷体" panose="02010609060101010101" charset="-122"/>
                <a:cs typeface="+mn-lt"/>
                <a:sym typeface="+mn-ea"/>
              </a:rPr>
              <a:t>）信号通过身体传输的时间延迟是可以忽略的；</a:t>
            </a:r>
            <a:endParaRPr lang="zh-CN" altLang="en-US" sz="2000">
              <a:solidFill>
                <a:schemeClr val="tx1"/>
              </a:solidFill>
              <a:uFillTx/>
              <a:ea typeface="楷体" panose="02010609060101010101" charset="-122"/>
              <a:cs typeface="+mn-lt"/>
            </a:endParaRPr>
          </a:p>
          <a:p>
            <a:pPr marL="0" indent="0">
              <a:buNone/>
            </a:pPr>
            <a:r>
              <a:rPr lang="zh-CN" altLang="en-US" sz="2000">
                <a:uFillTx/>
                <a:ea typeface="楷体" panose="02010609060101010101" charset="-122"/>
                <a:cs typeface="+mn-lt"/>
                <a:sym typeface="+mn-ea"/>
              </a:rPr>
              <a:t>（</a:t>
            </a:r>
            <a:r>
              <a:rPr lang="en-US" altLang="zh-CN" sz="2000">
                <a:uFillTx/>
                <a:ea typeface="楷体" panose="02010609060101010101" charset="-122"/>
                <a:cs typeface="+mn-lt"/>
                <a:sym typeface="+mn-ea"/>
              </a:rPr>
              <a:t>5</a:t>
            </a:r>
            <a:r>
              <a:rPr lang="zh-CN" altLang="en-US" sz="2000">
                <a:uFillTx/>
                <a:ea typeface="楷体" panose="02010609060101010101" charset="-122"/>
                <a:cs typeface="+mn-lt"/>
                <a:sym typeface="+mn-ea"/>
              </a:rPr>
              <a:t>）身体运动产生的加速度值的统计分布不是高斯分布；</a:t>
            </a:r>
            <a:endParaRPr lang="zh-CN" altLang="en-US" sz="2000">
              <a:solidFill>
                <a:schemeClr val="tx1"/>
              </a:solidFill>
              <a:uFillTx/>
              <a:ea typeface="楷体" panose="02010609060101010101" charset="-122"/>
              <a:cs typeface="+mn-lt"/>
            </a:endParaRPr>
          </a:p>
          <a:p>
            <a:pPr marL="0" indent="0">
              <a:buNone/>
            </a:pPr>
            <a:endParaRPr lang="zh-CN" altLang="en-US" sz="2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chemeClr val="bg1"/>
                </a:solidFill>
              </a:rPr>
              <a:t>信号处理</a:t>
            </a:r>
            <a:endParaRPr lang="zh-CN" altLang="en-US">
              <a:solidFill>
                <a:schemeClr val="bg1"/>
              </a:solidFill>
            </a:endParaRPr>
          </a:p>
        </p:txBody>
      </p:sp>
      <p:pic>
        <p:nvPicPr>
          <p:cNvPr id="4" name="内容占位符 3"/>
          <p:cNvPicPr>
            <a:picLocks noChangeAspect="1"/>
          </p:cNvPicPr>
          <p:nvPr>
            <p:ph idx="1"/>
          </p:nvPr>
        </p:nvPicPr>
        <p:blipFill>
          <a:blip r:embed="rId1"/>
          <a:stretch>
            <a:fillRect/>
          </a:stretch>
        </p:blipFill>
        <p:spPr>
          <a:xfrm>
            <a:off x="7254875" y="2503170"/>
            <a:ext cx="4709160" cy="3977640"/>
          </a:xfrm>
          <a:prstGeom prst="rect">
            <a:avLst/>
          </a:prstGeom>
        </p:spPr>
      </p:pic>
      <p:sp>
        <p:nvSpPr>
          <p:cNvPr id="5" name="文本框 4"/>
          <p:cNvSpPr txBox="1"/>
          <p:nvPr/>
        </p:nvSpPr>
        <p:spPr>
          <a:xfrm>
            <a:off x="609600" y="1569720"/>
            <a:ext cx="10793730" cy="5015865"/>
          </a:xfrm>
          <a:prstGeom prst="rect">
            <a:avLst/>
          </a:prstGeom>
          <a:noFill/>
        </p:spPr>
        <p:txBody>
          <a:bodyPr wrap="square" rtlCol="0">
            <a:spAutoFit/>
          </a:bodyPr>
          <a:p>
            <a:r>
              <a:rPr lang="zh-CN" altLang="en-US" sz="2000">
                <a:solidFill>
                  <a:schemeClr val="tx1"/>
                </a:solidFill>
                <a:uFillTx/>
                <a:latin typeface="Times New Roman" panose="02020603050405020304" charset="0"/>
                <a:ea typeface="楷体" panose="02010609060101010101" charset="-122"/>
                <a:cs typeface="楷体" panose="02010609060101010101" charset="-122"/>
                <a:sym typeface="+mn-ea"/>
              </a:rPr>
              <a:t>假设用户的一只手腕上戴着智能手表，通过内置的三通道加速度计测量的线性加速度为Acc(t)。由于手腕上记录的加速度计信号分别是腿部和手臂摆动信号的混合，因此我们问题的ICA模型可以写成</a:t>
            </a:r>
            <a:br>
              <a:rPr lang="zh-CN" altLang="en-US" sz="2000">
                <a:solidFill>
                  <a:schemeClr val="tx1"/>
                </a:solidFill>
                <a:uFillTx/>
                <a:latin typeface="Times New Roman" panose="02020603050405020304" charset="0"/>
                <a:ea typeface="楷体" panose="02010609060101010101" charset="-122"/>
                <a:cs typeface="楷体" panose="02010609060101010101" charset="-122"/>
                <a:sym typeface="+mn-ea"/>
              </a:rPr>
            </a:br>
            <a:br>
              <a:rPr lang="zh-CN" altLang="en-US" sz="2000">
                <a:solidFill>
                  <a:schemeClr val="tx1"/>
                </a:solidFill>
                <a:uFillTx/>
                <a:latin typeface="Times New Roman" panose="02020603050405020304" charset="0"/>
                <a:ea typeface="楷体" panose="02010609060101010101" charset="-122"/>
                <a:cs typeface="楷体" panose="02010609060101010101" charset="-122"/>
                <a:sym typeface="+mn-ea"/>
              </a:rPr>
            </a:br>
            <a:br>
              <a:rPr lang="zh-CN" altLang="en-US" sz="2000">
                <a:solidFill>
                  <a:schemeClr val="tx1"/>
                </a:solidFill>
                <a:uFillTx/>
                <a:latin typeface="Times New Roman" panose="02020603050405020304" charset="0"/>
                <a:ea typeface="楷体" panose="02010609060101010101" charset="-122"/>
                <a:cs typeface="楷体" panose="02010609060101010101" charset="-122"/>
                <a:sym typeface="+mn-ea"/>
              </a:rPr>
            </a:br>
            <a:r>
              <a:rPr lang="zh-CN" altLang="en-US" sz="2000">
                <a:solidFill>
                  <a:schemeClr val="tx1"/>
                </a:solidFill>
                <a:uFillTx/>
                <a:latin typeface="Times New Roman" panose="02020603050405020304" charset="0"/>
                <a:ea typeface="楷体" panose="02010609060101010101" charset="-122"/>
                <a:cs typeface="楷体" panose="02010609060101010101" charset="-122"/>
                <a:sym typeface="+mn-ea"/>
              </a:rPr>
              <a:t>其中A为混合矩阵，S(t)为独立源，我们的目标是找到一个</a:t>
            </a:r>
            <a:endParaRPr lang="zh-CN" altLang="en-US" sz="2000">
              <a:solidFill>
                <a:schemeClr val="tx1"/>
              </a:solidFill>
              <a:uFillTx/>
              <a:latin typeface="Times New Roman" panose="02020603050405020304" charset="0"/>
              <a:ea typeface="楷体" panose="02010609060101010101" charset="-122"/>
              <a:cs typeface="楷体" panose="02010609060101010101" charset="-122"/>
              <a:sym typeface="+mn-ea"/>
            </a:endParaRPr>
          </a:p>
          <a:p>
            <a:r>
              <a:rPr lang="zh-CN" altLang="en-US" sz="2000">
                <a:solidFill>
                  <a:schemeClr val="tx1"/>
                </a:solidFill>
                <a:uFillTx/>
                <a:latin typeface="Times New Roman" panose="02020603050405020304" charset="0"/>
                <a:ea typeface="楷体" panose="02010609060101010101" charset="-122"/>
                <a:cs typeface="楷体" panose="02010609060101010101" charset="-122"/>
                <a:sym typeface="+mn-ea"/>
              </a:rPr>
              <a:t>W（</a:t>
            </a:r>
            <a:r>
              <a:rPr lang="en-US" altLang="zh-CN" sz="2000">
                <a:solidFill>
                  <a:schemeClr val="tx1"/>
                </a:solidFill>
                <a:uFillTx/>
                <a:latin typeface="Times New Roman" panose="02020603050405020304" charset="0"/>
                <a:ea typeface="楷体" panose="02010609060101010101" charset="-122"/>
                <a:cs typeface="楷体" panose="02010609060101010101" charset="-122"/>
                <a:sym typeface="+mn-ea"/>
              </a:rPr>
              <a:t>A</a:t>
            </a:r>
            <a:r>
              <a:rPr lang="zh-CN" altLang="en-US" sz="2000">
                <a:solidFill>
                  <a:schemeClr val="tx1"/>
                </a:solidFill>
                <a:uFillTx/>
                <a:latin typeface="Times New Roman" panose="02020603050405020304" charset="0"/>
                <a:ea typeface="楷体" panose="02010609060101010101" charset="-122"/>
                <a:cs typeface="楷体" panose="02010609060101010101" charset="-122"/>
                <a:sym typeface="+mn-ea"/>
              </a:rPr>
              <a:t>的逆矩阵</a:t>
            </a:r>
            <a:r>
              <a:rPr lang="zh-CN" altLang="en-US" sz="2000">
                <a:solidFill>
                  <a:schemeClr val="tx1"/>
                </a:solidFill>
                <a:uFillTx/>
                <a:latin typeface="Times New Roman" panose="02020603050405020304" charset="0"/>
                <a:ea typeface="楷体" panose="02010609060101010101" charset="-122"/>
                <a:cs typeface="楷体" panose="02010609060101010101" charset="-122"/>
                <a:sym typeface="+mn-ea"/>
              </a:rPr>
              <a:t>）</a:t>
            </a:r>
            <a:r>
              <a:rPr lang="en-US" altLang="zh-CN" sz="2000">
                <a:solidFill>
                  <a:schemeClr val="tx1"/>
                </a:solidFill>
                <a:uFillTx/>
                <a:latin typeface="Times New Roman" panose="02020603050405020304" charset="0"/>
                <a:ea typeface="楷体" panose="02010609060101010101" charset="-122"/>
                <a:cs typeface="楷体" panose="02010609060101010101" charset="-122"/>
                <a:sym typeface="+mn-ea"/>
              </a:rPr>
              <a:t>,</a:t>
            </a:r>
            <a:r>
              <a:rPr lang="zh-CN" altLang="en-US" sz="2000">
                <a:solidFill>
                  <a:schemeClr val="tx1"/>
                </a:solidFill>
                <a:uFillTx/>
                <a:latin typeface="Times New Roman" panose="02020603050405020304" charset="0"/>
                <a:ea typeface="楷体" panose="02010609060101010101" charset="-122"/>
                <a:cs typeface="楷体" panose="02010609060101010101" charset="-122"/>
                <a:sym typeface="+mn-ea"/>
              </a:rPr>
              <a:t>以此来计算源信号：</a:t>
            </a:r>
            <a:br>
              <a:rPr lang="zh-CN" altLang="en-US" sz="2000">
                <a:solidFill>
                  <a:schemeClr val="tx1"/>
                </a:solidFill>
                <a:uFillTx/>
                <a:latin typeface="Times New Roman" panose="02020603050405020304" charset="0"/>
                <a:ea typeface="楷体" panose="02010609060101010101" charset="-122"/>
                <a:cs typeface="楷体" panose="02010609060101010101" charset="-122"/>
                <a:sym typeface="+mn-ea"/>
              </a:rPr>
            </a:br>
            <a:r>
              <a:rPr lang="en-US" altLang="zh-CN" sz="2000">
                <a:solidFill>
                  <a:schemeClr val="tx1"/>
                </a:solidFill>
                <a:uFillTx/>
                <a:latin typeface="Times New Roman" panose="02020603050405020304" charset="0"/>
                <a:ea typeface="楷体" panose="02010609060101010101" charset="-122"/>
                <a:cs typeface="楷体" panose="02010609060101010101" charset="-122"/>
                <a:sym typeface="+mn-ea"/>
              </a:rPr>
              <a:t>	</a:t>
            </a:r>
            <a:endParaRPr lang="zh-CN" altLang="en-US" sz="2000">
              <a:solidFill>
                <a:schemeClr val="tx1"/>
              </a:solidFill>
              <a:uFillTx/>
              <a:latin typeface="Times New Roman" panose="02020603050405020304" charset="0"/>
              <a:ea typeface="楷体" panose="02010609060101010101" charset="-122"/>
              <a:cs typeface="楷体" panose="02010609060101010101" charset="-122"/>
              <a:sym typeface="+mn-ea"/>
            </a:endParaRPr>
          </a:p>
          <a:p>
            <a:br>
              <a:rPr lang="zh-CN" altLang="en-US" sz="2000">
                <a:solidFill>
                  <a:schemeClr val="tx1"/>
                </a:solidFill>
                <a:uFillTx/>
                <a:latin typeface="Times New Roman" panose="02020603050405020304" charset="0"/>
                <a:ea typeface="楷体" panose="02010609060101010101" charset="-122"/>
                <a:cs typeface="楷体" panose="02010609060101010101" charset="-122"/>
                <a:sym typeface="+mn-ea"/>
              </a:rPr>
            </a:br>
            <a:r>
              <a:rPr lang="zh-CN" altLang="en-US" sz="2000">
                <a:solidFill>
                  <a:schemeClr val="tx1"/>
                </a:solidFill>
                <a:uFillTx/>
                <a:latin typeface="Times New Roman" panose="02020603050405020304" charset="0"/>
                <a:ea typeface="楷体" panose="02010609060101010101" charset="-122"/>
                <a:cs typeface="楷体" panose="02010609060101010101" charset="-122"/>
                <a:sym typeface="+mn-ea"/>
              </a:rPr>
              <a:t>没有手臂摆动的加速度可以表示为：</a:t>
            </a:r>
            <a:endParaRPr lang="zh-CN" altLang="en-US" sz="2000">
              <a:solidFill>
                <a:schemeClr val="tx1"/>
              </a:solidFill>
              <a:uFillTx/>
              <a:latin typeface="Times New Roman" panose="02020603050405020304" charset="0"/>
              <a:ea typeface="楷体" panose="02010609060101010101" charset="-122"/>
              <a:cs typeface="楷体" panose="02010609060101010101" charset="-122"/>
              <a:sym typeface="+mn-ea"/>
            </a:endParaRPr>
          </a:p>
          <a:p>
            <a:r>
              <a:rPr lang="en-US" altLang="zh-CN" sz="2000">
                <a:solidFill>
                  <a:schemeClr val="tx1"/>
                </a:solidFill>
                <a:uFillTx/>
                <a:latin typeface="Times New Roman" panose="02020603050405020304" charset="0"/>
                <a:ea typeface="楷体" panose="02010609060101010101" charset="-122"/>
                <a:cs typeface="楷体" panose="02010609060101010101" charset="-122"/>
                <a:sym typeface="+mn-ea"/>
              </a:rPr>
              <a:t>	</a:t>
            </a:r>
            <a:br>
              <a:rPr lang="en-US" altLang="zh-CN" sz="2000">
                <a:solidFill>
                  <a:schemeClr val="tx1"/>
                </a:solidFill>
                <a:uFillTx/>
                <a:latin typeface="Times New Roman" panose="02020603050405020304" charset="0"/>
                <a:ea typeface="楷体" panose="02010609060101010101" charset="-122"/>
                <a:cs typeface="楷体" panose="02010609060101010101" charset="-122"/>
                <a:sym typeface="+mn-ea"/>
              </a:rPr>
            </a:br>
            <a:br>
              <a:rPr lang="en-US" altLang="zh-CN" sz="2000">
                <a:solidFill>
                  <a:schemeClr val="tx1"/>
                </a:solidFill>
                <a:uFillTx/>
                <a:latin typeface="Times New Roman" panose="02020603050405020304" charset="0"/>
                <a:ea typeface="楷体" panose="02010609060101010101" charset="-122"/>
                <a:cs typeface="楷体" panose="02010609060101010101" charset="-122"/>
                <a:sym typeface="+mn-ea"/>
              </a:rPr>
            </a:br>
            <a:br>
              <a:rPr lang="en-US" altLang="zh-CN" sz="2000">
                <a:solidFill>
                  <a:schemeClr val="tx1"/>
                </a:solidFill>
                <a:uFillTx/>
                <a:latin typeface="Times New Roman" panose="02020603050405020304" charset="0"/>
                <a:ea typeface="楷体" panose="02010609060101010101" charset="-122"/>
                <a:cs typeface="楷体" panose="02010609060101010101" charset="-122"/>
                <a:sym typeface="+mn-ea"/>
              </a:rPr>
            </a:br>
            <a:r>
              <a:rPr lang="en-US" altLang="zh-CN" sz="2000">
                <a:solidFill>
                  <a:schemeClr val="tx1"/>
                </a:solidFill>
                <a:uFillTx/>
                <a:latin typeface="Times New Roman" panose="02020603050405020304" charset="0"/>
                <a:ea typeface="楷体" panose="02010609060101010101" charset="-122"/>
                <a:cs typeface="楷体" panose="02010609060101010101" charset="-122"/>
                <a:sym typeface="+mn-ea"/>
              </a:rPr>
              <a:t>						    </a:t>
            </a:r>
            <a:r>
              <a:rPr lang="zh-CN" altLang="en-US" sz="2000">
                <a:solidFill>
                  <a:schemeClr val="tx1"/>
                </a:solidFill>
                <a:uFillTx/>
                <a:latin typeface="Times New Roman" panose="02020603050405020304" charset="0"/>
                <a:ea typeface="楷体" panose="02010609060101010101" charset="-122"/>
                <a:cs typeface="楷体" panose="02010609060101010101" charset="-122"/>
                <a:sym typeface="+mn-ea"/>
              </a:rPr>
              <a:t>（</a:t>
            </a:r>
            <a:r>
              <a:rPr lang="en-US" altLang="zh-CN" sz="2000">
                <a:solidFill>
                  <a:schemeClr val="tx1"/>
                </a:solidFill>
                <a:uFillTx/>
                <a:latin typeface="Times New Roman" panose="02020603050405020304" charset="0"/>
                <a:ea typeface="楷体" panose="02010609060101010101" charset="-122"/>
                <a:cs typeface="楷体" panose="02010609060101010101" charset="-122"/>
                <a:sym typeface="+mn-ea"/>
              </a:rPr>
              <a:t>3</a:t>
            </a:r>
            <a:r>
              <a:rPr lang="zh-CN" altLang="en-US" sz="2000">
                <a:solidFill>
                  <a:schemeClr val="tx1"/>
                </a:solidFill>
                <a:uFillTx/>
                <a:latin typeface="Times New Roman" panose="02020603050405020304" charset="0"/>
                <a:ea typeface="楷体" panose="02010609060101010101" charset="-122"/>
                <a:cs typeface="楷体" panose="02010609060101010101" charset="-122"/>
                <a:sym typeface="+mn-ea"/>
              </a:rPr>
              <a:t>）</a:t>
            </a:r>
            <a:br>
              <a:rPr lang="en-US" altLang="zh-CN" sz="2000">
                <a:solidFill>
                  <a:schemeClr val="tx1"/>
                </a:solidFill>
                <a:uFillTx/>
                <a:latin typeface="Times New Roman" panose="02020603050405020304" charset="0"/>
                <a:ea typeface="楷体" panose="02010609060101010101" charset="-122"/>
                <a:cs typeface="楷体" panose="02010609060101010101" charset="-122"/>
                <a:sym typeface="+mn-ea"/>
              </a:rPr>
            </a:br>
            <a:br>
              <a:rPr lang="en-US" altLang="zh-CN" sz="2000">
                <a:solidFill>
                  <a:schemeClr val="tx1"/>
                </a:solidFill>
                <a:uFillTx/>
                <a:latin typeface="Times New Roman" panose="02020603050405020304" charset="0"/>
                <a:ea typeface="楷体" panose="02010609060101010101" charset="-122"/>
                <a:cs typeface="楷体" panose="02010609060101010101" charset="-122"/>
                <a:sym typeface="+mn-ea"/>
              </a:rPr>
            </a:br>
            <a:endParaRPr lang="en-US" altLang="zh-CN" sz="2000">
              <a:solidFill>
                <a:schemeClr val="tx1"/>
              </a:solidFill>
              <a:uFillTx/>
              <a:latin typeface="Times New Roman" panose="02020603050405020304" charset="0"/>
              <a:ea typeface="楷体" panose="02010609060101010101" charset="-122"/>
              <a:cs typeface="楷体" panose="02010609060101010101" charset="-122"/>
              <a:sym typeface="+mn-ea"/>
            </a:endParaRPr>
          </a:p>
        </p:txBody>
      </p:sp>
      <p:pic>
        <p:nvPicPr>
          <p:cNvPr id="8" name="图片 7"/>
          <p:cNvPicPr>
            <a:picLocks noChangeAspect="1"/>
          </p:cNvPicPr>
          <p:nvPr/>
        </p:nvPicPr>
        <p:blipFill>
          <a:blip r:embed="rId2"/>
          <a:stretch>
            <a:fillRect/>
          </a:stretch>
        </p:blipFill>
        <p:spPr>
          <a:xfrm>
            <a:off x="1713230" y="3783965"/>
            <a:ext cx="3734435" cy="444500"/>
          </a:xfrm>
          <a:prstGeom prst="rect">
            <a:avLst/>
          </a:prstGeom>
        </p:spPr>
      </p:pic>
      <p:pic>
        <p:nvPicPr>
          <p:cNvPr id="9" name="图片 8"/>
          <p:cNvPicPr>
            <a:picLocks noChangeAspect="1"/>
          </p:cNvPicPr>
          <p:nvPr/>
        </p:nvPicPr>
        <p:blipFill>
          <a:blip r:embed="rId3"/>
          <a:stretch>
            <a:fillRect/>
          </a:stretch>
        </p:blipFill>
        <p:spPr>
          <a:xfrm>
            <a:off x="1713230" y="2522855"/>
            <a:ext cx="2072640" cy="330835"/>
          </a:xfrm>
          <a:prstGeom prst="rect">
            <a:avLst/>
          </a:prstGeom>
        </p:spPr>
      </p:pic>
      <p:graphicFrame>
        <p:nvGraphicFramePr>
          <p:cNvPr id="10" name="对象 9">
            <a:hlinkClick r:id="" action="ppaction://ole?verb="/>
          </p:cNvPr>
          <p:cNvGraphicFramePr>
            <a:graphicFrameLocks noChangeAspect="1"/>
          </p:cNvGraphicFramePr>
          <p:nvPr/>
        </p:nvGraphicFramePr>
        <p:xfrm>
          <a:off x="1713230" y="4785995"/>
          <a:ext cx="1946275" cy="1694815"/>
        </p:xfrm>
        <a:graphic>
          <a:graphicData uri="http://schemas.openxmlformats.org/presentationml/2006/ole">
            <mc:AlternateContent xmlns:mc="http://schemas.openxmlformats.org/markup-compatibility/2006">
              <mc:Choice xmlns:v="urn:schemas-microsoft-com:vml" Requires="v">
                <p:oleObj spid="_x0000_s11" name="" r:id="rId4" imgW="1079500" imgH="939800" progId="Equation.KSEE3">
                  <p:embed/>
                </p:oleObj>
              </mc:Choice>
              <mc:Fallback>
                <p:oleObj name="" r:id="rId4" imgW="1079500" imgH="939800" progId="Equation.KSEE3">
                  <p:embed/>
                  <p:pic>
                    <p:nvPicPr>
                      <p:cNvPr id="0" name="图片 3072"/>
                      <p:cNvPicPr/>
                      <p:nvPr/>
                    </p:nvPicPr>
                    <p:blipFill>
                      <a:blip r:embed="rId5"/>
                      <a:stretch>
                        <a:fillRect/>
                      </a:stretch>
                    </p:blipFill>
                    <p:spPr>
                      <a:xfrm>
                        <a:off x="1713230" y="4785995"/>
                        <a:ext cx="1946275" cy="1694815"/>
                      </a:xfrm>
                      <a:prstGeom prst="rect">
                        <a:avLst/>
                      </a:prstGeom>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chemeClr val="bg1"/>
                </a:solidFill>
              </a:rPr>
              <a:t>信号处理</a:t>
            </a:r>
            <a:endParaRPr lang="zh-CN" altLang="en-US">
              <a:solidFill>
                <a:schemeClr val="bg1"/>
              </a:solidFill>
            </a:endParaRPr>
          </a:p>
        </p:txBody>
      </p:sp>
      <p:sp>
        <p:nvSpPr>
          <p:cNvPr id="3" name="内容占位符 2"/>
          <p:cNvSpPr>
            <a:spLocks noGrp="1"/>
          </p:cNvSpPr>
          <p:nvPr>
            <p:ph idx="1"/>
          </p:nvPr>
        </p:nvSpPr>
        <p:spPr/>
        <p:txBody>
          <a:bodyPr/>
          <a:p>
            <a:pPr marL="0" algn="l">
              <a:buClrTx/>
              <a:buSzTx/>
              <a:buFontTx/>
              <a:buNone/>
            </a:pPr>
            <a:r>
              <a:rPr lang="zh-CN" altLang="en-US" sz="2400" b="1">
                <a:solidFill>
                  <a:schemeClr val="tx1"/>
                </a:solidFill>
                <a:uFillTx/>
                <a:latin typeface="Times New Roman" panose="02020603050405020304" charset="0"/>
                <a:ea typeface="楷体" panose="02010609060101010101" charset="-122"/>
                <a:cs typeface="+mn-lt"/>
              </a:rPr>
              <a:t>2.信号同步</a:t>
            </a:r>
            <a:endParaRPr lang="zh-CN" altLang="en-US" sz="2400" b="1">
              <a:solidFill>
                <a:schemeClr val="tx1"/>
              </a:solidFill>
              <a:uFillTx/>
              <a:latin typeface="Times New Roman" panose="02020603050405020304" charset="0"/>
              <a:ea typeface="楷体" panose="02010609060101010101" charset="-122"/>
              <a:cs typeface="+mn-lt"/>
            </a:endParaRPr>
          </a:p>
        </p:txBody>
      </p:sp>
      <p:pic>
        <p:nvPicPr>
          <p:cNvPr id="4" name="图片 3"/>
          <p:cNvPicPr>
            <a:picLocks noChangeAspect="1"/>
          </p:cNvPicPr>
          <p:nvPr/>
        </p:nvPicPr>
        <p:blipFill>
          <a:blip r:embed="rId1"/>
          <a:stretch>
            <a:fillRect/>
          </a:stretch>
        </p:blipFill>
        <p:spPr>
          <a:xfrm>
            <a:off x="6821805" y="2038350"/>
            <a:ext cx="4632960" cy="3909060"/>
          </a:xfrm>
          <a:prstGeom prst="rect">
            <a:avLst/>
          </a:prstGeom>
        </p:spPr>
      </p:pic>
      <p:sp>
        <p:nvSpPr>
          <p:cNvPr id="5" name="文本框 4"/>
          <p:cNvSpPr txBox="1"/>
          <p:nvPr/>
        </p:nvSpPr>
        <p:spPr>
          <a:xfrm>
            <a:off x="609600" y="2633980"/>
            <a:ext cx="5643880" cy="1938020"/>
          </a:xfrm>
          <a:prstGeom prst="rect">
            <a:avLst/>
          </a:prstGeom>
          <a:noFill/>
        </p:spPr>
        <p:txBody>
          <a:bodyPr wrap="square" rtlCol="0" anchor="t">
            <a:spAutoFit/>
          </a:bodyPr>
          <a:p>
            <a:r>
              <a:rPr lang="zh-CN" altLang="en-US" sz="2000">
                <a:uFillTx/>
                <a:latin typeface="Times New Roman" panose="02020603050405020304" charset="0"/>
                <a:ea typeface="楷体" panose="02010609060101010101" charset="-122"/>
                <a:cs typeface="楷体" panose="02010609060101010101" charset="-122"/>
                <a:sym typeface="+mn-ea"/>
              </a:rPr>
              <a:t>（1）时间同步</a:t>
            </a:r>
            <a:endParaRPr lang="zh-CN" altLang="en-US" sz="2000">
              <a:uFillTx/>
              <a:latin typeface="Times New Roman" panose="02020603050405020304" charset="0"/>
              <a:ea typeface="楷体" panose="02010609060101010101" charset="-122"/>
              <a:cs typeface="楷体" panose="02010609060101010101" charset="-122"/>
            </a:endParaRPr>
          </a:p>
          <a:p>
            <a:r>
              <a:rPr lang="zh-CN" altLang="en-US" sz="2000">
                <a:uFillTx/>
                <a:latin typeface="Times New Roman" panose="02020603050405020304" charset="0"/>
                <a:ea typeface="楷体" panose="02010609060101010101" charset="-122"/>
                <a:cs typeface="楷体" panose="02010609060101010101" charset="-122"/>
                <a:sym typeface="+mn-ea"/>
              </a:rPr>
              <a:t>在这项工作中，我们使用了一种基于事件的方法，其中设备检测脚跟撞击（Heel Strike）事件的时间点，使用这个事件作为锚点。在没有通信的情况下，脚跟撞击事件可以在每个设备上本地检测到，这消除了设备之间显式同步的需要。</a:t>
            </a:r>
            <a:endParaRPr lang="zh-CN" altLang="en-US" sz="2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chemeClr val="bg1"/>
                </a:solidFill>
              </a:rPr>
              <a:t>信号处理</a:t>
            </a:r>
            <a:endParaRPr lang="zh-CN" altLang="en-US">
              <a:solidFill>
                <a:schemeClr val="bg1"/>
              </a:solidFill>
            </a:endParaRPr>
          </a:p>
        </p:txBody>
      </p:sp>
      <p:sp>
        <p:nvSpPr>
          <p:cNvPr id="3" name="内容占位符 2"/>
          <p:cNvSpPr>
            <a:spLocks noGrp="1"/>
          </p:cNvSpPr>
          <p:nvPr>
            <p:ph idx="1"/>
          </p:nvPr>
        </p:nvSpPr>
        <p:spPr/>
        <p:txBody>
          <a:bodyPr/>
          <a:p>
            <a:pPr marL="0" algn="l">
              <a:buClrTx/>
              <a:buSzTx/>
              <a:buFontTx/>
              <a:buNone/>
            </a:pPr>
            <a:r>
              <a:rPr lang="zh-CN" altLang="en-US" sz="2400" b="1">
                <a:uFillTx/>
                <a:latin typeface="Times New Roman" panose="02020603050405020304" charset="0"/>
                <a:ea typeface="楷体" panose="02010609060101010101" charset="-122"/>
                <a:cs typeface="+mn-lt"/>
              </a:rPr>
              <a:t>2.信号同步</a:t>
            </a:r>
            <a:endParaRPr lang="zh-CN" altLang="en-US" sz="2400" b="1">
              <a:uFillTx/>
              <a:latin typeface="Times New Roman" panose="02020603050405020304" charset="0"/>
              <a:ea typeface="楷体" panose="02010609060101010101" charset="-122"/>
              <a:cs typeface="+mn-lt"/>
            </a:endParaRPr>
          </a:p>
        </p:txBody>
      </p:sp>
      <p:pic>
        <p:nvPicPr>
          <p:cNvPr id="6" name="图片 5"/>
          <p:cNvPicPr>
            <a:picLocks noChangeAspect="1"/>
          </p:cNvPicPr>
          <p:nvPr/>
        </p:nvPicPr>
        <p:blipFill>
          <a:blip r:embed="rId1"/>
          <a:stretch>
            <a:fillRect/>
          </a:stretch>
        </p:blipFill>
        <p:spPr>
          <a:xfrm>
            <a:off x="7315200" y="2327275"/>
            <a:ext cx="4414520" cy="3324860"/>
          </a:xfrm>
          <a:prstGeom prst="rect">
            <a:avLst/>
          </a:prstGeom>
        </p:spPr>
      </p:pic>
      <p:sp>
        <p:nvSpPr>
          <p:cNvPr id="7" name="文本框 6"/>
          <p:cNvSpPr txBox="1"/>
          <p:nvPr/>
        </p:nvSpPr>
        <p:spPr>
          <a:xfrm>
            <a:off x="508000" y="2398395"/>
            <a:ext cx="6553200" cy="1383665"/>
          </a:xfrm>
          <a:prstGeom prst="rect">
            <a:avLst/>
          </a:prstGeom>
          <a:noFill/>
        </p:spPr>
        <p:txBody>
          <a:bodyPr wrap="square" rtlCol="0">
            <a:spAutoFit/>
          </a:bodyPr>
          <a:p>
            <a:pPr algn="l">
              <a:buClrTx/>
              <a:buSzTx/>
              <a:buNone/>
            </a:pPr>
            <a:r>
              <a:rPr lang="zh-CN" altLang="en-US" sz="2000">
                <a:solidFill>
                  <a:schemeClr val="tx1"/>
                </a:solidFill>
                <a:uFillTx/>
                <a:latin typeface="Times New Roman" panose="02020603050405020304" charset="0"/>
                <a:ea typeface="楷体" panose="02010609060101010101" charset="-122"/>
                <a:cs typeface="楷体" panose="02010609060101010101" charset="-122"/>
              </a:rPr>
              <a:t>（</a:t>
            </a:r>
            <a:r>
              <a:rPr lang="zh-CN" altLang="en-US" sz="2000">
                <a:solidFill>
                  <a:schemeClr val="tx1"/>
                </a:solidFill>
                <a:uFillTx/>
                <a:latin typeface="Times New Roman" panose="02020603050405020304" charset="0"/>
                <a:ea typeface="楷体" panose="02010609060101010101" charset="-122"/>
                <a:cs typeface="楷体" panose="02010609060101010101" charset="-122"/>
              </a:rPr>
              <a:t>2）空间同步：</a:t>
            </a:r>
            <a:r>
              <a:rPr lang="zh-CN" altLang="en-US" sz="2000">
                <a:solidFill>
                  <a:schemeClr val="tx1"/>
                </a:solidFill>
                <a:uFillTx/>
                <a:latin typeface="Times New Roman" panose="02020603050405020304" charset="0"/>
                <a:ea typeface="楷体" panose="02010609060101010101" charset="-122"/>
                <a:cs typeface="楷体" panose="02010609060101010101" charset="-122"/>
                <a:sym typeface="+mn-ea"/>
              </a:rPr>
              <a:t>引进了一种独立于方位和位置的公共物体参考坐标系。</a:t>
            </a:r>
            <a:r>
              <a:rPr lang="zh-CN" altLang="en-US" sz="2000">
                <a:solidFill>
                  <a:schemeClr val="tx1"/>
                </a:solidFill>
                <a:uFillTx/>
                <a:latin typeface="Times New Roman" panose="02020603050405020304" charset="0"/>
                <a:ea typeface="楷体" panose="02010609060101010101" charset="-122"/>
                <a:cs typeface="楷体" panose="02010609060101010101" charset="-122"/>
              </a:rPr>
              <a:t>以智能手机为例，假设智能手机沿三个正交方向的线性加速度信号分别为Accx、Accy、Accz。在物体参考系中的线加速度可以计算为：</a:t>
            </a:r>
            <a:endParaRPr lang="zh-CN" altLang="en-US" sz="2000">
              <a:solidFill>
                <a:schemeClr val="tx1"/>
              </a:solidFill>
              <a:uFillTx/>
              <a:latin typeface="Times New Roman" panose="02020603050405020304" charset="0"/>
              <a:ea typeface="楷体" panose="02010609060101010101" charset="-122"/>
              <a:cs typeface="楷体" panose="02010609060101010101" charset="-122"/>
            </a:endParaRPr>
          </a:p>
        </p:txBody>
      </p:sp>
      <p:pic>
        <p:nvPicPr>
          <p:cNvPr id="9" name="图片 8"/>
          <p:cNvPicPr>
            <a:picLocks noChangeAspect="1"/>
          </p:cNvPicPr>
          <p:nvPr/>
        </p:nvPicPr>
        <p:blipFill>
          <a:blip r:embed="rId2"/>
          <a:stretch>
            <a:fillRect/>
          </a:stretch>
        </p:blipFill>
        <p:spPr>
          <a:xfrm>
            <a:off x="1940560" y="3782060"/>
            <a:ext cx="3445510" cy="911860"/>
          </a:xfrm>
          <a:prstGeom prst="rect">
            <a:avLst/>
          </a:prstGeom>
        </p:spPr>
      </p:pic>
      <p:sp>
        <p:nvSpPr>
          <p:cNvPr id="10" name="线形标注 1 9"/>
          <p:cNvSpPr/>
          <p:nvPr/>
        </p:nvSpPr>
        <p:spPr>
          <a:xfrm>
            <a:off x="1186180" y="5324475"/>
            <a:ext cx="2353310" cy="619125"/>
          </a:xfrm>
          <a:prstGeom prst="borderCallout1">
            <a:avLst>
              <a:gd name="adj1" fmla="val -923"/>
              <a:gd name="adj2" fmla="val 49001"/>
              <a:gd name="adj3" fmla="val -143076"/>
              <a:gd name="adj4" fmla="val 95250"/>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solidFill>
                  <a:schemeClr val="tx1"/>
                </a:solidFill>
                <a:uFillTx/>
                <a:latin typeface="Times New Roman" panose="02020603050405020304" charset="0"/>
                <a:ea typeface="楷体" panose="02010609060101010101" charset="-122"/>
                <a:cs typeface="楷体" panose="02010609060101010101" charset="-122"/>
                <a:sym typeface="+mn-ea"/>
              </a:rPr>
              <a:t>从世界坐标系到身体坐标系的旋转矩阵</a:t>
            </a:r>
            <a:endParaRPr lang="zh-CN" altLang="en-US">
              <a:solidFill>
                <a:schemeClr val="tx1"/>
              </a:solidFill>
              <a:uFillTx/>
              <a:latin typeface="Times New Roman" panose="02020603050405020304" charset="0"/>
              <a:ea typeface="楷体" panose="02010609060101010101" charset="-122"/>
              <a:cs typeface="楷体" panose="02010609060101010101" charset="-122"/>
              <a:sym typeface="+mn-ea"/>
            </a:endParaRPr>
          </a:p>
        </p:txBody>
      </p:sp>
      <p:sp>
        <p:nvSpPr>
          <p:cNvPr id="11" name="线形标注 1 10"/>
          <p:cNvSpPr/>
          <p:nvPr/>
        </p:nvSpPr>
        <p:spPr>
          <a:xfrm>
            <a:off x="4230370" y="5324475"/>
            <a:ext cx="2393315" cy="619760"/>
          </a:xfrm>
          <a:prstGeom prst="borderCallout1">
            <a:avLst>
              <a:gd name="adj1" fmla="val -2561"/>
              <a:gd name="adj2" fmla="val 49721"/>
              <a:gd name="adj3" fmla="val -144262"/>
              <a:gd name="adj4" fmla="val -13266"/>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solidFill>
                  <a:schemeClr val="tx1"/>
                </a:solidFill>
                <a:uFillTx/>
                <a:latin typeface="Times New Roman" panose="02020603050405020304" charset="0"/>
                <a:ea typeface="楷体" panose="02010609060101010101" charset="-122"/>
                <a:cs typeface="楷体" panose="02010609060101010101" charset="-122"/>
                <a:sym typeface="+mn-ea"/>
              </a:rPr>
              <a:t>从设备坐标系到世界坐标系的旋转矩阵</a:t>
            </a:r>
            <a:endParaRPr lang="zh-CN" altLang="en-US">
              <a:solidFill>
                <a:schemeClr val="tx1"/>
              </a:solidFill>
              <a:uFillTx/>
              <a:latin typeface="Times New Roman" panose="02020603050405020304" charset="0"/>
              <a:ea typeface="楷体" panose="02010609060101010101" charset="-122"/>
              <a:cs typeface="楷体" panose="02010609060101010101" charset="-122"/>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chemeClr val="bg1"/>
                </a:solidFill>
              </a:rPr>
              <a:t>密钥生成</a:t>
            </a:r>
            <a:endParaRPr lang="zh-CN" altLang="en-US">
              <a:solidFill>
                <a:schemeClr val="bg1"/>
              </a:solidFill>
            </a:endParaRPr>
          </a:p>
        </p:txBody>
      </p:sp>
      <p:sp>
        <p:nvSpPr>
          <p:cNvPr id="3" name="内容占位符 2"/>
          <p:cNvSpPr>
            <a:spLocks noGrp="1"/>
          </p:cNvSpPr>
          <p:nvPr>
            <p:ph idx="1"/>
          </p:nvPr>
        </p:nvSpPr>
        <p:spPr/>
        <p:txBody>
          <a:bodyPr/>
          <a:p>
            <a:pPr marL="0" algn="l">
              <a:buClrTx/>
              <a:buSzTx/>
              <a:buFontTx/>
              <a:buNone/>
            </a:pPr>
            <a:r>
              <a:rPr lang="zh-CN" altLang="en-US" sz="2400" b="1">
                <a:uFillTx/>
                <a:latin typeface="Times New Roman" panose="02020603050405020304" charset="0"/>
                <a:ea typeface="楷体" panose="02010609060101010101" charset="-122"/>
                <a:cs typeface="+mn-lt"/>
              </a:rPr>
              <a:t>1.多层量化</a:t>
            </a:r>
            <a:endParaRPr lang="zh-CN" altLang="en-US" sz="2400" b="1">
              <a:uFillTx/>
              <a:latin typeface="Times New Roman" panose="02020603050405020304" charset="0"/>
              <a:ea typeface="楷体" panose="02010609060101010101" charset="-122"/>
              <a:cs typeface="+mn-lt"/>
            </a:endParaRPr>
          </a:p>
        </p:txBody>
      </p:sp>
      <p:sp>
        <p:nvSpPr>
          <p:cNvPr id="5" name="文本框 4"/>
          <p:cNvSpPr txBox="1"/>
          <p:nvPr/>
        </p:nvSpPr>
        <p:spPr>
          <a:xfrm>
            <a:off x="869315" y="2433955"/>
            <a:ext cx="10403205" cy="922020"/>
          </a:xfrm>
          <a:prstGeom prst="rect">
            <a:avLst/>
          </a:prstGeom>
          <a:noFill/>
        </p:spPr>
        <p:txBody>
          <a:bodyPr wrap="square" rtlCol="0" anchor="t">
            <a:spAutoFit/>
          </a:bodyPr>
          <a:p>
            <a:r>
              <a:rPr lang="zh-CN" altLang="en-US">
                <a:solidFill>
                  <a:schemeClr val="tx1"/>
                </a:solidFill>
                <a:uFillTx/>
                <a:latin typeface="Times New Roman" panose="02020603050405020304" charset="0"/>
              </a:rPr>
              <a:t>We perform filtering, then quantization for the acceleration values along the three directions separately. We first apply a low-pass filter for noise reduction. The cutoff frequency is chosen as 10Hz, as the useful frequency of human motion lies below 10Hz</a:t>
            </a:r>
            <a:endParaRPr lang="zh-CN" altLang="en-US">
              <a:solidFill>
                <a:schemeClr val="tx1"/>
              </a:solidFill>
              <a:uFillTx/>
              <a:latin typeface="Times New Roman" panose="02020603050405020304" charset="0"/>
            </a:endParaRPr>
          </a:p>
        </p:txBody>
      </p:sp>
      <p:sp>
        <p:nvSpPr>
          <p:cNvPr id="6" name="文本框 5"/>
          <p:cNvSpPr txBox="1"/>
          <p:nvPr/>
        </p:nvSpPr>
        <p:spPr>
          <a:xfrm>
            <a:off x="869315" y="3909695"/>
            <a:ext cx="5408930" cy="1198880"/>
          </a:xfrm>
          <a:prstGeom prst="rect">
            <a:avLst/>
          </a:prstGeom>
          <a:noFill/>
        </p:spPr>
        <p:txBody>
          <a:bodyPr wrap="square" rtlCol="0" anchor="t">
            <a:spAutoFit/>
          </a:bodyPr>
          <a:p>
            <a:pPr algn="l">
              <a:buClrTx/>
              <a:buSzTx/>
              <a:buFontTx/>
            </a:pPr>
            <a:r>
              <a:rPr lang="zh-CN" altLang="en-US">
                <a:uFillTx/>
                <a:latin typeface="Times New Roman" panose="02020603050405020304" charset="0"/>
              </a:rPr>
              <a:t>More specifically, we segment the acceleration values with a moving window with no overlap (window size W). Thereafter, for each window, we generate bits by the following steps:</a:t>
            </a:r>
            <a:endParaRPr lang="en-US" altLang="zh-CN">
              <a:uFillTx/>
              <a:latin typeface="Times New Roman" panose="02020603050405020304" charset="0"/>
            </a:endParaRPr>
          </a:p>
        </p:txBody>
      </p:sp>
      <p:pic>
        <p:nvPicPr>
          <p:cNvPr id="7" name="图片 6"/>
          <p:cNvPicPr>
            <a:picLocks noChangeAspect="1"/>
          </p:cNvPicPr>
          <p:nvPr/>
        </p:nvPicPr>
        <p:blipFill>
          <a:blip r:embed="rId1"/>
          <a:stretch>
            <a:fillRect/>
          </a:stretch>
        </p:blipFill>
        <p:spPr>
          <a:xfrm>
            <a:off x="6654800" y="3514090"/>
            <a:ext cx="4617720" cy="24155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chemeClr val="bg1"/>
                </a:solidFill>
              </a:rPr>
              <a:t>密钥生成</a:t>
            </a:r>
            <a:endParaRPr lang="zh-CN" altLang="en-US">
              <a:solidFill>
                <a:schemeClr val="bg1"/>
              </a:solidFill>
            </a:endParaRPr>
          </a:p>
        </p:txBody>
      </p:sp>
      <p:sp>
        <p:nvSpPr>
          <p:cNvPr id="3" name="内容占位符 2"/>
          <p:cNvSpPr>
            <a:spLocks noGrp="1"/>
          </p:cNvSpPr>
          <p:nvPr>
            <p:ph idx="1"/>
          </p:nvPr>
        </p:nvSpPr>
        <p:spPr/>
        <p:txBody>
          <a:bodyPr/>
          <a:p>
            <a:pPr marL="0" algn="l">
              <a:buClrTx/>
              <a:buSzTx/>
              <a:buFontTx/>
              <a:buNone/>
            </a:pPr>
            <a:r>
              <a:rPr lang="zh-CN" altLang="en-US" sz="2400" b="1">
                <a:uFillTx/>
                <a:latin typeface="Times New Roman" panose="02020603050405020304" charset="0"/>
                <a:ea typeface="楷体" panose="02010609060101010101" charset="-122"/>
                <a:cs typeface="+mn-lt"/>
              </a:rPr>
              <a:t>1.多层量化</a:t>
            </a:r>
            <a:endParaRPr lang="zh-CN" altLang="en-US" sz="2400" b="1">
              <a:uFillTx/>
              <a:latin typeface="Times New Roman" panose="02020603050405020304" charset="0"/>
              <a:ea typeface="楷体" panose="02010609060101010101" charset="-122"/>
              <a:cs typeface="+mn-lt"/>
            </a:endParaRPr>
          </a:p>
        </p:txBody>
      </p:sp>
      <p:pic>
        <p:nvPicPr>
          <p:cNvPr id="9" name="图片 8"/>
          <p:cNvPicPr>
            <a:picLocks noChangeAspect="1"/>
          </p:cNvPicPr>
          <p:nvPr/>
        </p:nvPicPr>
        <p:blipFill>
          <a:blip r:embed="rId1"/>
          <a:stretch>
            <a:fillRect/>
          </a:stretch>
        </p:blipFill>
        <p:spPr>
          <a:xfrm>
            <a:off x="7316470" y="3888740"/>
            <a:ext cx="4625340" cy="2339340"/>
          </a:xfrm>
          <a:prstGeom prst="rect">
            <a:avLst/>
          </a:prstGeom>
        </p:spPr>
      </p:pic>
      <p:pic>
        <p:nvPicPr>
          <p:cNvPr id="4" name="图片 3"/>
          <p:cNvPicPr>
            <a:picLocks noChangeAspect="1"/>
          </p:cNvPicPr>
          <p:nvPr/>
        </p:nvPicPr>
        <p:blipFill>
          <a:blip r:embed="rId2"/>
          <a:stretch>
            <a:fillRect/>
          </a:stretch>
        </p:blipFill>
        <p:spPr>
          <a:xfrm>
            <a:off x="7324090" y="1191260"/>
            <a:ext cx="4617720" cy="2415540"/>
          </a:xfrm>
          <a:prstGeom prst="rect">
            <a:avLst/>
          </a:prstGeom>
        </p:spPr>
      </p:pic>
      <p:sp>
        <p:nvSpPr>
          <p:cNvPr id="8" name="文本框 7"/>
          <p:cNvSpPr txBox="1"/>
          <p:nvPr/>
        </p:nvSpPr>
        <p:spPr>
          <a:xfrm>
            <a:off x="609600" y="2214880"/>
            <a:ext cx="6862445" cy="4092575"/>
          </a:xfrm>
          <a:prstGeom prst="rect">
            <a:avLst/>
          </a:prstGeom>
          <a:noFill/>
        </p:spPr>
        <p:txBody>
          <a:bodyPr wrap="square" rtlCol="0">
            <a:spAutoFit/>
          </a:bodyPr>
          <a:p>
            <a:r>
              <a:rPr lang="zh-CN" altLang="en-US" sz="2000">
                <a:solidFill>
                  <a:schemeClr val="tx1"/>
                </a:solidFill>
                <a:uFillTx/>
                <a:latin typeface="Times New Roman" panose="02020603050405020304" charset="0"/>
                <a:ea typeface="楷体" panose="02010609060101010101" charset="-122"/>
                <a:cs typeface="+mn-lt"/>
              </a:rPr>
              <a:t>（</a:t>
            </a:r>
            <a:r>
              <a:rPr lang="en-US" altLang="zh-CN" sz="2000">
                <a:solidFill>
                  <a:schemeClr val="tx1"/>
                </a:solidFill>
                <a:uFillTx/>
                <a:latin typeface="Times New Roman" panose="02020603050405020304" charset="0"/>
                <a:ea typeface="楷体" panose="02010609060101010101" charset="-122"/>
                <a:cs typeface="+mn-lt"/>
              </a:rPr>
              <a:t>1</a:t>
            </a:r>
            <a:r>
              <a:rPr lang="zh-CN" altLang="en-US" sz="2000">
                <a:solidFill>
                  <a:schemeClr val="tx1"/>
                </a:solidFill>
                <a:uFillTx/>
                <a:latin typeface="Times New Roman" panose="02020603050405020304" charset="0"/>
                <a:ea typeface="楷体" panose="02010609060101010101" charset="-122"/>
                <a:cs typeface="+mn-lt"/>
              </a:rPr>
              <a:t>）确定位数的上界</a:t>
            </a:r>
            <a:endParaRPr lang="en-US" altLang="zh-CN" sz="2000">
              <a:solidFill>
                <a:schemeClr val="tx1"/>
              </a:solidFill>
              <a:uFillTx/>
              <a:latin typeface="Times New Roman" panose="02020603050405020304" charset="0"/>
              <a:ea typeface="楷体" panose="02010609060101010101" charset="-122"/>
              <a:cs typeface="+mn-lt"/>
            </a:endParaRPr>
          </a:p>
          <a:p>
            <a:r>
              <a:rPr lang="zh-CN" altLang="en-US" sz="2000">
                <a:solidFill>
                  <a:schemeClr val="tx1"/>
                </a:solidFill>
                <a:uFillTx/>
                <a:ea typeface="楷体" panose="02010609060101010101" charset="-122"/>
                <a:cs typeface="+mn-lt"/>
              </a:rPr>
              <a:t>             先计算样本的近似熵</a:t>
            </a:r>
            <a:r>
              <a:rPr lang="en-US" altLang="zh-CN" sz="2000">
                <a:solidFill>
                  <a:schemeClr val="tx1"/>
                </a:solidFill>
                <a:uFillTx/>
                <a:ea typeface="楷体" panose="02010609060101010101" charset="-122"/>
                <a:cs typeface="+mn-lt"/>
              </a:rPr>
              <a:t>:</a:t>
            </a:r>
            <a:r>
              <a:rPr lang="en-US" altLang="zh-CN" sz="2000">
                <a:solidFill>
                  <a:schemeClr val="tx1"/>
                </a:solidFill>
                <a:uFillTx/>
                <a:ea typeface="楷体" panose="02010609060101010101" charset="-122"/>
                <a:cs typeface="+mn-lt"/>
              </a:rPr>
              <a:t>	</a:t>
            </a:r>
            <a:endParaRPr lang="zh-CN" altLang="en-US" sz="2000">
              <a:solidFill>
                <a:schemeClr val="tx1"/>
              </a:solidFill>
              <a:uFillTx/>
              <a:ea typeface="楷体" panose="02010609060101010101" charset="-122"/>
              <a:cs typeface="+mn-lt"/>
            </a:endParaRPr>
          </a:p>
          <a:p>
            <a:r>
              <a:rPr lang="en-US" altLang="zh-CN" sz="2000">
                <a:solidFill>
                  <a:schemeClr val="tx1"/>
                </a:solidFill>
                <a:uFillTx/>
                <a:ea typeface="楷体" panose="02010609060101010101" charset="-122"/>
                <a:cs typeface="+mn-lt"/>
              </a:rPr>
              <a:t>	</a:t>
            </a:r>
            <a:r>
              <a:rPr lang="zh-CN" altLang="en-US" sz="2000">
                <a:solidFill>
                  <a:schemeClr val="tx1"/>
                </a:solidFill>
                <a:uFillTx/>
                <a:ea typeface="楷体" panose="02010609060101010101" charset="-122"/>
                <a:cs typeface="+mn-lt"/>
              </a:rPr>
              <a:t>量化级的上界为</a:t>
            </a:r>
            <a:r>
              <a:rPr lang="en-US" altLang="zh-CN" sz="2000">
                <a:solidFill>
                  <a:schemeClr val="tx1"/>
                </a:solidFill>
                <a:uFillTx/>
                <a:ea typeface="楷体" panose="02010609060101010101" charset="-122"/>
                <a:cs typeface="+mn-lt"/>
              </a:rPr>
              <a:t>:</a:t>
            </a:r>
            <a:r>
              <a:rPr lang="en-US" altLang="zh-CN" sz="2000">
                <a:solidFill>
                  <a:schemeClr val="tx1"/>
                </a:solidFill>
                <a:uFillTx/>
                <a:ea typeface="楷体" panose="02010609060101010101" charset="-122"/>
                <a:cs typeface="+mn-lt"/>
              </a:rPr>
              <a:t>	</a:t>
            </a:r>
            <a:endParaRPr lang="en-US" altLang="zh-CN" sz="2000">
              <a:solidFill>
                <a:schemeClr val="tx1"/>
              </a:solidFill>
              <a:uFillTx/>
              <a:ea typeface="楷体" panose="02010609060101010101" charset="-122"/>
              <a:cs typeface="+mn-lt"/>
            </a:endParaRPr>
          </a:p>
          <a:p>
            <a:endParaRPr lang="zh-CN" altLang="en-US" sz="2000">
              <a:solidFill>
                <a:schemeClr val="tx1"/>
              </a:solidFill>
              <a:uFillTx/>
              <a:ea typeface="楷体" panose="02010609060101010101" charset="-122"/>
              <a:cs typeface="+mn-lt"/>
            </a:endParaRPr>
          </a:p>
          <a:p>
            <a:pPr algn="l">
              <a:buClrTx/>
              <a:buSzTx/>
              <a:buFontTx/>
            </a:pPr>
            <a:r>
              <a:rPr lang="zh-CN" altLang="en-US" sz="2000">
                <a:solidFill>
                  <a:schemeClr val="tx1"/>
                </a:solidFill>
                <a:uFillTx/>
                <a:latin typeface="Times New Roman" panose="02020603050405020304" charset="0"/>
                <a:ea typeface="楷体" panose="02010609060101010101" charset="-122"/>
                <a:cs typeface="+mn-lt"/>
              </a:rPr>
              <a:t>（2）确定量化区间</a:t>
            </a:r>
            <a:endParaRPr lang="zh-CN" altLang="en-US" sz="2000">
              <a:solidFill>
                <a:schemeClr val="tx1"/>
              </a:solidFill>
              <a:uFillTx/>
              <a:latin typeface="Times New Roman" panose="02020603050405020304" charset="0"/>
              <a:ea typeface="楷体" panose="02010609060101010101" charset="-122"/>
              <a:cs typeface="+mn-lt"/>
            </a:endParaRPr>
          </a:p>
          <a:p>
            <a:r>
              <a:rPr lang="zh-CN" altLang="en-US" sz="2000">
                <a:solidFill>
                  <a:schemeClr val="tx1"/>
                </a:solidFill>
                <a:uFillTx/>
                <a:ea typeface="楷体" panose="02010609060101010101" charset="-122"/>
                <a:cs typeface="+mn-lt"/>
              </a:rPr>
              <a:t>    </a:t>
            </a:r>
            <a:r>
              <a:rPr lang="en-US" altLang="zh-CN" sz="2000">
                <a:solidFill>
                  <a:schemeClr val="tx1"/>
                </a:solidFill>
                <a:uFillTx/>
                <a:ea typeface="楷体" panose="02010609060101010101" charset="-122"/>
                <a:cs typeface="+mn-lt"/>
              </a:rPr>
              <a:t>	</a:t>
            </a:r>
            <a:r>
              <a:rPr lang="zh-CN" altLang="en-US" sz="2000">
                <a:solidFill>
                  <a:schemeClr val="tx1"/>
                </a:solidFill>
                <a:uFillTx/>
                <a:ea typeface="楷体" panose="02010609060101010101" charset="-122"/>
                <a:cs typeface="+mn-lt"/>
              </a:rPr>
              <a:t>单个量化区间由以下方程计算：</a:t>
            </a:r>
            <a:endParaRPr lang="zh-CN" altLang="en-US" sz="2000">
              <a:solidFill>
                <a:schemeClr val="tx1"/>
              </a:solidFill>
              <a:uFillTx/>
              <a:ea typeface="楷体" panose="02010609060101010101" charset="-122"/>
              <a:cs typeface="+mn-lt"/>
            </a:endParaRPr>
          </a:p>
          <a:p>
            <a:endParaRPr lang="zh-CN" altLang="en-US" sz="2000">
              <a:solidFill>
                <a:schemeClr val="tx1"/>
              </a:solidFill>
              <a:uFillTx/>
              <a:ea typeface="楷体" panose="02010609060101010101" charset="-122"/>
              <a:cs typeface="+mn-lt"/>
            </a:endParaRPr>
          </a:p>
          <a:p>
            <a:r>
              <a:rPr lang="zh-CN" altLang="en-US" sz="2000">
                <a:solidFill>
                  <a:schemeClr val="tx1"/>
                </a:solidFill>
                <a:uFillTx/>
                <a:ea typeface="楷体" panose="02010609060101010101" charset="-122"/>
                <a:cs typeface="+mn-lt"/>
              </a:rPr>
              <a:t>    </a:t>
            </a:r>
            <a:r>
              <a:rPr lang="en-US" altLang="zh-CN" sz="2000">
                <a:solidFill>
                  <a:schemeClr val="tx1"/>
                </a:solidFill>
                <a:uFillTx/>
                <a:ea typeface="楷体" panose="02010609060101010101" charset="-122"/>
                <a:cs typeface="+mn-lt"/>
              </a:rPr>
              <a:t>	</a:t>
            </a:r>
            <a:endParaRPr lang="en-US" altLang="zh-CN" sz="2000">
              <a:solidFill>
                <a:schemeClr val="tx1"/>
              </a:solidFill>
              <a:uFillTx/>
              <a:ea typeface="楷体" panose="02010609060101010101" charset="-122"/>
              <a:cs typeface="+mn-lt"/>
            </a:endParaRPr>
          </a:p>
          <a:p>
            <a:r>
              <a:rPr lang="en-US" altLang="zh-CN" sz="2000">
                <a:solidFill>
                  <a:schemeClr val="tx1"/>
                </a:solidFill>
                <a:uFillTx/>
                <a:ea typeface="楷体" panose="02010609060101010101" charset="-122"/>
                <a:cs typeface="+mn-lt"/>
              </a:rPr>
              <a:t>	</a:t>
            </a:r>
            <a:r>
              <a:rPr lang="zh-CN" altLang="en-US" sz="2000">
                <a:solidFill>
                  <a:schemeClr val="tx1"/>
                </a:solidFill>
                <a:uFillTx/>
                <a:ea typeface="楷体" panose="02010609060101010101" charset="-122"/>
                <a:cs typeface="+mn-lt"/>
              </a:rPr>
              <a:t>量化区间的长度和保护带的大小由此计算</a:t>
            </a:r>
            <a:endParaRPr lang="zh-CN" altLang="en-US" sz="2000">
              <a:solidFill>
                <a:schemeClr val="tx1"/>
              </a:solidFill>
              <a:uFillTx/>
              <a:ea typeface="楷体" panose="02010609060101010101" charset="-122"/>
              <a:cs typeface="+mn-lt"/>
            </a:endParaRPr>
          </a:p>
          <a:p>
            <a:endParaRPr lang="zh-CN" altLang="en-US" sz="2000">
              <a:solidFill>
                <a:schemeClr val="tx1"/>
              </a:solidFill>
              <a:uFillTx/>
              <a:ea typeface="楷体" panose="02010609060101010101" charset="-122"/>
              <a:cs typeface="+mn-lt"/>
            </a:endParaRPr>
          </a:p>
          <a:p>
            <a:endParaRPr lang="zh-CN" altLang="en-US" sz="2000">
              <a:solidFill>
                <a:schemeClr val="tx1"/>
              </a:solidFill>
              <a:uFillTx/>
              <a:ea typeface="楷体" panose="02010609060101010101" charset="-122"/>
              <a:cs typeface="+mn-lt"/>
            </a:endParaRPr>
          </a:p>
          <a:p>
            <a:endParaRPr lang="zh-CN" altLang="en-US" sz="2000">
              <a:solidFill>
                <a:schemeClr val="tx1"/>
              </a:solidFill>
              <a:uFillTx/>
              <a:ea typeface="楷体" panose="02010609060101010101" charset="-122"/>
              <a:cs typeface="+mn-lt"/>
            </a:endParaRPr>
          </a:p>
          <a:p>
            <a:pPr algn="l">
              <a:buClrTx/>
              <a:buSzTx/>
              <a:buFontTx/>
            </a:pPr>
            <a:r>
              <a:rPr lang="zh-CN" altLang="en-US" sz="2000">
                <a:solidFill>
                  <a:schemeClr val="tx1"/>
                </a:solidFill>
                <a:uFillTx/>
                <a:latin typeface="Times New Roman" panose="02020603050405020304" charset="0"/>
                <a:ea typeface="楷体" panose="02010609060101010101" charset="-122"/>
                <a:cs typeface="+mn-lt"/>
              </a:rPr>
              <a:t>（3）提取密钥</a:t>
            </a:r>
            <a:endParaRPr lang="zh-CN" altLang="en-US" sz="2000">
              <a:solidFill>
                <a:schemeClr val="tx1"/>
              </a:solidFill>
              <a:uFillTx/>
              <a:latin typeface="Times New Roman" panose="02020603050405020304" charset="0"/>
              <a:ea typeface="楷体" panose="02010609060101010101" charset="-122"/>
              <a:cs typeface="+mn-lt"/>
            </a:endParaRPr>
          </a:p>
        </p:txBody>
      </p:sp>
      <p:graphicFrame>
        <p:nvGraphicFramePr>
          <p:cNvPr id="10" name="对象 9">
            <a:hlinkClick r:id="" action="ppaction://ole?verb="/>
          </p:cNvPr>
          <p:cNvGraphicFramePr>
            <a:graphicFrameLocks noChangeAspect="1"/>
          </p:cNvGraphicFramePr>
          <p:nvPr/>
        </p:nvGraphicFramePr>
        <p:xfrm>
          <a:off x="3909060" y="2469515"/>
          <a:ext cx="2668270" cy="455930"/>
        </p:xfrm>
        <a:graphic>
          <a:graphicData uri="http://schemas.openxmlformats.org/presentationml/2006/ole">
            <mc:AlternateContent xmlns:mc="http://schemas.openxmlformats.org/markup-compatibility/2006">
              <mc:Choice xmlns:v="urn:schemas-microsoft-com:vml" Requires="v">
                <p:oleObj spid="_x0000_s1025" name="" r:id="rId3" imgW="1562100" imgH="266700" progId="Equation.KSEE3">
                  <p:embed/>
                </p:oleObj>
              </mc:Choice>
              <mc:Fallback>
                <p:oleObj name="" r:id="rId3" imgW="1562100" imgH="266700" progId="Equation.KSEE3">
                  <p:embed/>
                  <p:pic>
                    <p:nvPicPr>
                      <p:cNvPr id="0" name="图片 1024"/>
                      <p:cNvPicPr/>
                      <p:nvPr/>
                    </p:nvPicPr>
                    <p:blipFill>
                      <a:blip r:embed="rId4"/>
                      <a:stretch>
                        <a:fillRect/>
                      </a:stretch>
                    </p:blipFill>
                    <p:spPr>
                      <a:xfrm>
                        <a:off x="3909060" y="2469515"/>
                        <a:ext cx="2668270" cy="455930"/>
                      </a:xfrm>
                      <a:prstGeom prst="rect">
                        <a:avLst/>
                      </a:prstGeom>
                    </p:spPr>
                  </p:pic>
                </p:oleObj>
              </mc:Fallback>
            </mc:AlternateContent>
          </a:graphicData>
        </a:graphic>
      </p:graphicFrame>
      <p:graphicFrame>
        <p:nvGraphicFramePr>
          <p:cNvPr id="11" name="对象 10">
            <a:hlinkClick r:id="" action="ppaction://ole?verb="/>
          </p:cNvPr>
          <p:cNvGraphicFramePr>
            <a:graphicFrameLocks noChangeAspect="1"/>
          </p:cNvGraphicFramePr>
          <p:nvPr/>
        </p:nvGraphicFramePr>
        <p:xfrm>
          <a:off x="3479800" y="2787015"/>
          <a:ext cx="1122680" cy="427355"/>
        </p:xfrm>
        <a:graphic>
          <a:graphicData uri="http://schemas.openxmlformats.org/presentationml/2006/ole">
            <mc:AlternateContent xmlns:mc="http://schemas.openxmlformats.org/markup-compatibility/2006">
              <mc:Choice xmlns:v="urn:schemas-microsoft-com:vml" Requires="v">
                <p:oleObj spid="_x0000_s1026" name="" r:id="rId5" imgW="634365" imgH="241300" progId="Equation.KSEE3">
                  <p:embed/>
                </p:oleObj>
              </mc:Choice>
              <mc:Fallback>
                <p:oleObj name="" r:id="rId5" imgW="634365" imgH="241300" progId="Equation.KSEE3">
                  <p:embed/>
                  <p:pic>
                    <p:nvPicPr>
                      <p:cNvPr id="0" name="图片 1025"/>
                      <p:cNvPicPr/>
                      <p:nvPr/>
                    </p:nvPicPr>
                    <p:blipFill>
                      <a:blip r:embed="rId6"/>
                      <a:stretch>
                        <a:fillRect/>
                      </a:stretch>
                    </p:blipFill>
                    <p:spPr>
                      <a:xfrm>
                        <a:off x="3479800" y="2787015"/>
                        <a:ext cx="1122680" cy="427355"/>
                      </a:xfrm>
                      <a:prstGeom prst="rect">
                        <a:avLst/>
                      </a:prstGeom>
                    </p:spPr>
                  </p:pic>
                </p:oleObj>
              </mc:Fallback>
            </mc:AlternateContent>
          </a:graphicData>
        </a:graphic>
      </p:graphicFrame>
      <p:pic>
        <p:nvPicPr>
          <p:cNvPr id="12" name="图片 11"/>
          <p:cNvPicPr>
            <a:picLocks noChangeAspect="1"/>
          </p:cNvPicPr>
          <p:nvPr/>
        </p:nvPicPr>
        <p:blipFill>
          <a:blip r:embed="rId7"/>
          <a:stretch>
            <a:fillRect/>
          </a:stretch>
        </p:blipFill>
        <p:spPr>
          <a:xfrm>
            <a:off x="1026795" y="4206240"/>
            <a:ext cx="6027420" cy="358140"/>
          </a:xfrm>
          <a:prstGeom prst="rect">
            <a:avLst/>
          </a:prstGeom>
        </p:spPr>
      </p:pic>
      <p:pic>
        <p:nvPicPr>
          <p:cNvPr id="13" name="图片 12"/>
          <p:cNvPicPr>
            <a:picLocks noChangeAspect="1"/>
          </p:cNvPicPr>
          <p:nvPr/>
        </p:nvPicPr>
        <p:blipFill>
          <a:blip r:embed="rId8"/>
          <a:stretch>
            <a:fillRect/>
          </a:stretch>
        </p:blipFill>
        <p:spPr>
          <a:xfrm>
            <a:off x="1625600" y="5102860"/>
            <a:ext cx="4320540" cy="70866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chemeClr val="bg1"/>
                </a:solidFill>
              </a:rPr>
              <a:t>密钥生成</a:t>
            </a:r>
            <a:endParaRPr lang="zh-CN" altLang="en-US">
              <a:solidFill>
                <a:schemeClr val="bg1"/>
              </a:solidFill>
            </a:endParaRPr>
          </a:p>
        </p:txBody>
      </p:sp>
      <p:sp>
        <p:nvSpPr>
          <p:cNvPr id="3" name="内容占位符 2"/>
          <p:cNvSpPr>
            <a:spLocks noGrp="1"/>
          </p:cNvSpPr>
          <p:nvPr>
            <p:ph idx="1"/>
          </p:nvPr>
        </p:nvSpPr>
        <p:spPr>
          <a:xfrm>
            <a:off x="609600" y="1518920"/>
            <a:ext cx="10972800" cy="4526280"/>
          </a:xfrm>
        </p:spPr>
        <p:txBody>
          <a:bodyPr/>
          <a:p>
            <a:pPr marL="0" algn="l">
              <a:buClrTx/>
              <a:buSzTx/>
              <a:buFontTx/>
              <a:buNone/>
            </a:pPr>
            <a:r>
              <a:rPr lang="en-US" altLang="zh-CN" sz="2400" b="1">
                <a:uFillTx/>
                <a:latin typeface="Times New Roman" panose="02020603050405020304" charset="0"/>
                <a:ea typeface="楷体" panose="02010609060101010101" charset="-122"/>
                <a:cs typeface="+mn-lt"/>
              </a:rPr>
              <a:t>2</a:t>
            </a:r>
            <a:r>
              <a:rPr lang="zh-CN" altLang="en-US" sz="2400" b="1">
                <a:uFillTx/>
                <a:latin typeface="Times New Roman" panose="02020603050405020304" charset="0"/>
                <a:ea typeface="楷体" panose="02010609060101010101" charset="-122"/>
                <a:cs typeface="+mn-lt"/>
              </a:rPr>
              <a:t>.解决不匹配问题</a:t>
            </a:r>
            <a:r>
              <a:rPr lang="en-US" altLang="zh-CN" sz="2400" b="1">
                <a:uFillTx/>
                <a:latin typeface="Times New Roman" panose="02020603050405020304" charset="0"/>
                <a:ea typeface="楷体" panose="02010609060101010101" charset="-122"/>
                <a:cs typeface="+mn-lt"/>
              </a:rPr>
              <a:t>——ECC</a:t>
            </a:r>
            <a:r>
              <a:rPr lang="zh-CN" altLang="en-US" sz="2400" b="1">
                <a:uFillTx/>
                <a:latin typeface="Times New Roman" panose="02020603050405020304" charset="0"/>
                <a:ea typeface="楷体" panose="02010609060101010101" charset="-122"/>
                <a:cs typeface="+mn-lt"/>
              </a:rPr>
              <a:t>纠错码（the error correction code）</a:t>
            </a:r>
            <a:endParaRPr lang="en-US" altLang="zh-CN" sz="2400" b="1">
              <a:uFillTx/>
              <a:latin typeface="Times New Roman" panose="02020603050405020304" charset="0"/>
              <a:ea typeface="楷体" panose="02010609060101010101" charset="-122"/>
              <a:cs typeface="+mn-lt"/>
            </a:endParaRPr>
          </a:p>
        </p:txBody>
      </p:sp>
      <p:pic>
        <p:nvPicPr>
          <p:cNvPr id="6" name="图片 5"/>
          <p:cNvPicPr>
            <a:picLocks noChangeAspect="1"/>
          </p:cNvPicPr>
          <p:nvPr/>
        </p:nvPicPr>
        <p:blipFill>
          <a:blip r:embed="rId1"/>
          <a:stretch>
            <a:fillRect/>
          </a:stretch>
        </p:blipFill>
        <p:spPr>
          <a:xfrm>
            <a:off x="732790" y="2025650"/>
            <a:ext cx="10725785" cy="438277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chemeClr val="bg1"/>
                </a:solidFill>
              </a:rPr>
              <a:t>密钥生成</a:t>
            </a:r>
            <a:endParaRPr lang="zh-CN" altLang="en-US">
              <a:solidFill>
                <a:schemeClr val="bg1"/>
              </a:solidFill>
            </a:endParaRPr>
          </a:p>
        </p:txBody>
      </p:sp>
      <p:sp>
        <p:nvSpPr>
          <p:cNvPr id="3" name="内容占位符 2"/>
          <p:cNvSpPr>
            <a:spLocks noGrp="1"/>
          </p:cNvSpPr>
          <p:nvPr>
            <p:ph idx="1"/>
          </p:nvPr>
        </p:nvSpPr>
        <p:spPr/>
        <p:txBody>
          <a:bodyPr/>
          <a:p>
            <a:pPr marL="0" algn="l">
              <a:buClrTx/>
              <a:buSzTx/>
              <a:buFontTx/>
              <a:buNone/>
            </a:pPr>
            <a:r>
              <a:rPr lang="en-US" altLang="zh-CN" sz="2400" b="1">
                <a:uFillTx/>
                <a:latin typeface="Times New Roman" panose="02020603050405020304" charset="0"/>
                <a:ea typeface="楷体" panose="02010609060101010101" charset="-122"/>
                <a:cs typeface="+mn-lt"/>
              </a:rPr>
              <a:t>3.防篡改——MAC</a:t>
            </a:r>
            <a:r>
              <a:rPr lang="zh-CN" altLang="en-US" sz="2400" b="1">
                <a:uFillTx/>
                <a:latin typeface="Times New Roman" panose="02020603050405020304" charset="0"/>
                <a:ea typeface="楷体" panose="02010609060101010101" charset="-122"/>
                <a:cs typeface="+mn-lt"/>
              </a:rPr>
              <a:t>（</a:t>
            </a:r>
            <a:r>
              <a:rPr lang="en-US" altLang="zh-CN" sz="2400" b="1">
                <a:uFillTx/>
                <a:latin typeface="Times New Roman" panose="02020603050405020304" charset="0"/>
                <a:ea typeface="楷体" panose="02010609060101010101" charset="-122"/>
                <a:cs typeface="+mn-lt"/>
              </a:rPr>
              <a:t>message authentication code</a:t>
            </a:r>
            <a:r>
              <a:rPr lang="zh-CN" altLang="en-US" sz="2400" b="1">
                <a:uFillTx/>
                <a:latin typeface="Times New Roman" panose="02020603050405020304" charset="0"/>
                <a:ea typeface="楷体" panose="02010609060101010101" charset="-122"/>
                <a:cs typeface="+mn-lt"/>
              </a:rPr>
              <a:t>）</a:t>
            </a:r>
            <a:endParaRPr lang="zh-CN" altLang="en-US" sz="2400" b="1">
              <a:uFillTx/>
              <a:latin typeface="Times New Roman" panose="02020603050405020304" charset="0"/>
              <a:ea typeface="楷体" panose="02010609060101010101" charset="-122"/>
              <a:cs typeface="+mn-lt"/>
            </a:endParaRPr>
          </a:p>
        </p:txBody>
      </p:sp>
      <p:pic>
        <p:nvPicPr>
          <p:cNvPr id="4" name="图片 3"/>
          <p:cNvPicPr>
            <a:picLocks noChangeAspect="1"/>
          </p:cNvPicPr>
          <p:nvPr/>
        </p:nvPicPr>
        <p:blipFill>
          <a:blip r:embed="rId1"/>
          <a:stretch>
            <a:fillRect/>
          </a:stretch>
        </p:blipFill>
        <p:spPr>
          <a:xfrm>
            <a:off x="389890" y="2103120"/>
            <a:ext cx="11658600" cy="38176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chemeClr val="bg1"/>
                </a:solidFill>
              </a:rPr>
              <a:t>密钥生成</a:t>
            </a:r>
            <a:endParaRPr lang="zh-CN" altLang="en-US">
              <a:solidFill>
                <a:schemeClr val="bg1"/>
              </a:solidFill>
            </a:endParaRPr>
          </a:p>
        </p:txBody>
      </p:sp>
      <p:sp>
        <p:nvSpPr>
          <p:cNvPr id="3" name="内容占位符 2"/>
          <p:cNvSpPr>
            <a:spLocks noGrp="1"/>
          </p:cNvSpPr>
          <p:nvPr>
            <p:ph idx="1"/>
          </p:nvPr>
        </p:nvSpPr>
        <p:spPr/>
        <p:txBody>
          <a:bodyPr/>
          <a:p>
            <a:pPr marL="0" algn="l">
              <a:buClrTx/>
              <a:buSzTx/>
              <a:buFontTx/>
              <a:buNone/>
            </a:pPr>
            <a:r>
              <a:rPr lang="en-US" altLang="zh-CN" sz="2400" b="1">
                <a:uFillTx/>
                <a:latin typeface="Times New Roman" panose="02020603050405020304" charset="0"/>
                <a:ea typeface="楷体" panose="02010609060101010101" charset="-122"/>
                <a:cs typeface="+mn-lt"/>
              </a:rPr>
              <a:t>4.</a:t>
            </a:r>
            <a:r>
              <a:rPr lang="zh-CN" altLang="en-US" sz="2400" b="1">
                <a:uFillTx/>
                <a:latin typeface="Times New Roman" panose="02020603050405020304" charset="0"/>
                <a:ea typeface="楷体" panose="02010609060101010101" charset="-122"/>
                <a:cs typeface="+mn-lt"/>
              </a:rPr>
              <a:t>隐私放大</a:t>
            </a:r>
            <a:endParaRPr lang="zh-CN" altLang="en-US" sz="2400" b="1">
              <a:uFillTx/>
              <a:latin typeface="Times New Roman" panose="02020603050405020304" charset="0"/>
              <a:ea typeface="楷体" panose="02010609060101010101" charset="-122"/>
              <a:cs typeface="+mn-lt"/>
            </a:endParaRPr>
          </a:p>
        </p:txBody>
      </p:sp>
      <p:pic>
        <p:nvPicPr>
          <p:cNvPr id="4" name="图片 3"/>
          <p:cNvPicPr>
            <a:picLocks noChangeAspect="1"/>
          </p:cNvPicPr>
          <p:nvPr/>
        </p:nvPicPr>
        <p:blipFill>
          <a:blip r:embed="rId1"/>
          <a:stretch>
            <a:fillRect/>
          </a:stretch>
        </p:blipFill>
        <p:spPr>
          <a:xfrm>
            <a:off x="7549515" y="1672590"/>
            <a:ext cx="4237990" cy="3701415"/>
          </a:xfrm>
          <a:prstGeom prst="rect">
            <a:avLst/>
          </a:prstGeom>
        </p:spPr>
      </p:pic>
      <p:sp>
        <p:nvSpPr>
          <p:cNvPr id="5" name="文本框 4"/>
          <p:cNvSpPr txBox="1"/>
          <p:nvPr/>
        </p:nvSpPr>
        <p:spPr>
          <a:xfrm>
            <a:off x="721995" y="2405380"/>
            <a:ext cx="5773420" cy="2861310"/>
          </a:xfrm>
          <a:prstGeom prst="rect">
            <a:avLst/>
          </a:prstGeom>
          <a:noFill/>
        </p:spPr>
        <p:txBody>
          <a:bodyPr wrap="square" rtlCol="0" anchor="t">
            <a:spAutoFit/>
          </a:bodyPr>
          <a:p>
            <a:pPr algn="l">
              <a:buClrTx/>
              <a:buSzTx/>
              <a:buFontTx/>
            </a:pPr>
            <a:r>
              <a:rPr lang="zh-CN" altLang="en-US" sz="2000">
                <a:uFillTx/>
                <a:latin typeface="Times New Roman" panose="02020603050405020304" charset="0"/>
                <a:ea typeface="楷体" panose="02010609060101010101" charset="-122"/>
                <a:cs typeface="楷体" panose="02010609060101010101" charset="-122"/>
                <a:sym typeface="+mn-ea"/>
              </a:rPr>
              <a:t>在系统中，我们使用</a:t>
            </a:r>
            <a:r>
              <a:rPr lang="zh-CN" altLang="en-US" sz="2000" b="1">
                <a:uFillTx/>
                <a:latin typeface="Times New Roman" panose="02020603050405020304" charset="0"/>
                <a:ea typeface="楷体" panose="02010609060101010101" charset="-122"/>
                <a:cs typeface="楷体" panose="02010609060101010101" charset="-122"/>
                <a:sym typeface="+mn-ea"/>
              </a:rPr>
              <a:t>位异或函数</a:t>
            </a:r>
            <a:r>
              <a:rPr lang="zh-CN" altLang="en-US" sz="2000">
                <a:uFillTx/>
                <a:latin typeface="Times New Roman" panose="02020603050405020304" charset="0"/>
                <a:ea typeface="楷体" panose="02010609060101010101" charset="-122"/>
                <a:cs typeface="楷体" panose="02010609060101010101" charset="-122"/>
                <a:sym typeface="+mn-ea"/>
              </a:rPr>
              <a:t>来组合各个方向</a:t>
            </a:r>
            <a:endParaRPr lang="zh-CN" altLang="en-US" sz="2000">
              <a:uFillTx/>
              <a:latin typeface="Times New Roman" panose="02020603050405020304" charset="0"/>
              <a:ea typeface="楷体" panose="02010609060101010101" charset="-122"/>
              <a:cs typeface="楷体" panose="02010609060101010101" charset="-122"/>
            </a:endParaRPr>
          </a:p>
          <a:p>
            <a:pPr algn="l">
              <a:buClrTx/>
              <a:buSzTx/>
              <a:buFontTx/>
            </a:pPr>
            <a:r>
              <a:rPr lang="zh-CN" altLang="en-US" sz="2000">
                <a:uFillTx/>
                <a:latin typeface="Times New Roman" panose="02020603050405020304" charset="0"/>
                <a:ea typeface="楷体" panose="02010609060101010101" charset="-122"/>
                <a:cs typeface="楷体" panose="02010609060101010101" charset="-122"/>
                <a:sym typeface="+mn-ea"/>
              </a:rPr>
              <a:t>生成的键，消除它们之间的相关性，减少了透露</a:t>
            </a:r>
            <a:endParaRPr lang="zh-CN" altLang="en-US" sz="2000">
              <a:uFillTx/>
              <a:latin typeface="Times New Roman" panose="02020603050405020304" charset="0"/>
              <a:ea typeface="楷体" panose="02010609060101010101" charset="-122"/>
              <a:cs typeface="楷体" panose="02010609060101010101" charset="-122"/>
            </a:endParaRPr>
          </a:p>
          <a:p>
            <a:pPr algn="l">
              <a:buClrTx/>
              <a:buSzTx/>
              <a:buFontTx/>
            </a:pPr>
            <a:r>
              <a:rPr lang="zh-CN" altLang="en-US" sz="2000">
                <a:uFillTx/>
                <a:latin typeface="Times New Roman" panose="02020603050405020304" charset="0"/>
                <a:ea typeface="楷体" panose="02010609060101010101" charset="-122"/>
                <a:cs typeface="楷体" panose="02010609060101010101" charset="-122"/>
                <a:sym typeface="+mn-ea"/>
              </a:rPr>
              <a:t>给敌手的相关信息。</a:t>
            </a:r>
            <a:endParaRPr lang="zh-CN" altLang="en-US" sz="2000">
              <a:uFillTx/>
              <a:latin typeface="Times New Roman" panose="02020603050405020304" charset="0"/>
              <a:ea typeface="楷体" panose="02010609060101010101" charset="-122"/>
              <a:cs typeface="楷体" panose="02010609060101010101" charset="-122"/>
            </a:endParaRPr>
          </a:p>
          <a:p>
            <a:pPr algn="l">
              <a:buClrTx/>
              <a:buSzTx/>
              <a:buFontTx/>
            </a:pPr>
            <a:endParaRPr lang="zh-CN" altLang="en-US" sz="2000">
              <a:uFillTx/>
              <a:latin typeface="Times New Roman" panose="02020603050405020304" charset="0"/>
              <a:ea typeface="楷体" panose="02010609060101010101" charset="-122"/>
              <a:cs typeface="楷体" panose="02010609060101010101" charset="-122"/>
            </a:endParaRPr>
          </a:p>
          <a:p>
            <a:pPr algn="l">
              <a:buClrTx/>
              <a:buSzTx/>
              <a:buFontTx/>
            </a:pPr>
            <a:r>
              <a:rPr lang="zh-CN" altLang="en-US" sz="2000">
                <a:uFillTx/>
                <a:latin typeface="Times New Roman" panose="02020603050405020304" charset="0"/>
                <a:ea typeface="楷体" panose="02010609060101010101" charset="-122"/>
                <a:cs typeface="楷体" panose="02010609060101010101" charset="-122"/>
                <a:sym typeface="+mn-ea"/>
              </a:rPr>
              <a:t>经过隐私放大后，最终密钥可以被诸如AES之类</a:t>
            </a:r>
            <a:endParaRPr lang="zh-CN" altLang="en-US" sz="2000">
              <a:uFillTx/>
              <a:latin typeface="Times New Roman" panose="02020603050405020304" charset="0"/>
              <a:ea typeface="楷体" panose="02010609060101010101" charset="-122"/>
              <a:cs typeface="楷体" panose="02010609060101010101" charset="-122"/>
            </a:endParaRPr>
          </a:p>
          <a:p>
            <a:pPr algn="l">
              <a:buClrTx/>
              <a:buSzTx/>
              <a:buFontTx/>
            </a:pPr>
            <a:r>
              <a:rPr lang="zh-CN" altLang="en-US" sz="2000">
                <a:uFillTx/>
                <a:latin typeface="Times New Roman" panose="02020603050405020304" charset="0"/>
                <a:ea typeface="楷体" panose="02010609060101010101" charset="-122"/>
                <a:cs typeface="楷体" panose="02010609060101010101" charset="-122"/>
                <a:sym typeface="+mn-ea"/>
              </a:rPr>
              <a:t>的对称密钥算法使用，以确保Alice和Bob之间的</a:t>
            </a:r>
            <a:endParaRPr lang="zh-CN" altLang="en-US" sz="2000">
              <a:uFillTx/>
              <a:latin typeface="Times New Roman" panose="02020603050405020304" charset="0"/>
              <a:ea typeface="楷体" panose="02010609060101010101" charset="-122"/>
              <a:cs typeface="楷体" panose="02010609060101010101" charset="-122"/>
            </a:endParaRPr>
          </a:p>
          <a:p>
            <a:pPr algn="l">
              <a:buClrTx/>
              <a:buSzTx/>
              <a:buFontTx/>
            </a:pPr>
            <a:r>
              <a:rPr lang="zh-CN" altLang="en-US" sz="2000">
                <a:uFillTx/>
                <a:latin typeface="Times New Roman" panose="02020603050405020304" charset="0"/>
                <a:ea typeface="楷体" panose="02010609060101010101" charset="-122"/>
                <a:cs typeface="楷体" panose="02010609060101010101" charset="-122"/>
                <a:sym typeface="+mn-ea"/>
              </a:rPr>
              <a:t>安全通信。如果最终密钥的长度大于128位，则</a:t>
            </a:r>
            <a:endParaRPr lang="zh-CN" altLang="en-US" sz="2000">
              <a:uFillTx/>
              <a:latin typeface="Times New Roman" panose="02020603050405020304" charset="0"/>
              <a:ea typeface="楷体" panose="02010609060101010101" charset="-122"/>
              <a:cs typeface="楷体" panose="02010609060101010101" charset="-122"/>
            </a:endParaRPr>
          </a:p>
          <a:p>
            <a:pPr algn="l">
              <a:buClrTx/>
              <a:buSzTx/>
              <a:buFontTx/>
            </a:pPr>
            <a:r>
              <a:rPr lang="zh-CN" altLang="en-US" sz="2000">
                <a:uFillTx/>
                <a:latin typeface="Times New Roman" panose="02020603050405020304" charset="0"/>
                <a:ea typeface="楷体" panose="02010609060101010101" charset="-122"/>
                <a:cs typeface="楷体" panose="02010609060101010101" charset="-122"/>
                <a:sym typeface="+mn-ea"/>
              </a:rPr>
              <a:t>使用前128位。</a:t>
            </a:r>
            <a:endParaRPr lang="zh-CN" altLang="en-US" sz="2000">
              <a:uFillTx/>
              <a:latin typeface="Times New Roman" panose="02020603050405020304" charset="0"/>
              <a:ea typeface="楷体" panose="02010609060101010101" charset="-122"/>
              <a:cs typeface="楷体" panose="02010609060101010101" charset="-122"/>
            </a:endParaRPr>
          </a:p>
          <a:p>
            <a:pPr algn="l">
              <a:buClrTx/>
              <a:buSzTx/>
              <a:buFontTx/>
            </a:pPr>
            <a:endParaRPr lang="zh-CN" altLang="en-US" sz="2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ctrTitle"/>
          </p:nvPr>
        </p:nvSpPr>
        <p:spPr/>
        <p:txBody>
          <a:bodyPr/>
          <a:p>
            <a:r>
              <a:rPr lang="zh-CN" altLang="en-US"/>
              <a:t>感谢聆听</a:t>
            </a:r>
            <a:endParaRPr lang="zh-CN" altLang="en-US"/>
          </a:p>
        </p:txBody>
      </p:sp>
      <p:sp>
        <p:nvSpPr>
          <p:cNvPr id="5" name="副标题 4"/>
          <p:cNvSpPr>
            <a:spLocks noGrp="1"/>
          </p:cNvSpPr>
          <p:nvPr>
            <p:ph type="subTitle" idx="1"/>
          </p:nvPr>
        </p:nvSpPr>
        <p:spPr/>
        <p:txBody>
          <a:bodyPr/>
          <a:p>
            <a:endParaRPr lang="zh-CN" altLang="en-US"/>
          </a:p>
        </p:txBody>
      </p:sp>
      <p:sp>
        <p:nvSpPr>
          <p:cNvPr id="6" name="笑脸 5"/>
          <p:cNvSpPr/>
          <p:nvPr/>
        </p:nvSpPr>
        <p:spPr>
          <a:xfrm>
            <a:off x="7312660" y="2936240"/>
            <a:ext cx="508000" cy="476250"/>
          </a:xfrm>
          <a:prstGeom prst="smileyFac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
</file>

<file path=ppt/theme/theme1.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1994</Words>
  <Application>WPS 演示</Application>
  <PresentationFormat>宽屏</PresentationFormat>
  <Paragraphs>122</Paragraphs>
  <Slides>15</Slides>
  <Notes>4</Notes>
  <HiddenSlides>0</HiddenSlides>
  <MMClips>0</MMClips>
  <ScaleCrop>false</ScaleCrop>
  <HeadingPairs>
    <vt:vector size="8" baseType="variant">
      <vt:variant>
        <vt:lpstr>已用的字体</vt:lpstr>
      </vt:variant>
      <vt:variant>
        <vt:i4>8</vt:i4>
      </vt:variant>
      <vt:variant>
        <vt:lpstr>主题</vt:lpstr>
      </vt:variant>
      <vt:variant>
        <vt:i4>2</vt:i4>
      </vt:variant>
      <vt:variant>
        <vt:lpstr>嵌入 OLE 服务器</vt:lpstr>
      </vt:variant>
      <vt:variant>
        <vt:i4>3</vt:i4>
      </vt:variant>
      <vt:variant>
        <vt:lpstr>幻灯片标题</vt:lpstr>
      </vt:variant>
      <vt:variant>
        <vt:i4>15</vt:i4>
      </vt:variant>
    </vt:vector>
  </HeadingPairs>
  <TitlesOfParts>
    <vt:vector size="28" baseType="lpstr">
      <vt:lpstr>Arial</vt:lpstr>
      <vt:lpstr>宋体</vt:lpstr>
      <vt:lpstr>Wingdings</vt:lpstr>
      <vt:lpstr>Times New Roman</vt:lpstr>
      <vt:lpstr>楷体</vt:lpstr>
      <vt:lpstr>微软雅黑</vt:lpstr>
      <vt:lpstr>Arial Unicode MS</vt:lpstr>
      <vt:lpstr>Calibri</vt:lpstr>
      <vt:lpstr>默认设计模板</vt:lpstr>
      <vt:lpstr>自定义设计方案</vt:lpstr>
      <vt:lpstr>Equation.KSEE3</vt:lpstr>
      <vt:lpstr>Equation.KSEE3</vt:lpstr>
      <vt:lpstr>Equation.KSEE3</vt:lpstr>
      <vt:lpstr>Gait-Key: A Gait-Based Shared Secret Key Generation Protocol for Wearable Devices</vt:lpstr>
      <vt:lpstr>背景</vt:lpstr>
      <vt:lpstr>挑战</vt:lpstr>
      <vt:lpstr>流程图</vt:lpstr>
      <vt:lpstr>流程图</vt:lpstr>
      <vt:lpstr>信号处理</vt:lpstr>
      <vt:lpstr>信号处理</vt:lpstr>
      <vt:lpstr>信号处理</vt:lpstr>
      <vt:lpstr>信号处理</vt:lpstr>
      <vt:lpstr>密钥生成</vt:lpstr>
      <vt:lpstr>密钥生成</vt:lpstr>
      <vt:lpstr>密钥生成</vt:lpstr>
      <vt:lpstr>密钥生成</vt:lpstr>
      <vt:lpstr>密钥生成</vt:lpstr>
      <vt:lpstr>感谢聆听</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Tangerine</cp:lastModifiedBy>
  <cp:revision>160</cp:revision>
  <dcterms:created xsi:type="dcterms:W3CDTF">2019-06-19T02:08:00Z</dcterms:created>
  <dcterms:modified xsi:type="dcterms:W3CDTF">2021-01-06T12:53:46Z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2052-11.1.0.10228</vt:lpwstr>
  </property>
</Properties>
</file>