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jpeg" ContentType="image/jpeg"/>
  <Default Extension="png" ContentType="image/png"/>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comments/comment1.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sldIdLst>
    <p:sldId id="410" r:id="rId3"/>
    <p:sldId id="411" r:id="rId4"/>
    <p:sldId id="412" r:id="rId5"/>
    <p:sldId id="414" r:id="rId7"/>
    <p:sldId id="422" r:id="rId8"/>
    <p:sldId id="416" r:id="rId9"/>
    <p:sldId id="429" r:id="rId10"/>
    <p:sldId id="418" r:id="rId11"/>
    <p:sldId id="420" r:id="rId12"/>
    <p:sldId id="430" r:id="rId13"/>
    <p:sldId id="436" r:id="rId14"/>
    <p:sldId id="431" r:id="rId15"/>
    <p:sldId id="437" r:id="rId16"/>
    <p:sldId id="419" r:id="rId17"/>
    <p:sldId id="439" r:id="rId18"/>
    <p:sldId id="438" r:id="rId19"/>
    <p:sldId id="444" r:id="rId20"/>
    <p:sldId id="445" r:id="rId21"/>
    <p:sldId id="443" r:id="rId22"/>
    <p:sldId id="446" r:id="rId2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fbf2fc47-0a28-4512-950a-45f3519d45c8}">
          <p14:sldIdLst>
            <p14:sldId id="410"/>
          </p14:sldIdLst>
        </p14:section>
        <p14:section name="无标题节" id="{797c141a-94f6-4830-b333-9d3604938147}">
          <p14:sldIdLst>
            <p14:sldId id="411"/>
            <p14:sldId id="412"/>
          </p14:sldIdLst>
        </p14:section>
        <p14:section name="无标题节" id="{6b0bcf87-64b8-48ce-92f3-6bed1c3a8223}">
          <p14:sldIdLst>
            <p14:sldId id="414"/>
            <p14:sldId id="422"/>
            <p14:sldId id="416"/>
            <p14:sldId id="429"/>
          </p14:sldIdLst>
        </p14:section>
        <p14:section name="无标题节" id="{aaf85f3b-628b-418a-ab19-c9daa507b00a}">
          <p14:sldIdLst>
            <p14:sldId id="418"/>
            <p14:sldId id="420"/>
            <p14:sldId id="430"/>
            <p14:sldId id="436"/>
            <p14:sldId id="431"/>
            <p14:sldId id="437"/>
          </p14:sldIdLst>
        </p14:section>
        <p14:section name="无标题节" id="{24109b10-9076-4cae-8e32-f58030bf9419}">
          <p14:sldIdLst>
            <p14:sldId id="419"/>
            <p14:sldId id="439"/>
            <p14:sldId id="438"/>
            <p14:sldId id="444"/>
            <p14:sldId id="445"/>
          </p14:sldIdLst>
        </p14:section>
        <p14:section name="无标题节" id="{0f074643-4dde-41c3-8310-eb5229be17be}">
          <p14:sldIdLst>
            <p14:sldId id="443"/>
            <p14:sldId id="446"/>
          </p14:sldIdLst>
        </p14:section>
      </p14:section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gl002" initials="w" lastIdx="3"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p:cViewPr varScale="1">
        <p:scale>
          <a:sx n="99" d="100"/>
          <a:sy n="99" d="100"/>
        </p:scale>
        <p:origin x="84" y="582"/>
      </p:cViewPr>
      <p:guideLst>
        <p:guide orient="horz" pos="2160"/>
        <p:guide pos="3827"/>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notesMaster" Target="notesMasters/notesMaster1.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7" Type="http://schemas.openxmlformats.org/officeDocument/2006/relationships/commentAuthors" Target="commentAuthors.xml"/><Relationship Id="rId26" Type="http://schemas.openxmlformats.org/officeDocument/2006/relationships/tableStyles" Target="tableStyles.xml"/><Relationship Id="rId25" Type="http://schemas.openxmlformats.org/officeDocument/2006/relationships/viewProps" Target="viewProps.xml"/><Relationship Id="rId24" Type="http://schemas.openxmlformats.org/officeDocument/2006/relationships/presProps" Target="presProps.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1-01-04T14:52:15.863" idx="3">
    <p:pos x="7042" y="1030"/>
    <p:text/>
  </p:cm>
</p:cmLst>
</file>

<file path=ppt/drawings/_rels/vmlDrawing1.vml.rels><?xml version="1.0" encoding="UTF-8" standalone="yes"?>
<Relationships xmlns="http://schemas.openxmlformats.org/package/2006/relationships"><Relationship Id="rId1" Type="http://schemas.openxmlformats.org/officeDocument/2006/relationships/image" Target="../media/image6.wmf"/></Relationships>
</file>

<file path=ppt/drawings/_rels/vmlDrawing2.vml.rels><?xml version="1.0" encoding="UTF-8" standalone="yes"?>
<Relationships xmlns="http://schemas.openxmlformats.org/package/2006/relationships"><Relationship Id="rId2" Type="http://schemas.openxmlformats.org/officeDocument/2006/relationships/image" Target="../media/image16.wmf"/><Relationship Id="rId1" Type="http://schemas.openxmlformats.org/officeDocument/2006/relationships/image" Target="../media/image14.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pPr marL="0" lvl="0" indent="0" algn="l" rtl="0">
              <a:spcBef>
                <a:spcPts val="0"/>
              </a:spcBef>
              <a:spcAft>
                <a:spcPts val="0"/>
              </a:spcAft>
              <a:buNone/>
            </a:pPr>
            <a:r>
              <a:rPr lang="zh-CN">
                <a:sym typeface="+mn-ea"/>
              </a:rPr>
              <a:t>例如：智能手机需要经常向智能手表等设备推送通知，并从可穿戴设备中读取与健康相关的传感器数据</a:t>
            </a:r>
            <a:endParaRPr lang="zh-CN"/>
          </a:p>
          <a:p>
            <a:pPr marL="0" lvl="0" indent="0" algn="l" rtl="0">
              <a:spcBef>
                <a:spcPts val="0"/>
              </a:spcBef>
              <a:spcAft>
                <a:spcPts val="0"/>
              </a:spcAft>
              <a:buNone/>
            </a:pPr>
            <a:r>
              <a:rPr lang="zh-CN">
                <a:sym typeface="+mn-ea"/>
              </a:rPr>
              <a:t>由于涉及到隐私信息，所以我们必须要确保数据的共享是在同一主体之间，防止设备间的通信被敌手监听。</a:t>
            </a:r>
            <a:endParaRPr lang="zh-CN">
              <a:sym typeface="+mn-ea"/>
            </a:endParaRPr>
          </a:p>
          <a:p>
            <a:pPr marL="0" lvl="0" indent="0" algn="l" rtl="0">
              <a:spcBef>
                <a:spcPts val="0"/>
              </a:spcBef>
              <a:spcAft>
                <a:spcPts val="0"/>
              </a:spcAft>
              <a:buNone/>
            </a:pPr>
            <a:r>
              <a:rPr lang="zh-CN">
                <a:sym typeface="+mn-ea"/>
              </a:rPr>
              <a:t>传统的设备配对方案大多依赖于密钥预分配，且有操作不方便，资源受限等问题，并不适合可穿戴设备。</a:t>
            </a:r>
            <a:endParaRPr lang="zh-CN"/>
          </a:p>
          <a:p>
            <a:pPr marL="0" lvl="0" indent="0" algn="l" rtl="0">
              <a:spcBef>
                <a:spcPts val="0"/>
              </a:spcBef>
              <a:spcAft>
                <a:spcPts val="0"/>
              </a:spcAft>
              <a:buNone/>
            </a:pPr>
            <a:r>
              <a:rPr lang="zh-CN">
                <a:sym typeface="+mn-ea"/>
              </a:rPr>
              <a:t>在本文中，我们设计了一个基于步态共享密钥生成方案，它允许两个合法设备利用用户独有的行走特征(步态)来建立一个公共密钥</a:t>
            </a:r>
            <a:endParaRPr lang="zh-CN">
              <a:sym typeface="+mn-ea"/>
            </a:endParaRPr>
          </a:p>
          <a:p>
            <a:pPr marL="0" lvl="0" indent="0" algn="l" rtl="0">
              <a:spcBef>
                <a:spcPts val="0"/>
              </a:spcBef>
              <a:spcAft>
                <a:spcPts val="0"/>
              </a:spcAft>
              <a:buNone/>
            </a:pPr>
            <a:endParaRPr lang="zh-CN"/>
          </a:p>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pPr marL="0" lvl="0" indent="0" algn="l" rtl="0">
              <a:spcBef>
                <a:spcPts val="0"/>
              </a:spcBef>
              <a:spcAft>
                <a:spcPts val="0"/>
              </a:spcAft>
              <a:buNone/>
            </a:pPr>
            <a:r>
              <a:rPr lang="zh-CN">
                <a:sym typeface="+mn-ea"/>
              </a:rPr>
              <a:t>该图显示了Gait-Key的工作流程。Alice想从Bob读取数据。Alice首先向Bob广播一个request请求。在接收到请求后，Bob使用RSP响应进行响应。然后，Alice和Bob都开始收集本地运动传感器数据，并按照图3中所示的步骤进行信号处理、生成共享密钥。最后，该密钥用于加密/解密数据，以确保Alice和Bob之间的通信安全。</a:t>
            </a:r>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pPr marL="0" lvl="0" indent="0" algn="l" rtl="0">
              <a:spcBef>
                <a:spcPts val="0"/>
              </a:spcBef>
              <a:spcAft>
                <a:spcPts val="0"/>
              </a:spcAft>
              <a:buNone/>
            </a:pPr>
            <a:r>
              <a:rPr lang="zh-CN">
                <a:sym typeface="+mn-ea"/>
              </a:rPr>
              <a:t>该图显示了Gait-Key的工作流程。Alice想从Bob读取数据。Alice首先向Bob广播一个request请求。在接收到请求后，Bob使用RSP响应进行响应。然后，Alice和Bob都开始收集本地运动传感器数据，并按照图3中所示的步骤进行信号处理、生成共享密钥。最后，该密钥用于加密/解密数据，以确保Alice和Bob之间的通信安全。</a:t>
            </a:r>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图4显示了摆臂行走、不摆臂行走和只摆臂行走的频率。我们注意到，走路信号的主频是摆臂信号的两倍。这很容易理解，因为步态周期是由两个步骤和一个手臂摆动周期。因此，每一步(左或右)都记录为一个强烈的重复性加速信号，并通过足部传递到全身。由于身体的对称性，左右步产生的信号可以认为是相同的。然而，当用户将智能手表戴在一只手腕上时，手臂摆动的信号只会重复每两步。我们利用这个观察来识别来自手臂和脚的摆动信号。具体来说，通过式(2)得到S (t)后，我们对S (t)中的三个ICs(即S (t)的三行)进行快速傅里叶变换(FFT)。图5(d)说明了ICA前后三个方向的加速度信号的大小。我们可以看到，原始加速度数据主要包含两个频率的信号。三种分离的集成电路呈现不同的频率分布。IC-2的频率集中在基频上。如前所述，将矩阵S的第二行设为0即可得到不进行摆臂运动的重构信号(见式(3))</a:t>
            </a:r>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由于设备对加速度值的采样是独立的，因此密钥生成需要时间同步。在这项工作中，我们使用了一种基于事件的方法，其中设备检测脚跟撞击事件的时间点，使用这个事件作为锚点。在没有通信的情况下，脚跟撞击事件可以在每个设备上本地检测到，这消除了设备之间显式同步的需要。如左图所示，各个设备都检测局部最大值来识别脚跟撞击事件。</a:t>
            </a:r>
            <a:endParaRPr lang="zh-CN" altLang="en-US"/>
          </a:p>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sym typeface="+mn-ea"/>
              </a:rPr>
              <a:t>行走本身就是一种3D运动，在不同位置独立记录的3D加速数据缺乏空间对齐，也不能直接用于生成共享密钥，为了解决这个问题，我们引进了一种独立于方位和位置的公共物体参考坐标系。</a:t>
            </a:r>
            <a:endParaRPr lang="zh-CN" altLang="en-US"/>
          </a:p>
          <a:p>
            <a:endParaRPr lang="zh-CN" altLang="en-US"/>
          </a:p>
          <a:p>
            <a:r>
              <a:rPr lang="zh-CN" altLang="en-US">
                <a:sym typeface="+mn-ea"/>
              </a:rPr>
              <a:t>右图给出了世界坐标系、物体参考坐标系和不同设备坐标系的定义。世界坐标系定义为北、东、向下或重力方向(G)，我们称设备的局部坐标系为(X, Y, Z)。用户的运动平面定义为与重力垂直的前进侧平面。侧面指向右侧用户的前进方向。</a:t>
            </a:r>
            <a:endParaRPr lang="zh-CN" altLang="en-US"/>
          </a:p>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en-US" altLang="zh-CN"/>
              <a:t>p(a)</a:t>
            </a:r>
            <a:r>
              <a:rPr lang="zh-CN" altLang="en-US"/>
              <a:t>是在一个</a:t>
            </a:r>
            <a:r>
              <a:rPr lang="en-US" altLang="zh-CN"/>
              <a:t>W</a:t>
            </a:r>
            <a:r>
              <a:rPr lang="zh-CN" altLang="en-US"/>
              <a:t>中，样本</a:t>
            </a:r>
            <a:r>
              <a:rPr lang="en-US" altLang="zh-CN"/>
              <a:t>a</a:t>
            </a:r>
            <a:r>
              <a:rPr lang="zh-CN" altLang="en-US"/>
              <a:t>出现的概率</a:t>
            </a:r>
            <a:endParaRPr lang="zh-CN" altLang="en-US"/>
          </a:p>
          <a:p>
            <a:endParaRPr lang="zh-CN" altLang="en-US"/>
          </a:p>
          <a:p>
            <a:r>
              <a:rPr lang="zh-CN" altLang="en-US"/>
              <a:t>保护带被插入到两个连续的级之间，以增加比特一致率。在量化过程中，保护带样本被排除在外，剩余的样本根据它们的级数被编码为位</a:t>
            </a:r>
            <a:endParaRPr lang="zh-CN" altLang="en-US"/>
          </a:p>
          <a:p>
            <a:endParaRPr lang="zh-CN" altLang="en-US"/>
          </a:p>
          <a:p>
            <a:r>
              <a:rPr lang="zh-CN" altLang="en-US"/>
              <a:t>类似于单位量化，我们分别对三个方向的加速度值进行量化。从AccG、AccF、AccS中分别提取三个单独的比特流KG、KF、KS，将三个比特流串联在一起，得到Alice的密钥KAlice = [KG, KF, KS]</a:t>
            </a:r>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量化之后，每个设备最终会独立地得到一个密钥字符串。然而，由于噪声可能会有一些不匹配，我们经常得到KAlice KBob。和解的目的是纠正Alice和Bob之间的比特不匹配。在本系统中，我们采用了纠错码(error correction code, ECC) [Clark and Cain 2013]来降低比特失配率。在最近的一个安全配对系统中也使用了ECC方法</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由于Alice和Bob不共享经过身份验证的通道，因此Eve可以在和解过程中模拟为Alice或Bob。这样的攻击将允许伊芙插入她自己的假消息，从而欺骗一个合法的设备，破坏协议，而不暴露他的存在。为了解决这个问题，我们使用了消息认证码(MAC)方法来验证消息没有被修改。具体来说，MAC方法包含以下三个步骤</a:t>
            </a:r>
            <a:endParaRPr lang="zh-CN" altLang="en-US"/>
          </a:p>
          <a:p>
            <a:endParaRPr lang="zh-CN" altLang="en-US"/>
          </a:p>
          <a:p>
            <a:r>
              <a:rPr lang="zh-CN" altLang="en-US"/>
              <a:t>除了验证消息没有被修改之外，MAC验证还验证Alice和Bob是否生成了相同的密钥</a:t>
            </a:r>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和解过程不仅减少了Alice和Bob之间的不匹配率，而且还向攻击者透露了部分信息，因为δAlice是通过公共通道传输的，可以被攻击者窃听。但是，可以从理论上证明只有(n k)位信息泄漏[Mathur等，2011]。而且，由于密钥来源于用户的独特行走模式，攻击者仍然不能通过窃听δAlice来推断KAlice。为了确保不发生部分信息泄漏，我们可以进一步应用下一节描述的隐私放大技术。</a:t>
            </a:r>
            <a:endParaRPr lang="zh-CN" altLang="en-US"/>
          </a:p>
          <a:p>
            <a:r>
              <a:rPr lang="zh-CN" altLang="en-US"/>
              <a:t>隐私放大中的异或函数如何有助于增强最终密钥的随机性</a:t>
            </a:r>
            <a:endParaRPr lang="zh-CN" altLang="en-US"/>
          </a:p>
          <a:p>
            <a:r>
              <a:rPr lang="zh-CN" altLang="en-US"/>
              <a:t>如图所示，我们可以看到，经过异或运算后熵的分布更接近于1，</a:t>
            </a:r>
            <a:endParaRPr lang="zh-CN" altLang="en-US"/>
          </a:p>
          <a:p>
            <a:r>
              <a:rPr lang="zh-CN" altLang="en-US"/>
              <a:t>我们还注意到，最终密钥的熵值在0.94到1之间变化，这表明该方法能够以良好的熵值提取密钥。</a:t>
            </a:r>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b="1">
                <a:sym typeface="+mn-ea"/>
              </a:rPr>
              <a:t>在本文中，我们提出并实现了一种密钥生成方法，利用步态产生的加速度信号在两个合法设备之间建立一个通用密钥。Gait-Key通过利用BSS并结合多级量化机制，在性能上表现出了优越的有效性。例如，当使用二进量化时，Gait-Key可以在4.6秒内以98.3%的概率为两个合法设备生成一个普通的128位密钥。增加量化级别可以提高比特产生率，但会降低比特协议率。我们还分析了对各种攻击者的安全性。由于不同的人有不同的行走方式，因此该方法具有一定的安全优势。</a:t>
            </a:r>
            <a:endParaRPr lang="zh-CN" altLang="en-US" b="1"/>
          </a:p>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4500"/>
            </a:lvl1pPr>
          </a:lstStyle>
          <a:p>
            <a:pPr fontAlgn="base"/>
            <a:r>
              <a:rPr lang="zh-CN" altLang="en-US" strike="noStrike" noProof="1"/>
              <a:t>单击此处编辑母版标题样式</a:t>
            </a:r>
            <a:endParaRPr lang="zh-CN" altLang="en-US" strike="noStrike" noProof="1"/>
          </a:p>
        </p:txBody>
      </p:sp>
      <p:sp>
        <p:nvSpPr>
          <p:cNvPr id="3" name="副标题 2"/>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fontAlgn="base"/>
            <a:r>
              <a:rPr lang="zh-CN" altLang="en-US" strike="noStrike" noProof="1"/>
              <a:t>单击此处编辑母版副标题样式</a:t>
            </a:r>
            <a:endParaRPr lang="zh-CN" altLang="en-US" strike="noStrike" noProof="1"/>
          </a:p>
        </p:txBody>
      </p:sp>
      <p:sp>
        <p:nvSpPr>
          <p:cNvPr id="4" name="日期占位符 3"/>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二级</a:t>
            </a:r>
            <a:endParaRPr lang="zh-CN" altLang="en-US" strike="noStrike" noProof="1"/>
          </a:p>
          <a:p>
            <a:pPr lvl="2" fontAlgn="base"/>
            <a:r>
              <a:rPr lang="zh-CN" altLang="en-US" strike="noStrike" noProof="1"/>
              <a:t>三级</a:t>
            </a:r>
            <a:endParaRPr lang="zh-CN" altLang="en-US" strike="noStrike" noProof="1"/>
          </a:p>
          <a:p>
            <a:pPr lvl="3" fontAlgn="base"/>
            <a:r>
              <a:rPr lang="zh-CN" altLang="en-US" strike="noStrike" noProof="1"/>
              <a:t>四级</a:t>
            </a:r>
            <a:endParaRPr lang="zh-CN" altLang="en-US" strike="noStrike" noProof="1"/>
          </a:p>
          <a:p>
            <a:pPr lvl="4" fontAlgn="base"/>
            <a:r>
              <a:rPr lang="zh-CN" altLang="en-US" strike="noStrike" noProof="1"/>
              <a:t>五级</a:t>
            </a:r>
            <a:endParaRPr lang="zh-CN" altLang="en-US" strike="noStrike" noProof="1"/>
          </a:p>
        </p:txBody>
      </p:sp>
      <p:sp>
        <p:nvSpPr>
          <p:cNvPr id="4" name="日期占位符 3"/>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1" y="1709739"/>
            <a:ext cx="10515600" cy="2852737"/>
          </a:xfrm>
        </p:spPr>
        <p:txBody>
          <a:bodyPr anchor="b"/>
          <a:lstStyle>
            <a:lvl1pPr>
              <a:defRPr sz="4500"/>
            </a:lvl1p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idx="1"/>
          </p:nvPr>
        </p:nvSpPr>
        <p:spPr>
          <a:xfrm>
            <a:off x="831851" y="4589464"/>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fontAlgn="base"/>
            <a:r>
              <a:rPr lang="zh-CN" altLang="en-US" strike="noStrike" noProof="1"/>
              <a:t>单击此处编辑母版文本样式</a:t>
            </a:r>
            <a:endParaRPr lang="zh-CN" altLang="en-US" strike="noStrike" noProof="1"/>
          </a:p>
        </p:txBody>
      </p:sp>
      <p:sp>
        <p:nvSpPr>
          <p:cNvPr id="4" name="日期占位符 3"/>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sz="half" idx="1"/>
          </p:nvPr>
        </p:nvSpPr>
        <p:spPr>
          <a:xfrm>
            <a:off x="609600" y="2276475"/>
            <a:ext cx="5376672" cy="3849688"/>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二级</a:t>
            </a:r>
            <a:endParaRPr lang="zh-CN" altLang="en-US" strike="noStrike" noProof="1"/>
          </a:p>
          <a:p>
            <a:pPr lvl="2" fontAlgn="base"/>
            <a:r>
              <a:rPr lang="zh-CN" altLang="en-US" strike="noStrike" noProof="1"/>
              <a:t>三级</a:t>
            </a:r>
            <a:endParaRPr lang="zh-CN" altLang="en-US" strike="noStrike" noProof="1"/>
          </a:p>
          <a:p>
            <a:pPr lvl="3" fontAlgn="base"/>
            <a:r>
              <a:rPr lang="zh-CN" altLang="en-US" strike="noStrike" noProof="1"/>
              <a:t>四级</a:t>
            </a:r>
            <a:endParaRPr lang="zh-CN" altLang="en-US" strike="noStrike" noProof="1"/>
          </a:p>
          <a:p>
            <a:pPr lvl="4" fontAlgn="base"/>
            <a:r>
              <a:rPr lang="zh-CN" altLang="en-US" strike="noStrike" noProof="1"/>
              <a:t>五级</a:t>
            </a:r>
            <a:endParaRPr lang="zh-CN" altLang="en-US" strike="noStrike" noProof="1"/>
          </a:p>
        </p:txBody>
      </p:sp>
      <p:sp>
        <p:nvSpPr>
          <p:cNvPr id="4" name="内容占位符 3"/>
          <p:cNvSpPr>
            <a:spLocks noGrp="1"/>
          </p:cNvSpPr>
          <p:nvPr>
            <p:ph sz="half" idx="2"/>
          </p:nvPr>
        </p:nvSpPr>
        <p:spPr>
          <a:xfrm>
            <a:off x="6205728" y="2276475"/>
            <a:ext cx="5376672" cy="3849688"/>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二级</a:t>
            </a:r>
            <a:endParaRPr lang="zh-CN" altLang="en-US" strike="noStrike" noProof="1"/>
          </a:p>
          <a:p>
            <a:pPr lvl="2" fontAlgn="base"/>
            <a:r>
              <a:rPr lang="zh-CN" altLang="en-US" strike="noStrike" noProof="1"/>
              <a:t>三级</a:t>
            </a:r>
            <a:endParaRPr lang="zh-CN" altLang="en-US" strike="noStrike" noProof="1"/>
          </a:p>
          <a:p>
            <a:pPr lvl="3" fontAlgn="base"/>
            <a:r>
              <a:rPr lang="zh-CN" altLang="en-US" strike="noStrike" noProof="1"/>
              <a:t>四级</a:t>
            </a:r>
            <a:endParaRPr lang="zh-CN" altLang="en-US" strike="noStrike" noProof="1"/>
          </a:p>
          <a:p>
            <a:pPr lvl="4" fontAlgn="base"/>
            <a:r>
              <a:rPr lang="zh-CN" altLang="en-US" strike="noStrike" noProof="1"/>
              <a:t>五级</a:t>
            </a:r>
            <a:endParaRPr lang="zh-CN" altLang="en-US" strike="noStrike" noProof="1"/>
          </a:p>
        </p:txBody>
      </p:sp>
      <p:sp>
        <p:nvSpPr>
          <p:cNvPr id="5" name="日期占位符 4"/>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6"/>
            <a:ext cx="10515600" cy="1325563"/>
          </a:xfrm>
        </p:spPr>
        <p:txBody>
          <a:body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idx="1"/>
          </p:nvPr>
        </p:nvSpPr>
        <p:spPr>
          <a:xfrm>
            <a:off x="1186775" y="1778438"/>
            <a:ext cx="4873575" cy="823912"/>
          </a:xfrm>
        </p:spPr>
        <p:txBody>
          <a:bodyPr anchor="ctr" anchorCtr="0"/>
          <a:lstStyle>
            <a:lvl1pPr marL="0" indent="0">
              <a:buNone/>
              <a:defRPr sz="2100"/>
            </a:lvl1pPr>
            <a:lvl2pPr marL="342900" indent="0">
              <a:buNone/>
              <a:defRPr sz="1800"/>
            </a:lvl2pPr>
            <a:lvl3pPr marL="685800" indent="0">
              <a:buNone/>
              <a:defRPr sz="1500"/>
            </a:lvl3pPr>
            <a:lvl4pPr marL="1028700" indent="0">
              <a:buNone/>
              <a:defRPr sz="1350"/>
            </a:lvl4pPr>
            <a:lvl5pPr marL="1371600" indent="0">
              <a:buNone/>
              <a:defRPr sz="1350"/>
            </a:lvl5pPr>
            <a:lvl6pPr marL="1714500" indent="0">
              <a:buNone/>
              <a:defRPr sz="1350"/>
            </a:lvl6pPr>
            <a:lvl7pPr marL="2057400" indent="0">
              <a:buNone/>
              <a:defRPr sz="1350"/>
            </a:lvl7pPr>
            <a:lvl8pPr marL="2400300" indent="0">
              <a:buNone/>
              <a:defRPr sz="1350"/>
            </a:lvl8pPr>
            <a:lvl9pPr marL="2743200" indent="0">
              <a:buNone/>
              <a:defRPr sz="1350"/>
            </a:lvl9pPr>
          </a:lstStyle>
          <a:p>
            <a:pPr lvl="0" fontAlgn="base"/>
            <a:r>
              <a:rPr lang="zh-CN" altLang="en-US" strike="noStrike" noProof="1"/>
              <a:t>单击此处编辑母版文本样式</a:t>
            </a:r>
            <a:endParaRPr lang="zh-CN" altLang="en-US" strike="noStrike" noProof="1"/>
          </a:p>
        </p:txBody>
      </p:sp>
      <p:sp>
        <p:nvSpPr>
          <p:cNvPr id="4" name="内容占位符 3"/>
          <p:cNvSpPr>
            <a:spLocks noGrp="1"/>
          </p:cNvSpPr>
          <p:nvPr>
            <p:ph sz="half" idx="2"/>
          </p:nvPr>
        </p:nvSpPr>
        <p:spPr>
          <a:xfrm>
            <a:off x="1186775" y="2665379"/>
            <a:ext cx="4873575" cy="3524284"/>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二级</a:t>
            </a:r>
            <a:endParaRPr lang="zh-CN" altLang="en-US" strike="noStrike" noProof="1"/>
          </a:p>
          <a:p>
            <a:pPr lvl="2" fontAlgn="base"/>
            <a:r>
              <a:rPr lang="zh-CN" altLang="en-US" strike="noStrike" noProof="1"/>
              <a:t>三级</a:t>
            </a:r>
            <a:endParaRPr lang="zh-CN" altLang="en-US" strike="noStrike" noProof="1"/>
          </a:p>
          <a:p>
            <a:pPr lvl="3" fontAlgn="base"/>
            <a:r>
              <a:rPr lang="zh-CN" altLang="en-US" strike="noStrike" noProof="1"/>
              <a:t>四级</a:t>
            </a:r>
            <a:endParaRPr lang="zh-CN" altLang="en-US" strike="noStrike" noProof="1"/>
          </a:p>
          <a:p>
            <a:pPr lvl="4" fontAlgn="base"/>
            <a:r>
              <a:rPr lang="zh-CN" altLang="en-US" strike="noStrike" noProof="1"/>
              <a:t>五级</a:t>
            </a:r>
            <a:endParaRPr lang="zh-CN" altLang="en-US" strike="noStrike" noProof="1"/>
          </a:p>
        </p:txBody>
      </p:sp>
      <p:sp>
        <p:nvSpPr>
          <p:cNvPr id="5" name="文本占位符 4"/>
          <p:cNvSpPr>
            <a:spLocks noGrp="1"/>
          </p:cNvSpPr>
          <p:nvPr>
            <p:ph type="body" sz="quarter" idx="3"/>
          </p:nvPr>
        </p:nvSpPr>
        <p:spPr>
          <a:xfrm>
            <a:off x="6256939" y="1778438"/>
            <a:ext cx="4897576" cy="823912"/>
          </a:xfrm>
        </p:spPr>
        <p:txBody>
          <a:bodyPr anchor="ctr" anchorCtr="0"/>
          <a:lstStyle>
            <a:lvl1pPr marL="0" indent="0">
              <a:buNone/>
              <a:defRPr sz="2100"/>
            </a:lvl1pPr>
            <a:lvl2pPr marL="342900" indent="0">
              <a:buNone/>
              <a:defRPr sz="1800"/>
            </a:lvl2pPr>
            <a:lvl3pPr marL="685800" indent="0">
              <a:buNone/>
              <a:defRPr sz="1500"/>
            </a:lvl3pPr>
            <a:lvl4pPr marL="1028700" indent="0">
              <a:buNone/>
              <a:defRPr sz="1350"/>
            </a:lvl4pPr>
            <a:lvl5pPr marL="1371600" indent="0">
              <a:buNone/>
              <a:defRPr sz="1350"/>
            </a:lvl5pPr>
            <a:lvl6pPr marL="1714500" indent="0">
              <a:buNone/>
              <a:defRPr sz="1350"/>
            </a:lvl6pPr>
            <a:lvl7pPr marL="2057400" indent="0">
              <a:buNone/>
              <a:defRPr sz="1350"/>
            </a:lvl7pPr>
            <a:lvl8pPr marL="2400300" indent="0">
              <a:buNone/>
              <a:defRPr sz="1350"/>
            </a:lvl8pPr>
            <a:lvl9pPr marL="2743200" indent="0">
              <a:buNone/>
              <a:defRPr sz="1350"/>
            </a:lvl9pPr>
          </a:lstStyle>
          <a:p>
            <a:pPr lvl="0" fontAlgn="base"/>
            <a:r>
              <a:rPr lang="zh-CN" altLang="en-US" strike="noStrike" noProof="1"/>
              <a:t>单击此处编辑母版文本样式</a:t>
            </a:r>
            <a:endParaRPr lang="zh-CN" altLang="en-US" strike="noStrike" noProof="1"/>
          </a:p>
        </p:txBody>
      </p:sp>
      <p:sp>
        <p:nvSpPr>
          <p:cNvPr id="6" name="内容占位符 5"/>
          <p:cNvSpPr>
            <a:spLocks noGrp="1"/>
          </p:cNvSpPr>
          <p:nvPr>
            <p:ph sz="quarter" idx="4"/>
          </p:nvPr>
        </p:nvSpPr>
        <p:spPr>
          <a:xfrm>
            <a:off x="6256939" y="2665379"/>
            <a:ext cx="4897576" cy="3524284"/>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二级</a:t>
            </a:r>
            <a:endParaRPr lang="zh-CN" altLang="en-US" strike="noStrike" noProof="1"/>
          </a:p>
          <a:p>
            <a:pPr lvl="2" fontAlgn="base"/>
            <a:r>
              <a:rPr lang="zh-CN" altLang="en-US" strike="noStrike" noProof="1"/>
              <a:t>三级</a:t>
            </a:r>
            <a:endParaRPr lang="zh-CN" altLang="en-US" strike="noStrike" noProof="1"/>
          </a:p>
          <a:p>
            <a:pPr lvl="3" fontAlgn="base"/>
            <a:r>
              <a:rPr lang="zh-CN" altLang="en-US" strike="noStrike" noProof="1"/>
              <a:t>四级</a:t>
            </a:r>
            <a:endParaRPr lang="zh-CN" altLang="en-US" strike="noStrike" noProof="1"/>
          </a:p>
          <a:p>
            <a:pPr lvl="4" fontAlgn="base"/>
            <a:r>
              <a:rPr lang="zh-CN" altLang="en-US" strike="noStrike" noProof="1"/>
              <a:t>五级</a:t>
            </a:r>
            <a:endParaRPr lang="zh-CN" altLang="en-US" strike="noStrike" noProof="1"/>
          </a:p>
        </p:txBody>
      </p:sp>
      <p:sp>
        <p:nvSpPr>
          <p:cNvPr id="7" name="日期占位符 6"/>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endParaRPr lang="zh-CN" altLang="en-US" strike="noStrike" noProof="1"/>
          </a:p>
        </p:txBody>
      </p:sp>
      <p:sp>
        <p:nvSpPr>
          <p:cNvPr id="3" name="日期占位符 2"/>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2400"/>
            </a:lvl1p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idx="1"/>
          </p:nvPr>
        </p:nvSpPr>
        <p:spPr>
          <a:xfrm>
            <a:off x="5183188" y="987426"/>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二级</a:t>
            </a:r>
            <a:endParaRPr lang="zh-CN" altLang="en-US" strike="noStrike" noProof="1"/>
          </a:p>
          <a:p>
            <a:pPr lvl="2" fontAlgn="base"/>
            <a:r>
              <a:rPr lang="zh-CN" altLang="en-US" strike="noStrike" noProof="1"/>
              <a:t>三级</a:t>
            </a:r>
            <a:endParaRPr lang="zh-CN" altLang="en-US" strike="noStrike" noProof="1"/>
          </a:p>
          <a:p>
            <a:pPr lvl="3" fontAlgn="base"/>
            <a:r>
              <a:rPr lang="zh-CN" altLang="en-US" strike="noStrike" noProof="1"/>
              <a:t>四级</a:t>
            </a:r>
            <a:endParaRPr lang="zh-CN" altLang="en-US" strike="noStrike" noProof="1"/>
          </a:p>
          <a:p>
            <a:pPr lvl="4" fontAlgn="base"/>
            <a:r>
              <a:rPr lang="zh-CN" altLang="en-US" strike="noStrike" noProof="1"/>
              <a:t>五级</a:t>
            </a:r>
            <a:endParaRPr lang="zh-CN" altLang="en-US" strike="noStrike" noProof="1"/>
          </a:p>
        </p:txBody>
      </p:sp>
      <p:sp>
        <p:nvSpPr>
          <p:cNvPr id="4" name="文本占位符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fontAlgn="base"/>
            <a:r>
              <a:rPr lang="zh-CN" altLang="en-US" strike="noStrike" noProof="1"/>
              <a:t>单击此处编辑母版文本样式</a:t>
            </a:r>
            <a:endParaRPr lang="zh-CN" altLang="en-US" strike="noStrike" noProof="1"/>
          </a:p>
        </p:txBody>
      </p:sp>
      <p:sp>
        <p:nvSpPr>
          <p:cNvPr id="5" name="日期占位符 4"/>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4165349" cy="1600200"/>
          </a:xfrm>
        </p:spPr>
        <p:txBody>
          <a:bodyPr anchor="b"/>
          <a:lstStyle>
            <a:lvl1pPr>
              <a:defRPr sz="2400"/>
            </a:lvl1pPr>
          </a:lstStyle>
          <a:p>
            <a:pPr fontAlgn="base"/>
            <a:r>
              <a:rPr lang="zh-CN" altLang="en-US" strike="noStrike" noProof="1"/>
              <a:t>单击此处编辑母版标题样式</a:t>
            </a:r>
            <a:endParaRPr lang="zh-CN" altLang="en-US" strike="noStrike" noProof="1"/>
          </a:p>
        </p:txBody>
      </p:sp>
      <p:sp>
        <p:nvSpPr>
          <p:cNvPr id="3" name="图片占位符 2"/>
          <p:cNvSpPr>
            <a:spLocks noGrp="1"/>
          </p:cNvSpPr>
          <p:nvPr>
            <p:ph type="pic" idx="1"/>
          </p:nvPr>
        </p:nvSpPr>
        <p:spPr>
          <a:xfrm>
            <a:off x="5183188" y="457201"/>
            <a:ext cx="6172200" cy="540385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fontAlgn="base"/>
            <a:r>
              <a:rPr lang="zh-CN" altLang="en-US" strike="noStrike" noProof="1"/>
              <a:t>单击图标添加图片</a:t>
            </a:r>
            <a:endParaRPr lang="zh-CN" altLang="en-US" strike="noStrike" noProof="1"/>
          </a:p>
        </p:txBody>
      </p:sp>
      <p:sp>
        <p:nvSpPr>
          <p:cNvPr id="4" name="文本占位符 3"/>
          <p:cNvSpPr>
            <a:spLocks noGrp="1"/>
          </p:cNvSpPr>
          <p:nvPr>
            <p:ph type="body" sz="half" idx="2"/>
          </p:nvPr>
        </p:nvSpPr>
        <p:spPr>
          <a:xfrm>
            <a:off x="839788" y="2057400"/>
            <a:ext cx="4165349" cy="3811588"/>
          </a:xfrm>
        </p:spPr>
        <p:txBody>
          <a:bodyPr/>
          <a:lstStyle>
            <a:lvl1pPr marL="0" indent="0">
              <a:buNone/>
              <a:defRPr sz="15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fontAlgn="base"/>
            <a:r>
              <a:rPr lang="zh-CN" altLang="en-US" strike="noStrike" noProof="1"/>
              <a:t>单击此处编辑母版文本样式</a:t>
            </a:r>
            <a:endParaRPr lang="zh-CN" altLang="en-US" strike="noStrike" noProof="1"/>
          </a:p>
        </p:txBody>
      </p:sp>
      <p:sp>
        <p:nvSpPr>
          <p:cNvPr id="5" name="日期占位符 4"/>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a:t>单击此处编辑母版文本样式</a:t>
            </a:r>
            <a:endParaRPr lang="zh-CN" altLang="en-US" strike="noStrike" noProof="1"/>
          </a:p>
          <a:p>
            <a:pPr lvl="1" fontAlgn="base"/>
            <a:r>
              <a:rPr lang="zh-CN" altLang="en-US" strike="noStrike" noProof="1"/>
              <a:t>二级</a:t>
            </a:r>
            <a:endParaRPr lang="zh-CN" altLang="en-US" strike="noStrike" noProof="1"/>
          </a:p>
          <a:p>
            <a:pPr lvl="2" fontAlgn="base"/>
            <a:r>
              <a:rPr lang="zh-CN" altLang="en-US" strike="noStrike" noProof="1"/>
              <a:t>三级</a:t>
            </a:r>
            <a:endParaRPr lang="zh-CN" altLang="en-US" strike="noStrike" noProof="1"/>
          </a:p>
          <a:p>
            <a:pPr lvl="3" fontAlgn="base"/>
            <a:r>
              <a:rPr lang="zh-CN" altLang="en-US" strike="noStrike" noProof="1"/>
              <a:t>四级</a:t>
            </a:r>
            <a:endParaRPr lang="zh-CN" altLang="en-US" strike="noStrike" noProof="1"/>
          </a:p>
          <a:p>
            <a:pPr lvl="4" fontAlgn="base"/>
            <a:r>
              <a:rPr lang="zh-CN" altLang="en-US" strike="noStrike" noProof="1"/>
              <a:t>五级</a:t>
            </a:r>
            <a:endParaRPr lang="zh-CN" altLang="en-US" strike="noStrike" noProof="1"/>
          </a:p>
        </p:txBody>
      </p:sp>
      <p:sp>
        <p:nvSpPr>
          <p:cNvPr id="4" name="日期占位符 3"/>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50313" y="981075"/>
            <a:ext cx="2746904" cy="5145088"/>
          </a:xfrm>
        </p:spPr>
        <p:txBody>
          <a:bodyPr vert="eaVert"/>
          <a:lstStyle/>
          <a:p>
            <a:pPr fontAlgn="base"/>
            <a:r>
              <a:rPr lang="zh-CN" altLang="en-US" strike="noStrike" noProof="1"/>
              <a:t>单击此处编辑母版标题样式</a:t>
            </a:r>
            <a:endParaRPr lang="zh-CN" altLang="en-US" strike="noStrike" noProof="1"/>
          </a:p>
        </p:txBody>
      </p:sp>
      <p:sp>
        <p:nvSpPr>
          <p:cNvPr id="3" name="竖排文字占位符 2"/>
          <p:cNvSpPr>
            <a:spLocks noGrp="1"/>
          </p:cNvSpPr>
          <p:nvPr>
            <p:ph type="body" orient="vert" idx="1"/>
          </p:nvPr>
        </p:nvSpPr>
        <p:spPr>
          <a:xfrm>
            <a:off x="609600" y="981075"/>
            <a:ext cx="8081472" cy="5145088"/>
          </a:xfrm>
        </p:spPr>
        <p:txBody>
          <a:bodyPr vert="eaVert"/>
          <a:lstStyle/>
          <a:p>
            <a:pPr lvl="0" fontAlgn="base"/>
            <a:r>
              <a:rPr lang="zh-CN" altLang="en-US" strike="noStrike" noProof="1"/>
              <a:t>单击此处编辑母版文本样式</a:t>
            </a:r>
            <a:endParaRPr lang="zh-CN" altLang="en-US" strike="noStrike" noProof="1"/>
          </a:p>
          <a:p>
            <a:pPr lvl="1" fontAlgn="base"/>
            <a:r>
              <a:rPr lang="zh-CN" altLang="en-US" strike="noStrike" noProof="1"/>
              <a:t>二级</a:t>
            </a:r>
            <a:endParaRPr lang="zh-CN" altLang="en-US" strike="noStrike" noProof="1"/>
          </a:p>
          <a:p>
            <a:pPr lvl="2" fontAlgn="base"/>
            <a:r>
              <a:rPr lang="zh-CN" altLang="en-US" strike="noStrike" noProof="1"/>
              <a:t>三级</a:t>
            </a:r>
            <a:endParaRPr lang="zh-CN" altLang="en-US" strike="noStrike" noProof="1"/>
          </a:p>
          <a:p>
            <a:pPr lvl="3" fontAlgn="base"/>
            <a:r>
              <a:rPr lang="zh-CN" altLang="en-US" strike="noStrike" noProof="1"/>
              <a:t>四级</a:t>
            </a:r>
            <a:endParaRPr lang="zh-CN" altLang="en-US" strike="noStrike" noProof="1"/>
          </a:p>
          <a:p>
            <a:pPr lvl="4" fontAlgn="base"/>
            <a:r>
              <a:rPr lang="zh-CN" altLang="en-US" strike="noStrike" noProof="1"/>
              <a:t>五级</a:t>
            </a:r>
            <a:endParaRPr lang="zh-CN" altLang="en-US" strike="noStrike" noProof="1"/>
          </a:p>
        </p:txBody>
      </p:sp>
      <p:sp>
        <p:nvSpPr>
          <p:cNvPr id="4" name="日期占位符 3"/>
          <p:cNvSpPr>
            <a:spLocks noGrp="1"/>
          </p:cNvSpPr>
          <p:nvPr>
            <p:ph type="dt" sz="half" idx="10"/>
          </p:nvPr>
        </p:nvSpPr>
        <p:spPr/>
        <p:txBody>
          <a:bodyPr/>
          <a:lstStyle/>
          <a:p>
            <a:fld id="{425B4BC6-B3A8-4ADE-BC25-A71C0AEEBF18}"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8D1D95CE-D62D-483D-A457-8A642A840A95}"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image" Target="../media/image1.jpe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0">
          <a:blip r:embed="rId12"/>
          <a:stretch>
            <a:fillRect/>
          </a:stretch>
        </a:blipFill>
        <a:effectLst/>
      </p:bgPr>
    </p:bg>
    <p:spTree>
      <p:nvGrpSpPr>
        <p:cNvPr id="1" name=""/>
        <p:cNvGrpSpPr/>
        <p:nvPr/>
      </p:nvGrpSpPr>
      <p:grpSpPr>
        <a:xfrm>
          <a:off x="0" y="0"/>
          <a:ext cx="0" cy="0"/>
          <a:chOff x="0" y="0"/>
          <a:chExt cx="0" cy="0"/>
        </a:xfrm>
      </p:grpSpPr>
      <p:sp>
        <p:nvSpPr>
          <p:cNvPr id="1026" name="标题 1025"/>
          <p:cNvSpPr>
            <a:spLocks noGrp="1"/>
          </p:cNvSpPr>
          <p:nvPr>
            <p:ph type="title"/>
          </p:nvPr>
        </p:nvSpPr>
        <p:spPr>
          <a:xfrm>
            <a:off x="624417" y="981075"/>
            <a:ext cx="10972800" cy="1143000"/>
          </a:xfrm>
          <a:prstGeom prst="rect">
            <a:avLst/>
          </a:prstGeom>
          <a:noFill/>
          <a:ln w="9525">
            <a:noFill/>
          </a:ln>
        </p:spPr>
        <p:txBody>
          <a:bodyPr anchor="ctr"/>
          <a:lstStyle/>
          <a:p>
            <a:pPr lvl="0"/>
            <a:r>
              <a:rPr lang="zh-CN" altLang="en-US" dirty="0"/>
              <a:t>单击此处编辑母版标题样式</a:t>
            </a:r>
            <a:endParaRPr lang="zh-CN" altLang="en-US" dirty="0"/>
          </a:p>
        </p:txBody>
      </p:sp>
      <p:sp>
        <p:nvSpPr>
          <p:cNvPr id="1027" name="文本占位符 1026"/>
          <p:cNvSpPr>
            <a:spLocks noGrp="1"/>
          </p:cNvSpPr>
          <p:nvPr>
            <p:ph type="body"/>
          </p:nvPr>
        </p:nvSpPr>
        <p:spPr>
          <a:xfrm>
            <a:off x="609600" y="2276475"/>
            <a:ext cx="10972800" cy="3849688"/>
          </a:xfrm>
          <a:prstGeom prst="rect">
            <a:avLst/>
          </a:prstGeom>
          <a:noFill/>
          <a:ln w="9525">
            <a:noFill/>
          </a:ln>
        </p:spPr>
        <p:txBody>
          <a:bodyPr anchor="t"/>
          <a:lstStyle/>
          <a:p>
            <a:pPr lvl="0"/>
            <a:r>
              <a:rPr lang="zh-CN" altLang="en-US" dirty="0"/>
              <a:t>单击此处编辑母版文本样式</a:t>
            </a:r>
            <a:endParaRPr lang="zh-CN" altLang="en-US" dirty="0"/>
          </a:p>
          <a:p>
            <a:pPr lvl="1" indent="-285750"/>
            <a:r>
              <a:rPr lang="zh-CN" altLang="en-US" dirty="0"/>
              <a:t>第二级</a:t>
            </a:r>
            <a:endParaRPr lang="zh-CN" altLang="en-US" dirty="0"/>
          </a:p>
          <a:p>
            <a:pPr lvl="2" indent="-228600"/>
            <a:r>
              <a:rPr lang="zh-CN" altLang="en-US" dirty="0"/>
              <a:t>第三级</a:t>
            </a:r>
            <a:endParaRPr lang="zh-CN" altLang="en-US" dirty="0"/>
          </a:p>
          <a:p>
            <a:pPr lvl="3" indent="-228600"/>
            <a:r>
              <a:rPr lang="zh-CN" altLang="en-US" dirty="0"/>
              <a:t>第四级</a:t>
            </a:r>
            <a:endParaRPr lang="zh-CN" altLang="en-US" dirty="0"/>
          </a:p>
          <a:p>
            <a:pPr lvl="4" indent="-228600"/>
            <a:r>
              <a:rPr lang="zh-CN" altLang="en-US" dirty="0"/>
              <a:t>第五级</a:t>
            </a:r>
            <a:endParaRPr lang="zh-CN" altLang="en-US" dirty="0"/>
          </a:p>
        </p:txBody>
      </p:sp>
      <p:sp>
        <p:nvSpPr>
          <p:cNvPr id="1028" name="日期占位符 1027"/>
          <p:cNvSpPr>
            <a:spLocks noGrp="1"/>
          </p:cNvSpPr>
          <p:nvPr>
            <p:ph type="dt" sz="half" idx="2"/>
          </p:nvPr>
        </p:nvSpPr>
        <p:spPr>
          <a:xfrm>
            <a:off x="609600" y="6245225"/>
            <a:ext cx="2844800" cy="476250"/>
          </a:xfrm>
          <a:prstGeom prst="rect">
            <a:avLst/>
          </a:prstGeom>
          <a:noFill/>
          <a:ln w="9525">
            <a:noFill/>
          </a:ln>
        </p:spPr>
        <p:txBody>
          <a:bodyPr/>
          <a:lstStyle>
            <a:lvl1pPr>
              <a:defRPr sz="1400"/>
            </a:lvl1pPr>
          </a:lstStyle>
          <a:p>
            <a:fld id="{425B4BC6-B3A8-4ADE-BC25-A71C0AEEBF18}" type="datetimeFigureOut">
              <a:rPr lang="zh-CN" altLang="en-US" smtClean="0"/>
            </a:fld>
            <a:endParaRPr lang="zh-CN" altLang="en-US"/>
          </a:p>
        </p:txBody>
      </p:sp>
      <p:sp>
        <p:nvSpPr>
          <p:cNvPr id="1029" name="页脚占位符 1028"/>
          <p:cNvSpPr>
            <a:spLocks noGrp="1"/>
          </p:cNvSpPr>
          <p:nvPr>
            <p:ph type="ftr" sz="quarter" idx="3"/>
          </p:nvPr>
        </p:nvSpPr>
        <p:spPr>
          <a:xfrm>
            <a:off x="4165600" y="6245225"/>
            <a:ext cx="3860800" cy="476250"/>
          </a:xfrm>
          <a:prstGeom prst="rect">
            <a:avLst/>
          </a:prstGeom>
          <a:noFill/>
          <a:ln w="9525">
            <a:noFill/>
          </a:ln>
        </p:spPr>
        <p:txBody>
          <a:bodyPr/>
          <a:lstStyle>
            <a:lvl1pPr algn="ctr">
              <a:defRPr sz="1400"/>
            </a:lvl1pPr>
          </a:lstStyle>
          <a:p>
            <a:endParaRPr lang="zh-CN" altLang="en-US"/>
          </a:p>
        </p:txBody>
      </p:sp>
      <p:sp>
        <p:nvSpPr>
          <p:cNvPr id="1030" name="灯片编号占位符 1029"/>
          <p:cNvSpPr>
            <a:spLocks noGrp="1"/>
          </p:cNvSpPr>
          <p:nvPr>
            <p:ph type="sldNum" sz="quarter" idx="4"/>
          </p:nvPr>
        </p:nvSpPr>
        <p:spPr>
          <a:xfrm>
            <a:off x="8737600" y="6245225"/>
            <a:ext cx="2844800" cy="476250"/>
          </a:xfrm>
          <a:prstGeom prst="rect">
            <a:avLst/>
          </a:prstGeom>
          <a:noFill/>
          <a:ln w="9525">
            <a:noFill/>
          </a:ln>
        </p:spPr>
        <p:txBody>
          <a:bodyPr/>
          <a:lstStyle>
            <a:lvl1pPr algn="r">
              <a:defRPr sz="1400"/>
            </a:lvl1pPr>
          </a:lstStyle>
          <a:p>
            <a:fld id="{8D1D95CE-D62D-483D-A457-8A642A840A95}"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marL="0" lvl="0" indent="0" algn="ctr" defTabSz="914400" rtl="0" eaLnBrk="1" fontAlgn="base" latinLnBrk="0" hangingPunct="1">
        <a:lnSpc>
          <a:spcPct val="100000"/>
        </a:lnSpc>
        <a:spcBef>
          <a:spcPct val="0"/>
        </a:spcBef>
        <a:spcAft>
          <a:spcPct val="0"/>
        </a:spcAft>
        <a:buNone/>
        <a:defRPr sz="4000" b="1" i="0" u="none" kern="1200" baseline="0">
          <a:solidFill>
            <a:schemeClr val="tx2"/>
          </a:solidFill>
          <a:latin typeface="+mj-lt"/>
          <a:ea typeface="+mj-ea"/>
          <a:cs typeface="+mj-cs"/>
        </a:defRPr>
      </a:lvl1pPr>
    </p:titleStyle>
    <p:bodyStyle>
      <a:lvl1pPr marL="342900" lvl="0" indent="-342900" algn="l" defTabSz="914400" rtl="0" eaLnBrk="1" fontAlgn="base" latinLnBrk="0" hangingPunct="1">
        <a:lnSpc>
          <a:spcPct val="100000"/>
        </a:lnSpc>
        <a:spcBef>
          <a:spcPct val="20000"/>
        </a:spcBef>
        <a:spcAft>
          <a:spcPct val="0"/>
        </a:spcAft>
        <a:buChar char="•"/>
        <a:defRPr sz="3200" b="0" i="0" u="none" kern="1200" baseline="0">
          <a:solidFill>
            <a:schemeClr val="tx1"/>
          </a:solidFill>
          <a:latin typeface="+mn-lt"/>
          <a:ea typeface="+mn-ea"/>
          <a:cs typeface="+mn-cs"/>
        </a:defRPr>
      </a:lvl1pPr>
      <a:lvl2pPr marL="742950" lvl="1" indent="-285750" algn="l" defTabSz="914400" rtl="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2pPr>
      <a:lvl3pPr marL="1143000" lvl="2" indent="-228600" algn="l" defTabSz="914400" rtl="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3pPr>
      <a:lvl4pPr marL="1600200" lvl="3"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4pPr>
      <a:lvl5pPr marL="2057400" lvl="4"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5pPr>
      <a:lvl6pPr marL="2514600" lvl="5"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6pPr>
      <a:lvl7pPr marL="2971800" lvl="6"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7pPr>
      <a:lvl8pPr marL="3429000" lvl="7"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8pPr>
      <a:lvl9pPr marL="3886200" lvl="8"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9pPr>
    </p:bodyStyle>
    <p:other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mn-lt"/>
          <a:ea typeface="+mn-ea"/>
          <a:cs typeface="+mn-cs"/>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5pPr>
      <a:lvl6pPr marL="2286000" lvl="5"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6pPr>
      <a:lvl7pPr marL="2743200" lvl="6"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7pPr>
      <a:lvl8pPr marL="3200400" lvl="7"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8pPr>
      <a:lvl9pPr marL="3657600" lvl="8"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5" Type="http://schemas.openxmlformats.org/officeDocument/2006/relationships/vmlDrawing" Target="../drawings/vmlDrawing1.vml"/><Relationship Id="rId4" Type="http://schemas.openxmlformats.org/officeDocument/2006/relationships/slideLayout" Target="../slideLayouts/slideLayout7.xml"/><Relationship Id="rId3" Type="http://schemas.openxmlformats.org/officeDocument/2006/relationships/image" Target="../media/image6.wmf"/><Relationship Id="rId2" Type="http://schemas.openxmlformats.org/officeDocument/2006/relationships/oleObject" Target="../embeddings/oleObject1.bin"/><Relationship Id="rId1"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7.xml"/><Relationship Id="rId1" Type="http://schemas.openxmlformats.org/officeDocument/2006/relationships/image" Target="../media/image8.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8.xml"/><Relationship Id="rId5" Type="http://schemas.openxmlformats.org/officeDocument/2006/relationships/slideLayout" Target="../slideLayouts/slideLayout7.xml"/><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18.png"/><Relationship Id="rId7" Type="http://schemas.openxmlformats.org/officeDocument/2006/relationships/image" Target="../media/image17.png"/><Relationship Id="rId6" Type="http://schemas.openxmlformats.org/officeDocument/2006/relationships/image" Target="../media/image16.wmf"/><Relationship Id="rId5" Type="http://schemas.openxmlformats.org/officeDocument/2006/relationships/oleObject" Target="../embeddings/oleObject3.bin"/><Relationship Id="rId4" Type="http://schemas.openxmlformats.org/officeDocument/2006/relationships/image" Target="../media/image15.png"/><Relationship Id="rId3" Type="http://schemas.openxmlformats.org/officeDocument/2006/relationships/image" Target="../media/image14.wmf"/><Relationship Id="rId2" Type="http://schemas.openxmlformats.org/officeDocument/2006/relationships/oleObject" Target="../embeddings/oleObject2.bin"/><Relationship Id="rId11" Type="http://schemas.openxmlformats.org/officeDocument/2006/relationships/notesSlide" Target="../notesSlides/notesSlide9.xml"/><Relationship Id="rId10" Type="http://schemas.openxmlformats.org/officeDocument/2006/relationships/vmlDrawing" Target="../drawings/vmlDrawing2.vml"/><Relationship Id="rId1" Type="http://schemas.openxmlformats.org/officeDocument/2006/relationships/image" Target="../media/image13.png"/></Relationships>
</file>

<file path=ppt/slides/_rels/slide16.xml.rels><?xml version="1.0" encoding="UTF-8" standalone="yes"?>
<Relationships xmlns="http://schemas.openxmlformats.org/package/2006/relationships"><Relationship Id="rId4" Type="http://schemas.openxmlformats.org/officeDocument/2006/relationships/comments" Target="../comments/comment1.xml"/><Relationship Id="rId3" Type="http://schemas.openxmlformats.org/officeDocument/2006/relationships/notesSlide" Target="../notesSlides/notesSlide10.xml"/><Relationship Id="rId2" Type="http://schemas.openxmlformats.org/officeDocument/2006/relationships/slideLayout" Target="../slideLayouts/slideLayout7.xml"/><Relationship Id="rId1"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7.xml"/><Relationship Id="rId1"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7.xml"/><Relationship Id="rId1"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7.xml"/><Relationship Id="rId1"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nvSpPr>
        <p:spPr>
          <a:xfrm>
            <a:off x="548005" y="1537335"/>
            <a:ext cx="11095355" cy="583565"/>
          </a:xfrm>
          <a:prstGeom prst="rect">
            <a:avLst/>
          </a:prstGeom>
          <a:noFill/>
        </p:spPr>
        <p:txBody>
          <a:bodyPr wrap="square" rtlCol="0" anchor="t">
            <a:spAutoFit/>
          </a:bodyPr>
          <a:lstStyle/>
          <a:p>
            <a:endParaRPr lang="zh-CN" altLang="en-US" sz="3200" dirty="0">
              <a:solidFill>
                <a:schemeClr val="tx1"/>
              </a:solidFill>
              <a:uFillTx/>
              <a:latin typeface="Times New Roman" panose="02020603050405020304" charset="0"/>
              <a:ea typeface="微软雅黑" panose="020B0503020204020204" pitchFamily="34" charset="-122"/>
            </a:endParaRPr>
          </a:p>
        </p:txBody>
      </p:sp>
      <p:sp>
        <p:nvSpPr>
          <p:cNvPr id="6" name="文本框 5"/>
          <p:cNvSpPr txBox="1"/>
          <p:nvPr/>
        </p:nvSpPr>
        <p:spPr>
          <a:xfrm>
            <a:off x="548005" y="3691255"/>
            <a:ext cx="11008995" cy="398780"/>
          </a:xfrm>
          <a:prstGeom prst="rect">
            <a:avLst/>
          </a:prstGeom>
          <a:noFill/>
        </p:spPr>
        <p:txBody>
          <a:bodyPr wrap="square" rtlCol="0" anchor="t">
            <a:spAutoFit/>
          </a:bodyPr>
          <a:lstStyle/>
          <a:p>
            <a:endParaRPr lang="en-US" altLang="zh-CN" sz="2000">
              <a:uFillTx/>
              <a:latin typeface="Times New Roman" panose="02020603050405020304" charset="0"/>
              <a:ea typeface="微软雅黑" panose="020B0503020204020204" pitchFamily="34" charset="-122"/>
            </a:endParaRPr>
          </a:p>
        </p:txBody>
      </p:sp>
      <p:sp>
        <p:nvSpPr>
          <p:cNvPr id="188" name="Google Shape;188;p33"/>
          <p:cNvSpPr txBox="1"/>
          <p:nvPr>
            <p:ph type="ctrTitle"/>
          </p:nvPr>
        </p:nvSpPr>
        <p:spPr>
          <a:xfrm>
            <a:off x="548005" y="1177925"/>
            <a:ext cx="10843895" cy="942975"/>
          </a:xfrm>
          <a:prstGeom prst="rect">
            <a:avLst/>
          </a:prstGeom>
        </p:spPr>
        <p:txBody>
          <a:bodyPr spcFirstLastPara="1" wrap="square" lIns="91425" tIns="91425" rIns="91425" bIns="91425" anchor="ctr" anchorCtr="0">
            <a:noAutofit/>
          </a:bodyPr>
          <a:p>
            <a:pPr marL="0" lvl="0" indent="0" algn="ctr" rtl="0">
              <a:spcBef>
                <a:spcPts val="0"/>
              </a:spcBef>
              <a:spcAft>
                <a:spcPts val="0"/>
              </a:spcAft>
              <a:buNone/>
            </a:pPr>
            <a:r>
              <a:rPr sz="3200" b="1">
                <a:solidFill>
                  <a:schemeClr val="tx1"/>
                </a:solidFill>
                <a:latin typeface="Times New Roman" panose="02020603050405020304" charset="0"/>
                <a:ea typeface="楷体" panose="02010609060101010101" charset="-122"/>
                <a:cs typeface="Times New Roman" panose="02020603050405020304" charset="0"/>
              </a:rPr>
              <a:t>Gait-Key: A Gait-Based Shared Secret Key Generation Protocol for Wearable Devices</a:t>
            </a:r>
            <a:endParaRPr sz="3200" b="1">
              <a:solidFill>
                <a:schemeClr val="tx1"/>
              </a:solidFill>
              <a:latin typeface="Times New Roman" panose="02020603050405020304" charset="0"/>
              <a:ea typeface="楷体" panose="02010609060101010101" charset="-122"/>
              <a:cs typeface="Times New Roman" panose="02020603050405020304" charset="0"/>
            </a:endParaRPr>
          </a:p>
        </p:txBody>
      </p:sp>
      <p:sp>
        <p:nvSpPr>
          <p:cNvPr id="2" name="文本框 1"/>
          <p:cNvSpPr txBox="1"/>
          <p:nvPr/>
        </p:nvSpPr>
        <p:spPr>
          <a:xfrm>
            <a:off x="821055" y="2899410"/>
            <a:ext cx="7456805" cy="1322070"/>
          </a:xfrm>
          <a:prstGeom prst="rect">
            <a:avLst/>
          </a:prstGeom>
          <a:noFill/>
        </p:spPr>
        <p:txBody>
          <a:bodyPr wrap="square" rtlCol="0" anchor="t">
            <a:spAutoFit/>
          </a:bodyPr>
          <a:p>
            <a:r>
              <a:rPr lang="en-US" altLang="zh-CN" sz="2000">
                <a:latin typeface="Times New Roman" panose="02020603050405020304" charset="0"/>
                <a:cs typeface="Times New Roman" panose="02020603050405020304" charset="0"/>
              </a:rPr>
              <a:t>Authors:</a:t>
            </a:r>
            <a:endParaRPr lang="en-US" altLang="zh-CN" sz="2000">
              <a:latin typeface="Times New Roman" panose="02020603050405020304" charset="0"/>
              <a:cs typeface="Times New Roman" panose="02020603050405020304" charset="0"/>
            </a:endParaRPr>
          </a:p>
          <a:p>
            <a:r>
              <a:rPr lang="zh-CN" altLang="en-US" sz="2000">
                <a:latin typeface="Times New Roman" panose="02020603050405020304" charset="0"/>
                <a:cs typeface="Times New Roman" panose="02020603050405020304" charset="0"/>
              </a:rPr>
              <a:t>WEITAO XU</a:t>
            </a:r>
            <a:r>
              <a:rPr lang="en-US" altLang="zh-CN" sz="2000">
                <a:latin typeface="Times New Roman" panose="02020603050405020304" charset="0"/>
                <a:cs typeface="Times New Roman" panose="02020603050405020304" charset="0"/>
              </a:rPr>
              <a:t>;  </a:t>
            </a:r>
            <a:r>
              <a:rPr lang="zh-CN" altLang="en-US" sz="2000">
                <a:latin typeface="Times New Roman" panose="02020603050405020304" charset="0"/>
                <a:cs typeface="Times New Roman" panose="02020603050405020304" charset="0"/>
              </a:rPr>
              <a:t>CHITRA JAVALI</a:t>
            </a:r>
            <a:r>
              <a:rPr lang="en-US" altLang="zh-CN" sz="2000">
                <a:latin typeface="Times New Roman" panose="02020603050405020304" charset="0"/>
                <a:cs typeface="Times New Roman" panose="02020603050405020304" charset="0"/>
              </a:rPr>
              <a:t>;  </a:t>
            </a:r>
            <a:r>
              <a:rPr lang="zh-CN" altLang="en-US" sz="2000">
                <a:latin typeface="Times New Roman" panose="02020603050405020304" charset="0"/>
                <a:cs typeface="Times New Roman" panose="02020603050405020304" charset="0"/>
              </a:rPr>
              <a:t>GIRISH REVADIGAR</a:t>
            </a:r>
            <a:r>
              <a:rPr lang="en-US" sz="2000">
                <a:latin typeface="Times New Roman" panose="02020603050405020304" charset="0"/>
                <a:cs typeface="Times New Roman" panose="02020603050405020304" charset="0"/>
              </a:rPr>
              <a:t>;  </a:t>
            </a:r>
            <a:r>
              <a:rPr lang="zh-CN" altLang="en-US" sz="2000">
                <a:latin typeface="Times New Roman" panose="02020603050405020304" charset="0"/>
                <a:cs typeface="Times New Roman" panose="02020603050405020304" charset="0"/>
              </a:rPr>
              <a:t>CHENGWEN LUO</a:t>
            </a:r>
            <a:r>
              <a:rPr lang="en-US" sz="2000">
                <a:latin typeface="Times New Roman" panose="02020603050405020304" charset="0"/>
                <a:cs typeface="Times New Roman" panose="02020603050405020304" charset="0"/>
              </a:rPr>
              <a:t>;  </a:t>
            </a:r>
            <a:r>
              <a:rPr lang="zh-CN" altLang="en-US" sz="2000">
                <a:latin typeface="Times New Roman" panose="02020603050405020304" charset="0"/>
                <a:cs typeface="Times New Roman" panose="02020603050405020304" charset="0"/>
              </a:rPr>
              <a:t>NEIL BERGMANN</a:t>
            </a:r>
            <a:r>
              <a:rPr lang="en-US" sz="2000">
                <a:latin typeface="Times New Roman" panose="02020603050405020304" charset="0"/>
                <a:cs typeface="Times New Roman" panose="02020603050405020304" charset="0"/>
              </a:rPr>
              <a:t>;  </a:t>
            </a:r>
            <a:r>
              <a:rPr lang="zh-CN" altLang="en-US" sz="2000">
                <a:latin typeface="Times New Roman" panose="02020603050405020304" charset="0"/>
                <a:cs typeface="Times New Roman" panose="02020603050405020304" charset="0"/>
              </a:rPr>
              <a:t>WEN HU</a:t>
            </a:r>
            <a:r>
              <a:rPr lang="en-US" altLang="zh-CN" sz="2000">
                <a:latin typeface="Times New Roman" panose="02020603050405020304" charset="0"/>
                <a:cs typeface="Times New Roman" panose="02020603050405020304" charset="0"/>
              </a:rPr>
              <a:t>;</a:t>
            </a:r>
            <a:endParaRPr lang="zh-CN" altLang="en-US" sz="2000">
              <a:latin typeface="Times New Roman" panose="02020603050405020304" charset="0"/>
              <a:cs typeface="Times New Roman" panose="02020603050405020304" charset="0"/>
            </a:endParaRPr>
          </a:p>
          <a:p>
            <a:r>
              <a:rPr lang="zh-CN" altLang="en-US" sz="2000">
                <a:latin typeface="Times New Roman" panose="02020603050405020304" charset="0"/>
                <a:cs typeface="Times New Roman" panose="02020603050405020304" charset="0"/>
              </a:rPr>
              <a:t>Publication</a:t>
            </a:r>
            <a:r>
              <a:rPr lang="en-US" altLang="zh-CN" sz="2000">
                <a:latin typeface="Times New Roman" panose="02020603050405020304" charset="0"/>
                <a:cs typeface="Times New Roman" panose="02020603050405020304" charset="0"/>
              </a:rPr>
              <a:t>: </a:t>
            </a:r>
            <a:r>
              <a:rPr lang="zh-CN" altLang="en-US" sz="2000">
                <a:latin typeface="Times New Roman" panose="02020603050405020304" charset="0"/>
                <a:cs typeface="Times New Roman" panose="02020603050405020304" charset="0"/>
              </a:rPr>
              <a:t>ACM Transactions on Sensor Networks January 2017</a:t>
            </a:r>
            <a:endParaRPr lang="zh-CN" altLang="en-US" sz="2000">
              <a:latin typeface="Times New Roman" panose="02020603050405020304" charset="0"/>
              <a:cs typeface="Times New Roman" panose="02020603050405020304" charset="0"/>
            </a:endParaRPr>
          </a:p>
        </p:txBody>
      </p:sp>
      <p:sp>
        <p:nvSpPr>
          <p:cNvPr id="3" name="文本框 2"/>
          <p:cNvSpPr txBox="1"/>
          <p:nvPr/>
        </p:nvSpPr>
        <p:spPr>
          <a:xfrm>
            <a:off x="5027930" y="5037455"/>
            <a:ext cx="2136775" cy="829945"/>
          </a:xfrm>
          <a:prstGeom prst="rect">
            <a:avLst/>
          </a:prstGeom>
          <a:noFill/>
        </p:spPr>
        <p:txBody>
          <a:bodyPr wrap="square" rtlCol="0">
            <a:spAutoFit/>
          </a:bodyPr>
          <a:p>
            <a:pPr algn="ctr"/>
            <a:r>
              <a:rPr lang="zh-CN" altLang="en-US" sz="2400">
                <a:solidFill>
                  <a:srgbClr val="000000"/>
                </a:solidFill>
                <a:uFillTx/>
                <a:latin typeface="Times New Roman" panose="02020603050405020304" charset="0"/>
                <a:ea typeface="楷体" panose="02010609060101010101" charset="-122"/>
                <a:cs typeface="楷体" panose="02010609060101010101" charset="-122"/>
              </a:rPr>
              <a:t>唐慧敏   </a:t>
            </a:r>
            <a:endParaRPr lang="zh-CN" altLang="en-US" sz="2400">
              <a:solidFill>
                <a:srgbClr val="000000"/>
              </a:solidFill>
              <a:uFillTx/>
              <a:latin typeface="Times New Roman" panose="02020603050405020304" charset="0"/>
              <a:ea typeface="楷体" panose="02010609060101010101" charset="-122"/>
              <a:cs typeface="楷体" panose="02010609060101010101" charset="-122"/>
            </a:endParaRPr>
          </a:p>
          <a:p>
            <a:pPr algn="ctr"/>
            <a:r>
              <a:rPr lang="en-US" altLang="zh-CN" sz="2400">
                <a:solidFill>
                  <a:srgbClr val="000000"/>
                </a:solidFill>
                <a:uFillTx/>
                <a:latin typeface="Times New Roman" panose="02020603050405020304" charset="0"/>
                <a:ea typeface="楷体" panose="02010609060101010101" charset="-122"/>
                <a:cs typeface="楷体" panose="02010609060101010101" charset="-122"/>
              </a:rPr>
              <a:t>51205902133</a:t>
            </a:r>
            <a:endParaRPr lang="en-US" altLang="zh-CN" sz="2400">
              <a:solidFill>
                <a:srgbClr val="000000"/>
              </a:solidFill>
              <a:uFillTx/>
              <a:latin typeface="Times New Roman" panose="02020603050405020304" charset="0"/>
              <a:ea typeface="楷体" panose="02010609060101010101" charset="-122"/>
              <a:cs typeface="楷体" panose="02010609060101010101"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ctrTitle"/>
          </p:nvPr>
        </p:nvSpPr>
        <p:spPr/>
        <p:txBody>
          <a:bodyPr/>
          <a:p>
            <a:r>
              <a:rPr lang="en-US" altLang="zh-CN"/>
              <a:t>1.Background</a:t>
            </a:r>
            <a:endParaRPr lang="en-US" altLang="zh-CN"/>
          </a:p>
        </p:txBody>
      </p:sp>
      <p:sp>
        <p:nvSpPr>
          <p:cNvPr id="6" name="副标题 5"/>
          <p:cNvSpPr>
            <a:spLocks noGrp="1"/>
          </p:cNvSpPr>
          <p:nvPr>
            <p:ph type="subTitle" idx="1"/>
          </p:nvPr>
        </p:nvSpPr>
        <p:spPr/>
        <p:txBody>
          <a:bodyPr/>
          <a:p>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title" idx="4294967295"/>
          </p:nvPr>
        </p:nvSpPr>
        <p:spPr>
          <a:xfrm>
            <a:off x="251460" y="1222375"/>
            <a:ext cx="11689080" cy="1257935"/>
          </a:xfrm>
        </p:spPr>
        <p:txBody>
          <a:bodyPr/>
          <a:p>
            <a:pPr algn="l"/>
            <a:r>
              <a:rPr sz="2400" b="0">
                <a:latin typeface="楷体" panose="02010609060101010101" charset="-122"/>
                <a:ea typeface="楷体" panose="02010609060101010101" charset="-122"/>
                <a:cs typeface="宋体" panose="02010600030101010101" pitchFamily="2" charset="-122"/>
                <a:sym typeface="+mn-ea"/>
              </a:rPr>
              <a:t>近年来，智能可穿戴设备的数量出现了显著增长。对于这些</a:t>
            </a:r>
            <a:r>
              <a:rPr lang="zh-CN" sz="2400" b="0">
                <a:latin typeface="楷体" panose="02010609060101010101" charset="-122"/>
                <a:ea typeface="楷体" panose="02010609060101010101" charset="-122"/>
                <a:cs typeface="宋体" panose="02010600030101010101" pitchFamily="2" charset="-122"/>
                <a:sym typeface="+mn-ea"/>
              </a:rPr>
              <a:t>可穿戴设备</a:t>
            </a:r>
            <a:r>
              <a:rPr sz="2400" b="0">
                <a:latin typeface="楷体" panose="02010609060101010101" charset="-122"/>
                <a:ea typeface="楷体" panose="02010609060101010101" charset="-122"/>
                <a:cs typeface="宋体" panose="02010600030101010101" pitchFamily="2" charset="-122"/>
                <a:sym typeface="+mn-ea"/>
              </a:rPr>
              <a:t>，一个重要的安全问题是在合法设备之间建立一个经过身份验证的通信通道，以保护后续的通信。由于</a:t>
            </a:r>
            <a:r>
              <a:rPr lang="zh-CN" sz="2400" b="0">
                <a:latin typeface="楷体" panose="02010609060101010101" charset="-122"/>
                <a:ea typeface="楷体" panose="02010609060101010101" charset="-122"/>
                <a:cs typeface="宋体" panose="02010600030101010101" pitchFamily="2" charset="-122"/>
                <a:sym typeface="+mn-ea"/>
              </a:rPr>
              <a:t>无线通信</a:t>
            </a:r>
            <a:r>
              <a:rPr sz="2400" b="0">
                <a:latin typeface="楷体" panose="02010609060101010101" charset="-122"/>
                <a:ea typeface="楷体" panose="02010609060101010101" charset="-122"/>
                <a:cs typeface="宋体" panose="02010600030101010101" pitchFamily="2" charset="-122"/>
                <a:sym typeface="+mn-ea"/>
              </a:rPr>
              <a:t>和</a:t>
            </a:r>
            <a:r>
              <a:rPr lang="zh-CN" sz="2400" b="0">
                <a:latin typeface="楷体" panose="02010609060101010101" charset="-122"/>
                <a:ea typeface="楷体" panose="02010609060101010101" charset="-122"/>
                <a:cs typeface="宋体" panose="02010600030101010101" pitchFamily="2" charset="-122"/>
                <a:sym typeface="+mn-ea"/>
              </a:rPr>
              <a:t>资源的限制</a:t>
            </a:r>
            <a:r>
              <a:rPr sz="2400" b="0">
                <a:latin typeface="楷体" panose="02010609060101010101" charset="-122"/>
                <a:ea typeface="楷体" panose="02010609060101010101" charset="-122"/>
                <a:cs typeface="宋体" panose="02010600030101010101" pitchFamily="2" charset="-122"/>
                <a:sym typeface="+mn-ea"/>
              </a:rPr>
              <a:t>，提供安全、高效和用户友好的设备配对是一项具有挑战性的任务。</a:t>
            </a:r>
            <a:endParaRPr lang="zh-CN" altLang="en-US" sz="2400" b="0"/>
          </a:p>
        </p:txBody>
      </p:sp>
      <p:sp>
        <p:nvSpPr>
          <p:cNvPr id="6" name="文本框 5"/>
          <p:cNvSpPr txBox="1"/>
          <p:nvPr/>
        </p:nvSpPr>
        <p:spPr>
          <a:xfrm>
            <a:off x="1289050" y="3121660"/>
            <a:ext cx="7440930" cy="2676525"/>
          </a:xfrm>
          <a:prstGeom prst="rect">
            <a:avLst/>
          </a:prstGeom>
          <a:noFill/>
        </p:spPr>
        <p:txBody>
          <a:bodyPr wrap="square" rtlCol="0">
            <a:spAutoFit/>
          </a:bodyPr>
          <a:p>
            <a:r>
              <a:rPr sz="2400" b="1">
                <a:solidFill>
                  <a:schemeClr val="tx2"/>
                </a:solidFill>
                <a:uFillTx/>
                <a:latin typeface="Times New Roman" panose="02020603050405020304" charset="0"/>
                <a:ea typeface="楷体" panose="02010609060101010101" charset="-122"/>
                <a:cs typeface="宋体" panose="02010600030101010101" pitchFamily="2" charset="-122"/>
              </a:rPr>
              <a:t>传统解决方案:	</a:t>
            </a: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pPr marL="914400" lvl="1" indent="-457200">
              <a:buFont typeface="Arial" panose="020B0604020202020204" pitchFamily="34" charset="0"/>
              <a:buChar char="•"/>
            </a:pPr>
            <a:r>
              <a:rPr sz="2400" b="1">
                <a:solidFill>
                  <a:schemeClr val="tx2"/>
                </a:solidFill>
                <a:uFillTx/>
                <a:latin typeface="Times New Roman" panose="02020603050405020304" charset="0"/>
                <a:ea typeface="楷体" panose="02010609060101010101" charset="-122"/>
                <a:cs typeface="宋体" panose="02010600030101010101" pitchFamily="2" charset="-122"/>
              </a:rPr>
              <a:t>显示输入</a:t>
            </a: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pPr marL="914400" lvl="1" indent="-457200">
              <a:buFont typeface="Arial" panose="020B0604020202020204" pitchFamily="34" charset="0"/>
              <a:buChar char="•"/>
            </a:pPr>
            <a:r>
              <a:rPr sz="2400" b="1">
                <a:solidFill>
                  <a:schemeClr val="tx2"/>
                </a:solidFill>
                <a:uFillTx/>
                <a:latin typeface="Times New Roman" panose="02020603050405020304" charset="0"/>
                <a:ea typeface="楷体" panose="02010609060101010101" charset="-122"/>
                <a:cs typeface="宋体" panose="02010600030101010101" pitchFamily="2" charset="-122"/>
              </a:rPr>
              <a:t>点对点密钥交换算法</a:t>
            </a: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pPr marL="914400" lvl="1" indent="-457200">
              <a:buFont typeface="Arial" panose="020B0604020202020204" pitchFamily="34" charset="0"/>
              <a:buChar char="•"/>
            </a:pP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r>
              <a:rPr sz="2400" b="1">
                <a:solidFill>
                  <a:schemeClr val="tx2"/>
                </a:solidFill>
                <a:uFillTx/>
                <a:latin typeface="Times New Roman" panose="02020603050405020304" charset="0"/>
                <a:ea typeface="楷体" panose="02010609060101010101" charset="-122"/>
                <a:cs typeface="宋体" panose="02010600030101010101" pitchFamily="2" charset="-122"/>
              </a:rPr>
              <a:t>本文提出的解决方案:</a:t>
            </a: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r>
              <a:rPr sz="2400" b="1">
                <a:solidFill>
                  <a:schemeClr val="tx2"/>
                </a:solidFill>
                <a:uFillTx/>
                <a:latin typeface="Times New Roman" panose="02020603050405020304" charset="0"/>
                <a:ea typeface="楷体" panose="02010609060101010101" charset="-122"/>
                <a:cs typeface="宋体" panose="02010600030101010101" pitchFamily="2" charset="-122"/>
              </a:rPr>
              <a:t>   Gait Key —— 基于步态的共享密钥生成方案</a:t>
            </a: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p:txBody>
      </p:sp>
      <p:pic>
        <p:nvPicPr>
          <p:cNvPr id="11" name="图片 10"/>
          <p:cNvPicPr>
            <a:picLocks noChangeAspect="1"/>
          </p:cNvPicPr>
          <p:nvPr/>
        </p:nvPicPr>
        <p:blipFill>
          <a:blip r:embed="rId1"/>
          <a:stretch>
            <a:fillRect/>
          </a:stretch>
        </p:blipFill>
        <p:spPr>
          <a:xfrm>
            <a:off x="8401050" y="2809875"/>
            <a:ext cx="3094990" cy="32994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ctrTitle"/>
          </p:nvPr>
        </p:nvSpPr>
        <p:spPr/>
        <p:txBody>
          <a:bodyPr/>
          <a:p>
            <a:r>
              <a:rPr lang="en-US" altLang="zh-CN"/>
              <a:t>2.</a:t>
            </a:r>
            <a:r>
              <a:rPr lang="zh-CN" altLang="en-US"/>
              <a:t>技术简介</a:t>
            </a:r>
            <a:endParaRPr lang="zh-CN" altLang="en-US"/>
          </a:p>
        </p:txBody>
      </p:sp>
      <p:sp>
        <p:nvSpPr>
          <p:cNvPr id="6" name="副标题 5"/>
          <p:cNvSpPr>
            <a:spLocks noGrp="1"/>
          </p:cNvSpPr>
          <p:nvPr>
            <p:ph type="subTitle" idx="1"/>
          </p:nvPr>
        </p:nvSpPr>
        <p:spPr/>
        <p:txBody>
          <a:bodyPr/>
          <a:p>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内容占位符 3"/>
          <p:cNvPicPr>
            <a:picLocks noChangeAspect="1"/>
          </p:cNvPicPr>
          <p:nvPr>
            <p:ph idx="1"/>
          </p:nvPr>
        </p:nvPicPr>
        <p:blipFill>
          <a:blip r:embed="rId1"/>
          <a:stretch>
            <a:fillRect/>
          </a:stretch>
        </p:blipFill>
        <p:spPr>
          <a:xfrm>
            <a:off x="279400" y="1466215"/>
            <a:ext cx="5205095" cy="4340860"/>
          </a:xfrm>
          <a:prstGeom prst="rect">
            <a:avLst/>
          </a:prstGeom>
        </p:spPr>
      </p:pic>
      <p:sp>
        <p:nvSpPr>
          <p:cNvPr id="3" name="文本框 2"/>
          <p:cNvSpPr txBox="1"/>
          <p:nvPr/>
        </p:nvSpPr>
        <p:spPr>
          <a:xfrm>
            <a:off x="5755640" y="1721485"/>
            <a:ext cx="6150610" cy="3046095"/>
          </a:xfrm>
          <a:prstGeom prst="rect">
            <a:avLst/>
          </a:prstGeom>
          <a:noFill/>
        </p:spPr>
        <p:txBody>
          <a:bodyPr wrap="square" rtlCol="0" anchor="t">
            <a:spAutoFit/>
          </a:bodyPr>
          <a:p>
            <a:pPr algn="l">
              <a:buClrTx/>
              <a:buSzTx/>
              <a:buNone/>
            </a:pPr>
            <a:r>
              <a:rPr lang="en-US" altLang="zh-CN" sz="2400">
                <a:uFillTx/>
                <a:latin typeface="Times New Roman" panose="02020603050405020304" charset="0"/>
                <a:ea typeface="楷体" panose="02010609060101010101" charset="-122"/>
                <a:cs typeface="楷体" panose="02010609060101010101" charset="-122"/>
                <a:sym typeface="+mn-ea"/>
              </a:rPr>
              <a:t>两个挑战：</a:t>
            </a:r>
            <a:endParaRPr lang="en-US" altLang="zh-CN" sz="2400">
              <a:uFillTx/>
              <a:latin typeface="Times New Roman" panose="02020603050405020304" charset="0"/>
              <a:ea typeface="楷体" panose="02010609060101010101" charset="-122"/>
              <a:cs typeface="楷体" panose="02010609060101010101" charset="-122"/>
            </a:endParaRPr>
          </a:p>
          <a:p>
            <a:pPr algn="l">
              <a:buClrTx/>
              <a:buSzTx/>
              <a:buFont typeface="Arial" panose="020B0604020202020204" pitchFamily="34" charset="0"/>
              <a:buChar char="•"/>
            </a:pPr>
            <a:r>
              <a:rPr lang="en-US" altLang="zh-CN" sz="2400">
                <a:uFillTx/>
                <a:latin typeface="Times New Roman" panose="02020603050405020304" charset="0"/>
                <a:ea typeface="楷体" panose="02010609060101010101" charset="-122"/>
                <a:cs typeface="楷体" panose="02010609060101010101" charset="-122"/>
                <a:sym typeface="+mn-ea"/>
              </a:rPr>
              <a:t>步态产生的信号被手臂摆动产生的噪声信号干扰</a:t>
            </a:r>
            <a:endParaRPr lang="en-US" altLang="zh-CN" sz="2400">
              <a:uFillTx/>
              <a:latin typeface="Times New Roman" panose="02020603050405020304" charset="0"/>
              <a:ea typeface="楷体" panose="02010609060101010101" charset="-122"/>
              <a:cs typeface="楷体" panose="02010609060101010101" charset="-122"/>
            </a:endParaRPr>
          </a:p>
          <a:p>
            <a:pPr algn="l">
              <a:buClrTx/>
              <a:buSzTx/>
              <a:buFont typeface="Arial" panose="020B0604020202020204" pitchFamily="34" charset="0"/>
              <a:buChar char="•"/>
            </a:pPr>
            <a:r>
              <a:rPr lang="en-US" altLang="zh-CN" sz="2400">
                <a:uFillTx/>
                <a:latin typeface="Times New Roman" panose="02020603050405020304" charset="0"/>
                <a:ea typeface="楷体" panose="02010609060101010101" charset="-122"/>
                <a:cs typeface="楷体" panose="02010609060101010101" charset="-122"/>
                <a:sym typeface="+mn-ea"/>
              </a:rPr>
              <a:t>可穿戴设备的计算能力和电池容量受到限制</a:t>
            </a:r>
            <a:endParaRPr lang="en-US" altLang="zh-CN" sz="2400">
              <a:uFillTx/>
              <a:latin typeface="Times New Roman" panose="02020603050405020304" charset="0"/>
              <a:ea typeface="楷体" panose="02010609060101010101" charset="-122"/>
              <a:cs typeface="楷体" panose="02010609060101010101" charset="-122"/>
            </a:endParaRPr>
          </a:p>
          <a:p>
            <a:pPr algn="l">
              <a:buClrTx/>
              <a:buSzTx/>
              <a:buFont typeface="Arial" panose="020B0604020202020204" pitchFamily="34" charset="0"/>
              <a:buChar char="•"/>
            </a:pPr>
            <a:endParaRPr lang="en-US" altLang="zh-CN" sz="2400">
              <a:uFillTx/>
              <a:latin typeface="Times New Roman" panose="02020603050405020304" charset="0"/>
              <a:ea typeface="楷体" panose="02010609060101010101" charset="-122"/>
              <a:cs typeface="楷体" panose="02010609060101010101" charset="-122"/>
            </a:endParaRPr>
          </a:p>
          <a:p>
            <a:pPr marL="0" algn="l">
              <a:buClrTx/>
              <a:buSzTx/>
              <a:buFont typeface="Arial" panose="020B0604020202020204" pitchFamily="34" charset="0"/>
              <a:buNone/>
            </a:pPr>
            <a:r>
              <a:rPr lang="en-US" altLang="zh-CN" sz="2400">
                <a:uFillTx/>
                <a:latin typeface="Times New Roman" panose="02020603050405020304" charset="0"/>
                <a:ea typeface="楷体" panose="02010609060101010101" charset="-122"/>
                <a:cs typeface="楷体" panose="02010609060101010101" charset="-122"/>
                <a:sym typeface="+mn-ea"/>
              </a:rPr>
              <a:t>解决方案：</a:t>
            </a:r>
            <a:endParaRPr lang="en-US" altLang="zh-CN" sz="2400">
              <a:uFillTx/>
              <a:latin typeface="Times New Roman" panose="02020603050405020304" charset="0"/>
              <a:ea typeface="楷体" panose="02010609060101010101" charset="-122"/>
              <a:cs typeface="楷体" panose="02010609060101010101" charset="-122"/>
            </a:endParaRPr>
          </a:p>
          <a:p>
            <a:pPr algn="l">
              <a:buClrTx/>
              <a:buSzTx/>
              <a:buFont typeface="Arial" panose="020B0604020202020204" pitchFamily="34" charset="0"/>
              <a:buChar char="•"/>
            </a:pPr>
            <a:r>
              <a:rPr lang="en-US" altLang="zh-CN" sz="2400">
                <a:uFillTx/>
                <a:latin typeface="Times New Roman" panose="02020603050405020304" charset="0"/>
                <a:ea typeface="楷体" panose="02010609060101010101" charset="-122"/>
                <a:cs typeface="楷体" panose="02010609060101010101" charset="-122"/>
                <a:sym typeface="+mn-ea"/>
              </a:rPr>
              <a:t>盲源分离技术(BSS)</a:t>
            </a:r>
            <a:endParaRPr lang="en-US" altLang="zh-CN" sz="2400">
              <a:uFillTx/>
              <a:latin typeface="Times New Roman" panose="02020603050405020304" charset="0"/>
              <a:ea typeface="楷体" panose="02010609060101010101" charset="-122"/>
              <a:cs typeface="楷体" panose="02010609060101010101" charset="-122"/>
            </a:endParaRPr>
          </a:p>
          <a:p>
            <a:pPr algn="l">
              <a:buClrTx/>
              <a:buSzTx/>
              <a:buFont typeface="Arial" panose="020B0604020202020204" pitchFamily="34" charset="0"/>
              <a:buChar char="•"/>
            </a:pPr>
            <a:r>
              <a:rPr lang="en-US" altLang="zh-CN" sz="2400">
                <a:uFillTx/>
                <a:latin typeface="Times New Roman" panose="02020603050405020304" charset="0"/>
                <a:ea typeface="楷体" panose="02010609060101010101" charset="-122"/>
                <a:cs typeface="楷体" panose="02010609060101010101" charset="-122"/>
                <a:sym typeface="+mn-ea"/>
              </a:rPr>
              <a:t>采用轻量级的信号处理技术</a:t>
            </a:r>
            <a:endParaRPr lang="en-US" altLang="zh-CN" sz="2400">
              <a:uFillTx/>
              <a:latin typeface="Times New Roman" panose="02020603050405020304" charset="0"/>
              <a:ea typeface="楷体" panose="02010609060101010101" charset="-122"/>
              <a:cs typeface="楷体" panose="02010609060101010101"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034540" y="1184275"/>
            <a:ext cx="8122920" cy="491617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034540" y="1184275"/>
            <a:ext cx="8122920" cy="4916170"/>
          </a:xfrm>
          <a:prstGeom prst="rect">
            <a:avLst/>
          </a:prstGeom>
        </p:spPr>
      </p:pic>
      <p:sp>
        <p:nvSpPr>
          <p:cNvPr id="3" name="矩形 2"/>
          <p:cNvSpPr/>
          <p:nvPr/>
        </p:nvSpPr>
        <p:spPr>
          <a:xfrm>
            <a:off x="2352040" y="4588510"/>
            <a:ext cx="2768600" cy="845820"/>
          </a:xfrm>
          <a:prstGeom prst="rect">
            <a:avLst/>
          </a:prstGeom>
          <a:noFill/>
          <a:ln w="57150">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4" name="矩形 3"/>
          <p:cNvSpPr/>
          <p:nvPr/>
        </p:nvSpPr>
        <p:spPr>
          <a:xfrm>
            <a:off x="5529580" y="4588510"/>
            <a:ext cx="4166235" cy="845820"/>
          </a:xfrm>
          <a:prstGeom prst="rect">
            <a:avLst/>
          </a:prstGeom>
          <a:noFill/>
          <a:ln w="57150">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ctrTitle"/>
          </p:nvPr>
        </p:nvSpPr>
        <p:spPr/>
        <p:txBody>
          <a:bodyPr/>
          <a:p>
            <a:r>
              <a:rPr lang="en-US" altLang="zh-CN"/>
              <a:t>3.</a:t>
            </a:r>
            <a:r>
              <a:rPr lang="zh-CN" altLang="en-US"/>
              <a:t>信号处理</a:t>
            </a:r>
            <a:endParaRPr lang="zh-CN" altLang="en-US"/>
          </a:p>
        </p:txBody>
      </p:sp>
      <p:sp>
        <p:nvSpPr>
          <p:cNvPr id="6" name="副标题 5"/>
          <p:cNvSpPr>
            <a:spLocks noGrp="1"/>
          </p:cNvSpPr>
          <p:nvPr>
            <p:ph type="subTitle" idx="1"/>
          </p:nvPr>
        </p:nvSpPr>
        <p:spPr/>
        <p:txBody>
          <a:bodyPr/>
          <a:p>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文本框 4"/>
          <p:cNvSpPr txBox="1"/>
          <p:nvPr/>
        </p:nvSpPr>
        <p:spPr>
          <a:xfrm>
            <a:off x="412115" y="1106170"/>
            <a:ext cx="11367135" cy="5384800"/>
          </a:xfrm>
          <a:prstGeom prst="rect">
            <a:avLst/>
          </a:prstGeom>
          <a:noFill/>
        </p:spPr>
        <p:txBody>
          <a:bodyPr wrap="square" rtlCol="0" anchor="t">
            <a:spAutoFit/>
          </a:bodyPr>
          <a:p>
            <a:pPr algn="l">
              <a:buClrTx/>
              <a:buSzTx/>
              <a:buFontTx/>
              <a:buNone/>
            </a:pPr>
            <a:r>
              <a:rPr lang="en-US" altLang="zh-CN" sz="2800">
                <a:uFillTx/>
                <a:latin typeface="Times New Roman" panose="02020603050405020304" charset="0"/>
                <a:ea typeface="楷体" panose="02010609060101010101" charset="-122"/>
                <a:cs typeface="楷体" panose="02010609060101010101" charset="-122"/>
              </a:rPr>
              <a:t>3.1信号分离——ICA技术</a:t>
            </a:r>
            <a:endParaRPr lang="en-US" altLang="zh-CN" sz="2800">
              <a:uFillTx/>
              <a:latin typeface="Times New Roman" panose="02020603050405020304" charset="0"/>
              <a:ea typeface="楷体" panose="02010609060101010101" charset="-122"/>
              <a:cs typeface="楷体" panose="02010609060101010101" charset="-122"/>
            </a:endParaRPr>
          </a:p>
          <a:p>
            <a:pPr algn="l">
              <a:buClrTx/>
              <a:buSzTx/>
              <a:buFontTx/>
            </a:pPr>
            <a:endParaRPr lang="en-US" altLang="zh-CN" sz="2800">
              <a:latin typeface="楷体" panose="02010609060101010101" charset="-122"/>
              <a:ea typeface="楷体" panose="02010609060101010101" charset="-122"/>
              <a:cs typeface="楷体" panose="02010609060101010101" charset="-122"/>
            </a:endParaRPr>
          </a:p>
          <a:p>
            <a:r>
              <a:rPr lang="zh-CN" altLang="en-US" sz="2400">
                <a:solidFill>
                  <a:schemeClr val="tx1"/>
                </a:solidFill>
                <a:uFillTx/>
                <a:latin typeface="Times New Roman" panose="02020603050405020304" charset="0"/>
                <a:ea typeface="楷体" panose="02010609060101010101" charset="-122"/>
                <a:cs typeface="楷体" panose="02010609060101010101" charset="-122"/>
              </a:rPr>
              <a:t>ICA是指在只知道混合信号，而不知道源信号、噪声以及混合机制的情况下，分离或近似地分离出源信号的一种分析过程。</a:t>
            </a:r>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a:p>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400">
                <a:solidFill>
                  <a:schemeClr val="tx1"/>
                </a:solidFill>
                <a:uFillTx/>
                <a:latin typeface="Times New Roman" panose="02020603050405020304" charset="0"/>
                <a:ea typeface="楷体" panose="02010609060101010101" charset="-122"/>
                <a:cs typeface="楷体" panose="02010609060101010101" charset="-122"/>
              </a:rPr>
              <a:t>前提：</a:t>
            </a:r>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400">
                <a:solidFill>
                  <a:schemeClr val="tx1"/>
                </a:solidFill>
                <a:uFillTx/>
                <a:latin typeface="Times New Roman" panose="02020603050405020304" charset="0"/>
                <a:ea typeface="楷体" panose="02010609060101010101" charset="-122"/>
                <a:cs typeface="楷体" panose="02010609060101010101" charset="-122"/>
              </a:rPr>
              <a:t>（</a:t>
            </a:r>
            <a:r>
              <a:rPr lang="en-US" altLang="zh-CN" sz="2400">
                <a:solidFill>
                  <a:schemeClr val="tx1"/>
                </a:solidFill>
                <a:uFillTx/>
                <a:latin typeface="Times New Roman" panose="02020603050405020304" charset="0"/>
                <a:ea typeface="楷体" panose="02010609060101010101" charset="-122"/>
                <a:cs typeface="楷体" panose="02010609060101010101" charset="-122"/>
              </a:rPr>
              <a:t>1</a:t>
            </a:r>
            <a:r>
              <a:rPr lang="zh-CN" altLang="en-US" sz="2400">
                <a:solidFill>
                  <a:schemeClr val="tx1"/>
                </a:solidFill>
                <a:uFillTx/>
                <a:latin typeface="Times New Roman" panose="02020603050405020304" charset="0"/>
                <a:ea typeface="楷体" panose="02010609060101010101" charset="-122"/>
                <a:cs typeface="楷体" panose="02010609060101010101" charset="-122"/>
              </a:rPr>
              <a:t>）</a:t>
            </a:r>
            <a:r>
              <a:rPr lang="zh-CN" altLang="en-US" sz="2400">
                <a:solidFill>
                  <a:schemeClr val="tx1"/>
                </a:solidFill>
                <a:uFillTx/>
                <a:latin typeface="Times New Roman" panose="02020603050405020304" charset="0"/>
                <a:ea typeface="楷体" panose="02010609060101010101" charset="-122"/>
                <a:cs typeface="楷体" panose="02010609060101010101" charset="-122"/>
                <a:sym typeface="+mn-ea"/>
              </a:rPr>
              <a:t>对于每个位置，我们附加一个三通道的加速度计量器，因此我们有三个通道的观测，信号主要来自于：手臂摆动和行走。</a:t>
            </a:r>
            <a:endParaRPr lang="zh-CN" altLang="en-US" sz="2400">
              <a:solidFill>
                <a:schemeClr val="tx1"/>
              </a:solidFill>
              <a:uFillTx/>
              <a:latin typeface="Times New Roman" panose="02020603050405020304" charset="0"/>
              <a:ea typeface="楷体" panose="02010609060101010101" charset="-122"/>
              <a:cs typeface="楷体" panose="02010609060101010101" charset="-122"/>
              <a:sym typeface="+mn-ea"/>
            </a:endParaRPr>
          </a:p>
          <a:p>
            <a:r>
              <a:rPr lang="zh-CN" altLang="en-US" sz="2400">
                <a:solidFill>
                  <a:schemeClr val="tx1"/>
                </a:solidFill>
                <a:uFillTx/>
                <a:latin typeface="Times New Roman" panose="02020603050405020304" charset="0"/>
                <a:ea typeface="楷体" panose="02010609060101010101" charset="-122"/>
                <a:cs typeface="楷体" panose="02010609060101010101" charset="-122"/>
                <a:sym typeface="+mn-ea"/>
              </a:rPr>
              <a:t>（</a:t>
            </a:r>
            <a:r>
              <a:rPr lang="en-US" altLang="zh-CN" sz="2400">
                <a:solidFill>
                  <a:schemeClr val="tx1"/>
                </a:solidFill>
                <a:uFillTx/>
                <a:latin typeface="Times New Roman" panose="02020603050405020304" charset="0"/>
                <a:ea typeface="楷体" panose="02010609060101010101" charset="-122"/>
                <a:cs typeface="楷体" panose="02010609060101010101" charset="-122"/>
                <a:sym typeface="+mn-ea"/>
              </a:rPr>
              <a:t>2</a:t>
            </a:r>
            <a:r>
              <a:rPr lang="zh-CN" altLang="en-US" sz="2400">
                <a:solidFill>
                  <a:schemeClr val="tx1"/>
                </a:solidFill>
                <a:uFillTx/>
                <a:latin typeface="Times New Roman" panose="02020603050405020304" charset="0"/>
                <a:ea typeface="楷体" panose="02010609060101010101" charset="-122"/>
                <a:cs typeface="楷体" panose="02010609060101010101" charset="-122"/>
                <a:sym typeface="+mn-ea"/>
              </a:rPr>
              <a:t>）</a:t>
            </a:r>
            <a:r>
              <a:rPr lang="zh-CN" altLang="en-US" sz="2400">
                <a:solidFill>
                  <a:schemeClr val="tx1"/>
                </a:solidFill>
                <a:uFillTx/>
                <a:latin typeface="Times New Roman" panose="02020603050405020304" charset="0"/>
                <a:ea typeface="楷体" panose="02010609060101010101" charset="-122"/>
                <a:cs typeface="楷体" panose="02010609060101010101" charset="-122"/>
              </a:rPr>
              <a:t>在每个传感器位置，不同来源的加速度线性混合；</a:t>
            </a:r>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400">
                <a:solidFill>
                  <a:schemeClr val="tx1"/>
                </a:solidFill>
                <a:uFillTx/>
                <a:latin typeface="Times New Roman" panose="02020603050405020304" charset="0"/>
                <a:ea typeface="楷体" panose="02010609060101010101" charset="-122"/>
                <a:cs typeface="楷体" panose="02010609060101010101" charset="-122"/>
              </a:rPr>
              <a:t>（</a:t>
            </a:r>
            <a:r>
              <a:rPr lang="en-US" altLang="zh-CN" sz="2400">
                <a:solidFill>
                  <a:schemeClr val="tx1"/>
                </a:solidFill>
                <a:uFillTx/>
                <a:latin typeface="Times New Roman" panose="02020603050405020304" charset="0"/>
                <a:ea typeface="楷体" panose="02010609060101010101" charset="-122"/>
                <a:cs typeface="楷体" panose="02010609060101010101" charset="-122"/>
              </a:rPr>
              <a:t>3</a:t>
            </a:r>
            <a:r>
              <a:rPr lang="zh-CN" altLang="en-US" sz="2400">
                <a:solidFill>
                  <a:schemeClr val="tx1"/>
                </a:solidFill>
                <a:uFillTx/>
                <a:latin typeface="Times New Roman" panose="02020603050405020304" charset="0"/>
                <a:ea typeface="楷体" panose="02010609060101010101" charset="-122"/>
                <a:cs typeface="楷体" panose="02010609060101010101" charset="-122"/>
              </a:rPr>
              <a:t>）身体各部分的运动模式是独立的，而步态是身体各部分结合得到的总体模式；</a:t>
            </a:r>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400">
                <a:solidFill>
                  <a:schemeClr val="tx1"/>
                </a:solidFill>
                <a:uFillTx/>
                <a:latin typeface="Times New Roman" panose="02020603050405020304" charset="0"/>
                <a:ea typeface="楷体" panose="02010609060101010101" charset="-122"/>
                <a:cs typeface="楷体" panose="02010609060101010101" charset="-122"/>
              </a:rPr>
              <a:t>（</a:t>
            </a:r>
            <a:r>
              <a:rPr lang="en-US" altLang="zh-CN" sz="2400">
                <a:solidFill>
                  <a:schemeClr val="tx1"/>
                </a:solidFill>
                <a:uFillTx/>
                <a:latin typeface="Times New Roman" panose="02020603050405020304" charset="0"/>
                <a:ea typeface="楷体" panose="02010609060101010101" charset="-122"/>
                <a:cs typeface="楷体" panose="02010609060101010101" charset="-122"/>
              </a:rPr>
              <a:t>4</a:t>
            </a:r>
            <a:r>
              <a:rPr lang="zh-CN" altLang="en-US" sz="2400">
                <a:solidFill>
                  <a:schemeClr val="tx1"/>
                </a:solidFill>
                <a:uFillTx/>
                <a:latin typeface="Times New Roman" panose="02020603050405020304" charset="0"/>
                <a:ea typeface="楷体" panose="02010609060101010101" charset="-122"/>
                <a:cs typeface="楷体" panose="02010609060101010101" charset="-122"/>
              </a:rPr>
              <a:t>）信号通过身体传输的时间延迟是可以忽略的</a:t>
            </a:r>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400">
                <a:solidFill>
                  <a:schemeClr val="tx1"/>
                </a:solidFill>
                <a:uFillTx/>
                <a:latin typeface="Times New Roman" panose="02020603050405020304" charset="0"/>
                <a:ea typeface="楷体" panose="02010609060101010101" charset="-122"/>
                <a:cs typeface="楷体" panose="02010609060101010101" charset="-122"/>
              </a:rPr>
              <a:t>（</a:t>
            </a:r>
            <a:r>
              <a:rPr lang="en-US" altLang="zh-CN" sz="2400">
                <a:solidFill>
                  <a:schemeClr val="tx1"/>
                </a:solidFill>
                <a:uFillTx/>
                <a:latin typeface="Times New Roman" panose="02020603050405020304" charset="0"/>
                <a:ea typeface="楷体" panose="02010609060101010101" charset="-122"/>
                <a:cs typeface="楷体" panose="02010609060101010101" charset="-122"/>
              </a:rPr>
              <a:t>5</a:t>
            </a:r>
            <a:r>
              <a:rPr lang="zh-CN" altLang="en-US" sz="2400">
                <a:solidFill>
                  <a:schemeClr val="tx1"/>
                </a:solidFill>
                <a:uFillTx/>
                <a:latin typeface="Times New Roman" panose="02020603050405020304" charset="0"/>
                <a:ea typeface="楷体" panose="02010609060101010101" charset="-122"/>
                <a:cs typeface="楷体" panose="02010609060101010101" charset="-122"/>
              </a:rPr>
              <a:t>）身体运动产生的加速度值的统计分布不是高斯分布</a:t>
            </a:r>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a:p>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a:p>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文本框 2"/>
          <p:cNvSpPr txBox="1"/>
          <p:nvPr/>
        </p:nvSpPr>
        <p:spPr>
          <a:xfrm>
            <a:off x="288925" y="1136015"/>
            <a:ext cx="11675110" cy="4399915"/>
          </a:xfrm>
          <a:prstGeom prst="rect">
            <a:avLst/>
          </a:prstGeom>
          <a:noFill/>
        </p:spPr>
        <p:txBody>
          <a:bodyPr wrap="square" rtlCol="0">
            <a:spAutoFit/>
          </a:bodyPr>
          <a:p>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假设用户的一只手腕上戴着智能手表，通过内置的三通道加速度计测量的线性加速度为Acc(t)。由于手腕上记录的加速度计信号分别是腿部和手臂摆动信号的混合，因此我们问题的ICA模型可以写成</a:t>
            </a:r>
            <a:b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b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		</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Acc(t) = A· S(t)</a:t>
            </a: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	           </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a:t>
            </a: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1</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a:t>
            </a:r>
            <a:b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br>
            <a:b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b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其中A为混合矩阵，S(t)为独立源，我们的目标是找到一个W = A</a:t>
            </a: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−1</a:t>
            </a: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以此来计算源信号：</a:t>
            </a:r>
            <a:b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b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	S</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˜(t) = W · Acc(t) = W · A· S(t).    （</a:t>
            </a: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2</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a:t>
            </a:r>
            <a:endPar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endParaRPr>
          </a:p>
          <a:p>
            <a:b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b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没有手臂摆动的加速度可以表示为：</a:t>
            </a:r>
            <a:endPar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endParaRPr>
          </a:p>
          <a:p>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	</a:t>
            </a:r>
            <a:b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br>
            <a:b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br>
            <a:b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b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						    </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a:t>
            </a: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3</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a:t>
            </a:r>
            <a:b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br>
            <a:b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br>
            <a:endPar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endParaRPr>
          </a:p>
        </p:txBody>
      </p:sp>
      <p:pic>
        <p:nvPicPr>
          <p:cNvPr id="4" name="图片 3"/>
          <p:cNvPicPr>
            <a:picLocks noChangeAspect="1"/>
          </p:cNvPicPr>
          <p:nvPr/>
        </p:nvPicPr>
        <p:blipFill>
          <a:blip r:embed="rId1"/>
          <a:stretch>
            <a:fillRect/>
          </a:stretch>
        </p:blipFill>
        <p:spPr>
          <a:xfrm>
            <a:off x="7460615" y="2783205"/>
            <a:ext cx="4351020" cy="3676015"/>
          </a:xfrm>
          <a:prstGeom prst="rect">
            <a:avLst/>
          </a:prstGeom>
        </p:spPr>
      </p:pic>
      <p:graphicFrame>
        <p:nvGraphicFramePr>
          <p:cNvPr id="5" name="对象 4">
            <a:hlinkClick r:id="" action="ppaction://ole?verb="/>
          </p:cNvPr>
          <p:cNvGraphicFramePr>
            <a:graphicFrameLocks noChangeAspect="1"/>
          </p:cNvGraphicFramePr>
          <p:nvPr/>
        </p:nvGraphicFramePr>
        <p:xfrm>
          <a:off x="1283970" y="3741420"/>
          <a:ext cx="2096770" cy="1824990"/>
        </p:xfrm>
        <a:graphic>
          <a:graphicData uri="http://schemas.openxmlformats.org/presentationml/2006/ole">
            <mc:AlternateContent xmlns:mc="http://schemas.openxmlformats.org/markup-compatibility/2006">
              <mc:Choice xmlns:v="urn:schemas-microsoft-com:vml" Requires="v">
                <p:oleObj spid="_x0000_s3073" name="" r:id="rId2" imgW="1079500" imgH="939800" progId="Equation.KSEE3">
                  <p:embed/>
                </p:oleObj>
              </mc:Choice>
              <mc:Fallback>
                <p:oleObj name="" r:id="rId2" imgW="1079500" imgH="939800" progId="Equation.KSEE3">
                  <p:embed/>
                  <p:pic>
                    <p:nvPicPr>
                      <p:cNvPr id="0" name="图片 3072"/>
                      <p:cNvPicPr/>
                      <p:nvPr/>
                    </p:nvPicPr>
                    <p:blipFill>
                      <a:blip r:embed="rId3"/>
                      <a:stretch>
                        <a:fillRect/>
                      </a:stretch>
                    </p:blipFill>
                    <p:spPr>
                      <a:xfrm>
                        <a:off x="1283970" y="3741420"/>
                        <a:ext cx="2096770" cy="1824990"/>
                      </a:xfrm>
                      <a:prstGeom prst="rect">
                        <a:avLst/>
                      </a:prstGeom>
                    </p:spPr>
                  </p:pic>
                </p:oleObj>
              </mc:Fallback>
            </mc:AlternateContent>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文本框 4"/>
          <p:cNvSpPr txBox="1"/>
          <p:nvPr/>
        </p:nvSpPr>
        <p:spPr>
          <a:xfrm>
            <a:off x="412115" y="1106170"/>
            <a:ext cx="11367135" cy="891540"/>
          </a:xfrm>
          <a:prstGeom prst="rect">
            <a:avLst/>
          </a:prstGeom>
          <a:noFill/>
        </p:spPr>
        <p:txBody>
          <a:bodyPr wrap="square" rtlCol="0" anchor="t">
            <a:spAutoFit/>
          </a:bodyPr>
          <a:p>
            <a:pPr algn="l">
              <a:buClrTx/>
              <a:buSzTx/>
              <a:buFontTx/>
            </a:pPr>
            <a:r>
              <a:rPr lang="zh-CN" altLang="en-US" sz="2800">
                <a:uFillTx/>
                <a:latin typeface="Times New Roman" panose="02020603050405020304" charset="0"/>
                <a:ea typeface="楷体" panose="02010609060101010101" charset="-122"/>
                <a:cs typeface="楷体" panose="02010609060101010101" charset="-122"/>
              </a:rPr>
              <a:t>3.2 识别运动组件</a:t>
            </a:r>
            <a:endParaRPr lang="zh-CN" altLang="en-US" sz="2800">
              <a:uFillTx/>
              <a:latin typeface="Times New Roman" panose="02020603050405020304" charset="0"/>
              <a:ea typeface="楷体" panose="02010609060101010101" charset="-122"/>
              <a:cs typeface="楷体" panose="02010609060101010101" charset="-122"/>
            </a:endParaRPr>
          </a:p>
          <a:p>
            <a:endParaRPr lang="zh-CN" altLang="en-US" sz="2400">
              <a:uFillTx/>
              <a:latin typeface="Times New Roman" panose="02020603050405020304" charset="0"/>
              <a:ea typeface="楷体" panose="02010609060101010101" charset="-122"/>
              <a:cs typeface="楷体" panose="02010609060101010101" charset="-122"/>
            </a:endParaRPr>
          </a:p>
        </p:txBody>
      </p:sp>
      <p:pic>
        <p:nvPicPr>
          <p:cNvPr id="6" name="图片 5"/>
          <p:cNvPicPr>
            <a:picLocks noChangeAspect="1"/>
          </p:cNvPicPr>
          <p:nvPr/>
        </p:nvPicPr>
        <p:blipFill>
          <a:blip r:embed="rId1"/>
          <a:stretch>
            <a:fillRect/>
          </a:stretch>
        </p:blipFill>
        <p:spPr>
          <a:xfrm>
            <a:off x="7478395" y="1827530"/>
            <a:ext cx="3970655" cy="3202305"/>
          </a:xfrm>
          <a:prstGeom prst="rect">
            <a:avLst/>
          </a:prstGeom>
        </p:spPr>
      </p:pic>
      <p:sp>
        <p:nvSpPr>
          <p:cNvPr id="7" name="文本框 6"/>
          <p:cNvSpPr txBox="1"/>
          <p:nvPr/>
        </p:nvSpPr>
        <p:spPr>
          <a:xfrm>
            <a:off x="534670" y="1857375"/>
            <a:ext cx="6588760" cy="368300"/>
          </a:xfrm>
          <a:prstGeom prst="rect">
            <a:avLst/>
          </a:prstGeom>
          <a:noFill/>
        </p:spPr>
        <p:txBody>
          <a:bodyPr wrap="square" rtlCol="0">
            <a:spAutoFit/>
          </a:bodyPr>
          <a:p>
            <a:r>
              <a:rPr lang="zh-CN" altLang="en-US"/>
              <a:t>走路信号的主频是摆臂信号的两倍</a:t>
            </a:r>
            <a:endParaRPr lang="zh-CN" altLang="en-US"/>
          </a:p>
        </p:txBody>
      </p:sp>
      <p:sp>
        <p:nvSpPr>
          <p:cNvPr id="8" name="文本框 7"/>
          <p:cNvSpPr txBox="1"/>
          <p:nvPr/>
        </p:nvSpPr>
        <p:spPr>
          <a:xfrm>
            <a:off x="534670" y="3013075"/>
            <a:ext cx="6367780" cy="645160"/>
          </a:xfrm>
          <a:prstGeom prst="rect">
            <a:avLst/>
          </a:prstGeom>
          <a:noFill/>
        </p:spPr>
        <p:txBody>
          <a:bodyPr wrap="none" rtlCol="0" anchor="t">
            <a:spAutoFit/>
          </a:bodyPr>
          <a:p>
            <a:r>
              <a:rPr lang="zh-CN" altLang="en-US">
                <a:sym typeface="+mn-ea"/>
              </a:rPr>
              <a:t>通过式(2)得到S (t)后，我们对S (t)中的三个ICs(即S (t)的三行)</a:t>
            </a:r>
            <a:endParaRPr lang="zh-CN" altLang="en-US">
              <a:sym typeface="+mn-ea"/>
            </a:endParaRPr>
          </a:p>
          <a:p>
            <a:r>
              <a:rPr lang="zh-CN" altLang="en-US">
                <a:sym typeface="+mn-ea"/>
              </a:rPr>
              <a:t>进行快速傅里叶变换(FFT)</a:t>
            </a:r>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文本框 4"/>
          <p:cNvSpPr txBox="1"/>
          <p:nvPr/>
        </p:nvSpPr>
        <p:spPr>
          <a:xfrm>
            <a:off x="412115" y="1033145"/>
            <a:ext cx="11367135" cy="1383665"/>
          </a:xfrm>
          <a:prstGeom prst="rect">
            <a:avLst/>
          </a:prstGeom>
          <a:noFill/>
        </p:spPr>
        <p:txBody>
          <a:bodyPr wrap="square" rtlCol="0" anchor="t">
            <a:spAutoFit/>
          </a:bodyPr>
          <a:p>
            <a:r>
              <a:rPr lang="zh-CN" altLang="en-US" sz="2800">
                <a:uFillTx/>
                <a:latin typeface="Times New Roman" panose="02020603050405020304" charset="0"/>
                <a:ea typeface="楷体" panose="02010609060101010101" charset="-122"/>
                <a:cs typeface="楷体" panose="02010609060101010101" charset="-122"/>
              </a:rPr>
              <a:t>3.3 信号同步</a:t>
            </a:r>
            <a:endParaRPr lang="zh-CN" altLang="en-US" sz="2800">
              <a:uFillTx/>
              <a:latin typeface="Times New Roman" panose="02020603050405020304" charset="0"/>
              <a:ea typeface="楷体" panose="02010609060101010101" charset="-122"/>
              <a:cs typeface="楷体" panose="02010609060101010101" charset="-122"/>
            </a:endParaRPr>
          </a:p>
          <a:p>
            <a:endParaRPr lang="zh-CN" altLang="en-US" sz="2800">
              <a:latin typeface="楷体" panose="02010609060101010101" charset="-122"/>
              <a:ea typeface="楷体" panose="02010609060101010101" charset="-122"/>
              <a:cs typeface="楷体" panose="02010609060101010101" charset="-122"/>
            </a:endParaRPr>
          </a:p>
          <a:p>
            <a:endParaRPr lang="zh-CN" altLang="en-US" sz="2800">
              <a:latin typeface="楷体" panose="02010609060101010101" charset="-122"/>
              <a:ea typeface="楷体" panose="02010609060101010101" charset="-122"/>
              <a:cs typeface="楷体" panose="02010609060101010101" charset="-122"/>
            </a:endParaRPr>
          </a:p>
        </p:txBody>
      </p:sp>
      <p:pic>
        <p:nvPicPr>
          <p:cNvPr id="2" name="图片 1"/>
          <p:cNvPicPr>
            <a:picLocks noChangeAspect="1"/>
          </p:cNvPicPr>
          <p:nvPr/>
        </p:nvPicPr>
        <p:blipFill>
          <a:blip r:embed="rId1"/>
          <a:stretch>
            <a:fillRect/>
          </a:stretch>
        </p:blipFill>
        <p:spPr>
          <a:xfrm>
            <a:off x="492125" y="2018030"/>
            <a:ext cx="4632960" cy="3909060"/>
          </a:xfrm>
          <a:prstGeom prst="rect">
            <a:avLst/>
          </a:prstGeom>
        </p:spPr>
      </p:pic>
      <p:sp>
        <p:nvSpPr>
          <p:cNvPr id="4" name="文本框 3"/>
          <p:cNvSpPr txBox="1"/>
          <p:nvPr/>
        </p:nvSpPr>
        <p:spPr>
          <a:xfrm>
            <a:off x="5779135" y="2018030"/>
            <a:ext cx="5439410" cy="3046095"/>
          </a:xfrm>
          <a:prstGeom prst="rect">
            <a:avLst/>
          </a:prstGeom>
          <a:noFill/>
        </p:spPr>
        <p:txBody>
          <a:bodyPr wrap="square" rtlCol="0">
            <a:spAutoFit/>
          </a:bodyPr>
          <a:p>
            <a:r>
              <a:rPr lang="zh-CN" altLang="en-US" sz="2400">
                <a:uFillTx/>
                <a:latin typeface="Times New Roman" panose="02020603050405020304" charset="0"/>
                <a:ea typeface="楷体" panose="02010609060101010101" charset="-122"/>
                <a:cs typeface="楷体" panose="02010609060101010101" charset="-122"/>
              </a:rPr>
              <a:t>（1）时间同步</a:t>
            </a:r>
            <a:endParaRPr lang="zh-CN" altLang="en-US" sz="2400">
              <a:uFillTx/>
              <a:latin typeface="Times New Roman" panose="02020603050405020304" charset="0"/>
              <a:ea typeface="楷体" panose="02010609060101010101" charset="-122"/>
              <a:cs typeface="楷体" panose="02010609060101010101" charset="-122"/>
            </a:endParaRPr>
          </a:p>
          <a:p>
            <a:r>
              <a:rPr lang="zh-CN" altLang="en-US" sz="2400">
                <a:uFillTx/>
                <a:latin typeface="Times New Roman" panose="02020603050405020304" charset="0"/>
                <a:ea typeface="楷体" panose="02010609060101010101" charset="-122"/>
                <a:cs typeface="楷体" panose="02010609060101010101" charset="-122"/>
                <a:sym typeface="+mn-ea"/>
              </a:rPr>
              <a:t>在这项工作中，我们使用了一种基于事件的方法，其中设备检测脚跟撞击（Heel Strike）事件的时间点，使用这个事件作为锚点。在没有通信的情况下，脚跟撞击事件可以在每个设备上本地检测到，这消除了设备之间显式同步的需要。</a:t>
            </a:r>
            <a:endParaRPr lang="zh-CN" altLang="en-US" sz="2400">
              <a:uFillTx/>
              <a:latin typeface="Times New Roman" panose="02020603050405020304" charset="0"/>
              <a:ea typeface="楷体" panose="02010609060101010101" charset="-122"/>
              <a:cs typeface="楷体" panose="02010609060101010101"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a:blip r:embed="rId1"/>
          <a:stretch>
            <a:fillRect/>
          </a:stretch>
        </p:blipFill>
        <p:spPr>
          <a:xfrm>
            <a:off x="241300" y="3101975"/>
            <a:ext cx="4414520" cy="3324860"/>
          </a:xfrm>
          <a:prstGeom prst="rect">
            <a:avLst/>
          </a:prstGeom>
        </p:spPr>
      </p:pic>
      <p:sp>
        <p:nvSpPr>
          <p:cNvPr id="5" name="文本框 4"/>
          <p:cNvSpPr txBox="1"/>
          <p:nvPr/>
        </p:nvSpPr>
        <p:spPr>
          <a:xfrm>
            <a:off x="412115" y="1143000"/>
            <a:ext cx="11367135" cy="1383665"/>
          </a:xfrm>
          <a:prstGeom prst="rect">
            <a:avLst/>
          </a:prstGeom>
          <a:noFill/>
        </p:spPr>
        <p:txBody>
          <a:bodyPr wrap="square" rtlCol="0" anchor="t">
            <a:spAutoFit/>
          </a:bodyPr>
          <a:p>
            <a:pPr algn="l">
              <a:buClrTx/>
              <a:buSzTx/>
              <a:buFontTx/>
            </a:pPr>
            <a:r>
              <a:rPr lang="zh-CN" altLang="en-US" sz="2800">
                <a:uFillTx/>
                <a:latin typeface="Times New Roman" panose="02020603050405020304" charset="0"/>
                <a:ea typeface="楷体" panose="02010609060101010101" charset="-122"/>
                <a:cs typeface="楷体" panose="02010609060101010101" charset="-122"/>
              </a:rPr>
              <a:t>3.2 信号同步</a:t>
            </a:r>
            <a:endParaRPr lang="zh-CN" altLang="en-US" sz="2800">
              <a:uFillTx/>
              <a:latin typeface="Times New Roman" panose="02020603050405020304" charset="0"/>
              <a:ea typeface="楷体" panose="02010609060101010101" charset="-122"/>
              <a:cs typeface="楷体" panose="02010609060101010101" charset="-122"/>
            </a:endParaRPr>
          </a:p>
          <a:p>
            <a:endParaRPr lang="zh-CN" altLang="en-US" sz="2800">
              <a:latin typeface="楷体" panose="02010609060101010101" charset="-122"/>
              <a:ea typeface="楷体" panose="02010609060101010101" charset="-122"/>
              <a:cs typeface="楷体" panose="02010609060101010101" charset="-122"/>
            </a:endParaRPr>
          </a:p>
          <a:p>
            <a:endParaRPr lang="zh-CN" altLang="en-US" sz="2800">
              <a:latin typeface="楷体" panose="02010609060101010101" charset="-122"/>
              <a:ea typeface="楷体" panose="02010609060101010101" charset="-122"/>
              <a:cs typeface="楷体" panose="02010609060101010101" charset="-122"/>
            </a:endParaRPr>
          </a:p>
        </p:txBody>
      </p:sp>
      <p:sp>
        <p:nvSpPr>
          <p:cNvPr id="2" name="文本框 1"/>
          <p:cNvSpPr txBox="1"/>
          <p:nvPr/>
        </p:nvSpPr>
        <p:spPr>
          <a:xfrm>
            <a:off x="327025" y="1718310"/>
            <a:ext cx="11452225" cy="1198880"/>
          </a:xfrm>
          <a:prstGeom prst="rect">
            <a:avLst/>
          </a:prstGeom>
          <a:noFill/>
        </p:spPr>
        <p:txBody>
          <a:bodyPr wrap="square" rtlCol="0">
            <a:spAutoFit/>
          </a:bodyPr>
          <a:p>
            <a:r>
              <a:rPr lang="zh-CN" altLang="en-US" sz="2400">
                <a:solidFill>
                  <a:schemeClr val="tx1"/>
                </a:solidFill>
                <a:uFillTx/>
                <a:latin typeface="Times New Roman" panose="02020603050405020304" charset="0"/>
                <a:ea typeface="楷体" panose="02010609060101010101" charset="-122"/>
                <a:cs typeface="楷体" panose="02010609060101010101" charset="-122"/>
              </a:rPr>
              <a:t>（</a:t>
            </a:r>
            <a:r>
              <a:rPr lang="en-US" altLang="zh-CN" sz="2400">
                <a:solidFill>
                  <a:schemeClr val="tx1"/>
                </a:solidFill>
                <a:uFillTx/>
                <a:latin typeface="Times New Roman" panose="02020603050405020304" charset="0"/>
                <a:ea typeface="楷体" panose="02010609060101010101" charset="-122"/>
                <a:cs typeface="楷体" panose="02010609060101010101" charset="-122"/>
              </a:rPr>
              <a:t>2</a:t>
            </a:r>
            <a:r>
              <a:rPr lang="zh-CN" altLang="en-US" sz="2400">
                <a:solidFill>
                  <a:schemeClr val="tx1"/>
                </a:solidFill>
                <a:uFillTx/>
                <a:latin typeface="Times New Roman" panose="02020603050405020304" charset="0"/>
                <a:ea typeface="楷体" panose="02010609060101010101" charset="-122"/>
                <a:cs typeface="楷体" panose="02010609060101010101" charset="-122"/>
              </a:rPr>
              <a:t>）空间</a:t>
            </a:r>
            <a:r>
              <a:rPr lang="zh-CN" altLang="en-US" sz="2400">
                <a:solidFill>
                  <a:schemeClr val="tx1"/>
                </a:solidFill>
                <a:uFillTx/>
                <a:latin typeface="Times New Roman" panose="02020603050405020304" charset="0"/>
                <a:ea typeface="楷体" panose="02010609060101010101" charset="-122"/>
                <a:cs typeface="楷体" panose="02010609060101010101" charset="-122"/>
              </a:rPr>
              <a:t>同步：</a:t>
            </a:r>
            <a:r>
              <a:rPr lang="zh-CN" altLang="en-US" sz="2400">
                <a:solidFill>
                  <a:schemeClr val="tx1"/>
                </a:solidFill>
                <a:uFillTx/>
                <a:latin typeface="Times New Roman" panose="02020603050405020304" charset="0"/>
                <a:ea typeface="楷体" panose="02010609060101010101" charset="-122"/>
                <a:cs typeface="楷体" panose="02010609060101010101" charset="-122"/>
                <a:sym typeface="+mn-ea"/>
              </a:rPr>
              <a:t>引进了一种独立于方位和位置的公共物体参考坐标系。</a:t>
            </a:r>
            <a:r>
              <a:rPr lang="zh-CN" altLang="en-US" sz="2400">
                <a:solidFill>
                  <a:schemeClr val="tx1"/>
                </a:solidFill>
                <a:uFillTx/>
                <a:latin typeface="Times New Roman" panose="02020603050405020304" charset="0"/>
                <a:ea typeface="楷体" panose="02010609060101010101" charset="-122"/>
                <a:cs typeface="楷体" panose="02010609060101010101" charset="-122"/>
              </a:rPr>
              <a:t>以智能手机为例，假设智能手机沿三个正交方向的线性加速度信号分别为Accx、Accy、Accz。在物体参考系中的线加速度可以计算为：</a:t>
            </a:r>
            <a:endParaRPr lang="zh-CN" altLang="en-US" sz="2400">
              <a:solidFill>
                <a:schemeClr val="tx1"/>
              </a:solidFill>
              <a:uFillTx/>
              <a:latin typeface="Times New Roman" panose="02020603050405020304" charset="0"/>
              <a:ea typeface="楷体" panose="02010609060101010101" charset="-122"/>
              <a:cs typeface="楷体" panose="02010609060101010101" charset="-122"/>
            </a:endParaRPr>
          </a:p>
        </p:txBody>
      </p:sp>
      <p:pic>
        <p:nvPicPr>
          <p:cNvPr id="4" name="图片 3"/>
          <p:cNvPicPr>
            <a:picLocks noChangeAspect="1"/>
          </p:cNvPicPr>
          <p:nvPr/>
        </p:nvPicPr>
        <p:blipFill>
          <a:blip r:embed="rId2"/>
          <a:stretch>
            <a:fillRect/>
          </a:stretch>
        </p:blipFill>
        <p:spPr>
          <a:xfrm>
            <a:off x="6194425" y="2841625"/>
            <a:ext cx="4438650" cy="1174750"/>
          </a:xfrm>
          <a:prstGeom prst="rect">
            <a:avLst/>
          </a:prstGeom>
        </p:spPr>
      </p:pic>
      <p:grpSp>
        <p:nvGrpSpPr>
          <p:cNvPr id="9" name="组合 8"/>
          <p:cNvGrpSpPr/>
          <p:nvPr/>
        </p:nvGrpSpPr>
        <p:grpSpPr>
          <a:xfrm>
            <a:off x="5046980" y="4191635"/>
            <a:ext cx="6732905" cy="1938020"/>
            <a:chOff x="7947" y="6409"/>
            <a:chExt cx="10603" cy="3052"/>
          </a:xfrm>
        </p:grpSpPr>
        <p:sp>
          <p:nvSpPr>
            <p:cNvPr id="6" name="文本框 5"/>
            <p:cNvSpPr txBox="1"/>
            <p:nvPr/>
          </p:nvSpPr>
          <p:spPr>
            <a:xfrm>
              <a:off x="7947" y="6409"/>
              <a:ext cx="10603" cy="3052"/>
            </a:xfrm>
            <a:prstGeom prst="rect">
              <a:avLst/>
            </a:prstGeom>
            <a:noFill/>
          </p:spPr>
          <p:txBody>
            <a:bodyPr wrap="square" rtlCol="0">
              <a:spAutoFit/>
            </a:bodyPr>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其中：</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AccG、AccF、AccS为人体参考系中沿重力反方向、正向、侧向的线性加速度;</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      是从世界坐标系到身体坐标系的旋转矩阵;</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      是从设备坐标系到世界坐标系的旋转矩阵；</a:t>
              </a:r>
              <a:endParaRPr lang="zh-CN" altLang="en-US" sz="2400">
                <a:uFillTx/>
                <a:latin typeface="Times New Roman" panose="02020603050405020304" charset="0"/>
                <a:ea typeface="楷体" panose="02010609060101010101" charset="-122"/>
                <a:cs typeface="楷体" panose="02010609060101010101" charset="-122"/>
              </a:endParaRPr>
            </a:p>
          </p:txBody>
        </p:sp>
        <p:pic>
          <p:nvPicPr>
            <p:cNvPr id="7" name="图片 6"/>
            <p:cNvPicPr>
              <a:picLocks noChangeAspect="1"/>
            </p:cNvPicPr>
            <p:nvPr/>
          </p:nvPicPr>
          <p:blipFill>
            <a:blip r:embed="rId3"/>
            <a:stretch>
              <a:fillRect/>
            </a:stretch>
          </p:blipFill>
          <p:spPr>
            <a:xfrm>
              <a:off x="8091" y="8094"/>
              <a:ext cx="651" cy="636"/>
            </a:xfrm>
            <a:prstGeom prst="rect">
              <a:avLst/>
            </a:prstGeom>
          </p:spPr>
        </p:pic>
        <p:pic>
          <p:nvPicPr>
            <p:cNvPr id="8" name="图片 7"/>
            <p:cNvPicPr>
              <a:picLocks noChangeAspect="1"/>
            </p:cNvPicPr>
            <p:nvPr/>
          </p:nvPicPr>
          <p:blipFill>
            <a:blip r:embed="rId4"/>
            <a:stretch>
              <a:fillRect/>
            </a:stretch>
          </p:blipFill>
          <p:spPr>
            <a:xfrm>
              <a:off x="8091" y="8730"/>
              <a:ext cx="710" cy="559"/>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ctrTitle"/>
          </p:nvPr>
        </p:nvSpPr>
        <p:spPr/>
        <p:txBody>
          <a:bodyPr/>
          <a:p>
            <a:r>
              <a:rPr lang="en-US" altLang="zh-CN"/>
              <a:t>4.</a:t>
            </a:r>
            <a:r>
              <a:rPr lang="zh-CN" altLang="en-US"/>
              <a:t>密钥生成</a:t>
            </a:r>
            <a:endParaRPr lang="zh-CN" altLang="en-US"/>
          </a:p>
        </p:txBody>
      </p:sp>
      <p:sp>
        <p:nvSpPr>
          <p:cNvPr id="6" name="副标题 5"/>
          <p:cNvSpPr>
            <a:spLocks noGrp="1"/>
          </p:cNvSpPr>
          <p:nvPr>
            <p:ph type="subTitle" idx="1"/>
          </p:nvPr>
        </p:nvSpPr>
        <p:spPr/>
        <p:txBody>
          <a:bodyPr/>
          <a:p>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147320" y="998220"/>
            <a:ext cx="7142480" cy="5446395"/>
          </a:xfrm>
          <a:prstGeom prst="rect">
            <a:avLst/>
          </a:prstGeom>
          <a:noFill/>
        </p:spPr>
        <p:txBody>
          <a:bodyPr wrap="square" rtlCol="0">
            <a:spAutoFit/>
          </a:bodyPr>
          <a:p>
            <a:r>
              <a:rPr lang="en-US" altLang="zh-CN" sz="2400" b="1">
                <a:solidFill>
                  <a:schemeClr val="tx1"/>
                </a:solidFill>
                <a:uFillTx/>
                <a:latin typeface="Times New Roman" panose="02020603050405020304" charset="0"/>
                <a:ea typeface="楷体" panose="02010609060101010101" charset="-122"/>
                <a:cs typeface="楷体" panose="02010609060101010101" charset="-122"/>
              </a:rPr>
              <a:t>4.1 </a:t>
            </a:r>
            <a:r>
              <a:rPr lang="zh-CN" altLang="en-US" sz="2400" b="1">
                <a:solidFill>
                  <a:schemeClr val="tx1"/>
                </a:solidFill>
                <a:uFillTx/>
                <a:latin typeface="Times New Roman" panose="02020603050405020304" charset="0"/>
                <a:ea typeface="楷体" panose="02010609060101010101" charset="-122"/>
                <a:cs typeface="楷体" panose="02010609060101010101" charset="-122"/>
              </a:rPr>
              <a:t>多级量化</a:t>
            </a:r>
            <a:endParaRPr lang="zh-CN" altLang="en-US" sz="2400" b="1">
              <a:solidFill>
                <a:schemeClr val="tx1"/>
              </a:solidFill>
              <a:uFillTx/>
              <a:latin typeface="Times New Roman" panose="02020603050405020304" charset="0"/>
              <a:ea typeface="楷体" panose="02010609060101010101" charset="-122"/>
              <a:cs typeface="楷体" panose="02010609060101010101" charset="-122"/>
            </a:endParaRPr>
          </a:p>
          <a:p>
            <a:endParaRPr lang="zh-CN" altLang="en-US" sz="2400" b="1">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000">
                <a:solidFill>
                  <a:schemeClr val="tx1"/>
                </a:solidFill>
                <a:uFillTx/>
                <a:latin typeface="Times New Roman" panose="02020603050405020304" charset="0"/>
                <a:ea typeface="楷体" panose="02010609060101010101" charset="-122"/>
                <a:cs typeface="楷体" panose="02010609060101010101" charset="-122"/>
              </a:rPr>
              <a:t>我们分别对三个方向的加速度值进行滤波，然后量化。然后们用一个没有重叠的</a:t>
            </a:r>
            <a:r>
              <a:rPr lang="zh-CN" altLang="en-US" sz="2000">
                <a:solidFill>
                  <a:schemeClr val="tx1"/>
                </a:solidFill>
                <a:uFillTx/>
                <a:latin typeface="Times New Roman" panose="02020603050405020304" charset="0"/>
                <a:ea typeface="楷体" panose="02010609060101010101" charset="-122"/>
                <a:cs typeface="楷体" panose="02010609060101010101" charset="-122"/>
              </a:rPr>
              <a:t>移动</a:t>
            </a:r>
            <a:r>
              <a:rPr lang="zh-CN" altLang="en-US" sz="2000">
                <a:solidFill>
                  <a:schemeClr val="tx1"/>
                </a:solidFill>
                <a:uFillTx/>
                <a:latin typeface="Times New Roman" panose="02020603050405020304" charset="0"/>
                <a:ea typeface="楷体" panose="02010609060101010101" charset="-122"/>
                <a:cs typeface="楷体" panose="02010609060101010101" charset="-122"/>
              </a:rPr>
              <a:t>窗口(窗口大小为W)分割加速度值，对于每个窗口，我们通过以下步骤生成比特。</a:t>
            </a:r>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000">
                <a:solidFill>
                  <a:schemeClr val="tx1"/>
                </a:solidFill>
                <a:uFillTx/>
                <a:latin typeface="Times New Roman" panose="02020603050405020304" charset="0"/>
                <a:ea typeface="楷体" panose="02010609060101010101" charset="-122"/>
                <a:cs typeface="楷体" panose="02010609060101010101" charset="-122"/>
              </a:rPr>
              <a:t>（</a:t>
            </a:r>
            <a:r>
              <a:rPr lang="en-US" altLang="zh-CN" sz="2000">
                <a:solidFill>
                  <a:schemeClr val="tx1"/>
                </a:solidFill>
                <a:uFillTx/>
                <a:latin typeface="Times New Roman" panose="02020603050405020304" charset="0"/>
                <a:ea typeface="楷体" panose="02010609060101010101" charset="-122"/>
                <a:cs typeface="楷体" panose="02010609060101010101" charset="-122"/>
              </a:rPr>
              <a:t>1</a:t>
            </a:r>
            <a:r>
              <a:rPr lang="zh-CN" altLang="en-US" sz="2000">
                <a:solidFill>
                  <a:schemeClr val="tx1"/>
                </a:solidFill>
                <a:uFillTx/>
                <a:latin typeface="Times New Roman" panose="02020603050405020304" charset="0"/>
                <a:ea typeface="楷体" panose="02010609060101010101" charset="-122"/>
                <a:cs typeface="楷体" panose="02010609060101010101" charset="-122"/>
              </a:rPr>
              <a:t>）确定位数的上界</a:t>
            </a:r>
            <a:endParaRPr lang="en-US" altLang="zh-CN" sz="20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000">
                <a:solidFill>
                  <a:schemeClr val="tx1"/>
                </a:solidFill>
                <a:uFillTx/>
                <a:latin typeface="Times New Roman" panose="02020603050405020304" charset="0"/>
                <a:ea typeface="楷体" panose="02010609060101010101" charset="-122"/>
                <a:cs typeface="楷体" panose="02010609060101010101" charset="-122"/>
              </a:rPr>
              <a:t>    先计算样本的近似熵</a:t>
            </a:r>
            <a:r>
              <a:rPr lang="en-US" altLang="zh-CN" sz="2000">
                <a:solidFill>
                  <a:schemeClr val="tx1"/>
                </a:solidFill>
                <a:uFillTx/>
                <a:latin typeface="Times New Roman" panose="02020603050405020304" charset="0"/>
                <a:ea typeface="楷体" panose="02010609060101010101" charset="-122"/>
                <a:cs typeface="楷体" panose="02010609060101010101" charset="-122"/>
              </a:rPr>
              <a:t>	</a:t>
            </a:r>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000">
                <a:solidFill>
                  <a:schemeClr val="tx1"/>
                </a:solidFill>
                <a:uFillTx/>
                <a:latin typeface="Times New Roman" panose="02020603050405020304" charset="0"/>
                <a:ea typeface="楷体" panose="02010609060101010101" charset="-122"/>
                <a:cs typeface="楷体" panose="02010609060101010101" charset="-122"/>
              </a:rPr>
              <a:t>    量化级的上界为</a:t>
            </a:r>
            <a:r>
              <a:rPr lang="en-US" altLang="zh-CN" sz="2000">
                <a:solidFill>
                  <a:schemeClr val="tx1"/>
                </a:solidFill>
                <a:uFillTx/>
                <a:latin typeface="Times New Roman" panose="02020603050405020304" charset="0"/>
                <a:ea typeface="楷体" panose="02010609060101010101" charset="-122"/>
                <a:cs typeface="楷体" panose="02010609060101010101" charset="-122"/>
              </a:rPr>
              <a:t>	</a:t>
            </a:r>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000">
                <a:solidFill>
                  <a:schemeClr val="tx1"/>
                </a:solidFill>
                <a:uFillTx/>
                <a:latin typeface="Times New Roman" panose="02020603050405020304" charset="0"/>
                <a:ea typeface="楷体" panose="02010609060101010101" charset="-122"/>
                <a:cs typeface="楷体" panose="02010609060101010101" charset="-122"/>
              </a:rPr>
              <a:t>（</a:t>
            </a:r>
            <a:r>
              <a:rPr lang="en-US" altLang="zh-CN" sz="2000">
                <a:solidFill>
                  <a:schemeClr val="tx1"/>
                </a:solidFill>
                <a:uFillTx/>
                <a:latin typeface="Times New Roman" panose="02020603050405020304" charset="0"/>
                <a:ea typeface="楷体" panose="02010609060101010101" charset="-122"/>
                <a:cs typeface="楷体" panose="02010609060101010101" charset="-122"/>
              </a:rPr>
              <a:t>2</a:t>
            </a:r>
            <a:r>
              <a:rPr lang="zh-CN" altLang="en-US" sz="2000">
                <a:solidFill>
                  <a:schemeClr val="tx1"/>
                </a:solidFill>
                <a:uFillTx/>
                <a:latin typeface="Times New Roman" panose="02020603050405020304" charset="0"/>
                <a:ea typeface="楷体" panose="02010609060101010101" charset="-122"/>
                <a:cs typeface="楷体" panose="02010609060101010101" charset="-122"/>
              </a:rPr>
              <a:t>）确定量化区间</a:t>
            </a:r>
            <a:endParaRPr lang="en-US" altLang="zh-CN" sz="20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000">
                <a:solidFill>
                  <a:schemeClr val="tx1"/>
                </a:solidFill>
                <a:uFillTx/>
                <a:latin typeface="Times New Roman" panose="02020603050405020304" charset="0"/>
                <a:ea typeface="楷体" panose="02010609060101010101" charset="-122"/>
                <a:cs typeface="楷体" panose="02010609060101010101" charset="-122"/>
              </a:rPr>
              <a:t>    单个量化区间由以下方程计算：</a:t>
            </a:r>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000">
                <a:solidFill>
                  <a:schemeClr val="tx1"/>
                </a:solidFill>
                <a:uFillTx/>
                <a:latin typeface="Times New Roman" panose="02020603050405020304" charset="0"/>
                <a:ea typeface="楷体" panose="02010609060101010101" charset="-122"/>
                <a:cs typeface="楷体" panose="02010609060101010101" charset="-122"/>
              </a:rPr>
              <a:t>     量化区间的长度和保护带的大小由此计算</a:t>
            </a:r>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a:p>
            <a:r>
              <a:rPr lang="zh-CN" altLang="en-US" sz="2000">
                <a:solidFill>
                  <a:schemeClr val="tx1"/>
                </a:solidFill>
                <a:uFillTx/>
                <a:latin typeface="Times New Roman" panose="02020603050405020304" charset="0"/>
                <a:ea typeface="楷体" panose="02010609060101010101" charset="-122"/>
                <a:cs typeface="楷体" panose="02010609060101010101" charset="-122"/>
              </a:rPr>
              <a:t>（</a:t>
            </a:r>
            <a:r>
              <a:rPr lang="en-US" altLang="zh-CN" sz="2000">
                <a:solidFill>
                  <a:schemeClr val="tx1"/>
                </a:solidFill>
                <a:uFillTx/>
                <a:latin typeface="Times New Roman" panose="02020603050405020304" charset="0"/>
                <a:ea typeface="楷体" panose="02010609060101010101" charset="-122"/>
                <a:cs typeface="楷体" panose="02010609060101010101" charset="-122"/>
              </a:rPr>
              <a:t>3</a:t>
            </a:r>
            <a:r>
              <a:rPr lang="zh-CN" altLang="en-US" sz="2000">
                <a:solidFill>
                  <a:schemeClr val="tx1"/>
                </a:solidFill>
                <a:uFillTx/>
                <a:latin typeface="Times New Roman" panose="02020603050405020304" charset="0"/>
                <a:ea typeface="楷体" panose="02010609060101010101" charset="-122"/>
                <a:cs typeface="楷体" panose="02010609060101010101" charset="-122"/>
              </a:rPr>
              <a:t>）提取密钥：AccG、AccF、AccS </a:t>
            </a:r>
            <a:r>
              <a:rPr lang="en-US" altLang="zh-CN" sz="2000">
                <a:solidFill>
                  <a:schemeClr val="tx1"/>
                </a:solidFill>
                <a:uFillTx/>
                <a:latin typeface="Times New Roman" panose="02020603050405020304" charset="0"/>
                <a:ea typeface="楷体" panose="02010609060101010101" charset="-122"/>
                <a:cs typeface="楷体" panose="02010609060101010101" charset="-122"/>
              </a:rPr>
              <a:t>----- </a:t>
            </a:r>
            <a:r>
              <a:rPr lang="zh-CN" altLang="en-US" sz="2000">
                <a:solidFill>
                  <a:schemeClr val="tx1"/>
                </a:solidFill>
                <a:uFillTx/>
                <a:latin typeface="Times New Roman" panose="02020603050405020304" charset="0"/>
                <a:ea typeface="楷体" panose="02010609060101010101" charset="-122"/>
                <a:cs typeface="楷体" panose="02010609060101010101" charset="-122"/>
              </a:rPr>
              <a:t>KG、KF、KS，将三个比特流串联在一起，得到Alice的密钥KAlice = [KG, KF, KS]</a:t>
            </a:r>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p:txBody>
      </p:sp>
      <p:pic>
        <p:nvPicPr>
          <p:cNvPr id="5" name="图片 4"/>
          <p:cNvPicPr>
            <a:picLocks noChangeAspect="1"/>
          </p:cNvPicPr>
          <p:nvPr/>
        </p:nvPicPr>
        <p:blipFill>
          <a:blip r:embed="rId1"/>
          <a:stretch>
            <a:fillRect/>
          </a:stretch>
        </p:blipFill>
        <p:spPr>
          <a:xfrm>
            <a:off x="7435850" y="998220"/>
            <a:ext cx="4617720" cy="2415540"/>
          </a:xfrm>
          <a:prstGeom prst="rect">
            <a:avLst/>
          </a:prstGeom>
        </p:spPr>
      </p:pic>
      <p:graphicFrame>
        <p:nvGraphicFramePr>
          <p:cNvPr id="8" name="对象 7">
            <a:hlinkClick r:id="" action="ppaction://ole?verb="/>
          </p:cNvPr>
          <p:cNvGraphicFramePr>
            <a:graphicFrameLocks noChangeAspect="1"/>
          </p:cNvGraphicFramePr>
          <p:nvPr/>
        </p:nvGraphicFramePr>
        <p:xfrm>
          <a:off x="2752408" y="2900045"/>
          <a:ext cx="2463800" cy="421005"/>
        </p:xfrm>
        <a:graphic>
          <a:graphicData uri="http://schemas.openxmlformats.org/presentationml/2006/ole">
            <mc:AlternateContent xmlns:mc="http://schemas.openxmlformats.org/markup-compatibility/2006">
              <mc:Choice xmlns:v="urn:schemas-microsoft-com:vml" Requires="v">
                <p:oleObj spid="_x0000_s1025" name="" r:id="rId2" imgW="1562100" imgH="266700" progId="Equation.KSEE3">
                  <p:embed/>
                </p:oleObj>
              </mc:Choice>
              <mc:Fallback>
                <p:oleObj name="" r:id="rId2" imgW="1562100" imgH="266700" progId="Equation.KSEE3">
                  <p:embed/>
                  <p:pic>
                    <p:nvPicPr>
                      <p:cNvPr id="0" name="图片 1024"/>
                      <p:cNvPicPr/>
                      <p:nvPr/>
                    </p:nvPicPr>
                    <p:blipFill>
                      <a:blip r:embed="rId3"/>
                      <a:stretch>
                        <a:fillRect/>
                      </a:stretch>
                    </p:blipFill>
                    <p:spPr>
                      <a:xfrm>
                        <a:off x="2752408" y="2900045"/>
                        <a:ext cx="2463800" cy="421005"/>
                      </a:xfrm>
                      <a:prstGeom prst="rect">
                        <a:avLst/>
                      </a:prstGeom>
                    </p:spPr>
                  </p:pic>
                </p:oleObj>
              </mc:Fallback>
            </mc:AlternateContent>
          </a:graphicData>
        </a:graphic>
      </p:graphicFrame>
      <p:pic>
        <p:nvPicPr>
          <p:cNvPr id="9" name="图片 8"/>
          <p:cNvPicPr>
            <a:picLocks noChangeAspect="1"/>
          </p:cNvPicPr>
          <p:nvPr/>
        </p:nvPicPr>
        <p:blipFill>
          <a:blip r:embed="rId4"/>
          <a:stretch>
            <a:fillRect/>
          </a:stretch>
        </p:blipFill>
        <p:spPr>
          <a:xfrm>
            <a:off x="7428230" y="3674745"/>
            <a:ext cx="4625340" cy="2339340"/>
          </a:xfrm>
          <a:prstGeom prst="rect">
            <a:avLst/>
          </a:prstGeom>
        </p:spPr>
      </p:pic>
      <p:graphicFrame>
        <p:nvGraphicFramePr>
          <p:cNvPr id="10" name="对象 9">
            <a:hlinkClick r:id="" action="ppaction://ole?verb="/>
          </p:cNvPr>
          <p:cNvGraphicFramePr>
            <a:graphicFrameLocks noChangeAspect="1"/>
          </p:cNvGraphicFramePr>
          <p:nvPr/>
        </p:nvGraphicFramePr>
        <p:xfrm>
          <a:off x="2319020" y="3248025"/>
          <a:ext cx="950595" cy="361950"/>
        </p:xfrm>
        <a:graphic>
          <a:graphicData uri="http://schemas.openxmlformats.org/presentationml/2006/ole">
            <mc:AlternateContent xmlns:mc="http://schemas.openxmlformats.org/markup-compatibility/2006">
              <mc:Choice xmlns:v="urn:schemas-microsoft-com:vml" Requires="v">
                <p:oleObj spid="_x0000_s1026" name="" r:id="rId5" imgW="634365" imgH="241300" progId="Equation.KSEE3">
                  <p:embed/>
                </p:oleObj>
              </mc:Choice>
              <mc:Fallback>
                <p:oleObj name="" r:id="rId5" imgW="634365" imgH="241300" progId="Equation.KSEE3">
                  <p:embed/>
                  <p:pic>
                    <p:nvPicPr>
                      <p:cNvPr id="0" name="图片 1025"/>
                      <p:cNvPicPr/>
                      <p:nvPr/>
                    </p:nvPicPr>
                    <p:blipFill>
                      <a:blip r:embed="rId6"/>
                      <a:stretch>
                        <a:fillRect/>
                      </a:stretch>
                    </p:blipFill>
                    <p:spPr>
                      <a:xfrm>
                        <a:off x="2319020" y="3248025"/>
                        <a:ext cx="950595" cy="361950"/>
                      </a:xfrm>
                      <a:prstGeom prst="rect">
                        <a:avLst/>
                      </a:prstGeom>
                    </p:spPr>
                  </p:pic>
                </p:oleObj>
              </mc:Fallback>
            </mc:AlternateContent>
          </a:graphicData>
        </a:graphic>
      </p:graphicFrame>
      <p:pic>
        <p:nvPicPr>
          <p:cNvPr id="11" name="图片 10"/>
          <p:cNvPicPr>
            <a:picLocks noChangeAspect="1"/>
          </p:cNvPicPr>
          <p:nvPr/>
        </p:nvPicPr>
        <p:blipFill>
          <a:blip r:embed="rId7"/>
          <a:stretch>
            <a:fillRect/>
          </a:stretch>
        </p:blipFill>
        <p:spPr>
          <a:xfrm>
            <a:off x="634365" y="4155440"/>
            <a:ext cx="6027420" cy="358140"/>
          </a:xfrm>
          <a:prstGeom prst="rect">
            <a:avLst/>
          </a:prstGeom>
        </p:spPr>
      </p:pic>
      <p:pic>
        <p:nvPicPr>
          <p:cNvPr id="12" name="图片 11"/>
          <p:cNvPicPr>
            <a:picLocks noChangeAspect="1"/>
          </p:cNvPicPr>
          <p:nvPr/>
        </p:nvPicPr>
        <p:blipFill>
          <a:blip r:embed="rId8"/>
          <a:stretch>
            <a:fillRect/>
          </a:stretch>
        </p:blipFill>
        <p:spPr>
          <a:xfrm>
            <a:off x="634365" y="4869180"/>
            <a:ext cx="4320540" cy="70866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61950" y="1111885"/>
            <a:ext cx="11454765" cy="460375"/>
          </a:xfrm>
          <a:prstGeom prst="rect">
            <a:avLst/>
          </a:prstGeom>
          <a:noFill/>
        </p:spPr>
        <p:txBody>
          <a:bodyPr wrap="square" rtlCol="0">
            <a:spAutoFit/>
          </a:bodyPr>
          <a:p>
            <a:pPr algn="l">
              <a:buClrTx/>
              <a:buSzTx/>
              <a:buFontTx/>
            </a:pPr>
            <a:r>
              <a:rPr lang="en-US" altLang="zh-CN" sz="2400" b="1">
                <a:uFillTx/>
                <a:latin typeface="Times New Roman" panose="02020603050405020304" charset="0"/>
                <a:ea typeface="楷体" panose="02010609060101010101" charset="-122"/>
                <a:cs typeface="楷体" panose="02010609060101010101" charset="-122"/>
              </a:rPr>
              <a:t>4.2 解决不匹配问题——ECC</a:t>
            </a:r>
            <a:r>
              <a:rPr lang="zh-CN" altLang="en-US" sz="2400" b="1">
                <a:uFillTx/>
                <a:latin typeface="Times New Roman" panose="02020603050405020304" charset="0"/>
                <a:ea typeface="楷体" panose="02010609060101010101" charset="-122"/>
                <a:cs typeface="楷体" panose="02010609060101010101" charset="-122"/>
              </a:rPr>
              <a:t>纠错码</a:t>
            </a:r>
            <a:endParaRPr lang="en-US" altLang="zh-CN"/>
          </a:p>
        </p:txBody>
      </p:sp>
      <p:pic>
        <p:nvPicPr>
          <p:cNvPr id="3" name="图片 2"/>
          <p:cNvPicPr>
            <a:picLocks noChangeAspect="1"/>
          </p:cNvPicPr>
          <p:nvPr/>
        </p:nvPicPr>
        <p:blipFill>
          <a:blip r:embed="rId1"/>
          <a:stretch>
            <a:fillRect/>
          </a:stretch>
        </p:blipFill>
        <p:spPr>
          <a:xfrm>
            <a:off x="1098550" y="1789430"/>
            <a:ext cx="9994900" cy="4191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93065" y="1155700"/>
            <a:ext cx="11134725" cy="460375"/>
          </a:xfrm>
          <a:prstGeom prst="rect">
            <a:avLst/>
          </a:prstGeom>
          <a:noFill/>
        </p:spPr>
        <p:txBody>
          <a:bodyPr wrap="square" rtlCol="0">
            <a:spAutoFit/>
          </a:bodyPr>
          <a:p>
            <a:r>
              <a:rPr lang="zh-CN" altLang="en-US" sz="2400"/>
              <a:t>防篡改</a:t>
            </a:r>
            <a:r>
              <a:rPr lang="en-US" altLang="zh-CN" sz="2400"/>
              <a:t>——</a:t>
            </a:r>
            <a:r>
              <a:rPr lang="zh-CN" altLang="en-US" sz="2400"/>
              <a:t>message authentication code (MAC) method</a:t>
            </a:r>
            <a:endParaRPr lang="zh-CN" altLang="en-US" sz="2400"/>
          </a:p>
        </p:txBody>
      </p:sp>
      <p:pic>
        <p:nvPicPr>
          <p:cNvPr id="7" name="图片 6"/>
          <p:cNvPicPr>
            <a:picLocks noChangeAspect="1"/>
          </p:cNvPicPr>
          <p:nvPr/>
        </p:nvPicPr>
        <p:blipFill>
          <a:blip r:embed="rId1"/>
          <a:stretch>
            <a:fillRect/>
          </a:stretch>
        </p:blipFill>
        <p:spPr>
          <a:xfrm>
            <a:off x="270510" y="1739900"/>
            <a:ext cx="11650980" cy="392684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68300" y="1099185"/>
            <a:ext cx="7499985" cy="4799965"/>
          </a:xfrm>
          <a:prstGeom prst="rect">
            <a:avLst/>
          </a:prstGeom>
          <a:noFill/>
        </p:spPr>
        <p:txBody>
          <a:bodyPr wrap="square" rtlCol="0">
            <a:spAutoFit/>
          </a:bodyPr>
          <a:p>
            <a:pPr algn="l">
              <a:buClrTx/>
              <a:buSzTx/>
              <a:buFontTx/>
            </a:pPr>
            <a:r>
              <a:rPr lang="en-US" altLang="zh-CN" sz="2400" b="1">
                <a:uFillTx/>
                <a:latin typeface="Times New Roman" panose="02020603050405020304" charset="0"/>
                <a:ea typeface="楷体" panose="02010609060101010101" charset="-122"/>
                <a:cs typeface="楷体" panose="02010609060101010101" charset="-122"/>
              </a:rPr>
              <a:t>4.3 </a:t>
            </a:r>
            <a:r>
              <a:rPr lang="zh-CN" sz="2400" b="1">
                <a:uFillTx/>
                <a:latin typeface="Times New Roman" panose="02020603050405020304" charset="0"/>
                <a:ea typeface="楷体" panose="02010609060101010101" charset="-122"/>
                <a:cs typeface="楷体" panose="02010609060101010101" charset="-122"/>
              </a:rPr>
              <a:t>隐私放大</a:t>
            </a:r>
            <a:endParaRPr lang="zh-CN" sz="2400" b="1">
              <a:uFillTx/>
              <a:latin typeface="Times New Roman" panose="02020603050405020304" charset="0"/>
              <a:ea typeface="楷体" panose="02010609060101010101" charset="-122"/>
              <a:cs typeface="楷体" panose="02010609060101010101" charset="-122"/>
            </a:endParaRPr>
          </a:p>
          <a:p>
            <a:pPr algn="l">
              <a:buClrTx/>
              <a:buSzTx/>
              <a:buFontTx/>
            </a:pPr>
            <a:endParaRPr lang="en-US" altLang="zh-CN"/>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在系统中，我们使用位异或函数来组合各个方向</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生成的键，消除它们之间的相关性，减少了透露</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给敌手的相关信息。</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经过隐私放大后，最终密钥可以被诸如AES之类</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的对称密钥算法使用，以确保Alice和Bob之间的</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安全通信。如果最终密钥的长度大于128位，则</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400">
                <a:uFillTx/>
                <a:latin typeface="Times New Roman" panose="02020603050405020304" charset="0"/>
                <a:ea typeface="楷体" panose="02010609060101010101" charset="-122"/>
                <a:cs typeface="楷体" panose="02010609060101010101" charset="-122"/>
              </a:rPr>
              <a:t>使用前128位。</a:t>
            </a: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endParaRPr lang="zh-CN" altLang="en-US" sz="2400">
              <a:uFillTx/>
              <a:latin typeface="Times New Roman" panose="02020603050405020304" charset="0"/>
              <a:ea typeface="楷体" panose="02010609060101010101" charset="-122"/>
              <a:cs typeface="楷体" panose="02010609060101010101" charset="-122"/>
            </a:endParaRPr>
          </a:p>
          <a:p>
            <a:pPr algn="l">
              <a:buClrTx/>
              <a:buSzTx/>
              <a:buFontTx/>
            </a:pPr>
            <a:endParaRPr lang="zh-CN" altLang="en-US" sz="2400">
              <a:uFillTx/>
              <a:latin typeface="Times New Roman" panose="02020603050405020304" charset="0"/>
              <a:ea typeface="楷体" panose="02010609060101010101" charset="-122"/>
              <a:cs typeface="楷体" panose="02010609060101010101" charset="-122"/>
            </a:endParaRPr>
          </a:p>
        </p:txBody>
      </p:sp>
      <p:pic>
        <p:nvPicPr>
          <p:cNvPr id="2" name="图片 1"/>
          <p:cNvPicPr>
            <a:picLocks noChangeAspect="1"/>
          </p:cNvPicPr>
          <p:nvPr/>
        </p:nvPicPr>
        <p:blipFill>
          <a:blip r:embed="rId1"/>
          <a:stretch>
            <a:fillRect/>
          </a:stretch>
        </p:blipFill>
        <p:spPr>
          <a:xfrm>
            <a:off x="7630795" y="1186180"/>
            <a:ext cx="4237990" cy="3701415"/>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ctrTitle"/>
          </p:nvPr>
        </p:nvSpPr>
        <p:spPr/>
        <p:txBody>
          <a:bodyPr/>
          <a:p>
            <a:r>
              <a:rPr lang="en-US" altLang="zh-CN"/>
              <a:t>5.Conclusion</a:t>
            </a:r>
            <a:endParaRPr lang="zh-CN" altLang="en-US"/>
          </a:p>
        </p:txBody>
      </p:sp>
      <p:sp>
        <p:nvSpPr>
          <p:cNvPr id="6" name="副标题 5"/>
          <p:cNvSpPr>
            <a:spLocks noGrp="1"/>
          </p:cNvSpPr>
          <p:nvPr>
            <p:ph type="subTitle" idx="1"/>
          </p:nvPr>
        </p:nvSpPr>
        <p:spPr/>
        <p:txBody>
          <a:bodyPr/>
          <a:p>
            <a:endParaRPr lang="zh-CN"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nvPicPr>
        <p:blipFill>
          <a:blip r:embed="rId1"/>
          <a:stretch>
            <a:fillRect/>
          </a:stretch>
        </p:blipFill>
        <p:spPr>
          <a:xfrm>
            <a:off x="1091565" y="2017395"/>
            <a:ext cx="10274300" cy="3105785"/>
          </a:xfrm>
          <a:prstGeom prst="rect">
            <a:avLst/>
          </a:prstGeom>
        </p:spPr>
      </p:pic>
    </p:spTree>
  </p:cSld>
  <p:clrMapOvr>
    <a:masterClrMapping/>
  </p:clrMapOvr>
</p:sld>
</file>

<file path=ppt/theme/theme1.xml><?xml version="1.0" encoding="utf-8"?>
<a:theme xmlns:a="http://schemas.openxmlformats.org/drawingml/2006/main" name="主题1">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fontScheme name="">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raClrSchemeLst>
    <a:extraClrScheme>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4"/>
        </a:accent5>
        <a:accent6>
          <a:srgbClr val="E5895B"/>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7B7E5"/>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
        <a:dk1>
          <a:srgbClr val="000000"/>
        </a:dk1>
        <a:lt1>
          <a:srgbClr val="DEF6F1"/>
        </a:lt1>
        <a:dk2>
          <a:srgbClr val="000000"/>
        </a:dk2>
        <a:lt2>
          <a:srgbClr val="969696"/>
        </a:lt2>
        <a:accent1>
          <a:srgbClr val="FFFFFF"/>
        </a:accent1>
        <a:accent2>
          <a:srgbClr val="8DC6FF"/>
        </a:accent2>
        <a:accent3>
          <a:srgbClr val="EBFAF7"/>
        </a:accent3>
        <a:accent4>
          <a:srgbClr val="000000"/>
        </a:accent4>
        <a:accent5>
          <a:srgbClr val="FFFFFF"/>
        </a:accent5>
        <a:accent6>
          <a:srgbClr val="7EB1E5"/>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7B7"/>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
        <a:dk1>
          <a:srgbClr val="FFFFFF"/>
        </a:dk1>
        <a:lt1>
          <a:srgbClr val="008080"/>
        </a:lt1>
        <a:dk2>
          <a:srgbClr val="FFFF99"/>
        </a:dk2>
        <a:lt2>
          <a:srgbClr val="005A58"/>
        </a:lt2>
        <a:accent1>
          <a:srgbClr val="006462"/>
        </a:accent1>
        <a:accent2>
          <a:srgbClr val="6D6FC7"/>
        </a:accent2>
        <a:accent3>
          <a:srgbClr val="AAC1C1"/>
        </a:accent3>
        <a:accent4>
          <a:srgbClr val="DCDCDC"/>
        </a:accent4>
        <a:accent5>
          <a:srgbClr val="AAB8B8"/>
        </a:accent5>
        <a:accent6>
          <a:srgbClr val="6163B2"/>
        </a:accent6>
        <a:hlink>
          <a:srgbClr val="00FFFF"/>
        </a:hlink>
        <a:folHlink>
          <a:srgbClr val="00FF00"/>
        </a:folHlink>
      </a:clrScheme>
      <a:clrMap bg1="lt1" tx1="dk1" bg2="lt2" tx2="dk2" accent1="accent1" accent2="accent2" accent3="accent3" accent4="accent4" accent5="accent5" accent6="accent6" hlink="hlink" folHlink="folHlink"/>
    </a:extraClrScheme>
    <a:extraClrScheme>
      <a:clrScheme name="">
        <a:dk1>
          <a:srgbClr val="FFFFFF"/>
        </a:dk1>
        <a:lt1>
          <a:srgbClr val="800000"/>
        </a:lt1>
        <a:dk2>
          <a:srgbClr val="DFD293"/>
        </a:dk2>
        <a:lt2>
          <a:srgbClr val="5C1F00"/>
        </a:lt2>
        <a:accent1>
          <a:srgbClr val="CC3300"/>
        </a:accent1>
        <a:accent2>
          <a:srgbClr val="BE7960"/>
        </a:accent2>
        <a:accent3>
          <a:srgbClr val="C1AAAA"/>
        </a:accent3>
        <a:accent4>
          <a:srgbClr val="DCDCDC"/>
        </a:accent4>
        <a:accent5>
          <a:srgbClr val="E2ADAA"/>
        </a:accent5>
        <a:accent6>
          <a:srgbClr val="AA6C55"/>
        </a:accent6>
        <a:hlink>
          <a:srgbClr val="FFFF99"/>
        </a:hlink>
        <a:folHlink>
          <a:srgbClr val="D3A219"/>
        </a:folHlink>
      </a:clrScheme>
      <a:clrMap bg1="lt1" tx1="dk1" bg2="lt2" tx2="dk2" accent1="accent1" accent2="accent2" accent3="accent3" accent4="accent4" accent5="accent5" accent6="accent6" hlink="hlink" folHlink="folHlink"/>
    </a:extraClrScheme>
    <a:extraClrScheme>
      <a:clrScheme name="">
        <a:dk1>
          <a:srgbClr val="FFFFFF"/>
        </a:dk1>
        <a:lt1>
          <a:srgbClr val="000099"/>
        </a:lt1>
        <a:dk2>
          <a:srgbClr val="CCFFFF"/>
        </a:dk2>
        <a:lt2>
          <a:srgbClr val="003366"/>
        </a:lt2>
        <a:accent1>
          <a:srgbClr val="3366CC"/>
        </a:accent1>
        <a:accent2>
          <a:srgbClr val="00B000"/>
        </a:accent2>
        <a:accent3>
          <a:srgbClr val="AAAACA"/>
        </a:accent3>
        <a:accent4>
          <a:srgbClr val="DCDCDC"/>
        </a:accent4>
        <a:accent5>
          <a:srgbClr val="ADB9E2"/>
        </a:accent5>
        <a:accent6>
          <a:srgbClr val="009D00"/>
        </a:accent6>
        <a:hlink>
          <a:srgbClr val="66CCFF"/>
        </a:hlink>
        <a:folHlink>
          <a:srgbClr val="FFE701"/>
        </a:folHlink>
      </a:clrScheme>
      <a:clrMap bg1="lt1" tx1="dk1" bg2="lt2" tx2="dk2" accent1="accent1" accent2="accent2" accent3="accent3" accent4="accent4" accent5="accent5" accent6="accent6" hlink="hlink" folHlink="folHlink"/>
    </a:extraClrScheme>
    <a:extraClrScheme>
      <a:clrScheme name="">
        <a:dk1>
          <a:srgbClr val="FFFFFF"/>
        </a:dk1>
        <a:lt1>
          <a:srgbClr val="000000"/>
        </a:lt1>
        <a:dk2>
          <a:srgbClr val="E3EBF1"/>
        </a:dk2>
        <a:lt2>
          <a:srgbClr val="336699"/>
        </a:lt2>
        <a:accent1>
          <a:srgbClr val="003399"/>
        </a:accent1>
        <a:accent2>
          <a:srgbClr val="468A4B"/>
        </a:accent2>
        <a:accent3>
          <a:srgbClr val="AAAAAA"/>
        </a:accent3>
        <a:accent4>
          <a:srgbClr val="DCDCDC"/>
        </a:accent4>
        <a:accent5>
          <a:srgbClr val="AAADCA"/>
        </a:accent5>
        <a:accent6>
          <a:srgbClr val="3E7B43"/>
        </a:accent6>
        <a:hlink>
          <a:srgbClr val="66CCFF"/>
        </a:hlink>
        <a:folHlink>
          <a:srgbClr val="F0E500"/>
        </a:folHlink>
      </a:clrScheme>
      <a:clrMap bg1="lt1" tx1="dk1" bg2="lt2" tx2="dk2" accent1="accent1" accent2="accent2" accent3="accent3" accent4="accent4" accent5="accent5" accent6="accent6" hlink="hlink" folHlink="folHlink"/>
    </a:extraClrScheme>
    <a:extraClrScheme>
      <a:clrScheme name="">
        <a:dk1>
          <a:srgbClr val="FFFFFF"/>
        </a:dk1>
        <a:lt1>
          <a:srgbClr val="686B5D"/>
        </a:lt1>
        <a:dk2>
          <a:srgbClr val="D1D1CB"/>
        </a:dk2>
        <a:lt2>
          <a:srgbClr val="777777"/>
        </a:lt2>
        <a:accent1>
          <a:srgbClr val="909082"/>
        </a:accent1>
        <a:accent2>
          <a:srgbClr val="809EA8"/>
        </a:accent2>
        <a:accent3>
          <a:srgbClr val="B9BAB6"/>
        </a:accent3>
        <a:accent4>
          <a:srgbClr val="DCDCDC"/>
        </a:accent4>
        <a:accent5>
          <a:srgbClr val="C7C7C1"/>
        </a:accent5>
        <a:accent6>
          <a:srgbClr val="728D96"/>
        </a:accent6>
        <a:hlink>
          <a:srgbClr val="FFCC66"/>
        </a:hlink>
        <a:folHlink>
          <a:srgbClr val="E9DCB9"/>
        </a:folHlink>
      </a:clrScheme>
      <a:clrMap bg1="lt1" tx1="dk1" bg2="lt2" tx2="dk2" accent1="accent1" accent2="accent2" accent3="accent3" accent4="accent4" accent5="accent5" accent6="accent6" hlink="hlink" folHlink="folHlink"/>
    </a:extraClrScheme>
    <a:extraClrScheme>
      <a:clrScheme name="">
        <a:dk1>
          <a:srgbClr val="FFFFFF"/>
        </a:dk1>
        <a:lt1>
          <a:srgbClr val="666699"/>
        </a:lt1>
        <a:dk2>
          <a:srgbClr val="FFFFFF"/>
        </a:dk2>
        <a:lt2>
          <a:srgbClr val="3E3E5C"/>
        </a:lt2>
        <a:accent1>
          <a:srgbClr val="60597B"/>
        </a:accent1>
        <a:accent2>
          <a:srgbClr val="6666FF"/>
        </a:accent2>
        <a:accent3>
          <a:srgbClr val="B9B9CA"/>
        </a:accent3>
        <a:accent4>
          <a:srgbClr val="DCDCDC"/>
        </a:accent4>
        <a:accent5>
          <a:srgbClr val="B7B5BF"/>
        </a:accent5>
        <a:accent6>
          <a:srgbClr val="5B5BE5"/>
        </a:accent6>
        <a:hlink>
          <a:srgbClr val="99CCFF"/>
        </a:hlink>
        <a:folHlink>
          <a:srgbClr val="FFFF99"/>
        </a:folHlink>
      </a:clrScheme>
      <a:clrMap bg1="lt1" tx1="dk1" bg2="lt2" tx2="dk2" accent1="accent1" accent2="accent2" accent3="accent3" accent4="accent4" accent5="accent5" accent6="accent6" hlink="hlink" folHlink="folHlink"/>
    </a:extraClrScheme>
    <a:extraClrScheme>
      <a:clrScheme name="">
        <a:dk1>
          <a:srgbClr val="FFFFFF"/>
        </a:dk1>
        <a:lt1>
          <a:srgbClr val="523E26"/>
        </a:lt1>
        <a:dk2>
          <a:srgbClr val="DFC08D"/>
        </a:dk2>
        <a:lt2>
          <a:srgbClr val="2D2015"/>
        </a:lt2>
        <a:accent1>
          <a:srgbClr val="8C7B70"/>
        </a:accent1>
        <a:accent2>
          <a:srgbClr val="8F5F2F"/>
        </a:accent2>
        <a:accent3>
          <a:srgbClr val="B3AFAB"/>
        </a:accent3>
        <a:accent4>
          <a:srgbClr val="DCDCDC"/>
        </a:accent4>
        <a:accent5>
          <a:srgbClr val="C5BFBC"/>
        </a:accent5>
        <a:accent6>
          <a:srgbClr val="805529"/>
        </a:accent6>
        <a:hlink>
          <a:srgbClr val="CCB400"/>
        </a:hlink>
        <a:folHlink>
          <a:srgbClr val="8C9EA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1881</Words>
  <Application>WPS 演示</Application>
  <PresentationFormat>宽屏</PresentationFormat>
  <Paragraphs>113</Paragraphs>
  <Slides>20</Slides>
  <Notes>4</Notes>
  <HiddenSlides>0</HiddenSlides>
  <MMClips>0</MMClips>
  <ScaleCrop>false</ScaleCrop>
  <HeadingPairs>
    <vt:vector size="8" baseType="variant">
      <vt:variant>
        <vt:lpstr>已用的字体</vt:lpstr>
      </vt:variant>
      <vt:variant>
        <vt:i4>8</vt:i4>
      </vt:variant>
      <vt:variant>
        <vt:lpstr>主题</vt:lpstr>
      </vt:variant>
      <vt:variant>
        <vt:i4>1</vt:i4>
      </vt:variant>
      <vt:variant>
        <vt:lpstr>嵌入 OLE 服务器</vt:lpstr>
      </vt:variant>
      <vt:variant>
        <vt:i4>3</vt:i4>
      </vt:variant>
      <vt:variant>
        <vt:lpstr>幻灯片标题</vt:lpstr>
      </vt:variant>
      <vt:variant>
        <vt:i4>20</vt:i4>
      </vt:variant>
    </vt:vector>
  </HeadingPairs>
  <TitlesOfParts>
    <vt:vector size="32" baseType="lpstr">
      <vt:lpstr>Arial</vt:lpstr>
      <vt:lpstr>宋体</vt:lpstr>
      <vt:lpstr>Wingdings</vt:lpstr>
      <vt:lpstr>Times New Roman</vt:lpstr>
      <vt:lpstr>微软雅黑</vt:lpstr>
      <vt:lpstr>楷体</vt:lpstr>
      <vt:lpstr>Arial Unicode MS</vt:lpstr>
      <vt:lpstr>Calibri</vt:lpstr>
      <vt:lpstr>主题1</vt:lpstr>
      <vt:lpstr>Equation.KSEE3</vt:lpstr>
      <vt:lpstr>Equation.KSEE3</vt:lpstr>
      <vt:lpstr>Equation.KSEE3</vt:lpstr>
      <vt:lpstr>Gait-Key: A Gait-Based Shared Secret Key Generation Protocol for Wearable Devices</vt:lpstr>
      <vt:lpstr>1.Background</vt:lpstr>
      <vt:lpstr>近年来，智能可穿戴设备的数量出现了显著增长。对于这些可穿戴设备，一个重要的安全问题是在合法设备之间建立一个经过身份验证的通信通道，以保护后续的通信。由于无线通信和资源的限制，提供安全、高效和用户友好的设备配对是一项具有挑战性的任务。</vt:lpstr>
      <vt:lpstr>2.技术简介</vt:lpstr>
      <vt:lpstr>PowerPoint 演示文稿</vt:lpstr>
      <vt:lpstr>PowerPoint 演示文稿</vt:lpstr>
      <vt:lpstr>PowerPoint 演示文稿</vt:lpstr>
      <vt:lpstr>3.信号处理</vt:lpstr>
      <vt:lpstr>PowerPoint 演示文稿</vt:lpstr>
      <vt:lpstr>PowerPoint 演示文稿</vt:lpstr>
      <vt:lpstr>PowerPoint 演示文稿</vt:lpstr>
      <vt:lpstr>PowerPoint 演示文稿</vt:lpstr>
      <vt:lpstr>PowerPoint 演示文稿</vt:lpstr>
      <vt:lpstr>4.密钥生成</vt:lpstr>
      <vt:lpstr>PowerPoint 演示文稿</vt:lpstr>
      <vt:lpstr>PowerPoint 演示文稿</vt:lpstr>
      <vt:lpstr>PowerPoint 演示文稿</vt:lpstr>
      <vt:lpstr>PowerPoint 演示文稿</vt:lpstr>
      <vt:lpstr>4.密钥生成</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Tangerine</cp:lastModifiedBy>
  <cp:revision>182</cp:revision>
  <dcterms:created xsi:type="dcterms:W3CDTF">2019-06-19T02:08:00Z</dcterms:created>
  <dcterms:modified xsi:type="dcterms:W3CDTF">2021-01-04T07:41:45Z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2052-11.1.0.10228</vt:lpwstr>
  </property>
</Properties>
</file>