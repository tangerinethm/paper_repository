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22" r:id="rId4"/>
    <p:sldId id="438" r:id="rId6"/>
    <p:sldId id="410" r:id="rId7"/>
    <p:sldId id="413" r:id="rId8"/>
    <p:sldId id="415" r:id="rId9"/>
    <p:sldId id="419" r:id="rId10"/>
    <p:sldId id="411" r:id="rId11"/>
    <p:sldId id="414" r:id="rId12"/>
    <p:sldId id="430" r:id="rId13"/>
    <p:sldId id="434" r:id="rId14"/>
    <p:sldId id="435" r:id="rId15"/>
    <p:sldId id="412" r:id="rId16"/>
    <p:sldId id="432" r:id="rId17"/>
    <p:sldId id="433" r:id="rId18"/>
    <p:sldId id="436" r:id="rId19"/>
    <p:sldId id="43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a904f4c-7f45-4d80-9071-3ed007cec816}">
          <p14:sldIdLst>
            <p14:sldId id="422"/>
          </p14:sldIdLst>
        </p14:section>
        <p14:section name="无标题节" id="{a76aca00-fa9a-42da-826c-d332f048f483}">
          <p14:sldIdLst>
            <p14:sldId id="438"/>
            <p14:sldId id="410"/>
            <p14:sldId id="413"/>
            <p14:sldId id="415"/>
            <p14:sldId id="419"/>
          </p14:sldIdLst>
        </p14:section>
        <p14:section name="无标题节" id="{c91cd970-b489-47af-bc73-40a1c477dee6}">
          <p14:sldIdLst>
            <p14:sldId id="411"/>
            <p14:sldId id="414"/>
            <p14:sldId id="430"/>
            <p14:sldId id="434"/>
            <p14:sldId id="435"/>
          </p14:sldIdLst>
        </p14:section>
        <p14:section name="无标题节" id="{ceb29e79-7407-4581-a9dc-57df63c5b763}">
          <p14:sldIdLst>
            <p14:sldId id="412"/>
            <p14:sldId id="432"/>
            <p14:sldId id="433"/>
            <p14:sldId id="436"/>
            <p14:sldId id="43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42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+mn-ea"/>
                <a:cs typeface="+mn-ea"/>
                <a:sym typeface="+mn-ea"/>
              </a:rPr>
              <a:t>GIFT算法的S盒变换是算法唯一的非线性环节，其由16个相同的4-bit可逆S盒并置而成，对算法状态值的每一半子节均进行作用，达到混乱的效果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two-stage</a:t>
            </a:r>
            <a:r>
              <a:rPr lang="zh-CN" altLang="en-US"/>
              <a:t>算法中，我们定义了两个模型，一个是</a:t>
            </a:r>
            <a:r>
              <a:rPr lang="en-US" altLang="zh-CN"/>
              <a:t>Outer-MILP,</a:t>
            </a:r>
            <a:r>
              <a:rPr lang="zh-CN" altLang="en-US"/>
              <a:t>另一个是</a:t>
            </a:r>
            <a:r>
              <a:rPr lang="en-US" altLang="zh-CN"/>
              <a:t>Inner-MILP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我们假设有一个</a:t>
            </a:r>
            <a:r>
              <a:rPr lang="en-US" altLang="zh-CN"/>
              <a:t>r</a:t>
            </a:r>
            <a:r>
              <a:rPr lang="zh-CN" altLang="en-US"/>
              <a:t>轮的分组密码，我们从</a:t>
            </a:r>
            <a:r>
              <a:rPr lang="en-US" altLang="zh-CN"/>
              <a:t>S</a:t>
            </a:r>
            <a:r>
              <a:rPr lang="zh-CN" altLang="en-US"/>
              <a:t>盒的凸包中已经筛选出了</a:t>
            </a:r>
            <a:r>
              <a:rPr lang="zh-CN" altLang="en-US"/>
              <a:t>正确的不等式集合，</a:t>
            </a:r>
            <a:r>
              <a:rPr lang="en-US" altLang="zh-CN"/>
              <a:t>Mr</a:t>
            </a:r>
            <a:r>
              <a:rPr lang="zh-CN" altLang="en-US"/>
              <a:t>是</a:t>
            </a:r>
            <a:r>
              <a:rPr lang="en-US" altLang="zh-CN"/>
              <a:t>r</a:t>
            </a:r>
            <a:r>
              <a:rPr lang="zh-CN" altLang="en-US"/>
              <a:t>轮差分路径的</a:t>
            </a:r>
            <a:r>
              <a:rPr lang="en-US" altLang="zh-CN"/>
              <a:t>S</a:t>
            </a:r>
            <a:r>
              <a:rPr lang="zh-CN" altLang="en-US"/>
              <a:t>盒的下界。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首先，我们初始化</a:t>
            </a:r>
            <a:r>
              <a:rPr lang="en-US" altLang="zh-CN"/>
              <a:t>MPr = 2^-64</a:t>
            </a:r>
            <a:r>
              <a:rPr lang="zh-CN" altLang="en-US"/>
              <a:t>为该算法的差分概率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Outer-MILP</a:t>
            </a:r>
            <a:r>
              <a:rPr lang="zh-CN" altLang="en-US"/>
              <a:t>中，我们的目标是在可行域</a:t>
            </a:r>
            <a:r>
              <a:rPr lang="en-US" altLang="zh-CN"/>
              <a:t>M1</a:t>
            </a:r>
            <a:r>
              <a:rPr lang="zh-CN" altLang="en-US"/>
              <a:t>中找到一条截断差分路径</a:t>
            </a:r>
            <a:r>
              <a:rPr lang="en-US" altLang="zh-CN"/>
              <a:t>TD</a:t>
            </a:r>
            <a:r>
              <a:rPr lang="zh-CN" altLang="en-US"/>
              <a:t>，它的</a:t>
            </a:r>
            <a:r>
              <a:rPr lang="en-US" altLang="zh-CN"/>
              <a:t>S</a:t>
            </a:r>
            <a:r>
              <a:rPr lang="zh-CN" altLang="en-US"/>
              <a:t>盒是当前最小的为</a:t>
            </a:r>
            <a:r>
              <a:rPr lang="en-US" altLang="zh-CN"/>
              <a:t>Mrbound. Mr = </a:t>
            </a:r>
            <a:r>
              <a:rPr lang="en-US" altLang="zh-CN">
                <a:sym typeface="+mn-ea"/>
              </a:rPr>
              <a:t>Mrbound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在找到</a:t>
            </a:r>
            <a:r>
              <a:rPr lang="en-US" altLang="zh-CN"/>
              <a:t>TD</a:t>
            </a:r>
            <a:r>
              <a:rPr lang="zh-CN" altLang="en-US"/>
              <a:t>后，我们将</a:t>
            </a:r>
            <a:r>
              <a:rPr lang="en-US" altLang="zh-CN"/>
              <a:t>TD</a:t>
            </a:r>
            <a:r>
              <a:rPr lang="zh-CN" altLang="en-US"/>
              <a:t>作为一个约束条件加入</a:t>
            </a:r>
            <a:r>
              <a:rPr lang="en-US" altLang="zh-CN"/>
              <a:t>Inner-MILP</a:t>
            </a:r>
            <a:r>
              <a:rPr lang="zh-CN" altLang="en-US"/>
              <a:t>模型的可行域</a:t>
            </a:r>
            <a:r>
              <a:rPr lang="en-US" altLang="zh-CN"/>
              <a:t>M2</a:t>
            </a:r>
            <a:r>
              <a:rPr lang="zh-CN" altLang="en-US"/>
              <a:t>中，去找差分概率最大的差分路径</a:t>
            </a:r>
            <a:r>
              <a:rPr lang="en-US" altLang="zh-CN"/>
              <a:t>x</a:t>
            </a:r>
            <a:r>
              <a:rPr lang="zh-CN" altLang="en-US"/>
              <a:t>，概率记为</a:t>
            </a:r>
            <a:r>
              <a:rPr lang="en-US" altLang="zh-CN"/>
              <a:t>Pr</a:t>
            </a:r>
            <a:r>
              <a:rPr lang="zh-CN" altLang="en-US"/>
              <a:t>。如果</a:t>
            </a:r>
            <a:r>
              <a:rPr lang="en-US" altLang="zh-CN"/>
              <a:t>Pr</a:t>
            </a:r>
            <a:r>
              <a:rPr lang="zh-CN" altLang="en-US"/>
              <a:t>大于初始概率</a:t>
            </a:r>
            <a:r>
              <a:rPr lang="en-US" altLang="zh-CN"/>
              <a:t>MPr, </a:t>
            </a:r>
            <a:r>
              <a:rPr lang="zh-CN" altLang="en-US"/>
              <a:t>那么更新</a:t>
            </a:r>
            <a:r>
              <a:rPr lang="en-US" altLang="zh-CN"/>
              <a:t>MPr = Pr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然后，我们将</a:t>
            </a:r>
            <a:r>
              <a:rPr lang="en-US" altLang="zh-CN"/>
              <a:t>TD</a:t>
            </a:r>
            <a:r>
              <a:rPr lang="zh-CN" altLang="en-US"/>
              <a:t>从可行域</a:t>
            </a:r>
            <a:r>
              <a:rPr lang="en-US" altLang="zh-CN"/>
              <a:t>M1</a:t>
            </a:r>
            <a:r>
              <a:rPr lang="zh-CN" altLang="en-US"/>
              <a:t>中移除，重新找一条截断差分路径</a:t>
            </a:r>
            <a:r>
              <a:rPr lang="en-US" altLang="zh-CN"/>
              <a:t>TD'</a:t>
            </a:r>
            <a:r>
              <a:rPr lang="zh-CN" altLang="en-US"/>
              <a:t>，此时最小</a:t>
            </a:r>
            <a:r>
              <a:rPr lang="en-US" altLang="zh-CN"/>
              <a:t>S</a:t>
            </a:r>
            <a:r>
              <a:rPr lang="zh-CN" altLang="en-US"/>
              <a:t>盒为</a:t>
            </a:r>
            <a:r>
              <a:rPr lang="en-US" altLang="zh-CN"/>
              <a:t>Mrbound'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>
                <a:sym typeface="+mn-ea"/>
              </a:rPr>
              <a:t>Mrbound' = Mr</a:t>
            </a:r>
            <a:r>
              <a:rPr lang="zh-CN" altLang="en-US">
                <a:sym typeface="+mn-ea"/>
              </a:rPr>
              <a:t>，那么我们重复</a:t>
            </a:r>
            <a:r>
              <a:rPr lang="en-US" altLang="zh-CN">
                <a:sym typeface="+mn-ea"/>
              </a:rPr>
              <a:t>Inner-MILP</a:t>
            </a:r>
            <a:r>
              <a:rPr lang="zh-CN" altLang="en-US">
                <a:sym typeface="+mn-ea"/>
              </a:rPr>
              <a:t>的步骤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否则：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Mr&lt;Mrbound'&lt;Mr+3,</a:t>
            </a:r>
            <a:r>
              <a:rPr lang="zh-CN" altLang="en-US">
                <a:sym typeface="+mn-ea"/>
              </a:rPr>
              <a:t>我们将</a:t>
            </a:r>
            <a:r>
              <a:rPr lang="en-US" altLang="zh-CN">
                <a:sym typeface="+mn-ea"/>
              </a:rPr>
              <a:t>Mrbound ++,</a:t>
            </a:r>
            <a:r>
              <a:rPr lang="zh-CN" altLang="en-US">
                <a:sym typeface="+mn-ea"/>
              </a:rPr>
              <a:t>重复</a:t>
            </a:r>
            <a:r>
              <a:rPr lang="en-US" altLang="zh-CN">
                <a:sym typeface="+mn-ea"/>
              </a:rPr>
              <a:t>Inner-MILP</a:t>
            </a:r>
            <a:r>
              <a:rPr lang="zh-CN" altLang="en-US">
                <a:sym typeface="+mn-ea"/>
              </a:rPr>
              <a:t>的步骤</a:t>
            </a:r>
            <a:r>
              <a:rPr lang="en-US" altLang="zh-CN">
                <a:sym typeface="+mn-ea"/>
              </a:rPr>
              <a:t>.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Mrbound'&gt;=Mr+3,</a:t>
            </a:r>
            <a:r>
              <a:rPr lang="zh-CN" altLang="en-US">
                <a:sym typeface="+mn-ea"/>
              </a:rPr>
              <a:t>返回</a:t>
            </a:r>
            <a:r>
              <a:rPr lang="en-US" altLang="zh-CN">
                <a:sym typeface="+mn-ea"/>
              </a:rPr>
              <a:t>MPr</a:t>
            </a:r>
            <a:r>
              <a:rPr lang="zh-CN" altLang="en-US">
                <a:sym typeface="+mn-ea"/>
              </a:rPr>
              <a:t>和差分路径</a:t>
            </a:r>
            <a:r>
              <a:rPr lang="en-US" altLang="zh-CN">
                <a:sym typeface="+mn-ea"/>
              </a:rPr>
              <a:t>x.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900" y="1052513"/>
            <a:ext cx="2745317" cy="50736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1052513"/>
            <a:ext cx="8039100" cy="5073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24417" y="1052513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2276475"/>
            <a:ext cx="10972800" cy="38496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2E0849-B9AF-41D7-8D97-67F4EAA285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6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6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4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75.xml"/><Relationship Id="rId7" Type="http://schemas.openxmlformats.org/officeDocument/2006/relationships/image" Target="../media/image19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17.wmf"/><Relationship Id="rId2" Type="http://schemas.openxmlformats.org/officeDocument/2006/relationships/oleObject" Target="../embeddings/oleObject2.bin"/><Relationship Id="rId10" Type="http://schemas.openxmlformats.org/officeDocument/2006/relationships/vmlDrawing" Target="../drawings/vmlDrawing2.v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6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10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600" dirty="0"/>
            </a:fld>
            <a:endParaRPr lang="en-US" altLang="zh-CN" sz="1600" dirty="0"/>
          </a:p>
        </p:txBody>
      </p:sp>
      <p:sp>
        <p:nvSpPr>
          <p:cNvPr id="2" name="标题 1"/>
          <p:cNvSpPr/>
          <p:nvPr>
            <p:ph type="ctrTitle"/>
          </p:nvPr>
        </p:nvSpPr>
        <p:spPr>
          <a:xfrm>
            <a:off x="1524000" y="2005013"/>
            <a:ext cx="9144000" cy="2387600"/>
          </a:xfrm>
        </p:spPr>
        <p:txBody>
          <a:bodyPr/>
          <a:p>
            <a:r>
              <a:rPr lang="zh-CN" altLang="zh-CN" sz="3600">
                <a:sym typeface="+mn-ea"/>
              </a:rPr>
              <a:t>MILP-based Differential Attack on</a:t>
            </a:r>
            <a:br>
              <a:rPr lang="zh-CN" altLang="zh-CN" sz="3600">
                <a:sym typeface="+mn-ea"/>
              </a:rPr>
            </a:br>
            <a:r>
              <a:rPr lang="zh-CN" altLang="zh-CN" sz="3600">
                <a:sym typeface="+mn-ea"/>
              </a:rPr>
              <a:t>Round-reduced GIFT</a:t>
            </a:r>
            <a:br>
              <a:rPr lang="zh-CN" altLang="zh-CN" sz="3600"/>
            </a:br>
            <a:r>
              <a:rPr lang="zh-CN" altLang="zh-CN" sz="1600" b="0"/>
              <a:t>Baoyu Zhu1, Xiaoyang Dong2, and Hongbo Yu1,3</a:t>
            </a:r>
            <a:br>
              <a:rPr lang="zh-CN" altLang="zh-CN" sz="1600" b="0"/>
            </a:br>
            <a:r>
              <a:rPr lang="en-US" altLang="zh-CN" sz="1600" b="0"/>
              <a:t>2019/2/3</a:t>
            </a:r>
            <a:endParaRPr lang="en-US" altLang="zh-CN" sz="1600" b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/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r>
              <a:rPr lang="zh-CN" altLang="en-US" sz="3555"/>
              <a:t>关于</a:t>
            </a:r>
            <a:r>
              <a:rPr lang="en-US" altLang="zh-CN" sz="3555"/>
              <a:t>GIFT</a:t>
            </a:r>
            <a:r>
              <a:rPr sz="3555"/>
              <a:t>算法</a:t>
            </a:r>
            <a:endParaRPr sz="355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7715" y="1707515"/>
            <a:ext cx="1065657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FT算法采用SPN结构进行设计，其设计理念与PRESENT算法类似，是由设计者为纪念PRESENT算法间世十周年推出了一种新的轻量级分组密码算法。与PRESENT相比，GIFT算法的S盒不再受分支数为3的限制，且在算法的实现效率方面更优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GIFT算法根据分组规模不同，分为GIFT-64和GIFT-128两种，块长度分别为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64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比特和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128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比特，加密轮数分别为28轮和40轮，所使用的密钥量均为128比特。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GIFT-64算法的一轮轮函数顺序执行如下三个运算: S盒变换、比特置换、密钥加变换。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67715" y="466725"/>
            <a:ext cx="10356215" cy="705485"/>
          </a:xfrm>
        </p:spPr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en-US" altLang="zh-CN" sz="3600"/>
              <a:t>1.算法简介</a:t>
            </a:r>
            <a:endParaRPr lang="en-US" altLang="zh-CN" sz="36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070" y="1140460"/>
            <a:ext cx="9293225" cy="45770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1354455"/>
            <a:ext cx="4833620" cy="15862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640" y="1354455"/>
            <a:ext cx="5993765" cy="50495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70330" y="2940685"/>
            <a:ext cx="2562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GIFT-6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算法的比特S盒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7685" y="782955"/>
            <a:ext cx="4406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a) S盒变换。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5640" y="782955"/>
            <a:ext cx="6329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b) 比特置换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93725" y="490855"/>
            <a:ext cx="1091565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c) 密钥加变换。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轮密钥加：通过密钥调度算法生成32bits轮密钥RK，将轮密钥划分为U,V两部分(16 bits)，将U,V两部分分别与密文状态值进行异或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+mn-ea"/>
              <a:cs typeface="+mn-ea"/>
            </a:endParaRPr>
          </a:p>
          <a:p>
            <a:r>
              <a:rPr lang="en-US" altLang="zh-CN" sz="2000">
                <a:latin typeface="+mn-ea"/>
                <a:cs typeface="+mn-ea"/>
              </a:rPr>
              <a:t>		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对于GIFT-64: 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	对于GIFT-128：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		密钥状态的更新方式如下（轮密钥生成在密钥状态更新之前）：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	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	轮常数加：将单比特“1”和一个6比特常数C = c5c4c3c2c1c0（初始为0）分别与密文状态值的第n-1(GIFT-64取63，GIFT128取127),23,19,15,11,7,3个比特进行异或。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2920" y="1605915"/>
            <a:ext cx="4842510" cy="7340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2499995"/>
            <a:ext cx="4806315" cy="654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300" y="3672205"/>
            <a:ext cx="5544820" cy="514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430" y="5091430"/>
            <a:ext cx="3721735" cy="9486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580" y="5091430"/>
            <a:ext cx="4999990" cy="4019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70420" y="5493385"/>
            <a:ext cx="2120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轮常数更新方式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3555"/>
              <a:t> MILP-based Model to Search Differential</a:t>
            </a:r>
            <a:br>
              <a:rPr lang="zh-CN" altLang="en-US" sz="3555"/>
            </a:br>
            <a:r>
              <a:rPr lang="zh-CN" altLang="en-US" sz="3555"/>
              <a:t>Characteristic For GIFT-64</a:t>
            </a:r>
            <a:endParaRPr lang="zh-CN" altLang="en-US" sz="3555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74720" y="258515"/>
            <a:ext cx="10969200" cy="705600"/>
          </a:xfrm>
        </p:spPr>
        <p:txBody>
          <a:bodyPr/>
          <a:p>
            <a:r>
              <a:rPr lang="en-US" altLang="zh-CN"/>
              <a:t>1.Two-stage search strategy</a:t>
            </a:r>
            <a:endParaRPr lang="en-US" altLang="zh-CN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290" y="1190625"/>
            <a:ext cx="7489825" cy="5168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1327785" y="2140585"/>
            <a:ext cx="1706880" cy="10769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435475" y="2315845"/>
            <a:ext cx="815340" cy="725805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3515995" y="1310640"/>
            <a:ext cx="1734820" cy="7061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 </a:t>
            </a:r>
            <a:r>
              <a:rPr lang="zh-CN" altLang="en-US">
                <a:solidFill>
                  <a:schemeClr val="tx1"/>
                </a:solidFill>
              </a:rPr>
              <a:t>Mrbound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>
            <a:stCxn id="6" idx="0"/>
            <a:endCxn id="7" idx="4"/>
          </p:cNvCxnSpPr>
          <p:nvPr/>
        </p:nvCxnSpPr>
        <p:spPr>
          <a:xfrm flipH="1" flipV="1">
            <a:off x="4383405" y="2016760"/>
            <a:ext cx="459740" cy="29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6713220" y="2141220"/>
            <a:ext cx="1723390" cy="1076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770110" y="2316480"/>
            <a:ext cx="800100" cy="72517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x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832975" y="1607185"/>
            <a:ext cx="673735" cy="4095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5" name="直接连接符 14"/>
          <p:cNvCxnSpPr>
            <a:stCxn id="13" idx="0"/>
            <a:endCxn id="14" idx="4"/>
          </p:cNvCxnSpPr>
          <p:nvPr/>
        </p:nvCxnSpPr>
        <p:spPr>
          <a:xfrm flipV="1">
            <a:off x="10170160" y="2016760"/>
            <a:ext cx="0" cy="299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560195" y="2673985"/>
            <a:ext cx="75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M1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6908800" y="2673350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M2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1327785" y="3534410"/>
            <a:ext cx="2085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Outer-MILP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6713220" y="3534410"/>
            <a:ext cx="252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Inner-MILP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1327785" y="4095115"/>
            <a:ext cx="1706880" cy="14014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091690" y="4432935"/>
            <a:ext cx="815340" cy="725805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2" name="乘号 21"/>
          <p:cNvSpPr/>
          <p:nvPr/>
        </p:nvSpPr>
        <p:spPr>
          <a:xfrm>
            <a:off x="2207260" y="4095115"/>
            <a:ext cx="584200" cy="566420"/>
          </a:xfrm>
          <a:prstGeom prst="mathMultiply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448435" y="4885055"/>
            <a:ext cx="75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M1</a:t>
            </a:r>
            <a:endParaRPr lang="en-US" altLang="zh-CN"/>
          </a:p>
        </p:txBody>
      </p:sp>
      <p:sp>
        <p:nvSpPr>
          <p:cNvPr id="24" name="右箭头 23"/>
          <p:cNvSpPr/>
          <p:nvPr/>
        </p:nvSpPr>
        <p:spPr>
          <a:xfrm>
            <a:off x="3108960" y="2597785"/>
            <a:ext cx="1201420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5476875" y="2615565"/>
            <a:ext cx="1113155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8647430" y="2615565"/>
            <a:ext cx="1059815" cy="176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872865" y="4438650"/>
            <a:ext cx="815340" cy="725805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TD'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3108960" y="4665345"/>
            <a:ext cx="618490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3413125" y="5496560"/>
            <a:ext cx="1734820" cy="7061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 </a:t>
            </a:r>
            <a:r>
              <a:rPr lang="zh-CN" altLang="en-US">
                <a:solidFill>
                  <a:schemeClr val="tx1"/>
                </a:solidFill>
              </a:rPr>
              <a:t>Mrbound</a:t>
            </a:r>
            <a:r>
              <a:rPr lang="en-US" altLang="zh-CN">
                <a:solidFill>
                  <a:schemeClr val="tx1"/>
                </a:solidFill>
              </a:rPr>
              <a:t>'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2" name="直接连接符 31"/>
          <p:cNvCxnSpPr>
            <a:stCxn id="27" idx="4"/>
            <a:endCxn id="31" idx="0"/>
          </p:cNvCxnSpPr>
          <p:nvPr/>
        </p:nvCxnSpPr>
        <p:spPr>
          <a:xfrm>
            <a:off x="4280535" y="5164455"/>
            <a:ext cx="0" cy="332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菱形 33"/>
          <p:cNvSpPr/>
          <p:nvPr/>
        </p:nvSpPr>
        <p:spPr>
          <a:xfrm>
            <a:off x="9047480" y="248285"/>
            <a:ext cx="2190115" cy="916940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Pr&gt;MPr?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0161270" y="1164590"/>
            <a:ext cx="16510" cy="442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6802120" y="397510"/>
            <a:ext cx="1343025" cy="6184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MPr = Pr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7" name="直接连接符 36"/>
          <p:cNvCxnSpPr>
            <a:stCxn id="34" idx="1"/>
            <a:endCxn id="36" idx="3"/>
          </p:cNvCxnSpPr>
          <p:nvPr/>
        </p:nvCxnSpPr>
        <p:spPr>
          <a:xfrm flipH="1">
            <a:off x="8145145" y="706755"/>
            <a:ext cx="9023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3331845" y="353695"/>
            <a:ext cx="2102485" cy="5124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Mr=Mrbound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9" name="直接连接符 38"/>
          <p:cNvCxnSpPr>
            <a:stCxn id="38" idx="2"/>
            <a:endCxn id="7" idx="0"/>
          </p:cNvCxnSpPr>
          <p:nvPr/>
        </p:nvCxnSpPr>
        <p:spPr>
          <a:xfrm>
            <a:off x="4383405" y="866140"/>
            <a:ext cx="0" cy="444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单圆角矩形 45"/>
          <p:cNvSpPr/>
          <p:nvPr/>
        </p:nvSpPr>
        <p:spPr>
          <a:xfrm>
            <a:off x="5583555" y="4095115"/>
            <a:ext cx="2084705" cy="725170"/>
          </a:xfrm>
          <a:prstGeom prst="round1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TD'</a:t>
            </a:r>
            <a:r>
              <a:rPr lang="zh-CN" altLang="en-US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存在且</a:t>
            </a:r>
            <a:r>
              <a:rPr lang="en-US" altLang="zh-CN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Mrbound' == Mr    </a:t>
            </a:r>
            <a:endParaRPr lang="en-US" altLang="zh-CN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</p:txBody>
      </p:sp>
      <p:cxnSp>
        <p:nvCxnSpPr>
          <p:cNvPr id="47" name="肘形连接符 46"/>
          <p:cNvCxnSpPr>
            <a:stCxn id="46" idx="0"/>
            <a:endCxn id="12" idx="2"/>
          </p:cNvCxnSpPr>
          <p:nvPr/>
        </p:nvCxnSpPr>
        <p:spPr>
          <a:xfrm rot="16200000">
            <a:off x="6661785" y="3181985"/>
            <a:ext cx="877570" cy="948690"/>
          </a:xfrm>
          <a:prstGeom prst="bentConnector3">
            <a:avLst>
              <a:gd name="adj1" fmla="val 6208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单圆角矩形 47"/>
          <p:cNvSpPr/>
          <p:nvPr/>
        </p:nvSpPr>
        <p:spPr>
          <a:xfrm>
            <a:off x="5583555" y="4959350"/>
            <a:ext cx="2915920" cy="742315"/>
          </a:xfrm>
          <a:prstGeom prst="round1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TD‘</a:t>
            </a:r>
            <a:r>
              <a:rPr lang="zh-CN" altLang="en-US">
                <a:solidFill>
                  <a:schemeClr val="tx1"/>
                </a:solidFill>
              </a:rPr>
              <a:t>存在且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Mr &lt; Mrbound' &lt; Mr+3</a:t>
            </a:r>
            <a:endParaRPr lang="en-US" altLang="zh-CN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</p:txBody>
      </p:sp>
      <p:sp>
        <p:nvSpPr>
          <p:cNvPr id="49" name="单圆角矩形 48"/>
          <p:cNvSpPr/>
          <p:nvPr/>
        </p:nvSpPr>
        <p:spPr>
          <a:xfrm>
            <a:off x="5600700" y="5849620"/>
            <a:ext cx="2915285" cy="741680"/>
          </a:xfrm>
          <a:prstGeom prst="round1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TD</a:t>
            </a:r>
            <a:r>
              <a:rPr lang="zh-CN" altLang="en-US">
                <a:solidFill>
                  <a:schemeClr val="tx1"/>
                </a:solidFill>
              </a:rPr>
              <a:t>不存在或</a:t>
            </a:r>
            <a:r>
              <a:rPr lang="zh-CN" altLang="en-US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Mrbound'&gt;=Mr + 3</a:t>
            </a:r>
            <a:endParaRPr lang="en-US" altLang="zh-CN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</p:txBody>
      </p:sp>
      <p:cxnSp>
        <p:nvCxnSpPr>
          <p:cNvPr id="50" name="直接连接符 49"/>
          <p:cNvCxnSpPr>
            <a:stCxn id="27" idx="6"/>
          </p:cNvCxnSpPr>
          <p:nvPr/>
        </p:nvCxnSpPr>
        <p:spPr>
          <a:xfrm flipV="1">
            <a:off x="4688205" y="4797425"/>
            <a:ext cx="544830" cy="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左中括号 50"/>
          <p:cNvSpPr/>
          <p:nvPr/>
        </p:nvSpPr>
        <p:spPr>
          <a:xfrm>
            <a:off x="5247005" y="4188460"/>
            <a:ext cx="335915" cy="224345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连接符 51"/>
          <p:cNvCxnSpPr>
            <a:endCxn id="48" idx="1"/>
          </p:cNvCxnSpPr>
          <p:nvPr/>
        </p:nvCxnSpPr>
        <p:spPr>
          <a:xfrm>
            <a:off x="5264785" y="5318760"/>
            <a:ext cx="318770" cy="12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9328785" y="5053965"/>
            <a:ext cx="1819910" cy="565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Mrbound++;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54" name="直接连接符 53"/>
          <p:cNvCxnSpPr>
            <a:stCxn id="48" idx="3"/>
            <a:endCxn id="53" idx="1"/>
          </p:cNvCxnSpPr>
          <p:nvPr/>
        </p:nvCxnSpPr>
        <p:spPr>
          <a:xfrm>
            <a:off x="8499475" y="5330825"/>
            <a:ext cx="829310" cy="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3" idx="0"/>
          </p:cNvCxnSpPr>
          <p:nvPr/>
        </p:nvCxnSpPr>
        <p:spPr>
          <a:xfrm flipH="1" flipV="1">
            <a:off x="7773670" y="3286760"/>
            <a:ext cx="2465070" cy="1767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9328785" y="5920105"/>
            <a:ext cx="1819910" cy="6007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返回</a:t>
            </a:r>
            <a:r>
              <a:rPr lang="en-US" altLang="zh-CN">
                <a:solidFill>
                  <a:schemeClr val="tx1"/>
                </a:solidFill>
              </a:rPr>
              <a:t>x&amp;MPr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1" name="直接连接符 60"/>
          <p:cNvCxnSpPr>
            <a:stCxn id="49" idx="3"/>
            <a:endCxn id="60" idx="1"/>
          </p:cNvCxnSpPr>
          <p:nvPr/>
        </p:nvCxnSpPr>
        <p:spPr>
          <a:xfrm>
            <a:off x="8515985" y="6220460"/>
            <a:ext cx="812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/>
        </p:nvSpPr>
        <p:spPr>
          <a:xfrm>
            <a:off x="374720" y="258515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/>
              <a:t>2.Search for Differentials of GIFT-64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94030" y="1069975"/>
            <a:ext cx="112198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1）在Outer-MILP中，由GIFT-64的差分分布表计算凸包的H表达。在众多不等式中筛选出最优的不等式进行建模，去找S盒的下界。目标函数：minimize active S-boxes。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65" y="2461895"/>
            <a:ext cx="2980690" cy="353123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3779520" y="1919605"/>
            <a:ext cx="2510790" cy="46462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( 3, 1,-1,-1, 2, 3, 1,-1, 0,-3,-2,-1, 2, 1,-1,-2,-1, 7,-1,-1, 2,-1,-2, 2, 2,-1, 4,-1, 2, 0, 0, 2,-1, 2, 1, 0, 2, 3, 3, 2,-1,-1, 1,-1, 0,-1, 1, 0,-1,-1, 0,-1,-1, 4,-1,-1,-2,-2,-1,-2, 2,-1, 8, 2,-1,-1, 2, 0, 0, 2, 1, 0, 1,-1,-1,-1, 0,-1,-1, 0, 4, 1,-2, 0, 0, 2, 1, 2, 1, 0,-2,-1,-2,-1,-2, 2,-1, 2, 7,-1,-2, 0,-1, 2,-1,-1,-1, 5, 2, 1, 3, 2,-1,-1,-1, 1, 0, 3, 2, 0,-1, 3, 2,-1,-1, 0, 0, 3,-1,-1, 2, 3,-1, 3, 0,-1, 1,-3, 2,-1, 0,-3,-3, 8, 2,-1, 1, 1, 1,-1, 0, 2, 0,-2,-1, 2,-2,-1,-2,-1, 2, 7, 1,-1, 1, 0,-1, 1,-1, 0, 2,-1,-1, 1, 1, 0, 0, 0,-1, 2,-2, 2, 1, 2, 0, 0, 1, 1, 0,)    </a:t>
            </a:r>
            <a:endParaRPr lang="en-US" sz="1200" b="1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altLang="zh-CN" sz="20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筛选出来的不等式</a:t>
            </a:r>
            <a:endParaRPr lang="en-US" altLang="zh-CN" sz="20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0310" y="2313940"/>
            <a:ext cx="55822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形如：</a:t>
            </a:r>
            <a:endParaRPr lang="zh-CN" altLang="en-US"/>
          </a:p>
          <a:p>
            <a:r>
              <a:rPr lang="en-US" altLang="zh-CN"/>
              <a:t>3 x3 + x2 - x1 - x0 + 2 y3 + 3 y2 + y1 - y0 &gt;= 0</a:t>
            </a:r>
            <a:endParaRPr lang="en-US" altLang="zh-CN"/>
          </a:p>
          <a:p>
            <a:r>
              <a:rPr lang="en-US" altLang="zh-CN"/>
              <a:t> - 3 x3 - 2 x2 - x1 + 2 x0 +  y3 - y2 - 2y1 - y0 &gt;= -7</a:t>
            </a:r>
            <a:endParaRPr lang="en-US" altLang="zh-CN"/>
          </a:p>
          <a:p>
            <a:r>
              <a:rPr lang="en-US" altLang="zh-CN"/>
              <a:t> - x3 - x2 + 2 x1 - x0 - 2 y3 + 2 y2 + 2 y1 - y0 &gt;= -4</a:t>
            </a:r>
            <a:endParaRPr lang="en-US" altLang="zh-CN"/>
          </a:p>
          <a:p>
            <a:r>
              <a:rPr lang="en-US" altLang="zh-CN"/>
              <a:t>.............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412865" y="3790315"/>
            <a:ext cx="589978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参考文献：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Automatic Security Evaluation and (Related-key) Differential Characteristic Search: Application to SIMON, PRESENT, LBlock, DES(L) and Other Bit-oriented Block Ciphers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孙思维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New Algorithm for Modeling S-box in MILP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Based Differential and Division Trail Search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Sasaki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剪去单角的矩形 6"/>
          <p:cNvSpPr/>
          <p:nvPr/>
        </p:nvSpPr>
        <p:spPr>
          <a:xfrm>
            <a:off x="6412865" y="3790315"/>
            <a:ext cx="5618480" cy="2827655"/>
          </a:xfrm>
          <a:prstGeom prst="snip1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/>
        </p:nvSpPr>
        <p:spPr>
          <a:xfrm>
            <a:off x="374720" y="258515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en-US" altLang="zh-CN"/>
              <a:t>2.Search for Differentials of GIFT-64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94030" y="1069975"/>
            <a:ext cx="112198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2）在Inner-MILP中，将差分的概率信息封装在S盒的凸包中，进行建模去找高概率差分路径。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2000"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1776730"/>
            <a:ext cx="9671050" cy="1833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4385" y="3878580"/>
            <a:ext cx="286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目标函数：</a:t>
            </a:r>
            <a:endParaRPr lang="zh-CN" altLang="en-US"/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19935" y="3794760"/>
          <a:ext cx="465963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917065" imgH="254000" progId="Equation.KSEE3">
                  <p:embed/>
                </p:oleObj>
              </mc:Choice>
              <mc:Fallback>
                <p:oleObj name="" r:id="rId2" imgW="1917065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9935" y="3794760"/>
                        <a:ext cx="4659630" cy="535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剪去单角的矩形 8"/>
          <p:cNvSpPr/>
          <p:nvPr/>
        </p:nvSpPr>
        <p:spPr>
          <a:xfrm>
            <a:off x="4545965" y="4648200"/>
            <a:ext cx="7463790" cy="1684655"/>
          </a:xfrm>
          <a:prstGeom prst="snip1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627245" y="4746625"/>
            <a:ext cx="90436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Towards Finding the Best Characteristics of Some Bit-oriented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 Ciphers and Automatic Enumeration of (Related-key)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Differential and Linear Characteristics with Predefined Properties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孙思维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3555"/>
              <a:t>Improved MILP-based Method to Find Differential for</a:t>
            </a:r>
            <a:br>
              <a:rPr lang="zh-CN" altLang="en-US" sz="3555"/>
            </a:br>
            <a:r>
              <a:rPr lang="zh-CN" altLang="en-US" sz="3555"/>
              <a:t>GIFT-128</a:t>
            </a:r>
            <a:endParaRPr lang="zh-CN" altLang="en-US" sz="3555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1575" y="557600"/>
            <a:ext cx="10969200" cy="705600"/>
          </a:xfrm>
        </p:spPr>
        <p:txBody>
          <a:bodyPr/>
          <a:p>
            <a:r>
              <a:rPr lang="en-US" altLang="zh-CN"/>
              <a:t> 1.a segmented MILP-based method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1796415"/>
            <a:ext cx="10570845" cy="2399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95450" y="4797425"/>
            <a:ext cx="91173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将r轮密码分成t段，为每一段选择一个概率阈值，确保每一段的差分概率大于相应的阈值；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选择一个r轮的差分概率阈值Ptarget；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如果t段差分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概率的乘积大于Ptarget，保留该解决方案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</a:t>
            </a:r>
            <a:r>
              <a:rPr lang="zh-CN" altLang="en-US"/>
              <a:t>如何连接？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935" y="1783080"/>
            <a:ext cx="5859145" cy="22993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2320" y="4524375"/>
            <a:ext cx="88588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将前一段的差分路径Di-1的输出作为后一段的输入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如果有可行的解决方案，两段接上，继续往后；否则，将该差分路径从前一段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MILP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模型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中移除，找新的差分路径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，重复（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）；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）直至所有分段连接成为一条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r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轮的差分路径，搜索结束。</a:t>
            </a:r>
            <a:endParaRPr lang="zh-CN" altLang="en-US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443935"/>
            <a:ext cx="10969200" cy="705600"/>
          </a:xfrm>
        </p:spPr>
        <p:txBody>
          <a:bodyPr/>
          <a:p>
            <a:r>
              <a:rPr lang="en-US" altLang="zh-CN"/>
              <a:t>3.Application to GIFT-128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720" y="2809240"/>
            <a:ext cx="7783195" cy="23152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0260" y="1343660"/>
            <a:ext cx="10770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子密码段长度的选择：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 &lt;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ri &lt; 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  (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太小这个子密码段没有意义，太长花费时间过长</a:t>
            </a:r>
            <a:r>
              <a:rPr lang="en-US" altLang="zh-CN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endParaRPr lang="en-US" altLang="zh-CN" sz="2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6945" y="1742440"/>
          <a:ext cx="1350645" cy="48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673100" imgH="241300" progId="Equation.KSEE3">
                  <p:embed/>
                </p:oleObj>
              </mc:Choice>
              <mc:Fallback>
                <p:oleObj name="" r:id="rId2" imgW="6731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6945" y="1742440"/>
                        <a:ext cx="1350645" cy="48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69223" y="1742440"/>
          <a:ext cx="1376680" cy="48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685800" imgH="241300" progId="Equation.KSEE3">
                  <p:embed/>
                </p:oleObj>
              </mc:Choice>
              <mc:Fallback>
                <p:oleObj name="" r:id="rId4" imgW="6858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9223" y="1742440"/>
                        <a:ext cx="1376680" cy="48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91990" y="1742440"/>
          <a:ext cx="1350645" cy="48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" imgW="673100" imgH="241300" progId="Equation.KSEE3">
                  <p:embed/>
                </p:oleObj>
              </mc:Choice>
              <mc:Fallback>
                <p:oleObj name="" r:id="rId6" imgW="673100" imgH="2413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91990" y="1742440"/>
                        <a:ext cx="1350645" cy="484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245" y="996950"/>
            <a:ext cx="4869180" cy="391287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434410" y="29153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r>
              <a:rPr lang="en-US" altLang="zh-CN"/>
              <a:t>3.Application to GIFT-128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5118735"/>
            <a:ext cx="9017635" cy="15373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</Words>
  <Application>WPS 演示</Application>
  <PresentationFormat>宽屏</PresentationFormat>
  <Paragraphs>159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楷体</vt:lpstr>
      <vt:lpstr>Segoe UI</vt:lpstr>
      <vt:lpstr>Calibri</vt:lpstr>
      <vt:lpstr>Times New Roman</vt:lpstr>
      <vt:lpstr>Arial Unicode MS</vt:lpstr>
      <vt:lpstr>Office 主题​​</vt:lpstr>
      <vt:lpstr>默认设计模板</vt:lpstr>
      <vt:lpstr>Equation.KSEE3</vt:lpstr>
      <vt:lpstr>Equation.KSEE3</vt:lpstr>
      <vt:lpstr>Equation.KSEE3</vt:lpstr>
      <vt:lpstr>Equation.KSEE3</vt:lpstr>
      <vt:lpstr>MILP-based Differential Attack on Round-reduced GIFT Baoyu Zhu1, Xiaoyang Dong2, and Hongbo Yu1,3 2019/2/3</vt:lpstr>
      <vt:lpstr>PowerPoint 演示文稿</vt:lpstr>
      <vt:lpstr>1.算法简介</vt:lpstr>
      <vt:lpstr>PowerPoint 演示文稿</vt:lpstr>
      <vt:lpstr>PowerPoint 演示文稿</vt:lpstr>
      <vt:lpstr>PowerPoint 演示文稿</vt:lpstr>
      <vt:lpstr> MILP-based Model to Search Differential Characteristic For GIFT-64</vt:lpstr>
      <vt:lpstr>1.Two-stage search strategy</vt:lpstr>
      <vt:lpstr>PowerPoint 演示文稿</vt:lpstr>
      <vt:lpstr>PowerPoint 演示文稿</vt:lpstr>
      <vt:lpstr>PowerPoint 演示文稿</vt:lpstr>
      <vt:lpstr>Improved MILP-based Method to Find Differential for GIFT-128</vt:lpstr>
      <vt:lpstr> 1.a segmented MILP-based method</vt:lpstr>
      <vt:lpstr>2.如何连接？</vt:lpstr>
      <vt:lpstr>3.Application to GIFT-128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Tangerine</cp:lastModifiedBy>
  <cp:revision>227</cp:revision>
  <dcterms:created xsi:type="dcterms:W3CDTF">2019-06-19T02:08:00Z</dcterms:created>
  <dcterms:modified xsi:type="dcterms:W3CDTF">2020-11-21T11:16:37Z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