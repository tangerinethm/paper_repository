
<file path=[Content_Types].xml><?xml version="1.0" encoding="utf-8"?>
<Types xmlns="http://schemas.openxmlformats.org/package/2006/content-types">
  <Default Extension="vml" ContentType="application/vnd.openxmlformats-officedocument.vmlDrawing"/>
  <Default Extension="bin" ContentType="application/vnd.openxmlformats-officedocument.oleObject"/>
  <Default Extension="jpeg" ContentType="image/jpeg"/>
  <Default Extension="png" ContentType="image/png"/>
  <Default Extension="wmf" ContentType="image/x-w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3"/>
  </p:sldMasterIdLst>
  <p:notesMasterIdLst>
    <p:notesMasterId r:id="rId5"/>
  </p:notesMasterIdLst>
  <p:sldIdLst>
    <p:sldId id="422" r:id="rId4"/>
    <p:sldId id="438" r:id="rId6"/>
    <p:sldId id="410" r:id="rId7"/>
    <p:sldId id="413" r:id="rId8"/>
    <p:sldId id="415" r:id="rId9"/>
    <p:sldId id="419" r:id="rId10"/>
    <p:sldId id="411" r:id="rId11"/>
    <p:sldId id="414" r:id="rId12"/>
    <p:sldId id="430" r:id="rId13"/>
    <p:sldId id="434" r:id="rId14"/>
    <p:sldId id="435" r:id="rId15"/>
    <p:sldId id="412" r:id="rId16"/>
    <p:sldId id="432" r:id="rId17"/>
    <p:sldId id="433" r:id="rId18"/>
    <p:sldId id="436" r:id="rId19"/>
    <p:sldId id="437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EA904F4C-7F45-4D80-9071-3ED007CEC816}">
          <p14:sldIdLst>
            <p14:sldId id="422"/>
          </p14:sldIdLst>
        </p14:section>
        <p14:section name="无标题节" id="{A76ACA00-FA9A-42DA-826C-D332F048F483}">
          <p14:sldIdLst>
            <p14:sldId id="438"/>
            <p14:sldId id="410"/>
            <p14:sldId id="413"/>
            <p14:sldId id="415"/>
            <p14:sldId id="419"/>
          </p14:sldIdLst>
        </p14:section>
        <p14:section name="无标题节" id="{C91CD970-B489-47AF-BC73-40A1C477DEE6}">
          <p14:sldIdLst>
            <p14:sldId id="411"/>
            <p14:sldId id="414"/>
            <p14:sldId id="430"/>
            <p14:sldId id="434"/>
            <p14:sldId id="435"/>
          </p14:sldIdLst>
        </p14:section>
        <p14:section name="无标题节" id="{CEB29E79-7407-4581-A9DC-57DF63C5B763}">
          <p14:sldIdLst>
            <p14:sldId id="412"/>
            <p14:sldId id="432"/>
            <p14:sldId id="433"/>
            <p14:sldId id="436"/>
            <p14:sldId id="437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D9D9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>
      <p:cViewPr varScale="1">
        <p:scale>
          <a:sx n="86" d="100"/>
          <a:sy n="86" d="100"/>
        </p:scale>
        <p:origin x="614" y="62"/>
      </p:cViewPr>
      <p:guideLst>
        <p:guide orient="horz" pos="2142"/>
        <p:guide pos="389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5.xml"/><Relationship Id="rId8" Type="http://schemas.openxmlformats.org/officeDocument/2006/relationships/slide" Target="slides/slide4.xml"/><Relationship Id="rId7" Type="http://schemas.openxmlformats.org/officeDocument/2006/relationships/slide" Target="slides/slide3.xml"/><Relationship Id="rId6" Type="http://schemas.openxmlformats.org/officeDocument/2006/relationships/slide" Target="slides/slide2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3" Type="http://schemas.openxmlformats.org/officeDocument/2006/relationships/slideMaster" Target="slideMasters/slideMaster2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6.xml"/><Relationship Id="rId2" Type="http://schemas.openxmlformats.org/officeDocument/2006/relationships/theme" Target="theme/theme1.xml"/><Relationship Id="rId19" Type="http://schemas.openxmlformats.org/officeDocument/2006/relationships/slide" Target="slides/slide15.xml"/><Relationship Id="rId18" Type="http://schemas.openxmlformats.org/officeDocument/2006/relationships/slide" Target="slides/slide14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" Type="http://schemas.openxmlformats.org/officeDocument/2006/relationships/slideMaster" Target="slideMasters/slideMaster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3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18.wmf"/><Relationship Id="rId2" Type="http://schemas.openxmlformats.org/officeDocument/2006/relationships/image" Target="../media/image17.wmf"/><Relationship Id="rId1" Type="http://schemas.openxmlformats.org/officeDocument/2006/relationships/image" Target="../media/image16.wmf"/></Relationships>
</file>

<file path=ppt/drawings/_rels/vmlDrawing3.vml.rels><?xml version="1.0" encoding="UTF-8" standalone="yes"?>
<Relationships xmlns="http://schemas.openxmlformats.org/package/2006/relationships"><Relationship Id="rId3" Type="http://schemas.openxmlformats.org/officeDocument/2006/relationships/image" Target="../media/image22.wmf"/><Relationship Id="rId2" Type="http://schemas.openxmlformats.org/officeDocument/2006/relationships/image" Target="../media/image21.wmf"/><Relationship Id="rId1" Type="http://schemas.openxmlformats.org/officeDocument/2006/relationships/image" Target="../media/image20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1" name="幻灯片图像占位符 1"/>
          <p:cNvSpPr>
            <a:spLocks noGrp="1" noRot="1" noChangeAspect="1" noTextEdit="1"/>
          </p:cNvSpPr>
          <p:nvPr>
            <p:ph type="sldImg"/>
          </p:nvPr>
        </p:nvSpPr>
        <p:spPr>
          <a:ln>
            <a:solidFill>
              <a:srgbClr val="000000"/>
            </a:solidFill>
            <a:miter/>
          </a:ln>
        </p:spPr>
      </p:sp>
      <p:sp>
        <p:nvSpPr>
          <p:cNvPr id="5122" name="备注占位符 2"/>
          <p:cNvSpPr>
            <a:spLocks noGrp="1"/>
          </p:cNvSpPr>
          <p:nvPr>
            <p:ph type="body"/>
          </p:nvPr>
        </p:nvSpPr>
        <p:spPr>
          <a:noFill/>
          <a:ln>
            <a:noFill/>
          </a:ln>
        </p:spPr>
        <p:txBody>
          <a:bodyPr wrap="square" lIns="91440" tIns="45720" rIns="91440" bIns="45720" anchor="t"/>
          <a:lstStyle/>
          <a:p>
            <a:pPr lvl="0"/>
            <a:endParaRPr lang="zh-CN" altLang="en-US" dirty="0"/>
          </a:p>
        </p:txBody>
      </p:sp>
      <p:sp>
        <p:nvSpPr>
          <p:cNvPr id="5123" name="灯片编号占位符 3"/>
          <p:cNvSpPr txBox="1">
            <a:spLocks noGrp="1"/>
          </p:cNvSpPr>
          <p:nvPr>
            <p:ph type="sldNum" sz="quarter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 w="9525">
            <a:noFill/>
          </a:ln>
        </p:spPr>
        <p:txBody>
          <a:bodyPr vert="horz" wrap="square" lIns="91440" tIns="45720" rIns="91440" bIns="45720" anchor="b"/>
          <a:lstStyle/>
          <a:p>
            <a:pPr lvl="0" algn="r" eaLnBrk="1" hangingPunct="1"/>
            <a:fld id="{9A0DB2DC-4C9A-4742-B13C-FB6460FD3503}" type="slidenum">
              <a:rPr lang="zh-CN" altLang="en-US" sz="1200" dirty="0"/>
            </a:fld>
            <a:endParaRPr lang="zh-CN" altLang="en-US" sz="1200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>
                <a:latin typeface="+mn-ea"/>
                <a:cs typeface="+mn-ea"/>
                <a:sym typeface="+mn-ea"/>
              </a:rPr>
              <a:t>GIFT算法的S盒变换是算法唯一的非线性环节，其由16个相同的4-bit可逆S盒并置而成，对算法状态值的每一半子节均进行作用，达到混乱的效果</a:t>
            </a:r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rPr lang="zh-CN" altLang="en-US"/>
              <a:t>在</a:t>
            </a:r>
            <a:r>
              <a:rPr lang="en-US" altLang="zh-CN"/>
              <a:t>two-stage</a:t>
            </a:r>
            <a:r>
              <a:rPr lang="zh-CN" altLang="en-US"/>
              <a:t>算法中，我们定义了两个模型，一个是</a:t>
            </a:r>
            <a:r>
              <a:rPr lang="en-US" altLang="zh-CN"/>
              <a:t>Outer-MILP,</a:t>
            </a:r>
            <a:r>
              <a:rPr lang="zh-CN" altLang="en-US"/>
              <a:t>另一个是</a:t>
            </a:r>
            <a:r>
              <a:rPr lang="en-US" altLang="zh-CN"/>
              <a:t>Inner-MILP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我们假设有一个</a:t>
            </a:r>
            <a:r>
              <a:rPr lang="en-US" altLang="zh-CN"/>
              <a:t>r</a:t>
            </a:r>
            <a:r>
              <a:rPr lang="zh-CN" altLang="en-US"/>
              <a:t>轮的分组密码，我们从</a:t>
            </a:r>
            <a:r>
              <a:rPr lang="en-US" altLang="zh-CN"/>
              <a:t>S</a:t>
            </a:r>
            <a:r>
              <a:rPr lang="zh-CN" altLang="en-US"/>
              <a:t>盒的凸包中已经筛选出了正确的不等式集合，</a:t>
            </a:r>
            <a:r>
              <a:rPr lang="en-US" altLang="zh-CN"/>
              <a:t>Mr</a:t>
            </a:r>
            <a:r>
              <a:rPr lang="zh-CN" altLang="en-US"/>
              <a:t>是</a:t>
            </a:r>
            <a:r>
              <a:rPr lang="en-US" altLang="zh-CN"/>
              <a:t>r</a:t>
            </a:r>
            <a:r>
              <a:rPr lang="zh-CN" altLang="en-US"/>
              <a:t>轮差分路径的</a:t>
            </a:r>
            <a:r>
              <a:rPr lang="en-US" altLang="zh-CN"/>
              <a:t>S</a:t>
            </a:r>
            <a:r>
              <a:rPr lang="zh-CN" altLang="en-US"/>
              <a:t>盒的下界。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首先，我们初始化</a:t>
            </a:r>
            <a:r>
              <a:rPr lang="en-US" altLang="zh-CN"/>
              <a:t>MPr = 2^-64</a:t>
            </a:r>
            <a:r>
              <a:rPr lang="zh-CN" altLang="en-US"/>
              <a:t>为该算法的差分概率</a:t>
            </a:r>
            <a:endParaRPr lang="zh-CN" altLang="en-US"/>
          </a:p>
          <a:p>
            <a:endParaRPr lang="zh-CN" altLang="en-US"/>
          </a:p>
          <a:p>
            <a:r>
              <a:rPr lang="zh-CN" altLang="en-US"/>
              <a:t>在</a:t>
            </a:r>
            <a:r>
              <a:rPr lang="en-US" altLang="zh-CN"/>
              <a:t>Outer-MILP</a:t>
            </a:r>
            <a:r>
              <a:rPr lang="zh-CN" altLang="en-US"/>
              <a:t>中，我们的目标是在可行域</a:t>
            </a:r>
            <a:r>
              <a:rPr lang="en-US" altLang="zh-CN"/>
              <a:t>M1</a:t>
            </a:r>
            <a:r>
              <a:rPr lang="zh-CN" altLang="en-US"/>
              <a:t>中找到一条截断差分路径</a:t>
            </a:r>
            <a:r>
              <a:rPr lang="en-US" altLang="zh-CN"/>
              <a:t>TD</a:t>
            </a:r>
            <a:r>
              <a:rPr lang="zh-CN" altLang="en-US"/>
              <a:t>，它的</a:t>
            </a:r>
            <a:r>
              <a:rPr lang="en-US" altLang="zh-CN"/>
              <a:t>S</a:t>
            </a:r>
            <a:r>
              <a:rPr lang="zh-CN" altLang="en-US"/>
              <a:t>盒是当前最小的为</a:t>
            </a:r>
            <a:r>
              <a:rPr lang="en-US" altLang="zh-CN"/>
              <a:t>Mrbound. Mr = </a:t>
            </a:r>
            <a:r>
              <a:rPr lang="en-US" altLang="zh-CN">
                <a:sym typeface="+mn-ea"/>
              </a:rPr>
              <a:t>Mrbound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在找到</a:t>
            </a:r>
            <a:r>
              <a:rPr lang="en-US" altLang="zh-CN"/>
              <a:t>TD</a:t>
            </a:r>
            <a:r>
              <a:rPr lang="zh-CN" altLang="en-US"/>
              <a:t>后，我们将</a:t>
            </a:r>
            <a:r>
              <a:rPr lang="en-US" altLang="zh-CN"/>
              <a:t>TD</a:t>
            </a:r>
            <a:r>
              <a:rPr lang="zh-CN" altLang="en-US"/>
              <a:t>作为一个约束条件加入</a:t>
            </a:r>
            <a:r>
              <a:rPr lang="en-US" altLang="zh-CN"/>
              <a:t>Inner-MILP</a:t>
            </a:r>
            <a:r>
              <a:rPr lang="zh-CN" altLang="en-US"/>
              <a:t>模型的可行域</a:t>
            </a:r>
            <a:r>
              <a:rPr lang="en-US" altLang="zh-CN"/>
              <a:t>M2</a:t>
            </a:r>
            <a:r>
              <a:rPr lang="zh-CN" altLang="en-US"/>
              <a:t>中，去找差分概率最大的差分路径</a:t>
            </a:r>
            <a:r>
              <a:rPr lang="en-US" altLang="zh-CN"/>
              <a:t>x</a:t>
            </a:r>
            <a:r>
              <a:rPr lang="zh-CN" altLang="en-US"/>
              <a:t>，概率记为</a:t>
            </a:r>
            <a:r>
              <a:rPr lang="en-US" altLang="zh-CN"/>
              <a:t>Pr</a:t>
            </a:r>
            <a:r>
              <a:rPr lang="zh-CN" altLang="en-US"/>
              <a:t>。如果</a:t>
            </a:r>
            <a:r>
              <a:rPr lang="en-US" altLang="zh-CN"/>
              <a:t>Pr</a:t>
            </a:r>
            <a:r>
              <a:rPr lang="zh-CN" altLang="en-US"/>
              <a:t>大于初始概率</a:t>
            </a:r>
            <a:r>
              <a:rPr lang="en-US" altLang="zh-CN"/>
              <a:t>MPr, </a:t>
            </a:r>
            <a:r>
              <a:rPr lang="zh-CN" altLang="en-US"/>
              <a:t>那么更新</a:t>
            </a:r>
            <a:r>
              <a:rPr lang="en-US" altLang="zh-CN"/>
              <a:t>MPr = Pr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然后，我们将</a:t>
            </a:r>
            <a:r>
              <a:rPr lang="en-US" altLang="zh-CN"/>
              <a:t>TD</a:t>
            </a:r>
            <a:r>
              <a:rPr lang="zh-CN" altLang="en-US"/>
              <a:t>从可行域</a:t>
            </a:r>
            <a:r>
              <a:rPr lang="en-US" altLang="zh-CN"/>
              <a:t>M1</a:t>
            </a:r>
            <a:r>
              <a:rPr lang="zh-CN" altLang="en-US"/>
              <a:t>中移除，重新找一条截断差分路径</a:t>
            </a:r>
            <a:r>
              <a:rPr lang="en-US" altLang="zh-CN"/>
              <a:t>TD'</a:t>
            </a:r>
            <a:r>
              <a:rPr lang="zh-CN" altLang="en-US"/>
              <a:t>，此时最小</a:t>
            </a:r>
            <a:r>
              <a:rPr lang="en-US" altLang="zh-CN"/>
              <a:t>S</a:t>
            </a:r>
            <a:r>
              <a:rPr lang="zh-CN" altLang="en-US"/>
              <a:t>盒为</a:t>
            </a:r>
            <a:r>
              <a:rPr lang="en-US" altLang="zh-CN"/>
              <a:t>Mrbound'</a:t>
            </a:r>
            <a:endParaRPr lang="en-US" altLang="zh-CN"/>
          </a:p>
          <a:p>
            <a:endParaRPr lang="en-US" altLang="zh-CN"/>
          </a:p>
          <a:p>
            <a:r>
              <a:rPr lang="zh-CN" altLang="en-US"/>
              <a:t>如果</a:t>
            </a:r>
            <a:r>
              <a:rPr lang="en-US" altLang="zh-CN">
                <a:sym typeface="+mn-ea"/>
              </a:rPr>
              <a:t>Mrbound' = Mr</a:t>
            </a:r>
            <a:r>
              <a:rPr lang="zh-CN" altLang="en-US">
                <a:sym typeface="+mn-ea"/>
              </a:rPr>
              <a:t>，那么我们重复</a:t>
            </a:r>
            <a:r>
              <a:rPr lang="en-US" altLang="zh-CN">
                <a:sym typeface="+mn-ea"/>
              </a:rPr>
              <a:t>Inner-MILP</a:t>
            </a:r>
            <a:r>
              <a:rPr lang="zh-CN" altLang="en-US">
                <a:sym typeface="+mn-ea"/>
              </a:rPr>
              <a:t>的步骤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否则：</a:t>
            </a:r>
            <a:endParaRPr lang="zh-CN" altLang="en-US">
              <a:sym typeface="+mn-ea"/>
            </a:endParaRPr>
          </a:p>
          <a:p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如果</a:t>
            </a:r>
            <a:r>
              <a:rPr lang="en-US" altLang="zh-CN">
                <a:sym typeface="+mn-ea"/>
              </a:rPr>
              <a:t>Mr&lt;Mrbound'&lt;Mr+3,</a:t>
            </a:r>
            <a:r>
              <a:rPr lang="zh-CN" altLang="en-US">
                <a:sym typeface="+mn-ea"/>
              </a:rPr>
              <a:t>我们将</a:t>
            </a:r>
            <a:r>
              <a:rPr lang="en-US" altLang="zh-CN">
                <a:sym typeface="+mn-ea"/>
              </a:rPr>
              <a:t>Mrbound ++,</a:t>
            </a:r>
            <a:r>
              <a:rPr lang="zh-CN" altLang="en-US">
                <a:sym typeface="+mn-ea"/>
              </a:rPr>
              <a:t>重复</a:t>
            </a:r>
            <a:r>
              <a:rPr lang="en-US" altLang="zh-CN">
                <a:sym typeface="+mn-ea"/>
              </a:rPr>
              <a:t>Inner-MILP</a:t>
            </a:r>
            <a:r>
              <a:rPr lang="zh-CN" altLang="en-US">
                <a:sym typeface="+mn-ea"/>
              </a:rPr>
              <a:t>的步骤</a:t>
            </a:r>
            <a:r>
              <a:rPr lang="en-US" altLang="zh-CN">
                <a:sym typeface="+mn-ea"/>
              </a:rPr>
              <a:t>.</a:t>
            </a:r>
            <a:endParaRPr lang="en-US" altLang="zh-CN">
              <a:sym typeface="+mn-ea"/>
            </a:endParaRPr>
          </a:p>
          <a:p>
            <a:endParaRPr lang="en-US" altLang="zh-CN">
              <a:sym typeface="+mn-ea"/>
            </a:endParaRPr>
          </a:p>
          <a:p>
            <a:r>
              <a:rPr lang="zh-CN" altLang="en-US">
                <a:sym typeface="+mn-ea"/>
              </a:rPr>
              <a:t>如果</a:t>
            </a:r>
            <a:r>
              <a:rPr lang="en-US" altLang="zh-CN">
                <a:sym typeface="+mn-ea"/>
              </a:rPr>
              <a:t>Mrbound'&gt;=Mr+3,</a:t>
            </a:r>
            <a:r>
              <a:rPr lang="zh-CN" altLang="en-US">
                <a:sym typeface="+mn-ea"/>
              </a:rPr>
              <a:t>返回</a:t>
            </a:r>
            <a:r>
              <a:rPr lang="en-US" altLang="zh-CN">
                <a:sym typeface="+mn-ea"/>
              </a:rPr>
              <a:t>MPr</a:t>
            </a:r>
            <a:r>
              <a:rPr lang="zh-CN" altLang="en-US">
                <a:sym typeface="+mn-ea"/>
              </a:rPr>
              <a:t>和差分路径</a:t>
            </a:r>
            <a:r>
              <a:rPr lang="en-US" altLang="zh-CN">
                <a:sym typeface="+mn-ea"/>
              </a:rPr>
              <a:t>x.</a:t>
            </a:r>
            <a:endParaRPr lang="zh-CN" altLang="en-US">
              <a:sym typeface="+mn-ea"/>
            </a:endParaRPr>
          </a:p>
          <a:p>
            <a:endParaRPr lang="en-US" altLang="zh-CN">
              <a:sym typeface="+mn-ea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 b="1" i="0" spc="30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 eaLnBrk="1" fontAlgn="auto" latinLnBrk="0" hangingPunct="1">
              <a:lnSpc>
                <a:spcPct val="110000"/>
              </a:lnSpc>
              <a:buNone/>
              <a:defRPr sz="2400" u="none" strike="noStrike" kern="1200" cap="none" spc="20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●"/>
              <a:defRPr kumimoji="0" lang="zh-CN" altLang="en-US" sz="18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 b="1" i="0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 eaLnBrk="1" fontAlgn="auto" latinLnBrk="0" hangingPunct="1">
              <a:lnSpc>
                <a:spcPct val="130000"/>
              </a:lnSpc>
              <a:buNone/>
              <a:defRPr kumimoji="0" lang="zh-CN" altLang="en-US" sz="1800" b="0" i="0" u="none" strike="noStrike" kern="1200" cap="none" spc="150" normalizeH="0" baseline="0" noProof="1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sz="16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sz="1400"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lnSpc>
                <a:spcPct val="120000"/>
              </a:lnSpc>
              <a:defRPr sz="1400"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  <a:endParaRPr dirty="0">
              <a:sym typeface="+mn-ea"/>
            </a:endParaRP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2000" b="1" u="none" strike="noStrike" kern="1200" cap="none" spc="200" normalizeH="0" baseline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2000" b="1" i="0" u="none" strike="noStrike" kern="1200" cap="none" spc="20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>
                <a:sym typeface="+mn-ea"/>
              </a:rPr>
              <a:t>单击此处编辑文本</a:t>
            </a:r>
            <a:endParaRPr>
              <a:sym typeface="+mn-ea"/>
            </a:endParaRP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>
            <a:lvl1pPr marL="228600" marR="0" lvl="0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●"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charset="0"/>
              <a:buChar char="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kumimoji="0" lang="zh-CN" altLang="en-US" sz="14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  <a:p>
            <a:pPr lvl="1"/>
            <a:r>
              <a:rPr dirty="0">
                <a:sym typeface="+mn-ea"/>
              </a:rPr>
              <a:t>第二级</a:t>
            </a:r>
            <a:endParaRPr dirty="0">
              <a:sym typeface="+mn-ea"/>
            </a:endParaRPr>
          </a:p>
          <a:p>
            <a:pPr lvl="2"/>
            <a:r>
              <a:rPr dirty="0">
                <a:sym typeface="+mn-ea"/>
              </a:rPr>
              <a:t>第三级</a:t>
            </a:r>
            <a:endParaRPr dirty="0">
              <a:sym typeface="+mn-ea"/>
            </a:endParaRPr>
          </a:p>
          <a:p>
            <a:pPr lvl="3"/>
            <a:r>
              <a:rPr dirty="0">
                <a:sym typeface="+mn-ea"/>
              </a:rPr>
              <a:t>第四级</a:t>
            </a:r>
            <a:endParaRPr dirty="0">
              <a:sym typeface="+mn-ea"/>
            </a:endParaRPr>
          </a:p>
          <a:p>
            <a:pPr lvl="4"/>
            <a:r>
              <a:rPr dirty="0">
                <a:sym typeface="+mn-ea"/>
              </a:rPr>
              <a:t>第五级</a:t>
            </a:r>
            <a:endParaRPr dirty="0">
              <a:sym typeface="+mn-ea"/>
            </a:endParaRP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  <a:endParaRPr>
              <a:sym typeface="+mn-ea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685800" marR="0" lvl="1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tabLst>
                <a:tab pos="1609725" algn="l"/>
              </a:tabLst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1143000" marR="0" lvl="2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600200" marR="0" lvl="3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2057400" marR="0" lvl="4" indent="-22860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kumimoji="0" lang="zh-CN" altLang="en-US" sz="1600" b="0" i="0" u="none" strike="noStrike" kern="1200" cap="none" spc="150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kumimoji="0" lang="zh-CN" altLang="en-US" sz="1600" b="0" i="0" u="none" strike="noStrike" kern="1200" cap="none" spc="150" normalizeH="0" baseline="0" noProof="1" dirty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n-cs"/>
                <a:sym typeface="+mn-ea"/>
              </a:defRPr>
            </a:lvl1pPr>
            <a:lvl2pPr marL="457200" indent="0" defTabSz="914400" eaLnBrk="1" fontAlgn="auto" latinLnBrk="0" hangingPunct="1">
              <a:buNone/>
              <a:tabLst>
                <a:tab pos="1609725" algn="l"/>
                <a:tab pos="1609725" algn="l"/>
                <a:tab pos="1609725" algn="l"/>
                <a:tab pos="1609725" algn="l"/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2pPr>
            <a:lvl3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3pPr>
            <a:lvl4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4pPr>
            <a:lvl5pPr eaLnBrk="1" fontAlgn="auto" latinLnBrk="0" hangingPunct="1">
              <a:defRPr u="none" strike="noStrike" kern="1200" cap="none" spc="150" normalizeH="0">
                <a:solidFill>
                  <a:schemeClr val="tx1">
                    <a:lumMod val="65000"/>
                    <a:lumOff val="3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  <a:endParaRPr dirty="0">
              <a:sym typeface="+mn-ea"/>
            </a:endParaRP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28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  <a:endParaRPr dirty="0">
              <a:sym typeface="+mn-ea"/>
            </a:endParaRP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 eaLnBrk="1" fontAlgn="auto" latinLnBrk="0" hangingPunct="1">
              <a:lnSpc>
                <a:spcPct val="130000"/>
              </a:lnSpc>
              <a:spcAft>
                <a:spcPts val="10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spcAft>
                <a:spcPts val="300"/>
              </a:spcAft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>
            <a:lvl1pPr marL="228600" indent="-228600" eaLnBrk="1" fontAlgn="auto" latinLnBrk="0" hangingPunct="1">
              <a:lnSpc>
                <a:spcPct val="13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1pPr>
            <a:lvl2pPr marL="685800" indent="-228600" defTabSz="9144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tabLst>
                <a:tab pos="1609725" algn="l"/>
                <a:tab pos="1609725" algn="l"/>
                <a:tab pos="1609725" algn="l"/>
                <a:tab pos="1609725" algn="l"/>
              </a:tabLst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2pPr>
            <a:lvl3pPr marL="11430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●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3pPr>
            <a:lvl4pPr marL="1600200" indent="-228600" eaLnBrk="1" fontAlgn="auto" latinLnBrk="0" hangingPunct="1">
              <a:lnSpc>
                <a:spcPct val="120000"/>
              </a:lnSpc>
              <a:buFont typeface="Wingdings" panose="05000000000000000000" charset="0"/>
              <a:buChar char="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4pPr>
            <a:lvl5pPr marL="2057400" indent="-228600" eaLnBrk="1" fontAlgn="auto" latinLnBrk="0" hangingPunct="1">
              <a:lnSpc>
                <a:spcPct val="120000"/>
              </a:lnSpc>
              <a:buFont typeface="Arial" panose="020B0604020202020204" pitchFamily="34" charset="0"/>
              <a:buChar char="•"/>
              <a:defRPr u="none" strike="noStrike" kern="1200" cap="none" spc="15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Tx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pPr lvl="0"/>
            <a:r>
              <a:rPr>
                <a:sym typeface="+mn-ea"/>
              </a:rPr>
              <a:t>单击此处编辑标题</a:t>
            </a:r>
            <a:endParaRPr>
              <a:sym typeface="+mn-ea"/>
            </a:endParaRP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fontAlgn="base"/>
            <a:r>
              <a:rPr lang="zh-CN" altLang="en-US" strike="noStrike" noProof="1"/>
              <a:t>单击此处编辑母版副标题样式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9600" y="2276475"/>
            <a:ext cx="5384800" cy="38496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97600" y="2276475"/>
            <a:ext cx="5384800" cy="38496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0317" y="365127"/>
            <a:ext cx="10515600" cy="1325563"/>
          </a:xfrm>
        </p:spPr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40319" y="1681163"/>
            <a:ext cx="5158316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40319" y="2505075"/>
            <a:ext cx="5158316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71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717" cy="3684588"/>
          </a:xfrm>
        </p:spPr>
        <p:txBody>
          <a:bodyPr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0319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717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0319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40319" y="457200"/>
            <a:ext cx="3932767" cy="1600200"/>
          </a:xfrm>
        </p:spPr>
        <p:txBody>
          <a:bodyPr anchor="b"/>
          <a:lstStyle>
            <a:lvl1pPr>
              <a:defRPr sz="3200"/>
            </a:lvl1pPr>
          </a:lstStyle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717" y="987427"/>
            <a:ext cx="6172200" cy="4873625"/>
          </a:xfrm>
        </p:spPr>
        <p:txBody>
          <a:bodyPr vert="horz" wrap="square" lIns="91440" tIns="45720" rIns="91440" bIns="45720" numCol="1" anchor="t" anchorCtr="0" compatLnSpc="1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32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40319" y="2057400"/>
            <a:ext cx="393276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851900" y="1052513"/>
            <a:ext cx="2745317" cy="5073650"/>
          </a:xfrm>
        </p:spPr>
        <p:txBody>
          <a:bodyPr vert="eaVert"/>
          <a:lstStyle/>
          <a:p>
            <a:pPr fontAlgn="base"/>
            <a:r>
              <a:rPr lang="zh-CN" altLang="en-US" strike="noStrike" noProof="1"/>
              <a:t>单击此处编辑母版标题样式</a:t>
            </a:r>
            <a:endParaRPr lang="zh-CN" altLang="en-US" strike="noStrike" noProof="1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09601" y="1052513"/>
            <a:ext cx="8039100" cy="5073650"/>
          </a:xfrm>
        </p:spPr>
        <p:txBody>
          <a:bodyPr vert="eaVert"/>
          <a:lstStyle/>
          <a:p>
            <a:pPr lvl="0" fontAlgn="base"/>
            <a:r>
              <a:rPr lang="zh-CN" altLang="en-US" strike="noStrike" noProof="1"/>
              <a:t>单击此处编辑母版文本样式</a:t>
            </a:r>
            <a:endParaRPr lang="zh-CN" altLang="en-US" strike="noStrike" noProof="1"/>
          </a:p>
          <a:p>
            <a:pPr lvl="1" fontAlgn="base"/>
            <a:r>
              <a:rPr lang="zh-CN" altLang="en-US" strike="noStrike" noProof="1"/>
              <a:t>二级</a:t>
            </a:r>
            <a:endParaRPr lang="zh-CN" altLang="en-US" strike="noStrike" noProof="1"/>
          </a:p>
          <a:p>
            <a:pPr lvl="2" fontAlgn="base"/>
            <a:r>
              <a:rPr lang="zh-CN" altLang="en-US" strike="noStrike" noProof="1"/>
              <a:t>三级</a:t>
            </a:r>
            <a:endParaRPr lang="zh-CN" altLang="en-US" strike="noStrike" noProof="1"/>
          </a:p>
          <a:p>
            <a:pPr lvl="3" fontAlgn="base"/>
            <a:r>
              <a:rPr lang="zh-CN" altLang="en-US" strike="noStrike" noProof="1"/>
              <a:t>四级</a:t>
            </a:r>
            <a:endParaRPr lang="zh-CN" altLang="en-US" strike="noStrike" noProof="1"/>
          </a:p>
          <a:p>
            <a:pPr lvl="4" fontAlgn="base"/>
            <a:r>
              <a:rPr lang="zh-CN" altLang="en-US" strike="noStrike" noProof="1"/>
              <a:t>五级</a:t>
            </a:r>
            <a:endParaRPr lang="zh-CN" altLang="en-US" strike="noStrike" noProof="1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0.xml"/><Relationship Id="rId8" Type="http://schemas.openxmlformats.org/officeDocument/2006/relationships/slideLayout" Target="../slideLayouts/slideLayout19.xml"/><Relationship Id="rId7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3" Type="http://schemas.openxmlformats.org/officeDocument/2006/relationships/theme" Target="../theme/theme2.xml"/><Relationship Id="rId12" Type="http://schemas.openxmlformats.org/officeDocument/2006/relationships/image" Target="../media/image1.jpeg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Arial" panose="020B0604020202020204" pitchFamily="34" charset="0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0">
          <a:blip r:embed="rId1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/>
          </p:cNvSpPr>
          <p:nvPr>
            <p:ph type="title"/>
          </p:nvPr>
        </p:nvSpPr>
        <p:spPr>
          <a:xfrm>
            <a:off x="624417" y="1052513"/>
            <a:ext cx="10972800" cy="1143000"/>
          </a:xfrm>
          <a:prstGeom prst="rect">
            <a:avLst/>
          </a:prstGeom>
          <a:noFill/>
          <a:ln w="9525">
            <a:noFill/>
          </a:ln>
        </p:spPr>
        <p:txBody>
          <a:bodyPr anchor="ctr"/>
          <a:lstStyle/>
          <a:p>
            <a:pPr lvl="0"/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1027" name="Rectangle 3"/>
          <p:cNvSpPr>
            <a:spLocks noGrp="1"/>
          </p:cNvSpPr>
          <p:nvPr>
            <p:ph type="body"/>
          </p:nvPr>
        </p:nvSpPr>
        <p:spPr>
          <a:xfrm>
            <a:off x="609600" y="2276475"/>
            <a:ext cx="10972800" cy="3849688"/>
          </a:xfrm>
          <a:prstGeom prst="rect">
            <a:avLst/>
          </a:prstGeom>
          <a:noFill/>
          <a:ln w="9525">
            <a:noFill/>
          </a:ln>
        </p:spPr>
        <p:txBody>
          <a:bodyPr anchor="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 indent="-285750"/>
            <a:r>
              <a:rPr lang="zh-CN" altLang="en-US" dirty="0"/>
              <a:t>第二级</a:t>
            </a:r>
            <a:endParaRPr lang="zh-CN" altLang="en-US" dirty="0"/>
          </a:p>
          <a:p>
            <a:pPr lvl="2" indent="-228600"/>
            <a:r>
              <a:rPr lang="zh-CN" altLang="en-US" dirty="0"/>
              <a:t>第三级</a:t>
            </a:r>
            <a:endParaRPr lang="zh-CN" altLang="en-US" dirty="0"/>
          </a:p>
          <a:p>
            <a:pPr lvl="3" indent="-228600"/>
            <a:r>
              <a:rPr lang="zh-CN" altLang="en-US" dirty="0"/>
              <a:t>第四级</a:t>
            </a:r>
            <a:endParaRPr lang="zh-CN" altLang="en-US" dirty="0"/>
          </a:p>
          <a:p>
            <a:pPr lvl="4" indent="-228600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eaLnBrk="1" hangingPunct="1">
              <a:defRPr sz="1400"/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ctr" eaLnBrk="1" hangingPunct="1">
              <a:defRPr sz="1400"/>
            </a:lvl1pPr>
          </a:lstStyle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 eaLnBrk="1" hangingPunct="1">
              <a:defRPr sz="1400"/>
            </a:lvl1pPr>
          </a:lstStyle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B72E0849-B9AF-41D7-8D97-67F4EAA2852A}" type="slidenum">
              <a:rPr kumimoji="0" lang="en-US" altLang="zh-CN" sz="14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 panose="020B0604020202020204" pitchFamily="34" charset="0"/>
                <a:ea typeface="宋体" panose="02010600030101010101" pitchFamily="2" charset="-122"/>
                <a:cs typeface="+mn-cs"/>
              </a:rPr>
            </a:fld>
            <a:endParaRPr kumimoji="0" lang="en-US" altLang="zh-CN" sz="1400" b="0" i="0" u="none" strike="noStrike" kern="1200" cap="none" spc="0" normalizeH="0" baseline="0" noProof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 panose="020B0604020202020204" pitchFamily="34" charset="0"/>
              <a:ea typeface="宋体" panose="02010600030101010101" pitchFamily="2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ags" Target="../tags/tag6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64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6.xml"/><Relationship Id="rId3" Type="http://schemas.openxmlformats.org/officeDocument/2006/relationships/tags" Target="../tags/tag65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66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ags" Target="../tags/tag6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4.xml"/><Relationship Id="rId3" Type="http://schemas.openxmlformats.org/officeDocument/2006/relationships/slideLayout" Target="../slideLayouts/slideLayout8.xml"/><Relationship Id="rId2" Type="http://schemas.openxmlformats.org/officeDocument/2006/relationships/tags" Target="../tags/tag68.xml"/><Relationship Id="rId1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69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5.xml"/><Relationship Id="rId3" Type="http://schemas.openxmlformats.org/officeDocument/2006/relationships/slideLayout" Target="../slideLayouts/slideLayout7.xml"/><Relationship Id="rId2" Type="http://schemas.openxmlformats.org/officeDocument/2006/relationships/tags" Target="../tags/tag70.xml"/><Relationship Id="rId1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6.xml"/><Relationship Id="rId6" Type="http://schemas.openxmlformats.org/officeDocument/2006/relationships/vmlDrawing" Target="../drawings/vmlDrawing1.vml"/><Relationship Id="rId5" Type="http://schemas.openxmlformats.org/officeDocument/2006/relationships/slideLayout" Target="../slideLayouts/slideLayout7.xml"/><Relationship Id="rId4" Type="http://schemas.openxmlformats.org/officeDocument/2006/relationships/tags" Target="../tags/tag71.xml"/><Relationship Id="rId3" Type="http://schemas.openxmlformats.org/officeDocument/2006/relationships/image" Target="../media/image13.wmf"/><Relationship Id="rId2" Type="http://schemas.openxmlformats.org/officeDocument/2006/relationships/oleObject" Target="../embeddings/oleObject1.bin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tags" Target="../tags/tag7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73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6.bin"/><Relationship Id="rId8" Type="http://schemas.openxmlformats.org/officeDocument/2006/relationships/oleObject" Target="../embeddings/oleObject5.bin"/><Relationship Id="rId7" Type="http://schemas.openxmlformats.org/officeDocument/2006/relationships/image" Target="../media/image18.wmf"/><Relationship Id="rId6" Type="http://schemas.openxmlformats.org/officeDocument/2006/relationships/oleObject" Target="../embeddings/oleObject4.bin"/><Relationship Id="rId5" Type="http://schemas.openxmlformats.org/officeDocument/2006/relationships/image" Target="../media/image17.wmf"/><Relationship Id="rId4" Type="http://schemas.openxmlformats.org/officeDocument/2006/relationships/oleObject" Target="../embeddings/oleObject3.bin"/><Relationship Id="rId3" Type="http://schemas.openxmlformats.org/officeDocument/2006/relationships/image" Target="../media/image16.wmf"/><Relationship Id="rId2" Type="http://schemas.openxmlformats.org/officeDocument/2006/relationships/oleObject" Target="../embeddings/oleObject2.bin"/><Relationship Id="rId13" Type="http://schemas.openxmlformats.org/officeDocument/2006/relationships/vmlDrawing" Target="../drawings/vmlDrawing2.vml"/><Relationship Id="rId12" Type="http://schemas.openxmlformats.org/officeDocument/2006/relationships/slideLayout" Target="../slideLayouts/slideLayout6.xml"/><Relationship Id="rId11" Type="http://schemas.openxmlformats.org/officeDocument/2006/relationships/tags" Target="../tags/tag74.xml"/><Relationship Id="rId10" Type="http://schemas.openxmlformats.org/officeDocument/2006/relationships/oleObject" Target="../embeddings/oleObject7.bin"/><Relationship Id="rId1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6.xml"/><Relationship Id="rId8" Type="http://schemas.openxmlformats.org/officeDocument/2006/relationships/tags" Target="../tags/tag75.xml"/><Relationship Id="rId7" Type="http://schemas.openxmlformats.org/officeDocument/2006/relationships/image" Target="../media/image22.wmf"/><Relationship Id="rId6" Type="http://schemas.openxmlformats.org/officeDocument/2006/relationships/oleObject" Target="../embeddings/oleObject10.bin"/><Relationship Id="rId5" Type="http://schemas.openxmlformats.org/officeDocument/2006/relationships/image" Target="../media/image21.wmf"/><Relationship Id="rId4" Type="http://schemas.openxmlformats.org/officeDocument/2006/relationships/oleObject" Target="../embeddings/oleObject9.bin"/><Relationship Id="rId3" Type="http://schemas.openxmlformats.org/officeDocument/2006/relationships/image" Target="../media/image20.wmf"/><Relationship Id="rId2" Type="http://schemas.openxmlformats.org/officeDocument/2006/relationships/oleObject" Target="../embeddings/oleObject8.bin"/><Relationship Id="rId10" Type="http://schemas.openxmlformats.org/officeDocument/2006/relationships/vmlDrawing" Target="../drawings/vmlDrawing3.vml"/><Relationship Id="rId1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tags" Target="../tags/tag76.xml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D9D9D9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1" name="灯片编号占位符 1"/>
          <p:cNvSpPr>
            <a:spLocks noGrp="1"/>
          </p:cNvSpPr>
          <p:nvPr>
            <p:ph type="sldNum" sz="quarter" idx="12"/>
          </p:nvPr>
        </p:nvSpPr>
        <p:spPr/>
        <p:txBody>
          <a:bodyPr wrap="square" lIns="91440" tIns="45720" rIns="91440" bIns="45720" anchor="t"/>
          <a:lstStyle>
            <a:lvl1pPr marL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sz="1800"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457200" lvl="1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2pPr>
            <a:lvl3pPr marL="914400" lvl="2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3pPr>
            <a:lvl4pPr marL="1371600" lvl="3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4pPr>
            <a:lvl5pPr marL="1828800" lvl="4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  <a:defRPr b="0" i="0" u="none" kern="1200" baseline="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  <a:cs typeface="+mn-cs"/>
              </a:defRPr>
            </a:lvl5pPr>
          </a:lstStyle>
          <a:p>
            <a:pPr lvl="0" algn="r" eaLnBrk="1" hangingPunct="1"/>
            <a:fld id="{9A0DB2DC-4C9A-4742-B13C-FB6460FD3503}" type="slidenum">
              <a:rPr lang="en-US" altLang="zh-CN" sz="1600" dirty="0"/>
            </a:fld>
            <a:endParaRPr lang="en-US" altLang="zh-CN" sz="1600" dirty="0"/>
          </a:p>
        </p:txBody>
      </p:sp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2005013"/>
            <a:ext cx="9144000" cy="2387600"/>
          </a:xfrm>
        </p:spPr>
        <p:txBody>
          <a:bodyPr/>
          <a:lstStyle/>
          <a:p>
            <a:r>
              <a:rPr lang="zh-CN" altLang="zh-CN" sz="3600">
                <a:sym typeface="+mn-ea"/>
              </a:rPr>
              <a:t>MILP-based Differential Attack on</a:t>
            </a:r>
            <a:br>
              <a:rPr lang="zh-CN" altLang="zh-CN" sz="3600">
                <a:sym typeface="+mn-ea"/>
              </a:rPr>
            </a:br>
            <a:r>
              <a:rPr lang="zh-CN" altLang="zh-CN" sz="3600">
                <a:sym typeface="+mn-ea"/>
              </a:rPr>
              <a:t>Round-reduced GIFT</a:t>
            </a:r>
            <a:br>
              <a:rPr lang="zh-CN" altLang="zh-CN" sz="3600"/>
            </a:br>
            <a:r>
              <a:rPr lang="zh-CN" altLang="zh-CN" sz="1600" b="0"/>
              <a:t>Baoyu Zhu1, Xiaoyang Dong2, and Hongbo Yu1,3</a:t>
            </a:r>
            <a:br>
              <a:rPr lang="zh-CN" altLang="zh-CN" sz="1600" b="0"/>
            </a:br>
            <a:r>
              <a:rPr lang="en-US" altLang="zh-CN" sz="1600" b="0"/>
              <a:t>2019/2/3</a:t>
            </a:r>
            <a:endParaRPr lang="en-US" altLang="zh-CN" sz="1600" b="0"/>
          </a:p>
        </p:txBody>
      </p:sp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FFFFFF"/>
            </a:gs>
            <a:gs pos="100000">
              <a:srgbClr val="D9D9D9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/>
        </p:nvSpPr>
        <p:spPr>
          <a:xfrm>
            <a:off x="1198800" y="2484000"/>
            <a:ext cx="9799200" cy="1018800"/>
          </a:xfrm>
          <a:prstGeom prst="rect">
            <a:avLst/>
          </a:prstGeom>
        </p:spPr>
        <p:txBody>
          <a:bodyPr vert="horz" lIns="90000" tIns="46800" rIns="90000" bIns="46800" rtlCol="0" anchor="t" anchorCtr="0">
            <a:normAutofit/>
          </a:bodyPr>
          <a:lstStyle>
            <a:lvl1pPr marL="0" marR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zh-CN" altLang="en-US" sz="60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effectLst/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r>
              <a:rPr lang="zh-CN" altLang="en-US" sz="3555"/>
              <a:t>关于</a:t>
            </a:r>
            <a:r>
              <a:rPr lang="en-US" altLang="zh-CN" sz="3555"/>
              <a:t>GIFT</a:t>
            </a:r>
            <a:r>
              <a:rPr sz="3555"/>
              <a:t>算法</a:t>
            </a:r>
            <a:endParaRPr sz="3555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767715" y="1707515"/>
            <a:ext cx="10656570" cy="37846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GIFT算法采用SPN结构进行设计，其设计理念与PRESENT算法类似，是由设计者为纪念PRESENT算法间世十周年推出了一种新的轻量级分组密码算法。与PRESENT相比，GIFT算法的S盒不再受分支数为3的限制，且在算法的实现效率方面更优。</a:t>
            </a:r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GIFT算法根据分组规模不同，分为GIFT-64和GIFT-128两种，块长度分别为</a:t>
            </a:r>
            <a:r>
              <a:rPr lang="en-US" altLang="zh-CN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64</a:t>
            </a:r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比特和</a:t>
            </a:r>
            <a:r>
              <a:rPr lang="en-US" altLang="zh-CN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128</a:t>
            </a:r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比特，加密轮数分别为28轮和40轮，所使用的密钥量均为128比特。</a:t>
            </a:r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GIFT-64算法的一轮轮函数顺序执行如下三个运算: S盒变换、比特置换、密钥加变换。</a:t>
            </a:r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>
          <a:xfrm>
            <a:off x="767715" y="466725"/>
            <a:ext cx="10356215" cy="705485"/>
          </a:xfrm>
        </p:spPr>
        <p:txBody>
          <a:bodyPr>
            <a:normAutofit/>
          </a:bodyPr>
          <a:lstStyle/>
          <a:p>
            <a:pPr algn="l">
              <a:buClrTx/>
              <a:buSzTx/>
              <a:buFontTx/>
            </a:pPr>
            <a:r>
              <a:rPr lang="en-US" altLang="zh-CN" sz="3600"/>
              <a:t>1.算法简介</a:t>
            </a:r>
            <a:endParaRPr lang="en-US" altLang="zh-CN" sz="3600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9070" y="1140460"/>
            <a:ext cx="9293225" cy="457708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950" y="1354455"/>
            <a:ext cx="4833620" cy="158623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5640" y="1354455"/>
            <a:ext cx="5993765" cy="5049520"/>
          </a:xfrm>
          <a:prstGeom prst="rect">
            <a:avLst/>
          </a:prstGeom>
        </p:spPr>
      </p:pic>
      <p:sp>
        <p:nvSpPr>
          <p:cNvPr id="9" name="文本框 8"/>
          <p:cNvSpPr txBox="1"/>
          <p:nvPr/>
        </p:nvSpPr>
        <p:spPr>
          <a:xfrm>
            <a:off x="1370330" y="2940685"/>
            <a:ext cx="25622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None/>
            </a:pPr>
            <a:r>
              <a:rPr lang="zh-CN" altLang="en-US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GIFT-6</a:t>
            </a:r>
            <a:r>
              <a:rPr lang="en-US" altLang="zh-CN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4</a:t>
            </a:r>
            <a:r>
              <a:rPr lang="zh-CN" altLang="en-US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算法的比特S盒</a:t>
            </a:r>
            <a:endParaRPr lang="zh-CN" altLang="en-US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27685" y="782955"/>
            <a:ext cx="4406265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None/>
            </a:pPr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a) S盒变换。</a:t>
            </a:r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755640" y="782955"/>
            <a:ext cx="63296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ClrTx/>
              <a:buSzTx/>
              <a:buNone/>
            </a:pPr>
            <a:r>
              <a:rPr lang="zh-CN" altLang="en-US" sz="24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b) 比特置换</a:t>
            </a:r>
            <a:endParaRPr lang="zh-CN" altLang="en-US" sz="24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/>
          <p:cNvSpPr txBox="1"/>
          <p:nvPr/>
        </p:nvSpPr>
        <p:spPr>
          <a:xfrm>
            <a:off x="593725" y="490855"/>
            <a:ext cx="10915650" cy="483108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buClrTx/>
              <a:buSzTx/>
              <a:buNone/>
            </a:pPr>
            <a:r>
              <a:rPr lang="zh-CN" altLang="en-US" sz="24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c) 密钥加变换。</a:t>
            </a:r>
            <a:endParaRPr lang="zh-CN" altLang="en-US" sz="24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indent="0" algn="l">
              <a:buClrTx/>
              <a:buSzTx/>
              <a:buFont typeface="Arial" panose="020B0604020202020204" pitchFamily="34" charset="0"/>
              <a:buNone/>
            </a:pP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	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轮密钥加：通过密钥调度算法生成32bits轮密钥RK，将轮密钥划分为U,V两部分，将U,V两部分分别与密文状态值进行异或</a:t>
            </a:r>
            <a:endParaRPr lang="zh-CN" altLang="en-US" sz="24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000" dirty="0">
              <a:latin typeface="+mn-ea"/>
              <a:cs typeface="+mn-ea"/>
            </a:endParaRPr>
          </a:p>
          <a:p>
            <a:r>
              <a:rPr lang="en-US" altLang="zh-CN" sz="2000" dirty="0">
                <a:latin typeface="+mn-ea"/>
                <a:cs typeface="+mn-ea"/>
              </a:rPr>
              <a:t>		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对于GIFT-64: 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		对于GIFT-128：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      		密钥状态的更新方式如下（轮密钥生成在密钥状态更新之前）：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		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	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algn="l">
              <a:buClrTx/>
              <a:buSzTx/>
              <a:buNone/>
            </a:pP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    	轮常数加：将单比特“1”和一个6比特常数C = c5c4c3c2c1c0（初始为0）分别与密文状态值的第n-1(GIFT-64取63，GIFT128取127),23,19,15,11,7,3个比特进行异或。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pPr algn="l">
              <a:buClrTx/>
              <a:buSzTx/>
              <a:buNone/>
            </a:pP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12920" y="1605915"/>
            <a:ext cx="4842510" cy="73406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920" y="2499995"/>
            <a:ext cx="4806315" cy="6540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300" y="3672205"/>
            <a:ext cx="5544820" cy="514350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16430" y="5091430"/>
            <a:ext cx="3721735" cy="94869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4580" y="5091430"/>
            <a:ext cx="4999990" cy="40195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7170420" y="5493385"/>
            <a:ext cx="2120265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轮常数更新方式</a:t>
            </a:r>
            <a:endParaRPr lang="zh-CN" altLang="en-US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</p:spTree>
    <p:custDataLst>
      <p:tags r:id="rId6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sz="3555"/>
              <a:t> MILP-based Model to Search Differential</a:t>
            </a:r>
            <a:br>
              <a:rPr lang="zh-CN" altLang="en-US" sz="3555"/>
            </a:br>
            <a:r>
              <a:rPr lang="zh-CN" altLang="en-US" sz="3555"/>
              <a:t>Characteristic For GIFT-64</a:t>
            </a:r>
            <a:endParaRPr lang="zh-CN" altLang="en-US" sz="3555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374720" y="258515"/>
            <a:ext cx="10969200" cy="705600"/>
          </a:xfrm>
        </p:spPr>
        <p:txBody>
          <a:bodyPr/>
          <a:lstStyle/>
          <a:p>
            <a:r>
              <a:rPr lang="en-US" altLang="zh-CN"/>
              <a:t>1.Two-stage search strategy</a:t>
            </a:r>
            <a:endParaRPr lang="en-US" altLang="zh-CN"/>
          </a:p>
        </p:txBody>
      </p:sp>
      <p:pic>
        <p:nvPicPr>
          <p:cNvPr id="22" name="图片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9290" y="1190625"/>
            <a:ext cx="7489825" cy="5168900"/>
          </a:xfrm>
          <a:prstGeom prst="rect">
            <a:avLst/>
          </a:prstGeom>
        </p:spPr>
      </p:pic>
    </p:spTree>
    <p:custDataLst>
      <p:tags r:id="rId2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>
          <a:gsLst>
            <a:gs pos="0">
              <a:srgbClr val="FFFFFF"/>
            </a:gs>
            <a:gs pos="100000">
              <a:srgbClr val="D9D9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圆角矩形 4"/>
          <p:cNvSpPr/>
          <p:nvPr/>
        </p:nvSpPr>
        <p:spPr>
          <a:xfrm>
            <a:off x="1327785" y="2140585"/>
            <a:ext cx="1706880" cy="107696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椭圆 5"/>
          <p:cNvSpPr/>
          <p:nvPr/>
        </p:nvSpPr>
        <p:spPr>
          <a:xfrm>
            <a:off x="4435475" y="2315845"/>
            <a:ext cx="815340" cy="725805"/>
          </a:xfrm>
          <a:prstGeom prst="ellipse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TD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7" name="椭圆 6"/>
          <p:cNvSpPr/>
          <p:nvPr/>
        </p:nvSpPr>
        <p:spPr>
          <a:xfrm>
            <a:off x="3515995" y="1310640"/>
            <a:ext cx="1734820" cy="70612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 </a:t>
            </a:r>
            <a:r>
              <a:rPr lang="zh-CN" altLang="en-US">
                <a:solidFill>
                  <a:schemeClr val="tx1"/>
                </a:solidFill>
              </a:rPr>
              <a:t>Mrbound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8" name="直接连接符 7"/>
          <p:cNvCxnSpPr>
            <a:stCxn id="6" idx="0"/>
            <a:endCxn id="7" idx="4"/>
          </p:cNvCxnSpPr>
          <p:nvPr/>
        </p:nvCxnSpPr>
        <p:spPr>
          <a:xfrm flipH="1" flipV="1">
            <a:off x="4383405" y="2016760"/>
            <a:ext cx="459740" cy="299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圆角矩形 11"/>
          <p:cNvSpPr/>
          <p:nvPr/>
        </p:nvSpPr>
        <p:spPr>
          <a:xfrm>
            <a:off x="6713220" y="2141220"/>
            <a:ext cx="1723390" cy="107632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椭圆 12"/>
          <p:cNvSpPr/>
          <p:nvPr/>
        </p:nvSpPr>
        <p:spPr>
          <a:xfrm>
            <a:off x="9770110" y="2316480"/>
            <a:ext cx="800100" cy="725170"/>
          </a:xfrm>
          <a:prstGeom prst="ellipse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x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9832975" y="1607185"/>
            <a:ext cx="673735" cy="409575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Pr</a:t>
            </a:r>
            <a:endParaRPr lang="en-US" altLang="zh-CN">
              <a:solidFill>
                <a:schemeClr val="tx1"/>
              </a:solidFill>
            </a:endParaRPr>
          </a:p>
        </p:txBody>
      </p:sp>
      <p:cxnSp>
        <p:nvCxnSpPr>
          <p:cNvPr id="15" name="直接连接符 14"/>
          <p:cNvCxnSpPr>
            <a:stCxn id="13" idx="0"/>
            <a:endCxn id="14" idx="4"/>
          </p:cNvCxnSpPr>
          <p:nvPr/>
        </p:nvCxnSpPr>
        <p:spPr>
          <a:xfrm flipV="1">
            <a:off x="10170160" y="2016760"/>
            <a:ext cx="0" cy="2997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文本框 15"/>
          <p:cNvSpPr txBox="1"/>
          <p:nvPr/>
        </p:nvSpPr>
        <p:spPr>
          <a:xfrm>
            <a:off x="1560195" y="2673985"/>
            <a:ext cx="758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M1</a:t>
            </a:r>
            <a:endParaRPr lang="en-US" altLang="zh-CN"/>
          </a:p>
        </p:txBody>
      </p:sp>
      <p:sp>
        <p:nvSpPr>
          <p:cNvPr id="17" name="文本框 16"/>
          <p:cNvSpPr txBox="1"/>
          <p:nvPr/>
        </p:nvSpPr>
        <p:spPr>
          <a:xfrm>
            <a:off x="6908800" y="2673350"/>
            <a:ext cx="75946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M2</a:t>
            </a:r>
            <a:endParaRPr lang="en-US" altLang="zh-CN"/>
          </a:p>
        </p:txBody>
      </p:sp>
      <p:sp>
        <p:nvSpPr>
          <p:cNvPr id="18" name="文本框 17"/>
          <p:cNvSpPr txBox="1"/>
          <p:nvPr/>
        </p:nvSpPr>
        <p:spPr>
          <a:xfrm>
            <a:off x="896937" y="3214803"/>
            <a:ext cx="208534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Outer-MILP</a:t>
            </a:r>
            <a:endParaRPr lang="en-US" altLang="zh-CN" dirty="0"/>
          </a:p>
        </p:txBody>
      </p:sp>
      <p:sp>
        <p:nvSpPr>
          <p:cNvPr id="19" name="文本框 18"/>
          <p:cNvSpPr txBox="1"/>
          <p:nvPr/>
        </p:nvSpPr>
        <p:spPr>
          <a:xfrm>
            <a:off x="6210299" y="3193267"/>
            <a:ext cx="252666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Inner-MILP</a:t>
            </a:r>
            <a:endParaRPr lang="en-US" altLang="zh-CN" dirty="0"/>
          </a:p>
        </p:txBody>
      </p:sp>
      <p:sp>
        <p:nvSpPr>
          <p:cNvPr id="20" name="圆角矩形 19"/>
          <p:cNvSpPr/>
          <p:nvPr/>
        </p:nvSpPr>
        <p:spPr>
          <a:xfrm>
            <a:off x="1327785" y="4095115"/>
            <a:ext cx="1706880" cy="140144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椭圆 20"/>
          <p:cNvSpPr/>
          <p:nvPr/>
        </p:nvSpPr>
        <p:spPr>
          <a:xfrm>
            <a:off x="2091690" y="4432935"/>
            <a:ext cx="815340" cy="725805"/>
          </a:xfrm>
          <a:prstGeom prst="ellipse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TD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22" name="乘号 21"/>
          <p:cNvSpPr/>
          <p:nvPr/>
        </p:nvSpPr>
        <p:spPr>
          <a:xfrm>
            <a:off x="2207260" y="4095115"/>
            <a:ext cx="584200" cy="566420"/>
          </a:xfrm>
          <a:prstGeom prst="mathMultiply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448435" y="4885055"/>
            <a:ext cx="7588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/>
              <a:t>M1</a:t>
            </a:r>
            <a:endParaRPr lang="en-US" altLang="zh-CN"/>
          </a:p>
        </p:txBody>
      </p:sp>
      <p:sp>
        <p:nvSpPr>
          <p:cNvPr id="24" name="右箭头 23"/>
          <p:cNvSpPr/>
          <p:nvPr/>
        </p:nvSpPr>
        <p:spPr>
          <a:xfrm>
            <a:off x="3108960" y="2597785"/>
            <a:ext cx="1201420" cy="1943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右箭头 24"/>
          <p:cNvSpPr/>
          <p:nvPr/>
        </p:nvSpPr>
        <p:spPr>
          <a:xfrm>
            <a:off x="5476875" y="2615565"/>
            <a:ext cx="1113155" cy="1943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右箭头 25"/>
          <p:cNvSpPr/>
          <p:nvPr/>
        </p:nvSpPr>
        <p:spPr>
          <a:xfrm>
            <a:off x="8647430" y="2615565"/>
            <a:ext cx="1059815" cy="17653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椭圆 26"/>
          <p:cNvSpPr/>
          <p:nvPr/>
        </p:nvSpPr>
        <p:spPr>
          <a:xfrm>
            <a:off x="3872865" y="4438650"/>
            <a:ext cx="815340" cy="725805"/>
          </a:xfrm>
          <a:prstGeom prst="ellipse">
            <a:avLst/>
          </a:prstGeom>
          <a:noFill/>
          <a:ln w="28575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TD'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30" name="右箭头 29"/>
          <p:cNvSpPr/>
          <p:nvPr/>
        </p:nvSpPr>
        <p:spPr>
          <a:xfrm>
            <a:off x="3108960" y="4665345"/>
            <a:ext cx="618490" cy="19431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椭圆 30"/>
          <p:cNvSpPr/>
          <p:nvPr/>
        </p:nvSpPr>
        <p:spPr>
          <a:xfrm>
            <a:off x="3413125" y="5496560"/>
            <a:ext cx="1734820" cy="706120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/>
              <a:t> </a:t>
            </a:r>
            <a:r>
              <a:rPr lang="zh-CN" altLang="en-US">
                <a:solidFill>
                  <a:schemeClr val="tx1"/>
                </a:solidFill>
              </a:rPr>
              <a:t>Mrbound</a:t>
            </a:r>
            <a:r>
              <a:rPr lang="en-US" altLang="zh-CN">
                <a:solidFill>
                  <a:schemeClr val="tx1"/>
                </a:solidFill>
              </a:rPr>
              <a:t>'</a:t>
            </a:r>
            <a:endParaRPr lang="en-US" altLang="zh-CN">
              <a:solidFill>
                <a:schemeClr val="tx1"/>
              </a:solidFill>
            </a:endParaRPr>
          </a:p>
        </p:txBody>
      </p:sp>
      <p:cxnSp>
        <p:nvCxnSpPr>
          <p:cNvPr id="32" name="直接连接符 31"/>
          <p:cNvCxnSpPr>
            <a:stCxn id="27" idx="4"/>
            <a:endCxn id="31" idx="0"/>
          </p:cNvCxnSpPr>
          <p:nvPr/>
        </p:nvCxnSpPr>
        <p:spPr>
          <a:xfrm>
            <a:off x="4280535" y="5164455"/>
            <a:ext cx="0" cy="33210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菱形 33"/>
          <p:cNvSpPr/>
          <p:nvPr/>
        </p:nvSpPr>
        <p:spPr>
          <a:xfrm>
            <a:off x="9047480" y="248285"/>
            <a:ext cx="2190115" cy="916940"/>
          </a:xfrm>
          <a:prstGeom prst="diamond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Pr&gt;MPr?</a:t>
            </a:r>
            <a:endParaRPr lang="zh-CN" altLang="en-US">
              <a:solidFill>
                <a:schemeClr val="tx1"/>
              </a:solidFill>
            </a:endParaRPr>
          </a:p>
        </p:txBody>
      </p:sp>
      <p:cxnSp>
        <p:nvCxnSpPr>
          <p:cNvPr id="35" name="直接连接符 34"/>
          <p:cNvCxnSpPr/>
          <p:nvPr/>
        </p:nvCxnSpPr>
        <p:spPr>
          <a:xfrm>
            <a:off x="10161270" y="1164590"/>
            <a:ext cx="16510" cy="4425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圆角矩形 35"/>
          <p:cNvSpPr/>
          <p:nvPr/>
        </p:nvSpPr>
        <p:spPr>
          <a:xfrm>
            <a:off x="6802120" y="397510"/>
            <a:ext cx="1343025" cy="61849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MPr = Pr</a:t>
            </a:r>
            <a:endParaRPr lang="en-US" altLang="zh-CN">
              <a:solidFill>
                <a:schemeClr val="tx1"/>
              </a:solidFill>
            </a:endParaRPr>
          </a:p>
        </p:txBody>
      </p:sp>
      <p:cxnSp>
        <p:nvCxnSpPr>
          <p:cNvPr id="37" name="直接连接符 36"/>
          <p:cNvCxnSpPr>
            <a:stCxn id="34" idx="1"/>
            <a:endCxn id="36" idx="3"/>
          </p:cNvCxnSpPr>
          <p:nvPr/>
        </p:nvCxnSpPr>
        <p:spPr>
          <a:xfrm flipH="1">
            <a:off x="8145145" y="706755"/>
            <a:ext cx="902335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圆角矩形 37"/>
          <p:cNvSpPr/>
          <p:nvPr/>
        </p:nvSpPr>
        <p:spPr>
          <a:xfrm>
            <a:off x="3331845" y="353695"/>
            <a:ext cx="2102485" cy="512445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Mr=Mrbound</a:t>
            </a:r>
            <a:endParaRPr lang="en-US" altLang="zh-CN">
              <a:solidFill>
                <a:schemeClr val="tx1"/>
              </a:solidFill>
            </a:endParaRPr>
          </a:p>
        </p:txBody>
      </p:sp>
      <p:cxnSp>
        <p:nvCxnSpPr>
          <p:cNvPr id="39" name="直接连接符 38"/>
          <p:cNvCxnSpPr>
            <a:stCxn id="38" idx="2"/>
            <a:endCxn id="7" idx="0"/>
          </p:cNvCxnSpPr>
          <p:nvPr/>
        </p:nvCxnSpPr>
        <p:spPr>
          <a:xfrm>
            <a:off x="4383405" y="866140"/>
            <a:ext cx="0" cy="4445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单圆角矩形 45"/>
          <p:cNvSpPr/>
          <p:nvPr/>
        </p:nvSpPr>
        <p:spPr>
          <a:xfrm>
            <a:off x="5583555" y="4095115"/>
            <a:ext cx="2084705" cy="725170"/>
          </a:xfrm>
          <a:prstGeom prst="round1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  <a:latin typeface="Segoe UI" panose="020B0502040204020203" charset="0"/>
                <a:cs typeface="Segoe UI" panose="020B0502040204020203" charset="0"/>
                <a:sym typeface="+mn-ea"/>
              </a:rPr>
              <a:t>TD'</a:t>
            </a:r>
            <a:r>
              <a:rPr lang="zh-CN" altLang="en-US">
                <a:solidFill>
                  <a:schemeClr val="tx1"/>
                </a:solidFill>
                <a:latin typeface="Segoe UI" panose="020B0502040204020203" charset="0"/>
                <a:cs typeface="Segoe UI" panose="020B0502040204020203" charset="0"/>
                <a:sym typeface="+mn-ea"/>
              </a:rPr>
              <a:t>存在且</a:t>
            </a:r>
            <a:r>
              <a:rPr lang="en-US" altLang="zh-CN">
                <a:solidFill>
                  <a:schemeClr val="tx1"/>
                </a:solidFill>
                <a:latin typeface="Segoe UI" panose="020B0502040204020203" charset="0"/>
                <a:cs typeface="Segoe UI" panose="020B0502040204020203" charset="0"/>
                <a:sym typeface="+mn-ea"/>
              </a:rPr>
              <a:t> Mrbound' == Mr    </a:t>
            </a:r>
            <a:endParaRPr lang="en-US" altLang="zh-CN">
              <a:solidFill>
                <a:schemeClr val="tx1"/>
              </a:solidFill>
              <a:latin typeface="Segoe UI" panose="020B0502040204020203" charset="0"/>
              <a:cs typeface="Segoe UI" panose="020B0502040204020203" charset="0"/>
              <a:sym typeface="+mn-ea"/>
            </a:endParaRPr>
          </a:p>
        </p:txBody>
      </p:sp>
      <p:cxnSp>
        <p:nvCxnSpPr>
          <p:cNvPr id="47" name="肘形连接符 46"/>
          <p:cNvCxnSpPr>
            <a:stCxn id="46" idx="0"/>
            <a:endCxn id="12" idx="2"/>
          </p:cNvCxnSpPr>
          <p:nvPr/>
        </p:nvCxnSpPr>
        <p:spPr>
          <a:xfrm rot="16200000">
            <a:off x="6661785" y="3181985"/>
            <a:ext cx="877570" cy="948690"/>
          </a:xfrm>
          <a:prstGeom prst="bentConnector3">
            <a:avLst>
              <a:gd name="adj1" fmla="val 62083"/>
            </a:avLst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单圆角矩形 47"/>
          <p:cNvSpPr/>
          <p:nvPr/>
        </p:nvSpPr>
        <p:spPr>
          <a:xfrm>
            <a:off x="5583555" y="4959350"/>
            <a:ext cx="2915920" cy="742315"/>
          </a:xfrm>
          <a:prstGeom prst="round1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TD‘</a:t>
            </a:r>
            <a:r>
              <a:rPr lang="zh-CN" altLang="en-US">
                <a:solidFill>
                  <a:schemeClr val="tx1"/>
                </a:solidFill>
              </a:rPr>
              <a:t>存在且</a:t>
            </a:r>
            <a:endParaRPr lang="zh-CN" altLang="en-US">
              <a:solidFill>
                <a:schemeClr val="tx1"/>
              </a:solidFill>
            </a:endParaRPr>
          </a:p>
          <a:p>
            <a:pPr algn="ctr"/>
            <a:r>
              <a:rPr lang="en-US" altLang="zh-CN">
                <a:solidFill>
                  <a:schemeClr val="tx1"/>
                </a:solidFill>
                <a:latin typeface="Segoe UI" panose="020B0502040204020203" charset="0"/>
                <a:cs typeface="Segoe UI" panose="020B0502040204020203" charset="0"/>
                <a:sym typeface="+mn-ea"/>
              </a:rPr>
              <a:t> Mr &lt; Mrbound' &lt; Mr+3</a:t>
            </a:r>
            <a:endParaRPr lang="en-US" altLang="zh-CN">
              <a:solidFill>
                <a:schemeClr val="tx1"/>
              </a:solidFill>
              <a:latin typeface="Segoe UI" panose="020B0502040204020203" charset="0"/>
              <a:cs typeface="Segoe UI" panose="020B0502040204020203" charset="0"/>
              <a:sym typeface="+mn-ea"/>
            </a:endParaRPr>
          </a:p>
        </p:txBody>
      </p:sp>
      <p:sp>
        <p:nvSpPr>
          <p:cNvPr id="49" name="单圆角矩形 48"/>
          <p:cNvSpPr/>
          <p:nvPr/>
        </p:nvSpPr>
        <p:spPr>
          <a:xfrm>
            <a:off x="5600700" y="5849620"/>
            <a:ext cx="2915285" cy="741680"/>
          </a:xfrm>
          <a:prstGeom prst="round1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TD</a:t>
            </a:r>
            <a:r>
              <a:rPr lang="zh-CN" altLang="en-US">
                <a:solidFill>
                  <a:schemeClr val="tx1"/>
                </a:solidFill>
              </a:rPr>
              <a:t>不存在或</a:t>
            </a:r>
            <a:r>
              <a:rPr lang="zh-CN" altLang="en-US">
                <a:solidFill>
                  <a:schemeClr val="tx1"/>
                </a:solidFill>
                <a:latin typeface="Segoe UI" panose="020B0502040204020203" charset="0"/>
                <a:cs typeface="Segoe UI" panose="020B0502040204020203" charset="0"/>
                <a:sym typeface="+mn-ea"/>
              </a:rPr>
              <a:t> </a:t>
            </a:r>
            <a:r>
              <a:rPr lang="en-US" altLang="zh-CN">
                <a:solidFill>
                  <a:schemeClr val="tx1"/>
                </a:solidFill>
                <a:latin typeface="Segoe UI" panose="020B0502040204020203" charset="0"/>
                <a:cs typeface="Segoe UI" panose="020B0502040204020203" charset="0"/>
                <a:sym typeface="+mn-ea"/>
              </a:rPr>
              <a:t>Mrbound'&gt;=Mr + 3</a:t>
            </a:r>
            <a:endParaRPr lang="en-US" altLang="zh-CN">
              <a:solidFill>
                <a:schemeClr val="tx1"/>
              </a:solidFill>
              <a:latin typeface="Segoe UI" panose="020B0502040204020203" charset="0"/>
              <a:cs typeface="Segoe UI" panose="020B0502040204020203" charset="0"/>
              <a:sym typeface="+mn-ea"/>
            </a:endParaRPr>
          </a:p>
        </p:txBody>
      </p:sp>
      <p:cxnSp>
        <p:nvCxnSpPr>
          <p:cNvPr id="50" name="直接连接符 49"/>
          <p:cNvCxnSpPr>
            <a:stCxn id="27" idx="6"/>
          </p:cNvCxnSpPr>
          <p:nvPr/>
        </p:nvCxnSpPr>
        <p:spPr>
          <a:xfrm flipV="1">
            <a:off x="4688205" y="4797425"/>
            <a:ext cx="544830" cy="44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左中括号 50"/>
          <p:cNvSpPr/>
          <p:nvPr/>
        </p:nvSpPr>
        <p:spPr>
          <a:xfrm>
            <a:off x="5247005" y="4188460"/>
            <a:ext cx="335915" cy="2243455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52" name="直接连接符 51"/>
          <p:cNvCxnSpPr>
            <a:endCxn id="48" idx="1"/>
          </p:cNvCxnSpPr>
          <p:nvPr/>
        </p:nvCxnSpPr>
        <p:spPr>
          <a:xfrm>
            <a:off x="5264785" y="5318760"/>
            <a:ext cx="318770" cy="120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圆角矩形 52"/>
          <p:cNvSpPr/>
          <p:nvPr/>
        </p:nvSpPr>
        <p:spPr>
          <a:xfrm>
            <a:off x="9328785" y="5053965"/>
            <a:ext cx="1819910" cy="56515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>
                <a:solidFill>
                  <a:schemeClr val="tx1"/>
                </a:solidFill>
              </a:rPr>
              <a:t>Mrbound++;</a:t>
            </a:r>
            <a:endParaRPr lang="en-US" altLang="zh-CN">
              <a:solidFill>
                <a:schemeClr val="tx1"/>
              </a:solidFill>
            </a:endParaRPr>
          </a:p>
        </p:txBody>
      </p:sp>
      <p:cxnSp>
        <p:nvCxnSpPr>
          <p:cNvPr id="54" name="直接连接符 53"/>
          <p:cNvCxnSpPr>
            <a:stCxn id="48" idx="3"/>
            <a:endCxn id="53" idx="1"/>
          </p:cNvCxnSpPr>
          <p:nvPr/>
        </p:nvCxnSpPr>
        <p:spPr>
          <a:xfrm>
            <a:off x="8499475" y="5330825"/>
            <a:ext cx="829310" cy="57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箭头连接符 57"/>
          <p:cNvCxnSpPr>
            <a:stCxn id="53" idx="0"/>
          </p:cNvCxnSpPr>
          <p:nvPr/>
        </p:nvCxnSpPr>
        <p:spPr>
          <a:xfrm flipH="1" flipV="1">
            <a:off x="7773670" y="3286760"/>
            <a:ext cx="2465070" cy="1767205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圆角矩形 59"/>
          <p:cNvSpPr/>
          <p:nvPr/>
        </p:nvSpPr>
        <p:spPr>
          <a:xfrm>
            <a:off x="9328785" y="5920105"/>
            <a:ext cx="1819910" cy="600710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</a:rPr>
              <a:t>返回</a:t>
            </a:r>
            <a:r>
              <a:rPr lang="en-US" altLang="zh-CN" dirty="0" err="1">
                <a:solidFill>
                  <a:schemeClr val="tx1"/>
                </a:solidFill>
              </a:rPr>
              <a:t>x&amp;MPr</a:t>
            </a:r>
            <a:endParaRPr lang="en-US" altLang="zh-CN" dirty="0">
              <a:solidFill>
                <a:schemeClr val="tx1"/>
              </a:solidFill>
            </a:endParaRPr>
          </a:p>
        </p:txBody>
      </p:sp>
      <p:cxnSp>
        <p:nvCxnSpPr>
          <p:cNvPr id="61" name="直接连接符 60"/>
          <p:cNvCxnSpPr>
            <a:stCxn id="49" idx="3"/>
            <a:endCxn id="60" idx="1"/>
          </p:cNvCxnSpPr>
          <p:nvPr/>
        </p:nvCxnSpPr>
        <p:spPr>
          <a:xfrm>
            <a:off x="8515985" y="6220460"/>
            <a:ext cx="8128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/>
        </p:nvSpPr>
        <p:spPr>
          <a:xfrm>
            <a:off x="374720" y="258515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1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r>
              <a:rPr lang="en-US" altLang="zh-CN"/>
              <a:t>2.Search for Differentials of GIFT-64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494030" y="1069975"/>
            <a:ext cx="11219815" cy="10147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1）在Outer-MILP中，由GIFT-64的差分分布表计算凸包的H表达。在众多不等式中筛选出最优的不等式进行建模，去找S盒的下界。目标函数：minimize active S-boxes。</a:t>
            </a:r>
            <a:endParaRPr lang="en-US" altLang="zh-CN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4365" y="2461895"/>
            <a:ext cx="2980690" cy="3531235"/>
          </a:xfrm>
          <a:prstGeom prst="rect">
            <a:avLst/>
          </a:prstGeom>
        </p:spPr>
      </p:pic>
      <p:sp>
        <p:nvSpPr>
          <p:cNvPr id="100" name="文本框 99"/>
          <p:cNvSpPr txBox="1"/>
          <p:nvPr/>
        </p:nvSpPr>
        <p:spPr>
          <a:xfrm>
            <a:off x="3779520" y="1919605"/>
            <a:ext cx="2510790" cy="464629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/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(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3, 1,-1,-1, 2, 3, 1,-1,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-3,-2,-1, 2, 1,-1,-2,-1, 7,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-1,-1, 2,-1,-2, 2, 2,-1, 4,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 2, 0, 0, 2,-1, 2, 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2, 3, 3, 2,-1,-1, 1,-1,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 1, 0,-1,-1, 0,-1,-1, 4,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-1,-1,-2,-2,-1,-2, 2,-1, 8,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2,-1,-1, 2, 0, 0, 2, 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1,-1,-1,-1, 0,-1,-1, 0, 4,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1,-2, 0, 0, 2, 1, 2, 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-2,-1,-2,-1,-2, 2,-1, 2, 7,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-1,-2, 0,-1, 2,-1,-1,-1, 5,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2, 1, 3, 2,-1,-1,-1, 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3, 2, 0,-1, 3, 2,-1,-1,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0, 3,-1,-1, 2, 3,-1, 3,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 1,-3, 2,-1, 0,-3,-3, 8,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2,-1, 1, 1, 1,-1, 0, 2,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-2,-1, 2,-2,-1,-2,-1, 2, 7,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 1,-1, 1, 0,-1, 1,-1, 0, 2,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-1,-1, 1, 1, 0, 0, 0,-1, 2,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-2, 2, 1, 2, 0, 0, 1, 1, 0,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sz="1200" b="1">
                <a:solidFill>
                  <a:schemeClr val="tx1"/>
                </a:solidFill>
                <a:latin typeface="Calibri" panose="020F0502020204030204" charset="0"/>
                <a:ea typeface="宋体" panose="02010600030101010101" pitchFamily="2" charset="-122"/>
                <a:cs typeface="Times New Roman" panose="02020603050405020304" charset="0"/>
              </a:rPr>
              <a:t>)    </a:t>
            </a:r>
            <a:endParaRPr lang="en-US" sz="1200" b="1">
              <a:solidFill>
                <a:schemeClr val="tx1"/>
              </a:solidFill>
              <a:latin typeface="Calibri" panose="020F0502020204030204" charset="0"/>
              <a:ea typeface="宋体" panose="02010600030101010101" pitchFamily="2" charset="-122"/>
              <a:cs typeface="Times New Roman" panose="02020603050405020304" charset="0"/>
            </a:endParaRPr>
          </a:p>
          <a:p>
            <a:pPr indent="0"/>
            <a:r>
              <a:rPr lang="en-US" altLang="zh-CN" sz="2000">
                <a:solidFill>
                  <a:schemeClr val="tx1"/>
                </a:solidFill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筛选出来的不等式</a:t>
            </a:r>
            <a:endParaRPr lang="en-US" altLang="zh-CN" sz="2000">
              <a:solidFill>
                <a:schemeClr val="tx1"/>
              </a:solidFill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6290310" y="2313940"/>
            <a:ext cx="5582285" cy="1476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形如：</a:t>
            </a:r>
            <a:endParaRPr lang="zh-CN" altLang="en-US"/>
          </a:p>
          <a:p>
            <a:r>
              <a:rPr lang="en-US" altLang="zh-CN"/>
              <a:t>3 x3 + x2 - x1 - x0 + 2 y3 + 3 y2 + y1 - y0 &gt;= 0</a:t>
            </a:r>
            <a:endParaRPr lang="en-US" altLang="zh-CN"/>
          </a:p>
          <a:p>
            <a:r>
              <a:rPr lang="en-US" altLang="zh-CN"/>
              <a:t> - 3 x3 - 2 x2 - x1 + 2 x0 +  y3 - y2 - 2y1 - y0 &gt;= -7</a:t>
            </a:r>
            <a:endParaRPr lang="en-US" altLang="zh-CN"/>
          </a:p>
          <a:p>
            <a:r>
              <a:rPr lang="en-US" altLang="zh-CN"/>
              <a:t> - x3 - x2 + 2 x1 - x0 - 2 y3 + 2 y2 + 2 y1 - y0 &gt;= -4</a:t>
            </a:r>
            <a:endParaRPr lang="en-US" altLang="zh-CN"/>
          </a:p>
          <a:p>
            <a:r>
              <a:rPr lang="en-US" altLang="zh-CN"/>
              <a:t>............. </a:t>
            </a:r>
            <a:endParaRPr lang="en-US" altLang="zh-CN"/>
          </a:p>
        </p:txBody>
      </p:sp>
      <p:sp>
        <p:nvSpPr>
          <p:cNvPr id="6" name="文本框 5"/>
          <p:cNvSpPr txBox="1"/>
          <p:nvPr/>
        </p:nvSpPr>
        <p:spPr>
          <a:xfrm>
            <a:off x="6412865" y="3790315"/>
            <a:ext cx="5899785" cy="28613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zh-CN" altLang="en-US" b="1">
                <a:solidFill>
                  <a:schemeClr val="accent3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参考文献：</a:t>
            </a:r>
            <a:endParaRPr lang="zh-CN" altLang="en-US" b="1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Automatic Security Evaluation and (Related-key) Differential Characteristic Search: Application to SIMON, PRESENT, LBlock, DES(L) and Other Bit-oriented Block Ciphers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孙思维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New Algorithm for Modeling S-box in MILP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Based Differential and Division Trail Search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r>
              <a:rPr lang="en-US" altLang="zh-CN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Sasaki</a:t>
            </a:r>
            <a:endParaRPr lang="en-US" altLang="zh-CN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</p:txBody>
      </p:sp>
      <p:sp>
        <p:nvSpPr>
          <p:cNvPr id="7" name="剪去单角的矩形 6"/>
          <p:cNvSpPr/>
          <p:nvPr/>
        </p:nvSpPr>
        <p:spPr>
          <a:xfrm>
            <a:off x="6412865" y="3790315"/>
            <a:ext cx="5618480" cy="2827655"/>
          </a:xfrm>
          <a:prstGeom prst="snip1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custDataLst>
      <p:tags r:id="rId2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/>
        </p:nvSpPr>
        <p:spPr>
          <a:xfrm>
            <a:off x="374720" y="258515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>
            <a:lvl1pPr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sz="3600" b="1" u="none" strike="noStrike" kern="1200" cap="none" spc="300" normalizeH="0" baseline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</a:defRPr>
            </a:lvl1pPr>
          </a:lstStyle>
          <a:p>
            <a:pPr algn="ctr"/>
            <a:r>
              <a:rPr lang="en-US" altLang="zh-CN"/>
              <a:t>2.Search for Differentials of GIFT-64</a:t>
            </a:r>
            <a:endParaRPr lang="en-US" altLang="zh-CN"/>
          </a:p>
        </p:txBody>
      </p:sp>
      <p:sp>
        <p:nvSpPr>
          <p:cNvPr id="2" name="文本框 1"/>
          <p:cNvSpPr txBox="1"/>
          <p:nvPr/>
        </p:nvSpPr>
        <p:spPr>
          <a:xfrm>
            <a:off x="494030" y="1069975"/>
            <a:ext cx="1121981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2）在Inner-MILP中，将差分的概率信息封装在S盒的凸包中，进行建模去找高概率差分路径。</a:t>
            </a:r>
            <a:endParaRPr lang="en-US" altLang="zh-CN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endParaRPr lang="zh-CN" altLang="en-US" sz="2000">
              <a:latin typeface="+mn-ea"/>
              <a:cs typeface="+mn-ea"/>
            </a:endParaRPr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4385" y="1776730"/>
            <a:ext cx="9671050" cy="1833245"/>
          </a:xfrm>
          <a:prstGeom prst="rect">
            <a:avLst/>
          </a:prstGeom>
        </p:spPr>
      </p:pic>
      <p:sp>
        <p:nvSpPr>
          <p:cNvPr id="7" name="文本框 6"/>
          <p:cNvSpPr txBox="1"/>
          <p:nvPr/>
        </p:nvSpPr>
        <p:spPr>
          <a:xfrm>
            <a:off x="794385" y="3878580"/>
            <a:ext cx="28625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/>
              <a:t>目标函数：</a:t>
            </a:r>
            <a:endParaRPr lang="zh-CN" altLang="en-US"/>
          </a:p>
        </p:txBody>
      </p:sp>
      <p:graphicFrame>
        <p:nvGraphicFramePr>
          <p:cNvPr id="8" name="对象 7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2019935" y="3794760"/>
          <a:ext cx="4659630" cy="5359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4" name="" r:id="rId2" imgW="1917065" imgH="254000" progId="Equation.KSEE3">
                  <p:embed/>
                </p:oleObj>
              </mc:Choice>
              <mc:Fallback>
                <p:oleObj name="" r:id="rId2" imgW="1917065" imgH="2540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019935" y="3794760"/>
                        <a:ext cx="4659630" cy="5359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剪去单角的矩形 8"/>
          <p:cNvSpPr/>
          <p:nvPr/>
        </p:nvSpPr>
        <p:spPr>
          <a:xfrm>
            <a:off x="4545965" y="4648200"/>
            <a:ext cx="7463790" cy="1684655"/>
          </a:xfrm>
          <a:prstGeom prst="snip1Rect">
            <a:avLst/>
          </a:prstGeom>
          <a:noFill/>
          <a:ln w="12700" cmpd="sng">
            <a:solidFill>
              <a:schemeClr val="accent1">
                <a:shade val="5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627245" y="4746625"/>
            <a:ext cx="9043670" cy="175323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l">
              <a:buClrTx/>
              <a:buSzTx/>
              <a:buFontTx/>
              <a:buNone/>
            </a:pPr>
            <a:r>
              <a:rPr lang="zh-CN" altLang="en-US" b="1">
                <a:solidFill>
                  <a:schemeClr val="accent3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参考文献</a:t>
            </a:r>
            <a:endParaRPr lang="zh-CN" altLang="en-US" b="1">
              <a:solidFill>
                <a:schemeClr val="accent3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buClrTx/>
              <a:buSzTx/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Towards Finding the Best Characteristics of Some Bit-oriented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buClrTx/>
              <a:buSzTx/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Block Ciphers and Automatic Enumeration of (Related-key)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buClrTx/>
              <a:buSzTx/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Differential and Linear Characteristics with Predefined Properties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pPr algn="l">
              <a:buClrTx/>
              <a:buSzTx/>
              <a:buNone/>
            </a:pPr>
            <a:r>
              <a:rPr lang="zh-CN" altLang="en-US">
                <a:solidFill>
                  <a:schemeClr val="tx1">
                    <a:lumMod val="65000"/>
                    <a:lumOff val="3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微软雅黑" panose="020B0503020204020204" pitchFamily="34" charset="-122"/>
              </a:rPr>
              <a:t>孙思维</a:t>
            </a:r>
            <a:endParaRPr lang="zh-CN" altLang="en-US">
              <a:solidFill>
                <a:schemeClr val="tx1">
                  <a:lumMod val="65000"/>
                  <a:lumOff val="3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微软雅黑" panose="020B0503020204020204" pitchFamily="34" charset="-122"/>
            </a:endParaRPr>
          </a:p>
          <a:p>
            <a:endParaRPr lang="zh-CN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sz="3555"/>
              <a:t>Improved MILP-based Method to Find Differential for</a:t>
            </a:r>
            <a:br>
              <a:rPr lang="zh-CN" altLang="en-US" sz="3555"/>
            </a:br>
            <a:r>
              <a:rPr lang="zh-CN" altLang="en-US" sz="3555"/>
              <a:t>GIFT-128</a:t>
            </a:r>
            <a:endParaRPr lang="zh-CN" altLang="en-US" sz="3555"/>
          </a:p>
        </p:txBody>
      </p:sp>
    </p:spTree>
    <p:custDataLst>
      <p:tags r:id="rId1"/>
    </p:custData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title"/>
          </p:nvPr>
        </p:nvSpPr>
        <p:spPr>
          <a:xfrm>
            <a:off x="611575" y="557600"/>
            <a:ext cx="10969200" cy="705600"/>
          </a:xfrm>
        </p:spPr>
        <p:txBody>
          <a:bodyPr/>
          <a:lstStyle/>
          <a:p>
            <a:r>
              <a:rPr lang="en-US" altLang="zh-CN"/>
              <a:t> 1.a segmented MILP-based method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1690" y="1796415"/>
            <a:ext cx="10570845" cy="2399030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1695450" y="4797425"/>
            <a:ext cx="911733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假设我们要找一条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r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轮的差分路径，我们首先</a:t>
            </a:r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将r轮分成t段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，</a:t>
            </a:r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为每一段选择一个概率阈值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，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在搜索时</a:t>
            </a:r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确保每一段的差分概率大于相应的阈值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；</a:t>
            </a:r>
            <a:endParaRPr lang="en-US" altLang="zh-CN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选择一个r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轮</a:t>
            </a:r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差分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的</a:t>
            </a:r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概率阈值Ptarget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；</a:t>
            </a:r>
            <a:endParaRPr lang="en-US" altLang="zh-CN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如果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我们最终搜索的结果，</a:t>
            </a:r>
            <a:r>
              <a:rPr lang="en-US" altLang="zh-CN" sz="2000" dirty="0" err="1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t段差分概率的乘积大于Ptarget，保留该解决方案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。</a:t>
            </a:r>
            <a:endParaRPr lang="zh-CN" altLang="en-US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</p:spTree>
    <p:custDataLst>
      <p:tags r:id="rId2"/>
    </p:custData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2.</a:t>
            </a:r>
            <a:r>
              <a:rPr lang="zh-CN" altLang="en-US" dirty="0"/>
              <a:t>如何连接？</a:t>
            </a:r>
            <a:endParaRPr lang="zh-CN" altLang="en-US" dirty="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62935" y="1783080"/>
            <a:ext cx="5859145" cy="2299335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2088515" y="4376420"/>
            <a:ext cx="8093710" cy="13220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（</a:t>
            </a:r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1</a:t>
            </a:r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）将    模型搜索出的差分路径    的输出作为    模型的输入；</a:t>
            </a:r>
            <a:endParaRPr lang="zh-CN" altLang="en-US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（</a:t>
            </a:r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2</a:t>
            </a:r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）如果有可行的解决方案，两端接上，继续往后搜索；否则，将</a:t>
            </a:r>
            <a:endParaRPr lang="zh-CN" altLang="en-US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从    模型中移除，继续在    模型中找新的差分路径，重复（</a:t>
            </a:r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1</a:t>
            </a:r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）；</a:t>
            </a:r>
            <a:endParaRPr lang="zh-CN" altLang="en-US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  <a:p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（</a:t>
            </a:r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3</a:t>
            </a:r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）直至所有分段连接为一条</a:t>
            </a:r>
            <a:r>
              <a:rPr lang="en-US" altLang="zh-CN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r</a:t>
            </a:r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轮的差分路径，搜索结束。</a:t>
            </a:r>
            <a:endParaRPr lang="zh-CN" altLang="en-US" sz="200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graphicFrame>
        <p:nvGraphicFramePr>
          <p:cNvPr id="3" name="对象 2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3042285" y="4342765"/>
          <a:ext cx="508000" cy="401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2" imgW="304800" imgH="241300" progId="Equation.KSEE3">
                  <p:embed/>
                </p:oleObj>
              </mc:Choice>
              <mc:Fallback>
                <p:oleObj name="" r:id="rId2" imgW="304800" imgH="2413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042285" y="4342765"/>
                        <a:ext cx="508000" cy="4019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" name="对象 3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6198235" y="4371340"/>
          <a:ext cx="405765" cy="3448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4" imgW="254000" imgH="215900" progId="Equation.KSEE3">
                  <p:embed/>
                </p:oleObj>
              </mc:Choice>
              <mc:Fallback>
                <p:oleObj name="" r:id="rId4" imgW="254000" imgH="215900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6198235" y="4371340"/>
                        <a:ext cx="405765" cy="3448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7947978" y="4342448"/>
          <a:ext cx="423545" cy="40259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" name="" r:id="rId6" imgW="254000" imgH="241300" progId="Equation.KSEE3">
                  <p:embed/>
                </p:oleObj>
              </mc:Choice>
              <mc:Fallback>
                <p:oleObj name="" r:id="rId6" imgW="254000" imgH="2413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7947978" y="4342448"/>
                        <a:ext cx="423545" cy="40259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对象 8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9674860" y="4716145"/>
          <a:ext cx="405765" cy="3448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" r:id="rId8" imgW="254000" imgH="215900" progId="Equation.KSEE3">
                  <p:embed/>
                </p:oleObj>
              </mc:Choice>
              <mc:Fallback>
                <p:oleObj name="" r:id="rId8" imgW="254000" imgH="215900" progId="Equation.KSEE3">
                  <p:embed/>
                  <p:pic>
                    <p:nvPicPr>
                      <p:cNvPr id="0" name="图片 1025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9674860" y="4716145"/>
                        <a:ext cx="405765" cy="3448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0" name="对象 9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2439035" y="4989195"/>
          <a:ext cx="508000" cy="401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" name="" r:id="rId9" imgW="304800" imgH="241300" progId="Equation.KSEE3">
                  <p:embed/>
                </p:oleObj>
              </mc:Choice>
              <mc:Fallback>
                <p:oleObj name="" r:id="rId9" imgW="304800" imgH="2413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2439035" y="4989195"/>
                        <a:ext cx="508000" cy="4019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" name="对象 11">
            <a:hlinkClick r:id="" action="ppaction://ole?verb="/>
          </p:cNvPr>
          <p:cNvGraphicFramePr>
            <a:graphicFrameLocks noChangeAspect="1"/>
          </p:cNvGraphicFramePr>
          <p:nvPr/>
        </p:nvGraphicFramePr>
        <p:xfrm>
          <a:off x="5238750" y="4989195"/>
          <a:ext cx="508000" cy="40195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" name="" r:id="rId10" imgW="304800" imgH="241300" progId="Equation.KSEE3">
                  <p:embed/>
                </p:oleObj>
              </mc:Choice>
              <mc:Fallback>
                <p:oleObj name="" r:id="rId10" imgW="304800" imgH="241300" progId="Equation.KSEE3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5238750" y="4989195"/>
                        <a:ext cx="508000" cy="40195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11"/>
    </p:custData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11575" y="443935"/>
            <a:ext cx="10969200" cy="705600"/>
          </a:xfrm>
        </p:spPr>
        <p:txBody>
          <a:bodyPr/>
          <a:lstStyle/>
          <a:p>
            <a:r>
              <a:rPr lang="en-US" altLang="zh-CN"/>
              <a:t>3.Application to GIFT-128</a:t>
            </a:r>
            <a:endParaRPr lang="en-US" altLang="zh-CN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04720" y="2809240"/>
            <a:ext cx="7783195" cy="2315210"/>
          </a:xfrm>
          <a:prstGeom prst="rect">
            <a:avLst/>
          </a:prstGeom>
        </p:spPr>
      </p:pic>
      <p:sp>
        <p:nvSpPr>
          <p:cNvPr id="4" name="文本框 3"/>
          <p:cNvSpPr txBox="1"/>
          <p:nvPr/>
        </p:nvSpPr>
        <p:spPr>
          <a:xfrm>
            <a:off x="810260" y="1343660"/>
            <a:ext cx="10770870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子密码段长度的选择：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2 &lt;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 ri &lt; 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6  (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太小这个子密码段没有意义</a:t>
            </a:r>
            <a:r>
              <a:rPr lang="zh-CN" altLang="en-US" sz="200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，太大花费</a:t>
            </a:r>
            <a:r>
              <a:rPr lang="zh-CN" altLang="en-US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时间过长</a:t>
            </a:r>
            <a:r>
              <a:rPr lang="en-US" altLang="zh-CN" sz="2000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</a:rPr>
              <a:t>)</a:t>
            </a:r>
            <a:endParaRPr lang="en-US" altLang="zh-CN" sz="2000" dirty="0">
              <a:latin typeface="楷体" panose="02010609060101010101" charset="-122"/>
              <a:ea typeface="楷体" panose="02010609060101010101" charset="-122"/>
              <a:cs typeface="楷体" panose="02010609060101010101" charset="-122"/>
            </a:endParaRPr>
          </a:p>
        </p:txBody>
      </p:sp>
      <p:graphicFrame>
        <p:nvGraphicFramePr>
          <p:cNvPr id="5" name="对象 4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956945" y="1742440"/>
          <a:ext cx="1350645" cy="484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2" name="" r:id="rId2" imgW="673100" imgH="241300" progId="Equation.KSEE3">
                  <p:embed/>
                </p:oleObj>
              </mc:Choice>
              <mc:Fallback>
                <p:oleObj name="" r:id="rId2" imgW="673100" imgH="2413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956945" y="1742440"/>
                        <a:ext cx="1350645" cy="484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" name="对象 5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2669223" y="1742440"/>
          <a:ext cx="1376680" cy="484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3" name="" r:id="rId4" imgW="685800" imgH="241300" progId="Equation.KSEE3">
                  <p:embed/>
                </p:oleObj>
              </mc:Choice>
              <mc:Fallback>
                <p:oleObj name="" r:id="rId4" imgW="685800" imgH="2413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669223" y="1742440"/>
                        <a:ext cx="1376680" cy="484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" name="对象 7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4491990" y="1742440"/>
          <a:ext cx="1350645" cy="484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4" name="" r:id="rId6" imgW="673100" imgH="241300" progId="Equation.KSEE3">
                  <p:embed/>
                </p:oleObj>
              </mc:Choice>
              <mc:Fallback>
                <p:oleObj name="" r:id="rId6" imgW="673100" imgH="241300" progId="Equation.KSEE3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4491990" y="1742440"/>
                        <a:ext cx="1350645" cy="484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tags r:id="rId8"/>
    </p:custData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FFFFFF"/>
            </a:gs>
            <a:gs pos="100000">
              <a:srgbClr val="D9D9D9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84245" y="996950"/>
            <a:ext cx="4869180" cy="3912870"/>
          </a:xfrm>
          <a:prstGeom prst="rect">
            <a:avLst/>
          </a:prstGeom>
        </p:spPr>
      </p:pic>
      <p:sp>
        <p:nvSpPr>
          <p:cNvPr id="3" name="标题 1"/>
          <p:cNvSpPr>
            <a:spLocks noGrp="1"/>
          </p:cNvSpPr>
          <p:nvPr/>
        </p:nvSpPr>
        <p:spPr>
          <a:xfrm>
            <a:off x="434410" y="291535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>
            <a:lvl1pPr marL="0" marR="0" lvl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zh-CN" altLang="en-US" sz="3600" b="1" i="0" u="none" strike="noStrike" kern="1200" cap="none" spc="300" normalizeH="0" baseline="0" noProof="1" dirty="0">
                <a:solidFill>
                  <a:schemeClr val="tx1">
                    <a:lumMod val="85000"/>
                    <a:lumOff val="15000"/>
                  </a:schemeClr>
                </a:solidFill>
                <a:uFillTx/>
                <a:latin typeface="Arial" panose="020B0604020202020204" pitchFamily="34" charset="0"/>
                <a:ea typeface="微软雅黑" panose="020B0503020204020204" pitchFamily="34" charset="-122"/>
                <a:cs typeface="+mj-cs"/>
                <a:sym typeface="+mn-ea"/>
              </a:defRPr>
            </a:lvl1pPr>
          </a:lstStyle>
          <a:p>
            <a:r>
              <a:rPr lang="en-US" altLang="zh-CN"/>
              <a:t>3.Application to GIFT-128</a:t>
            </a:r>
            <a:endParaRPr lang="en-US" altLang="zh-CN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500" y="5118735"/>
            <a:ext cx="9017635" cy="153733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176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176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6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7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69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0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2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3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4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5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ags/tag76.xml><?xml version="1.0" encoding="utf-8"?>
<p:tagLst xmlns:p="http://schemas.openxmlformats.org/presentationml/2006/main">
  <p:tag name="KSO_WM_BEAUTIFY_FLAG" val="#wm#"/>
  <p:tag name="KSO_WM_TEMPLATE_CATEGORY" val="custom"/>
  <p:tag name="KSO_WM_TEMPLATE_INDEX" val="20205176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默认设计模板">
  <a:themeElements>
    <a:clrScheme name="默认设计模板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默认设计模板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raClrSchemeLst>
    <a:extraClrScheme>
      <a:clrScheme name="默认设计模板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默认设计模板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默认设计模板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2788</Words>
  <Application>WPS 演示</Application>
  <PresentationFormat>宽屏</PresentationFormat>
  <Paragraphs>160</Paragraphs>
  <Slides>16</Slides>
  <Notes>6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2</vt:i4>
      </vt:variant>
      <vt:variant>
        <vt:lpstr>嵌入 OLE 服务器</vt:lpstr>
      </vt:variant>
      <vt:variant>
        <vt:i4>10</vt:i4>
      </vt:variant>
      <vt:variant>
        <vt:lpstr>幻灯片标题</vt:lpstr>
      </vt:variant>
      <vt:variant>
        <vt:i4>16</vt:i4>
      </vt:variant>
    </vt:vector>
  </HeadingPairs>
  <TitlesOfParts>
    <vt:vector size="38" baseType="lpstr">
      <vt:lpstr>Arial</vt:lpstr>
      <vt:lpstr>宋体</vt:lpstr>
      <vt:lpstr>Wingdings</vt:lpstr>
      <vt:lpstr>微软雅黑</vt:lpstr>
      <vt:lpstr>Wingdings</vt:lpstr>
      <vt:lpstr>楷体</vt:lpstr>
      <vt:lpstr>Segoe UI</vt:lpstr>
      <vt:lpstr>Calibri</vt:lpstr>
      <vt:lpstr>Times New Roman</vt:lpstr>
      <vt:lpstr>Arial Unicode MS</vt:lpstr>
      <vt:lpstr>Office 主题​​</vt:lpstr>
      <vt:lpstr>默认设计模板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Equation.KSEE3</vt:lpstr>
      <vt:lpstr>MILP-based Differential Attack on Round-reduced GIFT Baoyu Zhu1, Xiaoyang Dong2, and Hongbo Yu1,3 2019/2/3</vt:lpstr>
      <vt:lpstr>PowerPoint 演示文稿</vt:lpstr>
      <vt:lpstr>1.算法简介</vt:lpstr>
      <vt:lpstr>PowerPoint 演示文稿</vt:lpstr>
      <vt:lpstr>PowerPoint 演示文稿</vt:lpstr>
      <vt:lpstr>PowerPoint 演示文稿</vt:lpstr>
      <vt:lpstr> MILP-based Model to Search Differential Characteristic For GIFT-64</vt:lpstr>
      <vt:lpstr>1.Two-stage search strategy</vt:lpstr>
      <vt:lpstr>PowerPoint 演示文稿</vt:lpstr>
      <vt:lpstr>PowerPoint 演示文稿</vt:lpstr>
      <vt:lpstr>PowerPoint 演示文稿</vt:lpstr>
      <vt:lpstr>Improved MILP-based Method to Find Differential for GIFT-128</vt:lpstr>
      <vt:lpstr> 1.a segmented MILP-based method</vt:lpstr>
      <vt:lpstr>2.如何连接？</vt:lpstr>
      <vt:lpstr>3.Application to GIFT-128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MILP-based Differential Attack on Round-reduced GIFT Baoyu Zhu1, Xiaoyang Dong2, and Hongbo Yu1,3 2019/2/3</dc:title>
  <dc:creator/>
  <cp:lastModifiedBy>Tangerine</cp:lastModifiedBy>
  <cp:revision>234</cp:revision>
  <dcterms:created xsi:type="dcterms:W3CDTF">2019-06-19T02:08:00Z</dcterms:created>
  <dcterms:modified xsi:type="dcterms:W3CDTF">2020-11-23T08:07:29Z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2052-11.1.0.10132</vt:lpwstr>
  </property>
</Properties>
</file>