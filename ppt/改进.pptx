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84" r:id="rId7"/>
    <p:sldId id="285" r:id="rId8"/>
    <p:sldId id="260" r:id="rId9"/>
    <p:sldId id="262" r:id="rId10"/>
    <p:sldId id="264" r:id="rId11"/>
    <p:sldId id="273" r:id="rId12"/>
    <p:sldId id="321" r:id="rId13"/>
    <p:sldId id="308" r:id="rId14"/>
    <p:sldId id="320" r:id="rId15"/>
    <p:sldId id="265" r:id="rId16"/>
    <p:sldId id="267" r:id="rId17"/>
    <p:sldId id="268" r:id="rId18"/>
    <p:sldId id="269" r:id="rId19"/>
    <p:sldId id="296" r:id="rId20"/>
    <p:sldId id="297" r:id="rId21"/>
    <p:sldId id="270" r:id="rId22"/>
    <p:sldId id="300" r:id="rId23"/>
    <p:sldId id="302" r:id="rId24"/>
    <p:sldId id="305" r:id="rId25"/>
    <p:sldId id="271" r:id="rId26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56D167E-0933-4B72-B30C-9AE094F47A85}">
          <p14:sldIdLst>
            <p14:sldId id="256"/>
            <p14:sldId id="258"/>
          </p14:sldIdLst>
        </p14:section>
        <p14:section name="无标题节" id="{21A85184-17EA-4D34-B646-8448D4FA895E}">
          <p14:sldIdLst>
            <p14:sldId id="257"/>
            <p14:sldId id="259"/>
            <p14:sldId id="284"/>
            <p14:sldId id="285"/>
            <p14:sldId id="260"/>
            <p14:sldId id="262"/>
            <p14:sldId id="264"/>
            <p14:sldId id="273"/>
            <p14:sldId id="321"/>
            <p14:sldId id="308"/>
            <p14:sldId id="320"/>
          </p14:sldIdLst>
        </p14:section>
        <p14:section name="无标题节" id="{5EE41D53-CA4D-42C1-B071-D6F233960489}">
          <p14:sldIdLst>
            <p14:sldId id="265"/>
            <p14:sldId id="267"/>
            <p14:sldId id="268"/>
            <p14:sldId id="296"/>
            <p14:sldId id="297"/>
            <p14:sldId id="269"/>
          </p14:sldIdLst>
        </p14:section>
        <p14:section name="无标题节" id="{F2B3A4C9-2983-49D3-A900-96AAAFAFE83B}">
          <p14:sldIdLst>
            <p14:sldId id="270"/>
            <p14:sldId id="300"/>
            <p14:sldId id="302"/>
            <p14:sldId id="305"/>
            <p14:sldId id="27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gl002" initials="w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76672" cy="38496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2276475"/>
            <a:ext cx="5376672" cy="38496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r>
              <a:rPr lang="zh-CN" altLang="en-US" strike="noStrike" noProof="1"/>
              <a:t>单击图标添加图片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0313" y="981075"/>
            <a:ext cx="2746904" cy="514508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81075"/>
            <a:ext cx="8081472" cy="514508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24417" y="98107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09600" y="2276475"/>
            <a:ext cx="10972800" cy="38496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425B4BC6-B3A8-4ADE-BC25-A71C0AEEBF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8D1D95CE-D62D-483D-A457-8A642A840A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3.png"/><Relationship Id="rId3" Type="http://schemas.openxmlformats.org/officeDocument/2006/relationships/image" Target="../media/image22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wmf"/><Relationship Id="rId1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28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8005" y="1537335"/>
            <a:ext cx="110953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Improvement on the Method for </a:t>
            </a:r>
            <a:r>
              <a:rPr lang="zh-CN" altLang="en-US" sz="32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Automatic Differential Analysis</a:t>
            </a:r>
            <a:r>
              <a:rPr lang="zh-CN" altLang="en-US" sz="32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 and Its Application to Two Lightweight Block Ciphers DESL and LBlock-s</a:t>
            </a:r>
            <a:endParaRPr lang="zh-CN" altLang="en-US" sz="3200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3691255"/>
            <a:ext cx="1100899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Author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</a:t>
            </a:r>
            <a:r>
              <a:rPr lang="zh-CN" altLang="en-US" sz="2000">
                <a:uFillTx/>
                <a:latin typeface="Times New Roman" panose="02020603050405020304" charset="0"/>
                <a:ea typeface="微软雅黑" panose="020B0503020204020204" charset="-122"/>
              </a:rPr>
              <a:t>Siwei Sun，Lei Hu，Kexin Qiao，Xiaoshuang Ma，Ling Song</a:t>
            </a:r>
            <a:endParaRPr lang="zh-CN" altLang="en-US" sz="20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Keywords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Automatic cryptanalysis · Security evaluation · Related-key differential attack · Authenticated encryption · Mixed-Integer LinearProgramming</a:t>
            </a:r>
            <a:endParaRPr lang="en-US" altLang="zh-CN" sz="20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Conference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International Workshop on Security——IWSEC</a:t>
            </a:r>
            <a:endParaRPr lang="en-US" altLang="zh-CN" sz="20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000" b="1">
                <a:uFillTx/>
                <a:latin typeface="Times New Roman" panose="02020603050405020304" charset="0"/>
                <a:ea typeface="微软雅黑" panose="020B0503020204020204" charset="-122"/>
              </a:rPr>
              <a:t>Time</a:t>
            </a:r>
            <a:r>
              <a:rPr lang="en-US" altLang="zh-CN" sz="2000">
                <a:uFillTx/>
                <a:latin typeface="Times New Roman" panose="02020603050405020304" charset="0"/>
                <a:ea typeface="微软雅黑" panose="020B0503020204020204" charset="-122"/>
              </a:rPr>
              <a:t>: 2015/8/26</a:t>
            </a:r>
            <a:endParaRPr lang="en-US" altLang="zh-CN" sz="20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73710" y="1421130"/>
            <a:ext cx="1124458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</a:pPr>
            <a:r>
              <a:rPr lang="en-US" altLang="zh-CN" sz="3200" b="1">
                <a:uFillTx/>
                <a:latin typeface="Times New Roman" panose="02020603050405020304" charset="0"/>
                <a:ea typeface="微软雅黑" panose="020B0503020204020204" charset="-122"/>
              </a:rPr>
              <a:t>main ideas:</a:t>
            </a:r>
            <a:endParaRPr lang="en-US" altLang="zh-CN" sz="3200" b="1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Font typeface="+mj-lt"/>
            </a:pP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introduce some </a:t>
            </a:r>
            <a:r>
              <a:rPr lang="zh-CN" altLang="en-US" sz="2800">
                <a:uFillTx/>
                <a:latin typeface="Times New Roman" panose="02020603050405020304" charset="0"/>
                <a:ea typeface="微软雅黑" panose="020B0503020204020204" charset="-122"/>
              </a:rPr>
              <a:t>methods for finding the best differential characteristic of a cipher</a:t>
            </a:r>
            <a:endParaRPr lang="zh-CN" altLang="en-US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how to use the MILP based methods in a clever way such that better characteristics can be found</a:t>
            </a: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zh-CN" sz="2800">
                <a:uFillTx/>
                <a:latin typeface="Times New Roman" panose="02020603050405020304" charset="0"/>
                <a:ea typeface="微软雅黑" panose="020B0503020204020204" charset="-122"/>
              </a:rPr>
              <a:t>apply to two lightweight block cipers DESL and LBlock-s</a:t>
            </a:r>
            <a:endParaRPr lang="en-US" altLang="zh-CN" sz="2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12" y="1453515"/>
            <a:ext cx="10972800" cy="1143000"/>
          </a:xfrm>
        </p:spPr>
        <p:txBody>
          <a:bodyPr/>
          <a:lstStyle/>
          <a:p>
            <a:pPr algn="l"/>
            <a:r>
              <a:rPr lang="en-US" altLang="zh-CN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1.</a:t>
            </a:r>
            <a:r>
              <a:rPr lang="zh-CN" altLang="en-US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methods for finding the best differential characteristic of a cipher</a:t>
            </a:r>
            <a:br>
              <a:rPr lang="zh-CN" altLang="en-US" dirty="0">
                <a:uFillTx/>
                <a:latin typeface="Times New Roman" panose="02020603050405020304" charset="0"/>
                <a:ea typeface="微软雅黑" panose="020B0503020204020204" charset="-122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596515"/>
            <a:ext cx="11186160" cy="3543028"/>
          </a:xfrm>
        </p:spPr>
        <p:txBody>
          <a:bodyPr/>
          <a:lstStyle/>
          <a:p>
            <a:r>
              <a:rPr lang="en-US" altLang="zh-CN" sz="2800" dirty="0" err="1">
                <a:uFillTx/>
                <a:latin typeface="Times New Roman" panose="02020603050405020304" charset="0"/>
                <a:ea typeface="微软雅黑" panose="020B0503020204020204" charset="-122"/>
              </a:rPr>
              <a:t>Matusi's</a:t>
            </a:r>
            <a:r>
              <a:rPr lang="en-US" altLang="zh-CN" sz="2800" dirty="0">
                <a:uFillTx/>
                <a:latin typeface="Times New Roman" panose="02020603050405020304" charset="0"/>
                <a:ea typeface="微软雅黑" panose="020B0503020204020204" charset="-122"/>
              </a:rPr>
              <a:t> branch-and-bound depth-first search algorithm</a:t>
            </a:r>
            <a:endParaRPr lang="en-US" altLang="zh-CN" sz="2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2400" dirty="0">
                <a:uFillTx/>
                <a:latin typeface="Times New Roman" panose="02020603050405020304" charset="0"/>
                <a:ea typeface="微软雅黑" panose="020B0503020204020204" charset="-122"/>
              </a:rPr>
              <a:t>     分支定界深度优先搜索算法</a:t>
            </a:r>
            <a:endParaRPr lang="en-US" altLang="zh-CN" sz="24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800" dirty="0" err="1">
                <a:uFillTx/>
                <a:latin typeface="Times New Roman" panose="02020603050405020304" charset="0"/>
                <a:ea typeface="微软雅黑" panose="020B0503020204020204" charset="-122"/>
              </a:rPr>
              <a:t>Biryukov</a:t>
            </a:r>
            <a:r>
              <a:rPr lang="en-US" altLang="zh-CN" sz="2800" dirty="0">
                <a:uFillTx/>
                <a:latin typeface="Times New Roman" panose="02020603050405020304" charset="0"/>
                <a:ea typeface="微软雅黑" panose="020B0503020204020204" charset="-122"/>
              </a:rPr>
              <a:t> et </a:t>
            </a:r>
            <a:r>
              <a:rPr lang="en-US" altLang="zh-CN" sz="2800" dirty="0" err="1">
                <a:uFillTx/>
                <a:latin typeface="Times New Roman" panose="02020603050405020304" charset="0"/>
                <a:ea typeface="微软雅黑" panose="020B0503020204020204" charset="-122"/>
              </a:rPr>
              <a:t>al.extend</a:t>
            </a:r>
            <a:r>
              <a:rPr lang="en-US" altLang="zh-CN" sz="2800" dirty="0">
                <a:uFillTx/>
                <a:latin typeface="Times New Roman" panose="02020603050405020304" charset="0"/>
                <a:ea typeface="微软雅黑" panose="020B0503020204020204" charset="-122"/>
              </a:rPr>
              <a:t> Matsui's algorithm by using the partial (rather than the full) difference distribution table (</a:t>
            </a:r>
            <a:r>
              <a:rPr lang="en-US" altLang="zh-CN" sz="2800" dirty="0" err="1">
                <a:uFillTx/>
                <a:latin typeface="Times New Roman" panose="02020603050405020304" charset="0"/>
                <a:ea typeface="微软雅黑" panose="020B0503020204020204" charset="-122"/>
              </a:rPr>
              <a:t>pDDT</a:t>
            </a:r>
            <a:r>
              <a:rPr lang="en-US" altLang="zh-CN" sz="2800" dirty="0">
                <a:uFillTx/>
                <a:latin typeface="Times New Roman" panose="02020603050405020304" charset="0"/>
                <a:ea typeface="微软雅黑" panose="020B0503020204020204" charset="-122"/>
              </a:rPr>
              <a:t>)</a:t>
            </a:r>
            <a:r>
              <a:rPr lang="zh-CN" altLang="en-US" sz="2400" dirty="0">
                <a:uFillTx/>
                <a:latin typeface="Times New Roman" panose="02020603050405020304" charset="0"/>
                <a:ea typeface="微软雅黑" panose="020B0503020204020204" charset="-122"/>
              </a:rPr>
              <a:t>部分差异分布表</a:t>
            </a:r>
            <a:endParaRPr lang="zh-CN" altLang="en-US" sz="24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800" dirty="0">
                <a:uFillTx/>
                <a:latin typeface="Times New Roman" panose="02020603050405020304" charset="0"/>
                <a:ea typeface="微软雅黑" panose="020B0503020204020204" charset="-122"/>
              </a:rPr>
              <a:t>a breadth-first search based on the Dijkstra’s algorithm</a:t>
            </a:r>
            <a:endParaRPr lang="en-US" altLang="zh-CN" sz="2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charset="0"/>
                <a:ea typeface="微软雅黑" panose="020B0503020204020204" charset="-122"/>
              </a:rPr>
              <a:t>    </a:t>
            </a:r>
            <a:r>
              <a:rPr lang="zh-CN" altLang="en-US" sz="2400" dirty="0">
                <a:latin typeface="Times New Roman" panose="02020603050405020304" charset="0"/>
                <a:ea typeface="微软雅黑" panose="020B0503020204020204" charset="-122"/>
              </a:rPr>
              <a:t>基于迪杰斯特拉算法的广度搜索算法</a:t>
            </a:r>
            <a:endParaRPr lang="en-US" altLang="zh-CN" sz="2400" dirty="0"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2800" b="1" dirty="0">
                <a:uFillTx/>
                <a:latin typeface="Times New Roman" panose="02020603050405020304" charset="0"/>
                <a:ea typeface="微软雅黑" panose="020B0503020204020204" charset="-122"/>
              </a:rPr>
              <a:t>SAT or Mixed-Integer Linear Programming (MILP) </a:t>
            </a:r>
            <a:r>
              <a:rPr lang="zh-CN" altLang="en-US" sz="2800" b="1" dirty="0">
                <a:uFillTx/>
                <a:latin typeface="Times New Roman" panose="02020603050405020304" charset="0"/>
                <a:ea typeface="微软雅黑" panose="020B0503020204020204" charset="-122"/>
              </a:rPr>
              <a:t>建模</a:t>
            </a:r>
            <a:endParaRPr lang="zh-CN" altLang="en-US" sz="2800" b="1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18770" y="1055370"/>
            <a:ext cx="67741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分支定界</a:t>
            </a:r>
            <a:endParaRPr lang="zh-CN" altLang="en-US" sz="28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8770" y="1577340"/>
            <a:ext cx="1155446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分支定界法（branch and bound）是一种求解整数规划问题的最常用算法。这种方法不但可以求解纯整数规划，还可以求解混合整数规划问题。分支定界法是一种搜索与迭代的方法，选择不同的分支变量和子问题进行分支。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通常，把全部可行解空间反复地分割为越来越小的子集，称为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分枝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；并且对每个子集内的解集计算一个目标上界或下界，这称为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定界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。在每次分枝后，凡是界限超出已知可行解集目标值的那些子集不再进一步分枝，这样，许多子集可不予考虑，这称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剪枝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分支定界算法始终围绕着一颗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搜索树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进行的，我们将原问题看作搜索树的根节点，从这里出发，分支的含义就是将大的问题分割成小的问题。大问题可以看成是搜索树的父节点，那么从大问题分割出来的小问题就是父节点的子节点了。分支的过程就是不断给树增加子节点的过程。而定界就是在分支的过程中检查子问题的上下界，如果子问题不能产生一比当前最优解还要优的解，那么砍掉这一支。直到所有子问题都不能产生一个更优的解时，算法结束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895" y="1123315"/>
            <a:ext cx="5753100" cy="1219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9110" y="1123315"/>
            <a:ext cx="1729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+mj-ea"/>
                <a:ea typeface="+mj-ea"/>
              </a:rPr>
              <a:t>举个例子</a:t>
            </a:r>
            <a:endParaRPr lang="zh-CN" altLang="en-US" sz="2000" b="1"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18465" y="2407920"/>
            <a:ext cx="112185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1935" y="2644140"/>
            <a:ext cx="11555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1.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设立一个初始变量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Best = </a:t>
            </a:r>
            <a:r>
              <a:rPr 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-INF</a:t>
            </a:r>
            <a:endParaRPr lang="en-US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2.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从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x3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开始分支，将大问题转化成两个新的小问题，不考虑整数条件，将余下的目标函数和约束条件构成的线性问</a:t>
            </a: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/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题称之为松弛问题，并求出该松弛问题的上界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Z_LP1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Z_LP2;</a:t>
            </a:r>
            <a:endParaRPr lang="en-US" altLang="zh-CN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566160"/>
            <a:ext cx="8343265" cy="250888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644525" y="5028565"/>
            <a:ext cx="3867785" cy="104648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808855" y="4947920"/>
            <a:ext cx="4057650" cy="112776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95410" y="3667125"/>
            <a:ext cx="3086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chemeClr val="tx1"/>
                </a:solidFill>
              </a:rPr>
              <a:t>Tips:</a:t>
            </a:r>
            <a:r>
              <a:rPr lang="zh-CN" altLang="en-US" sz="1800">
                <a:solidFill>
                  <a:schemeClr val="tx1"/>
                </a:solidFill>
              </a:rPr>
              <a:t>为什么要将整形规划问题转化为它的松弛问题求解？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对于一个求最优解的问题，通过把{0,1}变量松弛成[0,1]，等于增加了可行解的个数（可行域的范围），这样该最小化问题就有可能得到比原问题更好（小）的解。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973185" y="3514725"/>
            <a:ext cx="3042285" cy="2495550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4495" y="1204595"/>
            <a:ext cx="7968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3.由于Z_LP1、Z_LP2都大于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初始变量Best，所以我们继续向下分支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1708785"/>
            <a:ext cx="6470015" cy="2599690"/>
          </a:xfrm>
          <a:prstGeom prst="rect">
            <a:avLst/>
          </a:prstGeom>
        </p:spPr>
      </p:pic>
      <p:sp>
        <p:nvSpPr>
          <p:cNvPr id="4" name="乘号 3"/>
          <p:cNvSpPr/>
          <p:nvPr/>
        </p:nvSpPr>
        <p:spPr>
          <a:xfrm>
            <a:off x="1690370" y="2784475"/>
            <a:ext cx="532130" cy="57023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974850" y="3817620"/>
            <a:ext cx="2336165" cy="26733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8645" y="4538980"/>
            <a:ext cx="7501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子问题4可得到一个最优解10，因更新best值为10，再继续找更优的解，以此类推，再向下进行分支、定界、剪枝，更新........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933690" y="1204595"/>
            <a:ext cx="13335" cy="4257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89265" y="1204595"/>
            <a:ext cx="370967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由于分支定界是围绕一棵搜索树展开的，那么对于一棵树来说有很多种搜索方式：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1.</a:t>
            </a:r>
            <a:r>
              <a:rPr lang="zh-CN" altLang="en-US" dirty="0"/>
              <a:t>深度优先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广度优先</a:t>
            </a:r>
            <a:endParaRPr lang="zh-CN" altLang="en-US" dirty="0"/>
          </a:p>
          <a:p>
            <a:r>
              <a:rPr lang="en-US" altLang="zh-CN" dirty="0"/>
              <a:t>3.最佳优先搜索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文中提到</a:t>
            </a:r>
            <a:endParaRPr lang="zh-CN" altLang="en-US" dirty="0"/>
          </a:p>
          <a:p>
            <a:r>
              <a:rPr lang="zh-CN" altLang="en-US" dirty="0"/>
              <a:t>《Structural Evaluation of AES and Chosen-Key Distinguisher of 9-round AES-128》</a:t>
            </a:r>
            <a:endParaRPr lang="zh-CN" altLang="en-US" dirty="0"/>
          </a:p>
          <a:p>
            <a:r>
              <a:rPr lang="zh-CN" altLang="en-US" dirty="0"/>
              <a:t>基于迪杰斯特拉算法的广度优先搜索算法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7830" y="1271905"/>
            <a:ext cx="6675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分支定界深度优先搜索算法——</a:t>
            </a:r>
            <a:r>
              <a:rPr lang="zh-CN" altLang="en-US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局限性</a:t>
            </a:r>
            <a:endParaRPr lang="zh-CN" altLang="en-US" sz="28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830" y="1951355"/>
            <a:ext cx="109620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  <a:cs typeface="+mn-ea"/>
              </a:rPr>
              <a:t>1. </a:t>
            </a:r>
            <a:r>
              <a:rPr lang="zh-CN" altLang="en-US" sz="2000" dirty="0">
                <a:latin typeface="+mn-ea"/>
                <a:ea typeface="+mn-ea"/>
                <a:cs typeface="+mn-ea"/>
              </a:rPr>
              <a:t>Matusi的方法不适用于相关密钥模型，尽管有人拓展了</a:t>
            </a:r>
            <a:r>
              <a:rPr lang="en-US" altLang="zh-CN" sz="2000" dirty="0" err="1">
                <a:latin typeface="+mn-ea"/>
                <a:ea typeface="+mn-ea"/>
                <a:cs typeface="+mn-ea"/>
              </a:rPr>
              <a:t>Matusi</a:t>
            </a:r>
            <a:r>
              <a:rPr lang="zh-CN" altLang="en-US" sz="2000" dirty="0">
                <a:latin typeface="+mn-ea"/>
                <a:ea typeface="+mn-ea"/>
                <a:cs typeface="+mn-ea"/>
              </a:rPr>
              <a:t>的方法使之可以应用于相关密钥模型，但这种方法对于使用非线性密钥调度算法的密码不太有用。</a:t>
            </a:r>
            <a:endParaRPr lang="zh-CN" altLang="en-US" sz="2000" dirty="0">
              <a:latin typeface="+mn-ea"/>
              <a:ea typeface="+mn-ea"/>
              <a:cs typeface="+mn-ea"/>
            </a:endParaRPr>
          </a:p>
          <a:p>
            <a:endParaRPr lang="zh-CN" altLang="en-US" sz="2000" dirty="0">
              <a:latin typeface="+mn-ea"/>
              <a:ea typeface="+mn-ea"/>
              <a:cs typeface="+mn-ea"/>
            </a:endParaRPr>
          </a:p>
          <a:p>
            <a:r>
              <a:rPr lang="en-US" altLang="zh-CN" sz="2000" dirty="0">
                <a:latin typeface="+mn-ea"/>
                <a:ea typeface="+mn-ea"/>
                <a:cs typeface="+mn-ea"/>
              </a:rPr>
              <a:t>2. </a:t>
            </a:r>
            <a:r>
              <a:rPr lang="zh-CN" altLang="en-US" sz="2000" dirty="0">
                <a:latin typeface="+mn-ea"/>
                <a:ea typeface="+mn-ea"/>
                <a:cs typeface="+mn-ea"/>
                <a:sym typeface="+mn-ea"/>
              </a:rPr>
              <a:t>Matusi</a:t>
            </a:r>
            <a:r>
              <a:rPr lang="zh-CN" altLang="en-US" sz="2000" dirty="0">
                <a:latin typeface="+mn-ea"/>
                <a:ea typeface="+mn-ea"/>
                <a:cs typeface="+mn-ea"/>
              </a:rPr>
              <a:t>的方法对于很多密码算法无法找到最佳差分路径，该方法中的一些加速技术与所应用的特定密码的特定性质密切相关，因此实现困难，通用性不高。</a:t>
            </a:r>
            <a:endParaRPr lang="zh-CN" altLang="en-US" sz="2000" dirty="0">
              <a:latin typeface="+mn-ea"/>
              <a:ea typeface="+mn-ea"/>
              <a:cs typeface="+mn-ea"/>
            </a:endParaRPr>
          </a:p>
          <a:p>
            <a:endParaRPr lang="zh-CN" altLang="en-US" sz="2000" dirty="0">
              <a:latin typeface="+mn-ea"/>
              <a:ea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5940" y="4624070"/>
            <a:ext cx="109620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 err="1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Biryukov</a:t>
            </a:r>
            <a:r>
              <a:rPr lang="en-US" altLang="zh-CN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 et </a:t>
            </a:r>
            <a:r>
              <a:rPr lang="en-US" altLang="zh-CN" dirty="0" err="1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al.extend</a:t>
            </a:r>
            <a:r>
              <a:rPr lang="en-US" altLang="zh-CN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 Matsui's algorithm by using the partial (rather than the full) difference distribution table (</a:t>
            </a:r>
            <a:r>
              <a:rPr lang="en-US" altLang="zh-CN" dirty="0" err="1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pDDT</a:t>
            </a:r>
            <a:r>
              <a:rPr lang="en-US" altLang="zh-CN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部分差异分布表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5940" y="3889375"/>
            <a:ext cx="6675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分支定界深度优先搜索算法</a:t>
            </a:r>
            <a:r>
              <a:rPr lang="zh-CN" altLang="en-US" sz="28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的拓展</a:t>
            </a:r>
            <a:endParaRPr lang="zh-CN" altLang="en-US" sz="28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Mouha's method</a:t>
            </a:r>
            <a:endParaRPr lang="en-US" altLang="zh-CN"/>
          </a:p>
          <a:p>
            <a:r>
              <a:rPr lang="en-US" altLang="zh-CN"/>
              <a:t>Sun's method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31165" y="114998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MILP</a:t>
            </a:r>
            <a:r>
              <a:rPr lang="zh-CN" alt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建模</a:t>
            </a:r>
            <a:endParaRPr lang="zh-CN" alt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814830"/>
            <a:ext cx="10972800" cy="4311650"/>
          </a:xfrm>
        </p:spPr>
        <p:txBody>
          <a:bodyPr/>
          <a:lstStyle/>
          <a:p>
            <a:r>
              <a:rPr lang="zh-CN" altLang="en-US" sz="2400"/>
              <a:t>对输入输出差分，引入一个新变量</a:t>
            </a:r>
            <a:r>
              <a:rPr lang="en-US" altLang="zh-CN" sz="2400"/>
              <a:t>xi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r>
              <a:rPr lang="zh-CN" altLang="en-US" sz="2400" dirty="0">
                <a:sym typeface="+mn-ea"/>
              </a:rPr>
              <a:t>对于每个</a:t>
            </a:r>
            <a:r>
              <a:rPr lang="en-US" altLang="zh-CN" sz="2400" dirty="0">
                <a:sym typeface="+mn-ea"/>
              </a:rPr>
              <a:t>S</a:t>
            </a:r>
            <a:r>
              <a:rPr lang="zh-CN" altLang="en-US" sz="2400" dirty="0">
                <a:sym typeface="+mn-ea"/>
              </a:rPr>
              <a:t>盒，引入一个</a:t>
            </a:r>
            <a:r>
              <a:rPr lang="en-US" altLang="zh-CN" sz="2400" dirty="0">
                <a:sym typeface="+mn-ea"/>
              </a:rPr>
              <a:t>0-1</a:t>
            </a:r>
            <a:r>
              <a:rPr lang="zh-CN" altLang="en-US" sz="2400" dirty="0">
                <a:sym typeface="+mn-ea"/>
              </a:rPr>
              <a:t>变量使得</a:t>
            </a:r>
            <a:endParaRPr lang="en-US" altLang="zh-CN" sz="2400" dirty="0"/>
          </a:p>
          <a:p>
            <a:endParaRPr lang="en-US" altLang="zh-CN" sz="2400"/>
          </a:p>
          <a:p>
            <a:endParaRPr lang="en-US" altLang="zh-CN" sz="2400"/>
          </a:p>
          <a:p>
            <a:pPr marL="457200" lvl="1" indent="0"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	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marL="457200" lvl="1" indent="0"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	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   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48130" y="2600325"/>
            <a:ext cx="7212330" cy="935990"/>
            <a:chOff x="2213" y="3644"/>
            <a:chExt cx="11358" cy="1474"/>
          </a:xfrm>
        </p:grpSpPr>
        <p:graphicFrame>
          <p:nvGraphicFramePr>
            <p:cNvPr id="5" name="对象 4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2213" y="4011"/>
            <a:ext cx="523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3" name="" r:id="rId1" imgW="165100" imgH="215900" progId="Equation.KSEE3">
                    <p:embed/>
                  </p:oleObj>
                </mc:Choice>
                <mc:Fallback>
                  <p:oleObj name="" r:id="rId1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13" y="4011"/>
                          <a:ext cx="523" cy="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左大括号 5"/>
            <p:cNvSpPr/>
            <p:nvPr/>
          </p:nvSpPr>
          <p:spPr>
            <a:xfrm>
              <a:off x="2990" y="3780"/>
              <a:ext cx="717" cy="1147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961" y="3644"/>
              <a:ext cx="96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r>
                <a:rPr lang="zh-CN" altLang="en-US" dirty="0"/>
                <a:t>，</a:t>
              </a:r>
              <a:r>
                <a:rPr lang="en-US" altLang="zh-CN" dirty="0"/>
                <a:t> the XOR difference at this position is 1  </a:t>
              </a:r>
              <a:endParaRPr lang="en-US" altLang="zh-CN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961" y="4538"/>
              <a:ext cx="6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t>0</a:t>
              </a:r>
              <a:r>
                <a:rPr lang="zh-CN"/>
                <a:t>，</a:t>
              </a:r>
              <a:r>
                <a:t> if there is no difference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29" y="4639310"/>
            <a:ext cx="7212965" cy="1137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4350" y="1963420"/>
            <a:ext cx="112280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+mn-ea"/>
                <a:sym typeface="+mn-ea"/>
              </a:rPr>
              <a:t>Objective Function、</a:t>
            </a: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algn="l">
              <a:buFont typeface="Arial" panose="020B0604020202020204" pitchFamily="34" charset="0"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由活跃</a:t>
            </a:r>
            <a:r>
              <a:rPr lang="en-US" altLang="zh-CN" sz="2400" dirty="0">
                <a:sym typeface="+mn-ea"/>
              </a:rPr>
              <a:t>S</a:t>
            </a:r>
            <a:r>
              <a:rPr lang="zh-CN" altLang="en-US" sz="2400" dirty="0">
                <a:sym typeface="+mn-ea"/>
              </a:rPr>
              <a:t>盒数量的下界来确定差分路径的上界</a:t>
            </a:r>
            <a:endParaRPr lang="zh-CN" alt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+mn-ea"/>
                <a:sym typeface="+mn-ea"/>
              </a:rPr>
              <a:t>Constraints</a:t>
            </a: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+mn-ea"/>
                <a:sym typeface="+mn-ea"/>
              </a:rPr>
              <a:t>对于每个异或操作</a:t>
            </a: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algn="l"/>
            <a:endParaRPr lang="zh-CN" altLang="en-US" sz="2400" dirty="0">
              <a:latin typeface="+mn-lt"/>
              <a:ea typeface="+mn-ea"/>
              <a:sym typeface="+mn-ea"/>
            </a:endParaRPr>
          </a:p>
          <a:p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0755" y="1963420"/>
            <a:ext cx="1106805" cy="469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10" y="3627120"/>
            <a:ext cx="9519285" cy="13823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170" y="2999105"/>
            <a:ext cx="2267585" cy="5124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 dirty="0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965" y="1706880"/>
            <a:ext cx="112280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+mn-ea"/>
                <a:sym typeface="+mn-ea"/>
              </a:rPr>
              <a:t>Constraints</a:t>
            </a: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+mn-ea"/>
                <a:sym typeface="+mn-ea"/>
              </a:rPr>
              <a:t>假设                                                   是</a:t>
            </a:r>
            <a:r>
              <a:rPr lang="en-US" altLang="zh-CN" sz="2400" dirty="0">
                <a:latin typeface="+mn-lt"/>
                <a:ea typeface="+mn-ea"/>
                <a:sym typeface="+mn-ea"/>
              </a:rPr>
              <a:t>S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盒的输入差分盒输出差分</a:t>
            </a: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algn="l"/>
            <a:endParaRPr lang="zh-CN" altLang="en-US" sz="2400" dirty="0">
              <a:latin typeface="+mn-lt"/>
              <a:ea typeface="+mn-ea"/>
              <a:sym typeface="+mn-ea"/>
            </a:endParaRPr>
          </a:p>
          <a:p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870" y="2105025"/>
            <a:ext cx="4110482" cy="3321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69533" y="2437130"/>
            <a:ext cx="6429093" cy="645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首先当且仅当输入差分非</a:t>
            </a:r>
            <a:r>
              <a:rPr lang="en-US" altLang="zh-CN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0</a:t>
            </a:r>
            <a:r>
              <a:rPr lang="zh-CN" altLang="en-US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时</a:t>
            </a:r>
            <a:r>
              <a:rPr lang="en-US" altLang="zh-CN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,</a:t>
            </a:r>
            <a:r>
              <a:rPr lang="zh-CN" altLang="en-US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At =1</a:t>
            </a:r>
            <a:r>
              <a:rPr lang="zh-CN" altLang="en-US" dirty="0">
                <a:latin typeface="Times New Roman" panose="02020603050405020304" charset="0"/>
                <a:ea typeface="微软雅黑" panose="020B0503020204020204" charset="-122"/>
                <a:sym typeface="+mn-ea"/>
              </a:rPr>
              <a:t> ，所以 有如下式子</a:t>
            </a:r>
            <a:r>
              <a:rPr lang="zh-CN" altLang="en-US" dirty="0">
                <a:sym typeface="+mn-ea"/>
              </a:rPr>
              <a:t>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73" y="2744617"/>
            <a:ext cx="7649210" cy="254240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607065" y="5410360"/>
            <a:ext cx="817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ds = {0,1} , Bs</a:t>
            </a:r>
            <a:r>
              <a:rPr lang="zh-CN" altLang="en-US" dirty="0"/>
              <a:t>是</a:t>
            </a:r>
            <a:r>
              <a:rPr lang="en-US" altLang="zh-CN" dirty="0"/>
              <a:t>S</a:t>
            </a:r>
            <a:r>
              <a:rPr lang="zh-CN" altLang="en-US" dirty="0"/>
              <a:t>盒的分支数</a:t>
            </a:r>
            <a:r>
              <a:rPr lang="en-US" altLang="zh-CN" dirty="0"/>
              <a:t> = </a:t>
            </a:r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435" y="5410360"/>
            <a:ext cx="504698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4495" y="1123315"/>
            <a:ext cx="6675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</a:t>
            </a:r>
            <a:endParaRPr lang="en-US" sz="3200" b="1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965" y="1719943"/>
            <a:ext cx="112280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+mn-ea"/>
                <a:sym typeface="+mn-ea"/>
              </a:rPr>
              <a:t>Constraints</a:t>
            </a: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lvl="2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+mn-ea"/>
                <a:sym typeface="+mn-ea"/>
              </a:rPr>
              <a:t>对于双射S盒而言，非0输入必然导致非0输出，反之亦然。</a:t>
            </a: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z="2400" dirty="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+mn-ea"/>
              </a:rPr>
              <a:t>通过凸包计算来构造线性不等式描述</a:t>
            </a:r>
            <a:r>
              <a:rPr lang="en-US" altLang="zh-CN" sz="2400" dirty="0">
                <a:latin typeface="+mn-lt"/>
                <a:ea typeface="+mn-ea"/>
              </a:rPr>
              <a:t>S</a:t>
            </a:r>
            <a:r>
              <a:rPr lang="zh-CN" altLang="en-US" sz="2400" dirty="0">
                <a:latin typeface="+mn-lt"/>
                <a:ea typeface="+mn-ea"/>
              </a:rPr>
              <a:t>盒差分特征</a:t>
            </a:r>
            <a:endParaRPr lang="en-US" altLang="zh-CN" sz="2400" dirty="0">
              <a:latin typeface="+mn-lt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045" y="2525395"/>
            <a:ext cx="5886450" cy="14300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1525" y="4752976"/>
            <a:ext cx="102266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将每一个可能的差分模式                       ——&gt;                            看成一个w+v向量 (x0,...,xω−1,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y0,...,yν−1)                             ，并计算所有可能的差分模式的凸包的H表达。利用贪心算法，在闭包中选择一些最优的不等式来描述S盒的差分行为，通过这些不等式来切割不可能的差分，从而缩紧可行域。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040" y="4681855"/>
            <a:ext cx="1742440" cy="3854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681855"/>
            <a:ext cx="1684655" cy="3854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930" y="5067300"/>
            <a:ext cx="1699895" cy="2832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4495" y="1123315"/>
            <a:ext cx="11374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Mouha's</a:t>
            </a:r>
            <a:r>
              <a:rPr lang="en-US" sz="3200" b="1" dirty="0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 method &amp;</a:t>
            </a:r>
            <a:r>
              <a:rPr lang="en-US" altLang="zh-CN" sz="3200" dirty="0">
                <a:sym typeface="+mn-ea"/>
              </a:rPr>
              <a:t> </a:t>
            </a:r>
            <a:r>
              <a:rPr lang="en-US" sz="3200" b="1" dirty="0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Sun's method —— </a:t>
            </a:r>
            <a:r>
              <a:rPr lang="zh-CN" altLang="en-US" sz="3200" b="1" dirty="0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确定活跃</a:t>
            </a:r>
            <a:r>
              <a:rPr lang="en-US" altLang="zh-CN" sz="3200" b="1" dirty="0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S</a:t>
            </a:r>
            <a:r>
              <a:rPr lang="zh-CN" altLang="en-US" sz="3200" b="1" dirty="0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  <a:sym typeface="+mn-ea"/>
              </a:rPr>
              <a:t>盒的下界</a:t>
            </a:r>
            <a:endParaRPr lang="zh-CN" altLang="en-US" sz="3200" b="1" dirty="0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50160"/>
            <a:ext cx="6196965" cy="2930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965" y="1849755"/>
            <a:ext cx="5842000" cy="393954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128385" y="1793875"/>
            <a:ext cx="8890" cy="4425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为什么要改进？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因为在之前的方法中，我们以活跃</a:t>
            </a:r>
            <a:r>
              <a:rPr lang="en-US" altLang="zh-CN" dirty="0"/>
              <a:t>S</a:t>
            </a:r>
            <a:r>
              <a:rPr lang="zh-CN" altLang="en-US" dirty="0"/>
              <a:t>盒的数量的下界去找差分路径概率的上界，以此来评估该密码算法是否安全。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这就导致有很多高概率但活跃</a:t>
            </a:r>
            <a:r>
              <a:rPr lang="en-US" altLang="zh-CN" dirty="0"/>
              <a:t>S</a:t>
            </a:r>
            <a:r>
              <a:rPr lang="zh-CN" altLang="en-US" dirty="0"/>
              <a:t>盒数量较多的差分路径没有被找到。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549275" y="1047115"/>
            <a:ext cx="11094720" cy="913765"/>
          </a:xfrm>
        </p:spPr>
        <p:txBody>
          <a:bodyPr/>
          <a:lstStyle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2.Techniques for Obtaining Better Characteristics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3055" y="1143000"/>
            <a:ext cx="10972800" cy="602615"/>
          </a:xfrm>
        </p:spPr>
        <p:txBody>
          <a:bodyPr/>
          <a:lstStyle/>
          <a:p>
            <a:r>
              <a:rPr lang="zh-CN" altLang="en-US" sz="2800" dirty="0"/>
              <a:t>Technique 1. Finding Characteristics with More Active S-Boxes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458470" y="2124075"/>
            <a:ext cx="11083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假设我们已经找到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一条r轮差分路径中有NA个活跃的S盒，增加约束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							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m一般取1、2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在已经找到的基础上，增加m个S盒的数量限制去找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符合约束条件的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差分路径，可能更优！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595" y="2613025"/>
            <a:ext cx="3339465" cy="431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4318635"/>
            <a:ext cx="8100060" cy="1689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340" y="1170305"/>
            <a:ext cx="11582400" cy="588645"/>
          </a:xfrm>
        </p:spPr>
        <p:txBody>
          <a:bodyPr/>
          <a:lstStyle/>
          <a:p>
            <a:pPr algn="l"/>
            <a:r>
              <a:rPr lang="zh-CN" altLang="en-US" sz="2800" dirty="0"/>
              <a:t>Technique 2. Imposing Different Constraints for Different Rounds.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526415" y="1927860"/>
            <a:ext cx="11002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(1) 允许第一轮和最后一轮手动选取高概率的差分特征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(2) 在MILP模型中如何操作：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设定一个阈值pT ，在第一轮和最后一轮中：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然后选择所有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概率高于这个阈值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的差分，构造凸包，由这个凸包的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临界集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来构造约束条件，而不是选择所有可能的差分。</a:t>
            </a:r>
            <a:endParaRPr lang="zh-CN" altLang="en-US" sz="1800" b="1" dirty="0">
              <a:solidFill>
                <a:srgbClr val="FF0000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自动化模型在这一步非常重要，因为会产生大量枚举！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68069" y="4378517"/>
            <a:ext cx="33591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Tips: 如果采用技术2，孙思维方法中的（3）（4）约束不需使用，因为这两个约束会消除大量差分路径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。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400" dirty="0"/>
              <a:t>Technique 3. Encoding More Information into the Differential Patterns of an S-Box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60705" y="2124075"/>
            <a:ext cx="11631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n>
                  <a:noFill/>
                </a:ln>
                <a:solidFill>
                  <a:schemeClr val="tx1"/>
                </a:solidFill>
              </a:rPr>
              <a:t>【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</a:rPr>
              <a:t>38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</a:rPr>
              <a:t>】Towards finding the best characteristics of some bit-oriented block ciphers and automatic enumeration of (related-key) differential and linear characteristics with predefined properties.</a:t>
            </a:r>
            <a:endParaRPr lang="zh-CN" altLang="en-US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4205" y="2890520"/>
            <a:ext cx="56889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对present的(4进4出)S盒为例 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对于可能的差分概率(x0, x1, x2, x3) → (y0, y1, y2, y3)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我们至少要增加               个比特去封装该差分概率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(x0, x1, x2, x3, y0, y1, y2, y3; p0, p1) ∈ {0, 1}^(8+2)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205" y="4366895"/>
            <a:ext cx="6365875" cy="9410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4205" y="5473700"/>
            <a:ext cx="6459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 PrS[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(x0, x1, x2, x3) → (y0, y1, y2, y3)</a:t>
            </a:r>
            <a:r>
              <a:rPr lang="zh-CN" altLang="en-US"/>
              <a:t>] </a:t>
            </a:r>
            <a:r>
              <a:rPr lang="en-US" altLang="zh-CN"/>
              <a:t>=  </a:t>
            </a:r>
            <a:endParaRPr lang="en-US" altLang="zh-CN"/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05985" y="5497195"/>
          <a:ext cx="94043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" name="" r:id="rId2" imgW="558800" imgH="190500" progId="Equation.KSEE3">
                  <p:embed/>
                </p:oleObj>
              </mc:Choice>
              <mc:Fallback>
                <p:oleObj name="" r:id="rId2" imgW="5588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05985" y="5497195"/>
                        <a:ext cx="940435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100" y="2417445"/>
            <a:ext cx="3234055" cy="35401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89010" y="5957570"/>
            <a:ext cx="3566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PRESENT算法S盒的差分分布表</a:t>
            </a:r>
            <a:endParaRPr lang="zh-CN" altLang="en-US"/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95220" y="3762375"/>
          <a:ext cx="683260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" r:id="rId5" imgW="508000" imgH="228600" progId="Equation.KSEE3">
                  <p:embed/>
                </p:oleObj>
              </mc:Choice>
              <mc:Fallback>
                <p:oleObj name="" r:id="rId5" imgW="5080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5220" y="3762375"/>
                        <a:ext cx="683260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31800" y="1204595"/>
            <a:ext cx="9515475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  <a:buNone/>
            </a:pPr>
            <a:r>
              <a:rPr lang="en-US" sz="3200" b="1" dirty="0" err="1">
                <a:solidFill>
                  <a:schemeClr val="tx2"/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+mj-cs"/>
              </a:rPr>
              <a:t>上述方法的局限性</a:t>
            </a:r>
            <a:endParaRPr lang="en-US" sz="3200" b="1" dirty="0">
              <a:solidFill>
                <a:schemeClr val="tx2"/>
              </a:solidFill>
              <a:uFillTx/>
              <a:latin typeface="Times New Roman" panose="02020603050405020304" charset="0"/>
              <a:ea typeface="微软雅黑" panose="020B0503020204020204" charset="-122"/>
              <a:cs typeface="+mj-cs"/>
            </a:endParaRPr>
          </a:p>
          <a:p>
            <a:pPr algn="l">
              <a:buClrTx/>
              <a:buSzTx/>
              <a:buNone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将上述封装形式拓展到DESL这种密码，不可行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DESL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DES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的变体，它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的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S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盒是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6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进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4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出，有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9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中可能的差分概率，因此至少需要               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= 4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个额外的比特，导致在实际操作环节中计算凸包的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H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表达时，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MILP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模型中出现大量的约束。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b="1" dirty="0">
                <a:uFillTx/>
                <a:latin typeface="Times New Roman" panose="02020603050405020304" charset="0"/>
                <a:ea typeface="微软雅黑" panose="020B0503020204020204" charset="-122"/>
              </a:rPr>
              <a:t>启发式解决方法：</a:t>
            </a:r>
            <a:endParaRPr lang="zh-CN" altLang="en-US" sz="1800" b="1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5" name="乘号 4"/>
          <p:cNvSpPr/>
          <p:nvPr/>
        </p:nvSpPr>
        <p:spPr>
          <a:xfrm>
            <a:off x="5236845" y="1911985"/>
            <a:ext cx="662940" cy="51371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475265" y="2533321"/>
          <a:ext cx="683260" cy="309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508000" imgH="228600" progId="Equation.KSEE3">
                  <p:embed/>
                </p:oleObj>
              </mc:Choice>
              <mc:Fallback>
                <p:oleObj name="" r:id="rId1" imgW="5080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75265" y="2533321"/>
                        <a:ext cx="683260" cy="309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" y="3849370"/>
            <a:ext cx="8811895" cy="16637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39875" y="5083810"/>
            <a:ext cx="5325745" cy="4464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1313180"/>
            <a:ext cx="7816215" cy="28473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6565" y="4380865"/>
            <a:ext cx="112579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此时，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我们将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目标函数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设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为                      ，我们会发现：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	差分概率最大，目标函数的值越小</a:t>
            </a:r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endParaRPr lang="en-US" altLang="zh-CN" sz="180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但该方法仍需改进，原因是：（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）无法知道所得到的差分路径确切的概率  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2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）得出的高概率差分不一定是最优的  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3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   选择较为特殊  （在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DESL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算法中我们选取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3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39465" y="4380865"/>
          <a:ext cx="120142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" r:id="rId2" imgW="838200" imgH="254000" progId="Equation.KSEE3">
                  <p:embed/>
                </p:oleObj>
              </mc:Choice>
              <mc:Fallback>
                <p:oleObj name="" r:id="rId2" imgW="838200" imgH="2540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39465" y="4380865"/>
                        <a:ext cx="120142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37055" y="5845175"/>
          <a:ext cx="184785" cy="23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" name="" r:id="rId4" imgW="139700" imgH="177165" progId="Equation.KSEE3">
                  <p:embed/>
                </p:oleObj>
              </mc:Choice>
              <mc:Fallback>
                <p:oleObj name="" r:id="rId4" imgW="139700" imgH="177165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7055" y="5845175"/>
                        <a:ext cx="184785" cy="234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lstStyle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3.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DESL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0" y="2002155"/>
            <a:ext cx="1071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（1）根据技术2和技术3建立9轮DESL相关密钥攻击的MILP模型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，找出一条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9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轮相关密钥差分路径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2888615"/>
            <a:ext cx="5513705" cy="2618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60" y="2888615"/>
            <a:ext cx="6019800" cy="2618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lstStyle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3.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DESL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0" y="2002155"/>
            <a:ext cx="10711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（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2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）将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9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轮差分特征写入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MST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文件（在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Gurobi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中用于指定一个初始解决方案，可加速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MILP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模型的求解），   建立</a:t>
            </a:r>
            <a:r>
              <a:rPr lang="en-US" altLang="zh-CN" sz="1800">
                <a:uFillTx/>
                <a:latin typeface="Times New Roman" panose="02020603050405020304" charset="0"/>
                <a:ea typeface="微软雅黑" panose="020B0503020204020204" charset="-122"/>
              </a:rPr>
              <a:t>10</a:t>
            </a:r>
            <a:r>
              <a:rPr lang="zh-CN" altLang="en-US" sz="1800">
                <a:uFillTx/>
                <a:latin typeface="Times New Roman" panose="02020603050405020304" charset="0"/>
                <a:ea typeface="微软雅黑" panose="020B0503020204020204" charset="-122"/>
              </a:rPr>
              <a:t>轮相关密钥攻击模型</a:t>
            </a:r>
            <a:endParaRPr lang="zh-CN" altLang="en-US" sz="180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3030220"/>
            <a:ext cx="5830570" cy="2676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105" y="3001010"/>
            <a:ext cx="5286375" cy="27057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lstStyle/>
          <a:p>
            <a:pPr algn="l"/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>
                <a:uFillTx/>
                <a:latin typeface="Times New Roman" panose="02020603050405020304" charset="0"/>
                <a:ea typeface="微软雅黑" panose="020B0503020204020204" charset="-122"/>
              </a:rPr>
              <a:t>3.</a:t>
            </a:r>
            <a:r>
              <a:rPr lang="zh-CN" altLang="en-US">
                <a:uFillTx/>
                <a:latin typeface="Times New Roman" panose="02020603050405020304" charset="0"/>
                <a:ea typeface="微软雅黑" panose="020B0503020204020204" charset="-122"/>
              </a:rPr>
              <a:t>Application to DESL</a:t>
            </a:r>
            <a:endParaRPr lang="zh-CN" altLang="en-US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950" y="2002155"/>
            <a:ext cx="1071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（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3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）最终，首次找到一条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10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轮单密钥差分路径，差分概率 </a:t>
            </a:r>
            <a:r>
              <a:rPr lang="zh-CN" altLang="en-US" sz="1800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2 </a:t>
            </a:r>
            <a:r>
              <a:rPr lang="en-US" altLang="zh-CN" sz="1800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^</a:t>
            </a:r>
            <a:r>
              <a:rPr lang="zh-CN" altLang="en-US" sz="1800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−52.25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，活跃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S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盒个数</a:t>
            </a:r>
            <a:r>
              <a:rPr lang="en-US" altLang="zh-CN" sz="1800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15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.</a:t>
            </a:r>
            <a:endParaRPr lang="en-US" altLang="zh-CN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505" y="2632075"/>
            <a:ext cx="7186295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7815" y="887095"/>
            <a:ext cx="11135995" cy="1035050"/>
          </a:xfrm>
        </p:spPr>
        <p:txBody>
          <a:bodyPr/>
          <a:lstStyle/>
          <a:p>
            <a:pPr algn="l"/>
            <a:r>
              <a:rPr lang="zh-CN" altLang="en-US" dirty="0">
                <a:uFillTx/>
                <a:latin typeface="Times New Roman" panose="02020603050405020304" charset="0"/>
                <a:ea typeface="微软雅黑" panose="020B0503020204020204" charset="-122"/>
              </a:rPr>
              <a:t> </a:t>
            </a:r>
            <a:r>
              <a:rPr lang="en-US" altLang="zh-CN" dirty="0">
                <a:uFillTx/>
                <a:latin typeface="Times New Roman" panose="02020603050405020304" charset="0"/>
                <a:ea typeface="微软雅黑" panose="020B0503020204020204" charset="-122"/>
              </a:rPr>
              <a:t>4.</a:t>
            </a:r>
            <a:r>
              <a:rPr lang="zh-CN" altLang="en-US" dirty="0">
                <a:uFillTx/>
                <a:latin typeface="Times New Roman" panose="02020603050405020304" charset="0"/>
                <a:ea typeface="微软雅黑" panose="020B0503020204020204" charset="-122"/>
              </a:rPr>
              <a:t>Application to LBlock-s</a:t>
            </a:r>
            <a:endParaRPr lang="zh-CN" altLang="en-US" dirty="0">
              <a:uFillTx/>
              <a:latin typeface="Times New Roman" panose="0202060305040502030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870" y="1925955"/>
            <a:ext cx="99980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LBlock ——Feistel结构，块长度64bits，密钥长度80bits ----- &gt; LBlock-s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(1) 10轮MILP模型中得到至少有10个活跃S盒；11轮MILP模型中得到至少有</a:t>
            </a:r>
            <a:r>
              <a:rPr lang="zh-CN" altLang="en-US" sz="18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11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个活跃S盒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(2) 求解11轮MILP模型前导入10轮相关差分特征作为MST文件，求解速度提高了大约</a:t>
            </a:r>
            <a:r>
              <a:rPr lang="zh-CN" altLang="en-US" sz="18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7%</a:t>
            </a:r>
            <a:endParaRPr lang="zh-CN" altLang="en-US" sz="1800" b="1" dirty="0">
              <a:solidFill>
                <a:srgbClr val="FF0000"/>
              </a:solidFill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(3) 利用技术2在11轮MILP模型中只允许差分概率大于等于</a:t>
            </a:r>
            <a:r>
              <a:rPr lang="zh-CN" altLang="en-US" sz="18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2^(-2)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，得到至少又</a:t>
            </a:r>
            <a:r>
              <a:rPr lang="zh-CN" altLang="en-US" sz="1800" b="1" dirty="0">
                <a:solidFill>
                  <a:srgbClr val="FF0000"/>
                </a:solidFill>
                <a:uFillTx/>
                <a:latin typeface="Times New Roman" panose="02020603050405020304" charset="0"/>
                <a:ea typeface="微软雅黑" panose="020B0503020204020204" charset="-122"/>
              </a:rPr>
              <a:t>12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个活跃S盒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(4)  我们可以推测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11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</a:rPr>
              <a:t>轮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LBlock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-s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模型的相关密钥差分概率至少为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      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     LBlock</a:t>
            </a: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-s32</a:t>
            </a:r>
            <a:r>
              <a:rPr lang="zh-CN" altLang="en-US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轮差分概率上界为</a:t>
            </a:r>
            <a:endParaRPr lang="zh-CN" altLang="en-US" sz="1800" dirty="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800" dirty="0">
                <a:uFillTx/>
                <a:latin typeface="Times New Roman" panose="02020603050405020304" charset="0"/>
                <a:ea typeface="微软雅黑" panose="020B0503020204020204" charset="-122"/>
                <a:sym typeface="+mn-ea"/>
              </a:rPr>
              <a:t>		</a:t>
            </a:r>
            <a:endParaRPr lang="en-US" altLang="zh-CN" sz="1800" dirty="0">
              <a:uFillTx/>
              <a:latin typeface="Times New Roman" panose="020206030504050203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910" y="4116705"/>
            <a:ext cx="2428875" cy="394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410" y="4653915"/>
            <a:ext cx="3134995" cy="395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405" y="4653915"/>
            <a:ext cx="626110" cy="393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72230" y="2650490"/>
            <a:ext cx="44475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>
                <a:latin typeface="微软雅黑" panose="020B0503020204020204" charset="-122"/>
                <a:ea typeface="微软雅黑" panose="020B0503020204020204" charset="-122"/>
              </a:rPr>
              <a:t>欢迎批评与指正！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4787</Words>
  <Application>WPS 演示</Application>
  <PresentationFormat>宽屏</PresentationFormat>
  <Paragraphs>223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主题1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1.methods for finding the best differential characteristic of a cipher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2.Techniques for Obtaining Better Characteristics</vt:lpstr>
      <vt:lpstr>Technique 1. Finding Characteristics with More Active S-Boxes</vt:lpstr>
      <vt:lpstr>Technique 2. Imposing Different Constraints for Different Rounds.</vt:lpstr>
      <vt:lpstr>Technique 3. Encoding More Information into the Differential Patterns of an S-Box</vt:lpstr>
      <vt:lpstr>PowerPoint 演示文稿</vt:lpstr>
      <vt:lpstr>PowerPoint 演示文稿</vt:lpstr>
      <vt:lpstr> 3.Application to DESL</vt:lpstr>
      <vt:lpstr> 3.Application to DESL</vt:lpstr>
      <vt:lpstr> 3.Application to DESL</vt:lpstr>
      <vt:lpstr> 4.Application to LBlock-s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838352371@qq.com</dc:creator>
  <cp:lastModifiedBy>wgl002</cp:lastModifiedBy>
  <cp:revision>118</cp:revision>
  <dcterms:created xsi:type="dcterms:W3CDTF">2020-10-06T12:54:00Z</dcterms:created>
  <dcterms:modified xsi:type="dcterms:W3CDTF">2020-10-26T11:43:55Z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