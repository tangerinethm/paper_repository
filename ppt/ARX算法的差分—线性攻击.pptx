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60" r:id="rId5"/>
    <p:sldId id="261" r:id="rId6"/>
    <p:sldId id="263" r:id="rId7"/>
    <p:sldId id="259" r:id="rId8"/>
    <p:sldId id="262" r:id="rId9"/>
    <p:sldId id="264" r:id="rId10"/>
    <p:sldId id="265" r:id="rId11"/>
    <p:sldId id="267" r:id="rId12"/>
    <p:sldId id="266" r:id="rId13"/>
    <p:sldId id="270" r:id="rId14"/>
    <p:sldId id="268" r:id="rId15"/>
    <p:sldId id="269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ns" initials="F" lastIdx="0" clrIdx="0">
    <p:extLst>
      <p:ext uri="{19B8F6BF-5375-455C-9EA6-DF929625EA0E}">
        <p15:presenceInfo xmlns:p15="http://schemas.microsoft.com/office/powerpoint/2012/main" userId="0f9325cfd84cdeb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主题样式 1 - 强调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6357" autoAdjust="0"/>
  </p:normalViewPr>
  <p:slideViewPr>
    <p:cSldViewPr snapToGrid="0">
      <p:cViewPr varScale="1">
        <p:scale>
          <a:sx n="114" d="100"/>
          <a:sy n="114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A14276-184D-4ADE-BACE-4B1A071C8346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1621F-5705-402E-8B30-297AD408794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2800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1621F-5705-402E-8B30-297AD4087942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9470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4D56BE-F7D9-4678-8CAC-27F41ADB01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4DD3260-6EC1-4F00-B9B8-63D82D926C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717284-3088-42FC-99F6-0B082CFE3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830FF9-F597-4742-A2DB-D33D50B5A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B4A192-C452-4BDD-BA9D-AE901704D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8842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53CFA0-9A31-4E11-A842-6FBD3370A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44E981-06BA-4A4E-9FCE-B3568F4E7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4A9417-0210-4DD5-B1BE-DAA0D053C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8D8A62-1DAE-404C-9485-9EEC00B56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AA7534-3C1E-4206-86B3-C384F6D95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481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3D5666-482A-4F5D-BF2F-3F9BA2071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1D8DF2-3183-4D74-8F1A-D674DE9E6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4EC5AD-2B58-42B1-9CCA-1484A682E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4627AB-4EDC-4A9A-97D9-395B7EFE8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08A178-FDB0-41F6-A603-5F3A2BE68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28897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8CB62-6F41-4530-8F09-46E814DF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2B845B-EB2B-4BF1-9E42-BAD117EF7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2B3129E-9F4B-4EC4-AB09-B23F1F899C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D1C0EEA-57D5-46A9-A70E-A1296353D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DED73B-24CD-4E2D-B357-1EF6634FB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903F503-A218-427E-8682-2CA41E26E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4783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BBA0F8-BB4F-4F11-B432-772698064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C899199-D095-4C13-A697-9F8869A78B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D51A2FD-55DB-4729-865D-8D10BA8C30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629BD19-83B9-4977-8D2A-EC410C9C91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F17A056-1055-4544-A917-57EEB40711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3F78656-78EB-4B4A-B028-1D12D994E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051F703-5371-4586-B1C7-AD52F897F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EA205B6-D655-4E45-93EE-69EFFEFC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266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9FCAE8-0D48-42C2-AB03-15599536B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444554-8056-487A-BCBD-2C0E2D620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690D702-AC43-4964-AED9-FB254F99F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F56A80F-0E07-4391-B225-006AB123D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6064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5D7FB6B-DCF1-44B3-A0EB-796149295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F42459-341D-4942-B2D3-9301BC172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0ADB072-CD75-49D4-AAE8-EEDB3C451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9978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926EE-7E1E-41A9-B172-949F618E9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41DA18-16DD-4515-BA69-A6E85E66E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8EBCC9-91F6-4C3D-92B3-7ABAAE8D82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1CC59BE-C64A-45E9-BA6C-F624BF20A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E01CFD-B212-4B19-ADE3-7F6E6EEA6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1075B95-052B-478E-AC0F-B54D984F7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4561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6FDF1D-8B73-4A8A-8F43-A30F032F5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57EB61F-89DA-4B02-BC1E-D456F19FE7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386D90D-7E58-45E0-80B2-AB6071D4CF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8F91F19-8F8B-4018-B914-26E4D03D3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C5F8816-3B3C-49F8-8AB8-4304E4508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4EE492-3A21-4421-BDA0-741621E5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1864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EEE27D-ACF1-40BE-84F8-950259C7C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5BAD45C-1D3B-4090-B227-AC1F047EF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6EBD04-FDD7-41E1-B538-9E22FBCFF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41AC23-F6B0-4033-BE28-88B06B8DB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6EC714F-4101-4A94-880D-87C28C086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7270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CA9AD1-E4CA-41B3-82D7-4310056AA3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9BD007-C424-4214-8D45-531953144C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093C98-B8DD-4002-9B7F-9128DE826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CBADBD-106C-4554-B41C-6F3DE89B4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F25B70-6C30-459B-B59A-ADD45686B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5522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BADFDB-AB00-400A-B88B-B0CAF8B3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76C96B-1D9C-4E28-B4F5-707918746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F0DA4F-BD09-45DE-8506-669FB60F5D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18E930-FC99-4238-B0EE-ACD1A6D07B5C}" type="datetimeFigureOut">
              <a:rPr lang="zh-CN" altLang="en-US" smtClean="0"/>
              <a:t>2020/11/16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8613F8-3500-4F98-9DDD-BDA8A5FAD0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FE0F61-6C22-457F-9D0F-ED730D91A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673FD-FD9B-42CC-9261-6811E61FD0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4524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F6F22F-371D-494E-8D4B-8A8FAE047E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ARX</a:t>
            </a:r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算法的差分</a:t>
            </a:r>
            <a:r>
              <a:rPr lang="en-US" altLang="zh-CN" sz="4000" dirty="0">
                <a:latin typeface="宋体" panose="02010600030101010101" pitchFamily="2" charset="-122"/>
                <a:ea typeface="宋体" panose="02010600030101010101" pitchFamily="2" charset="-122"/>
              </a:rPr>
              <a:t>—</a:t>
            </a:r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线性攻击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F18EB9B-F2A1-4B34-93B5-FBDC3F3BCB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						   	  	 </a:t>
            </a:r>
            <a:r>
              <a:rPr lang="en-US" altLang="zh-CN" i="1" dirty="0"/>
              <a:t>2020/11/16</a:t>
            </a:r>
            <a:endParaRPr lang="zh-CN" altLang="en-US" i="1" dirty="0"/>
          </a:p>
        </p:txBody>
      </p:sp>
    </p:spTree>
    <p:extLst>
      <p:ext uri="{BB962C8B-B14F-4D97-AF65-F5344CB8AC3E}">
        <p14:creationId xmlns:p14="http://schemas.microsoft.com/office/powerpoint/2010/main" val="546980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B7C4E9-F017-4268-923E-29B939C2D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差分、线性攻击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D654B4F-0D91-4D51-91D2-3D24BDBB7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差分攻击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E1445F7-15D2-4634-8941-D1819035F517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输入差分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zh-CN" alt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、输出差分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zh-CN" altLang="en-US" i="0" dirty="0">
                            <a:latin typeface="Cambria Math" panose="02040503050406030204" pitchFamily="18" charset="0"/>
                          </a:rPr>
                          <m:t>⊕</m:t>
                        </m:r>
                        <m:sSub>
                          <m:sSub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e>
                    </m:d>
                    <m:r>
                      <a:rPr lang="zh-CN" altLang="en-US" i="0" dirty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zh-CN" altLang="en-US" i="0" dirty="0">
                        <a:latin typeface="Cambria Math" panose="02040503050406030204" pitchFamily="18" charset="0"/>
                      </a:rPr>
                      <m:t>⊕</m:t>
                    </m:r>
                    <m:sSub>
                      <m:sSub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en-US" altLang="zh-CN" dirty="0">
                  <a:latin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en-US" altLang="zh-CN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p=Pr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zh-CN" alt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zh-CN" alt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zh-CN" altLang="en-US" i="0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⊕</m:t>
                            </m:r>
                            <m:sSub>
                              <m:sSubPr>
                                <m:ctrlPr>
                                  <a:rPr lang="zh-CN" altLang="en-US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zh-CN" altLang="en-US" i="1" dirty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sub>
                            </m:sSub>
                          </m:e>
                        </m:d>
                        <m:r>
                          <a:rPr lang="zh-CN" altLang="en-US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CN" alt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zh-CN" alt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CN" alt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r>
                          <a:rPr lang="zh-CN" altLang="en-US" i="0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sSub>
                          <m:sSubPr>
                            <m:ctrlPr>
                              <a:rPr lang="zh-CN" alt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zh-CN" altLang="en-US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zh-CN" altLang="en-US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𝛱</m:t>
                    </m:r>
                    <m:sSub>
                      <m:sSubPr>
                        <m:ctrlPr>
                          <a:rPr lang="en-US" altLang="zh-CN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altLang="zh-CN" dirty="0">
                  <a:latin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复杂度 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1/p</a:t>
                </a:r>
              </a:p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p&gt;&gt;2^-n</a:t>
                </a: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BE1445F7-15D2-4634-8941-D1819035F5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128" t="-34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D7388EF-DEBB-4A28-BBA4-4789F946BF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en-US" dirty="0"/>
              <a:t>线性攻击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内容占位符 6">
                <a:extLst>
                  <a:ext uri="{FF2B5EF4-FFF2-40B4-BE49-F238E27FC236}">
                    <a16:creationId xmlns:a16="http://schemas.microsoft.com/office/drawing/2014/main" id="{BDC82D4E-4C29-4BDF-81A1-4CABC48BD487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198" y="2505075"/>
                <a:ext cx="6210301" cy="3684588"/>
              </a:xfrm>
            </p:spPr>
            <p:txBody>
              <a:bodyPr/>
              <a:lstStyle/>
              <a:p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输入掩码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、输出掩码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</m:oMath>
                </a14:m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altLang="zh-CN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e>
                    </m:d>
                    <m:r>
                      <a:rPr lang="en-US" altLang="zh-CN" i="0" dirty="0" smtClean="0">
                        <a:latin typeface="Cambria Math" panose="02040503050406030204" pitchFamily="18" charset="0"/>
                      </a:rPr>
                      <m:t>≈</m:t>
                    </m:r>
                    <m:d>
                      <m:dPr>
                        <m:begChr m:val="⟨"/>
                        <m:endChr m:val="⟩"/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zh-CN" altLang="en-US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zh-CN" altLang="en-US" i="0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zh-CN" altLang="en-US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𝑃𝑟</m:t>
                    </m:r>
                    <m:d>
                      <m:dPr>
                        <m:begChr m:val="["/>
                        <m:endChr m:val="]"/>
                        <m:ctrlPr>
                          <a:rPr lang="zh-CN" altLang="en-US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altLang="zh-CN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  <m:r>
                              <a:rPr lang="en-US" altLang="zh-CN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</m:e>
                        </m:d>
                        <m:r>
                          <a:rPr lang="zh-CN" altLang="en-US" i="0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⊕</m:t>
                        </m:r>
                        <m:d>
                          <m:dPr>
                            <m:begChr m:val="⟨"/>
                            <m:endChr m:val="⟩"/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zh-CN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e>
                        </m:d>
                        <m:r>
                          <a:rPr lang="en-US" altLang="zh-CN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altLang="zh-CN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altLang="zh-CN" dirty="0">
                  <a:solidFill>
                    <a:srgbClr val="FF0000"/>
                  </a:solidFill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zh-CN" altLang="en-US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𝛱</m:t>
                    </m:r>
                    <m:sSub>
                      <m:sSub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zh-CN" altLang="en-US" i="0" dirty="0">
                            <a:latin typeface="Cambria Math" panose="02040503050406030204" pitchFamily="18" charset="0"/>
                          </a:rPr>
                          <m:t>ⅈ</m:t>
                        </m:r>
                      </m:sub>
                    </m:sSub>
                  </m:oMath>
                </a14:m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复杂度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1/</a:t>
                </a:r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²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&gt;&gt;2^-n/2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" name="内容占位符 6">
                <a:extLst>
                  <a:ext uri="{FF2B5EF4-FFF2-40B4-BE49-F238E27FC236}">
                    <a16:creationId xmlns:a16="http://schemas.microsoft.com/office/drawing/2014/main" id="{BDC82D4E-4C29-4BDF-81A1-4CABC48BD4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198" y="2505075"/>
                <a:ext cx="6210301" cy="3684588"/>
              </a:xfrm>
              <a:blipFill>
                <a:blip r:embed="rId4"/>
                <a:stretch>
                  <a:fillRect l="-1668" t="-33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31053285-E216-4E56-9952-DF0BF0CB0291}"/>
              </a:ext>
            </a:extLst>
          </p:cNvPr>
          <p:cNvCxnSpPr/>
          <p:nvPr/>
        </p:nvCxnSpPr>
        <p:spPr>
          <a:xfrm flipV="1">
            <a:off x="7432431" y="1547446"/>
            <a:ext cx="550984" cy="16412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0AC889E-D2C1-4CDE-B856-41B89102C612}"/>
                  </a:ext>
                </a:extLst>
              </p:cNvPr>
              <p:cNvSpPr txBox="1"/>
              <p:nvPr/>
            </p:nvSpPr>
            <p:spPr>
              <a:xfrm>
                <a:off x="8070898" y="967973"/>
                <a:ext cx="331365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&lt; a , b&gt;</a:t>
                </a:r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称为内积，定义为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(a[0]*b[0])</a:t>
                </a: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i="0" dirty="0"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14:m>
                  <m:oMath xmlns:m="http://schemas.openxmlformats.org/officeDocument/2006/math">
                    <m:r>
                      <a:rPr lang="zh-CN" altLang="en-US" i="0" dirty="0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(a[n]*b[n])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0AC889E-D2C1-4CDE-B856-41B89102C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0898" y="967973"/>
                <a:ext cx="3313651" cy="646331"/>
              </a:xfrm>
              <a:prstGeom prst="rect">
                <a:avLst/>
              </a:prstGeom>
              <a:blipFill>
                <a:blip r:embed="rId5"/>
                <a:stretch>
                  <a:fillRect l="-1654" t="-7547" b="-141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1701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55254EA4-DAB7-4979-B0CB-E4EF82893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1220"/>
          </a:xfr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差分线性模型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内容占位符 7">
                <a:extLst>
                  <a:ext uri="{FF2B5EF4-FFF2-40B4-BE49-F238E27FC236}">
                    <a16:creationId xmlns:a16="http://schemas.microsoft.com/office/drawing/2014/main" id="{71514A84-1B01-48E6-9D5C-FA19FFA9E9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82180"/>
                <a:ext cx="10515600" cy="5094783"/>
              </a:xfrm>
            </p:spPr>
            <p:txBody>
              <a:bodyPr>
                <a:normAutofit/>
              </a:bodyPr>
              <a:lstStyle/>
              <a:p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首先将密码算法分为两部分，分别记为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E0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E1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，即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E=E1</a:t>
                </a:r>
                <a14:m>
                  <m:oMath xmlns:m="http://schemas.openxmlformats.org/officeDocument/2006/math">
                    <m:r>
                      <a:rPr lang="en-US" altLang="zh-CN" dirty="0" smtClean="0">
                        <a:latin typeface="Cambria Math" panose="02040503050406030204" pitchFamily="18" charset="0"/>
                      </a:rPr>
                      <m:t>∘</m:t>
                    </m:r>
                    <m:r>
                      <m:rPr>
                        <m:sty m:val="p"/>
                      </m:rPr>
                      <a:rPr lang="en-US" altLang="zh-CN" b="0" i="0" dirty="0" smtClean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altLang="zh-CN" b="0" i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。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</a:endParaRPr>
              </a:p>
              <a:p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对于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E0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，我们有一条差分路径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zh-CN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  <m:r>
                      <a:rPr lang="zh-CN" altLang="en-US" i="1" dirty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概率为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（注意此处的路线可以是截断差分路线，即输入输出位只有某些位能够固定）；对于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E1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，我们有一条线性路径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  <m:r>
                      <a:rPr lang="zh-CN" altLang="en-US" i="1" dirty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相关度为</a:t>
                </a:r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。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攻击者使用若干对满足差分为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zh-CN" alt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的明文，观察密文对之间的相关度，即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CN" altLang="en-US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acc>
                    <m:r>
                      <a:rPr lang="zh-CN" altLang="en-US" i="0" dirty="0">
                        <a:latin typeface="Cambria Math" panose="02040503050406030204" pitchFamily="18" charset="0"/>
                      </a:rPr>
                      <m:t>=2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𝑃𝑟</m:t>
                    </m:r>
                    <m:d>
                      <m:dPr>
                        <m:begChr m:val="["/>
                        <m:endChr m:val="]"/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⊕</m:t>
                                </m:r>
                                <m:sSub>
                                  <m:sSubPr>
                                    <m:ctrlP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zh-CN" altLang="en-US" i="1" dirty="0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  <m:r>
                          <a:rPr lang="zh-CN" altLang="en-US" i="0" dirty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⟨"/>
                            <m:endChr m:val="⟩"/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zh-CN" altLang="en-US" i="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CN" altLang="en-US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</m:d>
                    <m:r>
                      <a:rPr lang="zh-CN" altLang="en-US" i="0" dirty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。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内容占位符 7">
                <a:extLst>
                  <a:ext uri="{FF2B5EF4-FFF2-40B4-BE49-F238E27FC236}">
                    <a16:creationId xmlns:a16="http://schemas.microsoft.com/office/drawing/2014/main" id="{71514A84-1B01-48E6-9D5C-FA19FFA9E9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82180"/>
                <a:ext cx="10515600" cy="5094783"/>
              </a:xfrm>
              <a:blipFill>
                <a:blip r:embed="rId2"/>
                <a:stretch>
                  <a:fillRect l="-1043" t="-2515" r="-6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9616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55254EA4-DAB7-4979-B0CB-E4EF82893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1220"/>
          </a:xfr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差分线性模型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内容占位符 7">
                <a:extLst>
                  <a:ext uri="{FF2B5EF4-FFF2-40B4-BE49-F238E27FC236}">
                    <a16:creationId xmlns:a16="http://schemas.microsoft.com/office/drawing/2014/main" id="{71514A84-1B01-48E6-9D5C-FA19FFA9E9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82180"/>
                <a:ext cx="10515600" cy="5094783"/>
              </a:xfrm>
            </p:spPr>
            <p:txBody>
              <a:bodyPr/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明文对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zh-CN" altLang="en-US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  <m:r>
                      <a:rPr lang="zh-CN" altLang="en-US" i="0" dirty="0">
                        <a:latin typeface="Cambria Math" panose="02040503050406030204" pitchFamily="18" charset="0"/>
                      </a:rPr>
                      <m:t>⊕</m:t>
                    </m:r>
                    <m:sSub>
                      <m:sSub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zh-CN" altLang="en-US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zh-CN" altLang="en-US" i="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CN" alt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满足概率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，在这种情况下，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altLang="zh-CN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  <m:r>
                          <a:rPr lang="en-US" altLang="zh-CN" i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  <m:r>
                      <a:rPr lang="en-US" altLang="zh-CN" i="0" smtClean="0"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begChr m:val="⟨"/>
                        <m:endChr m:val="⟩"/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p>
                                <m:r>
                                  <a:rPr lang="en-US" altLang="zh-CN" i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altLang="zh-CN" i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  <m:r>
                      <a:rPr lang="en-US" altLang="zh-CN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  <m:r>
                      <a:rPr lang="en-US" altLang="zh-CN" i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，不失一般性，我们假定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  <m:r>
                      <a:rPr lang="en-US" altLang="zh-CN" i="0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sub>
                    </m:sSub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=0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；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当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  <m:r>
                          <a:rPr lang="en-US" altLang="zh-CN" i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  <m:r>
                      <a:rPr lang="en-US" altLang="zh-CN" i="0" smtClean="0"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begChr m:val="⟨"/>
                        <m:endChr m:val="⟩"/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p>
                                <m:r>
                                  <a:rPr lang="en-US" altLang="zh-CN" i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altLang="zh-CN" i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的值不能由差分路线的输出对直接确定时，我们假设其是随机分布的，故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Pr</a:t>
                </a:r>
                <a:r>
                  <a:rPr lang="en-US" altLang="zh-CN" dirty="0"/>
                  <a:t> [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  <m:r>
                          <a:rPr lang="en-US" altLang="zh-CN" i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  <m:r>
                      <a:rPr lang="en-US" altLang="zh-CN" i="0" smtClean="0"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begChr m:val="⟨"/>
                        <m:endChr m:val="⟩"/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p>
                                <m:r>
                                  <a:rPr lang="en-US" altLang="zh-CN" i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altLang="zh-CN" i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=0]=p+(1-p)*1/2=1/2+p/2,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也即</a:t>
                </a:r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=p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；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而我们有线性路径</a:t>
                </a:r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US" altLang="zh-CN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=</a:t>
                </a:r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p>
                                <m:r>
                                  <a:rPr lang="en-US" altLang="zh-CN" i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sub>
                        </m:sSub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=</a:t>
                </a:r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𝜀</m:t>
                    </m:r>
                    <m:r>
                      <a:rPr lang="zh-CN" altLang="en-US" i="1" dirty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因此可以得到</a:t>
                </a:r>
                <a14:m>
                  <m:oMath xmlns:m="http://schemas.openxmlformats.org/officeDocument/2006/math">
                    <m:r>
                      <a:rPr lang="zh-CN" altLang="en-US" i="1" dirty="0" smtClean="0">
                        <a:latin typeface="Cambria Math" panose="02040503050406030204" pitchFamily="18" charset="0"/>
                      </a:rPr>
                      <m:t>𝜀</m:t>
                    </m:r>
                    <m:d>
                      <m:dPr>
                        <m:ctrlPr>
                          <a:rPr lang="en-US" altLang="zh-CN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⊕</m:t>
                        </m:r>
                        <m:sSup>
                          <m:sSup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p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altLang="zh-CN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𝑝</m:t>
                    </m:r>
                    <m:sSup>
                      <m:sSup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p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zh-CN" altLang="en-US" i="1" dirty="0">
                        <a:latin typeface="Cambria Math" panose="02040503050406030204" pitchFamily="18" charset="0"/>
                      </a:rPr>
                      <m:t>。</m:t>
                    </m:r>
                  </m:oMath>
                </a14:m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攻击者可以使用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zh-CN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  <m:sSup>
                          <m:sSup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−4</m:t>
                            </m:r>
                          </m:sup>
                        </m:sSup>
                      </m:e>
                    </m:d>
                  </m:oMath>
                </a14:m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的选择明文进行区分攻击。</a:t>
                </a:r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内容占位符 7">
                <a:extLst>
                  <a:ext uri="{FF2B5EF4-FFF2-40B4-BE49-F238E27FC236}">
                    <a16:creationId xmlns:a16="http://schemas.microsoft.com/office/drawing/2014/main" id="{71514A84-1B01-48E6-9D5C-FA19FFA9E9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82180"/>
                <a:ext cx="10515600" cy="5094783"/>
              </a:xfrm>
              <a:blipFill>
                <a:blip r:embed="rId2"/>
                <a:stretch>
                  <a:fillRect l="-1043" t="-2515" r="-580" b="-3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7070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55254EA4-DAB7-4979-B0CB-E4EF82893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1220"/>
          </a:xfr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差分线性模型（实际）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内容占位符 7">
                <a:extLst>
                  <a:ext uri="{FF2B5EF4-FFF2-40B4-BE49-F238E27FC236}">
                    <a16:creationId xmlns:a16="http://schemas.microsoft.com/office/drawing/2014/main" id="{71514A84-1B01-48E6-9D5C-FA19FFA9E9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82180"/>
                <a:ext cx="10515600" cy="5094783"/>
              </a:xfrm>
            </p:spPr>
            <p:txBody>
              <a:bodyPr/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由于前述的理论模型结果是基于某些假设推导出的，在实际攻击中，常常通过增加中间步来改善结果的准确性。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具体步骤为，实验性地检验中间步的相关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度，</a:t>
                </a:r>
                <a14:m>
                  <m:oMath xmlns:m="http://schemas.openxmlformats.org/officeDocument/2006/math">
                    <m:r>
                      <a:rPr lang="zh-CN" altLang="en-US" i="1" dirty="0">
                        <a:latin typeface="Cambria Math" panose="02040503050406030204" pitchFamily="18" charset="0"/>
                      </a:rPr>
                      <m:t>即</m:t>
                    </m:r>
                    <m:d>
                      <m:dPr>
                        <m:begChr m:val="⟨"/>
                        <m:endChr m:val="⟩"/>
                        <m:ctrlPr>
                          <a:rPr lang="en-US" altLang="zh-CN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d>
                    <m:r>
                      <a:rPr lang="en-US" altLang="zh-CN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zh-CN" i="0" dirty="0" smtClean="0">
                                <a:latin typeface="Cambria Math" panose="02040503050406030204" pitchFamily="18" charset="0"/>
                              </a:rPr>
                              <m:t>⊕</m:t>
                            </m:r>
                            <m:sSub>
                              <m:sSubPr>
                                <m:ctrlPr>
                                  <a:rPr lang="en-US" altLang="zh-CN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i="0" dirty="0" smtClean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e>
                              <m:sub>
                                <m:r>
                                  <a:rPr lang="en-US" altLang="zh-CN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。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模型的相关度为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𝑝𝑟</m:t>
                    </m:r>
                    <m:sSup>
                      <m:sSup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。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攻击者使用</a:t>
                </a:r>
                <a14:m>
                  <m:oMath xmlns:m="http://schemas.openxmlformats.org/officeDocument/2006/math">
                    <m:r>
                      <a:rPr lang="zh-CN" altLang="en-US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  <m:sSup>
                          <m:sSup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  <m:sSup>
                          <m:sSupPr>
                            <m:ctrlPr>
                              <a:rPr lang="zh-CN" alt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p>
                            <m:r>
                              <a:rPr lang="zh-CN" altLang="en-US" i="0">
                                <a:latin typeface="Cambria Math" panose="02040503050406030204" pitchFamily="18" charset="0"/>
                              </a:rPr>
                              <m:t>−4</m:t>
                            </m:r>
                          </m:sup>
                        </m:sSup>
                      </m:e>
                    </m:d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的选择明文进行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区分攻击。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内容占位符 7">
                <a:extLst>
                  <a:ext uri="{FF2B5EF4-FFF2-40B4-BE49-F238E27FC236}">
                    <a16:creationId xmlns:a16="http://schemas.microsoft.com/office/drawing/2014/main" id="{71514A84-1B01-48E6-9D5C-FA19FFA9E9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82180"/>
                <a:ext cx="10515600" cy="5094783"/>
              </a:xfrm>
              <a:blipFill>
                <a:blip r:embed="rId2"/>
                <a:stretch>
                  <a:fillRect l="-1217" t="-2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2922FDBC-19F1-4BA4-9FF8-6F7FEBED0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425" y="2081213"/>
            <a:ext cx="3943350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399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4BDC5D-737E-497F-8B9A-9690A35F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ARX</a:t>
            </a:r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算法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7F5EB8-2831-4052-9232-95524EE62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000"/>
            <a:ext cx="10515600" cy="4779963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ARX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算法是一类只包含三个操作的算法族，即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A(modular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ddition)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word-wise 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otation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OR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ARX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结构设计的算法避免了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盒或查询表的计算开销。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SPECK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算法为例，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SPECK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算法是由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美国国家安全局（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NSA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）设计并于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2013</a:t>
            </a:r>
          </a:p>
          <a:p>
            <a:pPr marL="0" indent="0">
              <a:buNone/>
            </a:pP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年发布的系列分组密码，轮函数如右图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所示。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927C01B-48B1-4CEC-BE84-407D3C77E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112" y="2932521"/>
            <a:ext cx="3330575" cy="342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35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3BF88E22-6E0E-4288-B2FD-C2CE547B7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100" y="1709739"/>
            <a:ext cx="10420350" cy="1935162"/>
          </a:xfrm>
        </p:spPr>
        <p:txBody>
          <a:bodyPr>
            <a:normAutofit/>
          </a:bodyPr>
          <a:lstStyle/>
          <a:p>
            <a:pPr algn="ctr"/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对</a:t>
            </a:r>
            <a:r>
              <a:rPr lang="en-US" altLang="zh-CN" sz="4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ARX</a:t>
            </a:r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的改进的差分线性攻击框架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7F77ABC-D0AA-4729-87A1-21E9DF6AD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95586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55254EA4-DAB7-4979-B0CB-E4EF82893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91220"/>
          </a:xfr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改进的差分线性模型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内容占位符 7">
                <a:extLst>
                  <a:ext uri="{FF2B5EF4-FFF2-40B4-BE49-F238E27FC236}">
                    <a16:creationId xmlns:a16="http://schemas.microsoft.com/office/drawing/2014/main" id="{71514A84-1B01-48E6-9D5C-FA19FFA9E9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82180"/>
                <a:ext cx="10515600" cy="5094783"/>
              </a:xfrm>
            </p:spPr>
            <p:txBody>
              <a:bodyPr/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差分步：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—</a:t>
                </a:r>
                <a:r>
                  <a:rPr lang="zh-CN" altLang="en-US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独立位</a:t>
                </a:r>
                <a:endPara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—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明文复杂度改进为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en-US" altLang="zh-CN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zh-CN" i="0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线性步：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—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比特</a:t>
                </a:r>
                <a:r>
                  <a:rPr lang="zh-CN" altLang="en-US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划分技术</a:t>
                </a:r>
                <a:endPara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—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动态选取线性路线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—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使用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FWHT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加速密钥恢复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内容占位符 7">
                <a:extLst>
                  <a:ext uri="{FF2B5EF4-FFF2-40B4-BE49-F238E27FC236}">
                    <a16:creationId xmlns:a16="http://schemas.microsoft.com/office/drawing/2014/main" id="{71514A84-1B01-48E6-9D5C-FA19FFA9E9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82180"/>
                <a:ext cx="10515600" cy="5094783"/>
              </a:xfrm>
              <a:blipFill>
                <a:blip r:embed="rId2"/>
                <a:stretch>
                  <a:fillRect l="-1217" t="-25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7173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7FAB90-07CC-41BE-B11D-1134234F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12734"/>
            <a:ext cx="3932237" cy="501041"/>
          </a:xfr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产生正确对</a:t>
            </a:r>
          </a:p>
        </p:txBody>
      </p:sp>
      <p:pic>
        <p:nvPicPr>
          <p:cNvPr id="16" name="内容占位符 15">
            <a:extLst>
              <a:ext uri="{FF2B5EF4-FFF2-40B4-BE49-F238E27FC236}">
                <a16:creationId xmlns:a16="http://schemas.microsoft.com/office/drawing/2014/main" id="{4EF56FD4-0C5A-4658-AB6E-A33FD8D5F3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14366" y="864297"/>
            <a:ext cx="4714008" cy="469145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占位符 10">
                <a:extLst>
                  <a:ext uri="{FF2B5EF4-FFF2-40B4-BE49-F238E27FC236}">
                    <a16:creationId xmlns:a16="http://schemas.microsoft.com/office/drawing/2014/main" id="{2F90DD7B-95DA-4295-907F-4F851C7F62BD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839787" y="864297"/>
                <a:ext cx="6300049" cy="5004692"/>
              </a:xfrm>
            </p:spPr>
            <p:txBody>
              <a:bodyPr>
                <a:normAutofit fontScale="92500"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找到一对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CN" altLang="en-US" sz="280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sz="2800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zh-CN" altLang="en-US" sz="2800" i="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2800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zh-CN" altLang="en-US" sz="2800" i="0" dirty="0">
                            <a:latin typeface="Cambria Math" panose="02040503050406030204" pitchFamily="18" charset="0"/>
                          </a:rPr>
                          <m:t>⊕</m:t>
                        </m:r>
                        <m:sSub>
                          <m:sSubPr>
                            <m:ctrlPr>
                              <a:rPr lang="zh-CN" altLang="en-US" sz="2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CN" altLang="en-US" sz="2800" i="0" dirty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zh-CN" altLang="en-US" sz="2800" i="1" dirty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sz="2800" dirty="0">
                  <a:latin typeface="宋体" panose="02010600030101010101" pitchFamily="2" charset="-122"/>
                </a:endParaRPr>
              </a:p>
              <a:p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满足输出差分为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280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sz="2800" dirty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zh-CN" altLang="en-US" sz="2800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，我们每尝试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sz="280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sz="28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zh-CN" altLang="en-US" sz="2800" i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对可以得到这样的一对。</a:t>
                </a:r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准备一个子空间</a:t>
                </a:r>
                <a:r>
                  <a:rPr lang="en-US" altLang="zh-CN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U</a:t>
                </a: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，对于任意的</a:t>
                </a:r>
                <a:r>
                  <a:rPr lang="en-US" altLang="zh-CN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u</a:t>
                </a: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∈</a:t>
                </a:r>
                <a:r>
                  <a:rPr lang="en-US" altLang="zh-CN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U</a:t>
                </a: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altLang="zh-CN" sz="2800" i="0" dirty="0" smtClean="0">
                        <a:latin typeface="Cambria Math" panose="02040503050406030204" pitchFamily="18" charset="0"/>
                      </a:rPr>
                      <m:t>⊕</m:t>
                    </m:r>
                    <m:sSub>
                      <m:sSubPr>
                        <m:ctrlP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⊕</m:t>
                        </m:r>
                        <m:sSub>
                          <m:sSubPr>
                            <m:ctrlPr>
                              <a:rPr lang="en-US" altLang="zh-CN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2800" i="0" dirty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US" altLang="zh-CN" sz="2800" i="1" dirty="0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</m:e>
                    </m:d>
                    <m:r>
                      <a:rPr lang="en-US" altLang="zh-CN" sz="2800" i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满足概率</a:t>
                </a:r>
                <a:r>
                  <a:rPr lang="en-US" altLang="zh-CN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。</a:t>
                </a:r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只使用从</a:t>
                </a:r>
                <a:r>
                  <a:rPr lang="en-US" altLang="zh-CN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U</a:t>
                </a: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中产生的正确对。</a:t>
                </a:r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marL="457200" indent="-457200">
                  <a:buFont typeface="Wingdings" panose="05000000000000000000" pitchFamily="2" charset="2"/>
                  <a:buChar char="Ø"/>
                </a:pP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最终的相关度为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marL="457200" indent="-457200">
                  <a:buFont typeface="Wingdings" panose="05000000000000000000" pitchFamily="2" charset="2"/>
                  <a:buChar char="Ø"/>
                </a:pP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条件为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CN" sz="280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altLang="zh-CN" sz="2800" i="0" dirty="0" smtClean="0"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marL="457200" indent="-457200">
                  <a:buFont typeface="Wingdings" panose="05000000000000000000" pitchFamily="2" charset="2"/>
                  <a:buChar char="Ø"/>
                </a:pP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需要的数据量为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p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（</a:t>
                </a:r>
                <a:r>
                  <a:rPr lang="en-US" altLang="zh-CN" sz="2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80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altLang="zh-CN" sz="2800" i="0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CN" sz="2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提升）</a:t>
                </a:r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marL="457200" indent="-457200">
                  <a:buFont typeface="Wingdings" panose="05000000000000000000" pitchFamily="2" charset="2"/>
                  <a:buChar char="Ø"/>
                </a:pPr>
                <a:endParaRPr lang="zh-CN" altLang="en-US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1" name="文本占位符 10">
                <a:extLst>
                  <a:ext uri="{FF2B5EF4-FFF2-40B4-BE49-F238E27FC236}">
                    <a16:creationId xmlns:a16="http://schemas.microsoft.com/office/drawing/2014/main" id="{2F90DD7B-95DA-4295-907F-4F851C7F62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839787" y="864297"/>
                <a:ext cx="6300049" cy="5004692"/>
              </a:xfrm>
              <a:blipFill>
                <a:blip r:embed="rId3"/>
                <a:stretch>
                  <a:fillRect l="-1742" t="-20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5519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A26D6168-EA4E-4DBC-9A58-818E291A9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9691"/>
          </a:xfrm>
        </p:spPr>
        <p:txBody>
          <a:bodyPr>
            <a:normAutofit/>
          </a:bodyPr>
          <a:lstStyle/>
          <a:p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如何确定子空间</a:t>
            </a:r>
            <a:r>
              <a:rPr lang="en-US" altLang="zh-CN" sz="4000" dirty="0">
                <a:latin typeface="宋体" panose="02010600030101010101" pitchFamily="2" charset="-122"/>
                <a:ea typeface="宋体" panose="02010600030101010101" pitchFamily="2" charset="-122"/>
              </a:rPr>
              <a:t>U</a:t>
            </a:r>
            <a:endParaRPr lang="zh-CN" altLang="en-US" sz="40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2C539FA-F927-44B0-8270-278584A27B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510" y="1215025"/>
            <a:ext cx="10627290" cy="5277850"/>
          </a:xfrm>
        </p:spPr>
        <p:txBody>
          <a:bodyPr/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特例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—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E1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扩散不完全。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—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很容易确定为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维。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—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, ChaCha</a:t>
            </a:r>
          </a:p>
          <a:p>
            <a:pPr marL="0" indent="0">
              <a:buNone/>
            </a:pP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90F612F-F3CB-4483-A7BA-8AD713D66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119" y="2359264"/>
            <a:ext cx="6962775" cy="962025"/>
          </a:xfrm>
          <a:prstGeom prst="rect">
            <a:avLst/>
          </a:prstGeom>
        </p:spPr>
      </p:pic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5E26566F-87A2-4377-A526-D3013A45B2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804326"/>
              </p:ext>
            </p:extLst>
          </p:nvPr>
        </p:nvGraphicFramePr>
        <p:xfrm>
          <a:off x="1174118" y="4465528"/>
          <a:ext cx="1443823" cy="14630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388801">
                  <a:extLst>
                    <a:ext uri="{9D8B030D-6E8A-4147-A177-3AD203B41FA5}">
                      <a16:colId xmlns:a16="http://schemas.microsoft.com/office/drawing/2014/main" val="1524610856"/>
                    </a:ext>
                  </a:extLst>
                </a:gridCol>
                <a:gridCol w="388801">
                  <a:extLst>
                    <a:ext uri="{9D8B030D-6E8A-4147-A177-3AD203B41FA5}">
                      <a16:colId xmlns:a16="http://schemas.microsoft.com/office/drawing/2014/main" val="2510242510"/>
                    </a:ext>
                  </a:extLst>
                </a:gridCol>
                <a:gridCol w="388801">
                  <a:extLst>
                    <a:ext uri="{9D8B030D-6E8A-4147-A177-3AD203B41FA5}">
                      <a16:colId xmlns:a16="http://schemas.microsoft.com/office/drawing/2014/main" val="1374305720"/>
                    </a:ext>
                  </a:extLst>
                </a:gridCol>
                <a:gridCol w="277420">
                  <a:extLst>
                    <a:ext uri="{9D8B030D-6E8A-4147-A177-3AD203B41FA5}">
                      <a16:colId xmlns:a16="http://schemas.microsoft.com/office/drawing/2014/main" val="648817349"/>
                    </a:ext>
                  </a:extLst>
                </a:gridCol>
              </a:tblGrid>
              <a:tr h="24050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416917"/>
                  </a:ext>
                </a:extLst>
              </a:tr>
              <a:tr h="24050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265666"/>
                  </a:ext>
                </a:extLst>
              </a:tr>
              <a:tr h="24050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736799"/>
                  </a:ext>
                </a:extLst>
              </a:tr>
              <a:tr h="24050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31664"/>
                  </a:ext>
                </a:extLst>
              </a:tr>
            </a:tbl>
          </a:graphicData>
        </a:graphic>
      </p:graphicFrame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60062F7-D114-4976-88D5-E93E4CCAC682}"/>
              </a:ext>
            </a:extLst>
          </p:cNvPr>
          <p:cNvCxnSpPr/>
          <p:nvPr/>
        </p:nvCxnSpPr>
        <p:spPr>
          <a:xfrm>
            <a:off x="2843408" y="5197048"/>
            <a:ext cx="764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2EC8AB43-9098-4B36-B4C2-9FE5BBE743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112530"/>
              </p:ext>
            </p:extLst>
          </p:nvPr>
        </p:nvGraphicFramePr>
        <p:xfrm>
          <a:off x="3933594" y="4465528"/>
          <a:ext cx="1443823" cy="14630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388801">
                  <a:extLst>
                    <a:ext uri="{9D8B030D-6E8A-4147-A177-3AD203B41FA5}">
                      <a16:colId xmlns:a16="http://schemas.microsoft.com/office/drawing/2014/main" val="1524610856"/>
                    </a:ext>
                  </a:extLst>
                </a:gridCol>
                <a:gridCol w="388801">
                  <a:extLst>
                    <a:ext uri="{9D8B030D-6E8A-4147-A177-3AD203B41FA5}">
                      <a16:colId xmlns:a16="http://schemas.microsoft.com/office/drawing/2014/main" val="2510242510"/>
                    </a:ext>
                  </a:extLst>
                </a:gridCol>
                <a:gridCol w="388801">
                  <a:extLst>
                    <a:ext uri="{9D8B030D-6E8A-4147-A177-3AD203B41FA5}">
                      <a16:colId xmlns:a16="http://schemas.microsoft.com/office/drawing/2014/main" val="1374305720"/>
                    </a:ext>
                  </a:extLst>
                </a:gridCol>
                <a:gridCol w="277420">
                  <a:extLst>
                    <a:ext uri="{9D8B030D-6E8A-4147-A177-3AD203B41FA5}">
                      <a16:colId xmlns:a16="http://schemas.microsoft.com/office/drawing/2014/main" val="648817349"/>
                    </a:ext>
                  </a:extLst>
                </a:gridCol>
              </a:tblGrid>
              <a:tr h="24050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416917"/>
                  </a:ext>
                </a:extLst>
              </a:tr>
              <a:tr h="24050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265666"/>
                  </a:ext>
                </a:extLst>
              </a:tr>
              <a:tr h="24050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736799"/>
                  </a:ext>
                </a:extLst>
              </a:tr>
              <a:tr h="24050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73166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5F7BAA57-A1BC-435A-8190-AAF3C4629E27}"/>
                  </a:ext>
                </a:extLst>
              </p:cNvPr>
              <p:cNvSpPr txBox="1"/>
              <p:nvPr/>
            </p:nvSpPr>
            <p:spPr>
              <a:xfrm>
                <a:off x="989556" y="6018417"/>
                <a:ext cx="19665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（</a:t>
                </a:r>
                <a:r>
                  <a:rPr lang="en-US" altLang="zh-CN" dirty="0"/>
                  <a:t>0,0,0,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zh-CN" altLang="en-US" dirty="0"/>
                  <a:t>）</a:t>
                </a:r>
              </a:p>
            </p:txBody>
          </p:sp>
        </mc:Choice>
        <mc:Fallback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5F7BAA57-A1BC-435A-8190-AAF3C4629E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556" y="6018417"/>
                <a:ext cx="1966586" cy="369332"/>
              </a:xfrm>
              <a:prstGeom prst="rect">
                <a:avLst/>
              </a:prstGeom>
              <a:blipFill>
                <a:blip r:embed="rId3"/>
                <a:stretch>
                  <a:fillRect l="-2477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7AB0D0A-51BC-4B38-AF41-A1D41E09DF8F}"/>
                  </a:ext>
                </a:extLst>
              </p:cNvPr>
              <p:cNvSpPr txBox="1"/>
              <p:nvPr/>
            </p:nvSpPr>
            <p:spPr>
              <a:xfrm>
                <a:off x="3933594" y="6038560"/>
                <a:ext cx="14438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（</a:t>
                </a:r>
                <a:r>
                  <a:rPr lang="en-US" altLang="zh-CN" dirty="0"/>
                  <a:t>0,0,0,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zh-CN" altLang="en-US" dirty="0"/>
                  <a:t>）</a:t>
                </a:r>
              </a:p>
            </p:txBody>
          </p:sp>
        </mc:Choice>
        <mc:Fallback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7AB0D0A-51BC-4B38-AF41-A1D41E09DF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594" y="6038560"/>
                <a:ext cx="1443823" cy="369332"/>
              </a:xfrm>
              <a:prstGeom prst="rect">
                <a:avLst/>
              </a:prstGeom>
              <a:blipFill>
                <a:blip r:embed="rId4"/>
                <a:stretch>
                  <a:fillRect l="-3376" t="-10000" r="-19831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图片 18">
            <a:extLst>
              <a:ext uri="{FF2B5EF4-FFF2-40B4-BE49-F238E27FC236}">
                <a16:creationId xmlns:a16="http://schemas.microsoft.com/office/drawing/2014/main" id="{14789727-324F-40F3-AE1A-B3189AD5E3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9725" y="3182090"/>
            <a:ext cx="792549" cy="493819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A3EA5423-9D27-40F5-A9D3-6CF4A52AC163}"/>
              </a:ext>
            </a:extLst>
          </p:cNvPr>
          <p:cNvSpPr txBox="1"/>
          <p:nvPr/>
        </p:nvSpPr>
        <p:spPr>
          <a:xfrm>
            <a:off x="7352778" y="4709760"/>
            <a:ext cx="350728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dim(U)=96</a:t>
            </a:r>
            <a:endParaRPr lang="zh-CN" alt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6648D74-AA34-43A0-897A-F398D222069B}"/>
                  </a:ext>
                </a:extLst>
              </p:cNvPr>
              <p:cNvSpPr txBox="1"/>
              <p:nvPr/>
            </p:nvSpPr>
            <p:spPr>
              <a:xfrm>
                <a:off x="7114784" y="4016161"/>
                <a:ext cx="43507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前三列独立于差分路径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dirty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zh-CN" altLang="en-US" i="0" dirty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i="0" dirty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zh-CN" altLang="en-US" dirty="0"/>
              </a:p>
            </p:txBody>
          </p:sp>
        </mc:Choice>
        <mc:Fallback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6648D74-AA34-43A0-897A-F398D2220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784" y="4016161"/>
                <a:ext cx="4350706" cy="369332"/>
              </a:xfrm>
              <a:prstGeom prst="rect">
                <a:avLst/>
              </a:prstGeom>
              <a:blipFill>
                <a:blip r:embed="rId6"/>
                <a:stretch>
                  <a:fillRect l="-1120" t="-10000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1831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A26D6168-EA4E-4DBC-9A58-818E291A9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9691"/>
          </a:xfrm>
        </p:spPr>
        <p:txBody>
          <a:bodyPr>
            <a:normAutofit/>
          </a:bodyPr>
          <a:lstStyle/>
          <a:p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如何确定子空间</a:t>
            </a:r>
            <a:r>
              <a:rPr lang="en-US" altLang="zh-CN" sz="4000" dirty="0">
                <a:latin typeface="宋体" panose="02010600030101010101" pitchFamily="2" charset="-122"/>
                <a:ea typeface="宋体" panose="02010600030101010101" pitchFamily="2" charset="-122"/>
              </a:rPr>
              <a:t>U</a:t>
            </a:r>
            <a:endParaRPr lang="zh-CN" altLang="en-US" sz="40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2C539FA-F927-44B0-8270-278584A27B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554" y="1215024"/>
            <a:ext cx="10615246" cy="5642975"/>
          </a:xfrm>
        </p:spPr>
        <p:txBody>
          <a:bodyPr/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非特例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—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模加的全部输入位无法扩散至输出位。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                          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改变输入的最高位（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MSB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），对输出      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  +                    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的最低位（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LSB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）没有影响。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                                          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改变输入的最低位（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LSB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），对输出         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                       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的最高位（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MSB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）影响很小。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marL="0" indent="0">
              <a:buNone/>
            </a:pP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  +</a:t>
            </a:r>
          </a:p>
          <a:p>
            <a:pPr marL="0" indent="0">
              <a:buNone/>
            </a:pP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—Example , Chaskey</a:t>
            </a:r>
          </a:p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找到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1.5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轮的差分路径                 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dim(U)=25</a:t>
            </a:r>
          </a:p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搜索到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25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比特独立于该差分路径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5E6A53F-3984-420A-9B9C-4B663DCBBCC2}"/>
              </a:ext>
            </a:extLst>
          </p:cNvPr>
          <p:cNvSpPr/>
          <p:nvPr/>
        </p:nvSpPr>
        <p:spPr>
          <a:xfrm>
            <a:off x="1490597" y="2417294"/>
            <a:ext cx="2655518" cy="325677"/>
          </a:xfrm>
          <a:prstGeom prst="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7CF8DB0-242D-41DB-8D08-7515E27C4974}"/>
              </a:ext>
            </a:extLst>
          </p:cNvPr>
          <p:cNvSpPr/>
          <p:nvPr/>
        </p:nvSpPr>
        <p:spPr>
          <a:xfrm>
            <a:off x="1490597" y="2843180"/>
            <a:ext cx="2655518" cy="325677"/>
          </a:xfrm>
          <a:prstGeom prst="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EC3D67C-CD35-47B2-AE12-35C1C8FA4EE0}"/>
              </a:ext>
            </a:extLst>
          </p:cNvPr>
          <p:cNvCxnSpPr/>
          <p:nvPr/>
        </p:nvCxnSpPr>
        <p:spPr>
          <a:xfrm>
            <a:off x="1064712" y="3294345"/>
            <a:ext cx="359497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8D1FDE1-38F0-4280-B18C-D491E5BCA034}"/>
              </a:ext>
            </a:extLst>
          </p:cNvPr>
          <p:cNvSpPr/>
          <p:nvPr/>
        </p:nvSpPr>
        <p:spPr>
          <a:xfrm>
            <a:off x="1490597" y="3394554"/>
            <a:ext cx="2655518" cy="325677"/>
          </a:xfrm>
          <a:prstGeom prst="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E270044-B4DE-45C6-891A-072629D84842}"/>
              </a:ext>
            </a:extLst>
          </p:cNvPr>
          <p:cNvSpPr/>
          <p:nvPr/>
        </p:nvSpPr>
        <p:spPr>
          <a:xfrm>
            <a:off x="1490597" y="2417294"/>
            <a:ext cx="926926" cy="776807"/>
          </a:xfrm>
          <a:prstGeom prst="ellipse">
            <a:avLst/>
          </a:prstGeom>
          <a:noFill/>
          <a:ln>
            <a:solidFill>
              <a:schemeClr val="accent1"/>
            </a:solidFill>
            <a:prstDash val="lgDashDot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073F697-E377-407F-9E52-D8ADA740D04A}"/>
              </a:ext>
            </a:extLst>
          </p:cNvPr>
          <p:cNvSpPr/>
          <p:nvPr/>
        </p:nvSpPr>
        <p:spPr>
          <a:xfrm>
            <a:off x="3369501" y="3370088"/>
            <a:ext cx="776614" cy="388421"/>
          </a:xfrm>
          <a:prstGeom prst="ellipse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4C09F5-CAE4-4AD9-B62A-DD6B52543689}"/>
              </a:ext>
            </a:extLst>
          </p:cNvPr>
          <p:cNvSpPr/>
          <p:nvPr/>
        </p:nvSpPr>
        <p:spPr>
          <a:xfrm>
            <a:off x="1490597" y="3995354"/>
            <a:ext cx="2655518" cy="325677"/>
          </a:xfrm>
          <a:prstGeom prst="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4505C0-A556-4BFB-8385-574D18899C73}"/>
              </a:ext>
            </a:extLst>
          </p:cNvPr>
          <p:cNvSpPr/>
          <p:nvPr/>
        </p:nvSpPr>
        <p:spPr>
          <a:xfrm>
            <a:off x="1490597" y="4425323"/>
            <a:ext cx="2655518" cy="325677"/>
          </a:xfrm>
          <a:prstGeom prst="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8BFEE42-EC1F-4ADF-83D1-BFDBBE4AA1F9}"/>
              </a:ext>
            </a:extLst>
          </p:cNvPr>
          <p:cNvCxnSpPr/>
          <p:nvPr/>
        </p:nvCxnSpPr>
        <p:spPr>
          <a:xfrm>
            <a:off x="1064712" y="4888683"/>
            <a:ext cx="359497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879B2CB2-8D14-488C-BAEE-CFED46A770CD}"/>
              </a:ext>
            </a:extLst>
          </p:cNvPr>
          <p:cNvSpPr/>
          <p:nvPr/>
        </p:nvSpPr>
        <p:spPr>
          <a:xfrm>
            <a:off x="1490597" y="5044308"/>
            <a:ext cx="2655518" cy="325677"/>
          </a:xfrm>
          <a:prstGeom prst="rect">
            <a:avLst/>
          </a:prstGeom>
          <a:noFill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F342BD84-7347-468D-B30D-5801EA127202}"/>
              </a:ext>
            </a:extLst>
          </p:cNvPr>
          <p:cNvCxnSpPr>
            <a:stCxn id="10" idx="6"/>
            <a:endCxn id="11" idx="1"/>
          </p:cNvCxnSpPr>
          <p:nvPr/>
        </p:nvCxnSpPr>
        <p:spPr>
          <a:xfrm>
            <a:off x="2417523" y="2805698"/>
            <a:ext cx="1065710" cy="62127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E2AD2EAE-DCEB-411B-812E-E2941DAA471F}"/>
              </a:ext>
            </a:extLst>
          </p:cNvPr>
          <p:cNvSpPr/>
          <p:nvPr/>
        </p:nvSpPr>
        <p:spPr>
          <a:xfrm>
            <a:off x="3270738" y="3978344"/>
            <a:ext cx="875377" cy="772655"/>
          </a:xfrm>
          <a:prstGeom prst="ellipse">
            <a:avLst/>
          </a:prstGeom>
          <a:noFill/>
          <a:ln>
            <a:prstDash val="lgDashDot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124547B0-269D-4050-AF9C-A36A0FB5510E}"/>
              </a:ext>
            </a:extLst>
          </p:cNvPr>
          <p:cNvSpPr/>
          <p:nvPr/>
        </p:nvSpPr>
        <p:spPr>
          <a:xfrm>
            <a:off x="1490597" y="4988893"/>
            <a:ext cx="678172" cy="462311"/>
          </a:xfrm>
          <a:prstGeom prst="ellipse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D1939FD-0F41-4B4D-95C2-7A74053804E5}"/>
              </a:ext>
            </a:extLst>
          </p:cNvPr>
          <p:cNvCxnSpPr>
            <a:endCxn id="23" idx="7"/>
          </p:cNvCxnSpPr>
          <p:nvPr/>
        </p:nvCxnSpPr>
        <p:spPr>
          <a:xfrm flipH="1">
            <a:off x="2069453" y="4321031"/>
            <a:ext cx="1201285" cy="735566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731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00BE31-DDB2-40F6-BEDA-0C70F003C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3060"/>
          </a:xfr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划分技术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B9841CE-12C7-46DC-9D3D-1962DBC21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59877"/>
                <a:ext cx="10515600" cy="4817086"/>
              </a:xfrm>
            </p:spPr>
            <p:txBody>
              <a:bodyPr>
                <a:norm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, b</a:t>
                </a: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∈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en-US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zh-CN" altLang="en-US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,s = a + b .</a:t>
                </a: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当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 =0</a:t>
                </a: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时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(LSB),</a:t>
                </a:r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显然有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s[0]=a[0]</a:t>
                </a:r>
                <a14:m>
                  <m:oMath xmlns:m="http://schemas.openxmlformats.org/officeDocument/2006/math">
                    <m:r>
                      <a:rPr lang="en-US" altLang="zh-CN" smtClean="0"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b[0]</a:t>
                </a: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，对</a:t>
                </a:r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i&gt;0</a:t>
                </a:r>
                <a:r>
                  <a:rPr lang="zh-CN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时，</a:t>
                </a:r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第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i</a:t>
                </a:r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位的输出显然非线性。我们有以下引理：</a:t>
                </a:r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类似地，对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(z1,z0)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  <a:sym typeface="Wingdings" panose="05000000000000000000" pitchFamily="2" charset="2"/>
                  </a:rPr>
                  <a:t>(y1,y0),</a:t>
                </a:r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  <a:sym typeface="Wingdings" panose="05000000000000000000" pitchFamily="2" charset="2"/>
                  </a:rPr>
                  <a:t>要计算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  <a:sym typeface="Wingdings" panose="05000000000000000000" pitchFamily="2" charset="2"/>
                  </a:rPr>
                  <a:t>z0[i]</a:t>
                </a:r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  <a:sym typeface="Wingdings" panose="05000000000000000000" pitchFamily="2" charset="2"/>
                  </a:rPr>
                  <a:t>，我们有以下引理：</a:t>
                </a:r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en-US" altLang="zh-CN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   Z0    Z1</a:t>
                </a:r>
              </a:p>
              <a:p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en-US" altLang="zh-CN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en-US" altLang="zh-CN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   Y0    Y1</a:t>
                </a:r>
                <a:endParaRPr lang="zh-CN" altLang="en-US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B9841CE-12C7-46DC-9D3D-1962DBC21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59877"/>
                <a:ext cx="10515600" cy="4817086"/>
              </a:xfrm>
              <a:blipFill>
                <a:blip r:embed="rId2"/>
                <a:stretch>
                  <a:fillRect l="-1043" t="-2658" r="-458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>
            <a:extLst>
              <a:ext uri="{FF2B5EF4-FFF2-40B4-BE49-F238E27FC236}">
                <a16:creationId xmlns:a16="http://schemas.microsoft.com/office/drawing/2014/main" id="{985B014D-960D-4CAE-B7C1-58E8E8D0B6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80493"/>
            <a:ext cx="9397317" cy="1049215"/>
          </a:xfrm>
          <a:prstGeom prst="rect">
            <a:avLst/>
          </a:prstGeom>
        </p:spPr>
      </p:pic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BF216526-EE73-43F8-BEB9-D7BE8055F51C}"/>
              </a:ext>
            </a:extLst>
          </p:cNvPr>
          <p:cNvCxnSpPr>
            <a:cxnSpLocks/>
          </p:cNvCxnSpPr>
          <p:nvPr/>
        </p:nvCxnSpPr>
        <p:spPr>
          <a:xfrm>
            <a:off x="1862698" y="4196861"/>
            <a:ext cx="0" cy="13247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2D6FE7CC-A04C-4F5B-A01D-EC2F04803947}"/>
              </a:ext>
            </a:extLst>
          </p:cNvPr>
          <p:cNvCxnSpPr>
            <a:cxnSpLocks/>
          </p:cNvCxnSpPr>
          <p:nvPr/>
        </p:nvCxnSpPr>
        <p:spPr>
          <a:xfrm>
            <a:off x="2917775" y="4196861"/>
            <a:ext cx="0" cy="13247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0665A0E2-1802-4DD6-87F5-22E4579F03E1}"/>
              </a:ext>
            </a:extLst>
          </p:cNvPr>
          <p:cNvCxnSpPr>
            <a:cxnSpLocks/>
          </p:cNvCxnSpPr>
          <p:nvPr/>
        </p:nvCxnSpPr>
        <p:spPr>
          <a:xfrm flipH="1">
            <a:off x="2044399" y="4859215"/>
            <a:ext cx="8733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81C4767C-2563-4EF6-AA21-37EAE8BB9B88}"/>
              </a:ext>
            </a:extLst>
          </p:cNvPr>
          <p:cNvSpPr/>
          <p:nvPr/>
        </p:nvSpPr>
        <p:spPr>
          <a:xfrm>
            <a:off x="1688123" y="4630615"/>
            <a:ext cx="363402" cy="42203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68A0C9E4-190D-4B87-AC03-E44E1647DDA3}"/>
              </a:ext>
            </a:extLst>
          </p:cNvPr>
          <p:cNvCxnSpPr>
            <a:cxnSpLocks/>
          </p:cNvCxnSpPr>
          <p:nvPr/>
        </p:nvCxnSpPr>
        <p:spPr>
          <a:xfrm>
            <a:off x="1688122" y="4841630"/>
            <a:ext cx="35627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片 21">
            <a:extLst>
              <a:ext uri="{FF2B5EF4-FFF2-40B4-BE49-F238E27FC236}">
                <a16:creationId xmlns:a16="http://schemas.microsoft.com/office/drawing/2014/main" id="{0C68CB4A-79A2-4A55-BD0C-EC61012D3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1970" y="4202721"/>
            <a:ext cx="6673547" cy="134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127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077462-4D8B-455F-9B2A-9E6E995ED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7860"/>
          </a:xfrm>
        </p:spPr>
        <p:txBody>
          <a:bodyPr>
            <a:normAutofit/>
          </a:bodyPr>
          <a:lstStyle/>
          <a:p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划分技术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F8C603-2EA3-4873-B996-D94CF20DD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2986"/>
            <a:ext cx="10515600" cy="4863977"/>
          </a:xfrm>
        </p:spPr>
        <p:txBody>
          <a:bodyPr/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进一步地，通过对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z0[i-1]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位的观察，我们有引理</a:t>
            </a:r>
            <a:r>
              <a:rPr lang="en-US" altLang="zh-CN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：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7DC6E15-0096-4255-B3B8-693B2F055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23349"/>
            <a:ext cx="9678380" cy="1984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728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AFA357-F9A5-4498-B118-C298486AB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48567"/>
          </a:xfrm>
        </p:spPr>
        <p:txBody>
          <a:bodyPr>
            <a:normAutofit/>
          </a:bodyPr>
          <a:lstStyle/>
          <a:p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划分技术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EF73FCE-A769-41BD-BCB0-7A0DE99032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42646"/>
                <a:ext cx="10515600" cy="4934317"/>
              </a:xfrm>
            </p:spPr>
            <p:txBody>
              <a:bodyPr/>
              <a:lstStyle/>
              <a:p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zh-CN" altLang="en-US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zh-CN" altLang="en-US" i="0" dirty="0">
                        <a:latin typeface="Cambria Math" panose="02040503050406030204" pitchFamily="18" charset="0"/>
                      </a:rPr>
                      <m:t>⊕</m:t>
                    </m:r>
                    <m:acc>
                      <m:accPr>
                        <m:chr m:val="̅"/>
                        <m:ctrlPr>
                          <a:rPr lang="zh-CN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zh-CN" alt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CN" altLang="en-US" i="0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p,</a:t>
                </a:r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那么根据引理</a:t>
                </a:r>
                <a:r>
                  <a:rPr lang="en-US" altLang="zh-CN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以及引理</a:t>
                </a:r>
                <a:r>
                  <a:rPr lang="en-US" altLang="zh-CN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3</a:t>
                </a:r>
                <a:r>
                  <a:rPr lang="zh-CN" altLang="en-US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，我们可以得到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z0[i]</a:t>
                </a:r>
                <a14:m>
                  <m:oMath xmlns:m="http://schemas.openxmlformats.org/officeDocument/2006/math">
                    <m:r>
                      <a:rPr lang="zh-CN" altLang="en-US" i="0" dirty="0" smtClean="0">
                        <a:latin typeface="Cambria Math" panose="02040503050406030204" pitchFamily="18" charset="0"/>
                      </a:rPr>
                      <m:t>⊕</m:t>
                    </m:r>
                    <m:r>
                      <m:rPr>
                        <m:sty m:val="p"/>
                      </m:rPr>
                      <a:rPr lang="en-US" altLang="zh-CN" b="0" i="0" dirty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altLang="zh-CN" b="0" i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[i-1]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或是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z0[i]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的值。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具体地</a:t>
                </a: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6EF73FCE-A769-41BD-BCB0-7A0DE99032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42646"/>
                <a:ext cx="10515600" cy="4934317"/>
              </a:xfrm>
              <a:blipFill>
                <a:blip r:embed="rId2"/>
                <a:stretch>
                  <a:fillRect l="-1043" t="-25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326308A7-EB9C-4BC9-A171-1D817BD36A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28353"/>
                  </p:ext>
                </p:extLst>
              </p:nvPr>
            </p:nvGraphicFramePr>
            <p:xfrm>
              <a:off x="1875693" y="2965939"/>
              <a:ext cx="8225691" cy="2093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52953">
                      <a:extLst>
                        <a:ext uri="{9D8B030D-6E8A-4147-A177-3AD203B41FA5}">
                          <a16:colId xmlns:a16="http://schemas.microsoft.com/office/drawing/2014/main" val="710268351"/>
                        </a:ext>
                      </a:extLst>
                    </a:gridCol>
                    <a:gridCol w="3830841">
                      <a:extLst>
                        <a:ext uri="{9D8B030D-6E8A-4147-A177-3AD203B41FA5}">
                          <a16:colId xmlns:a16="http://schemas.microsoft.com/office/drawing/2014/main" val="2825607308"/>
                        </a:ext>
                      </a:extLst>
                    </a:gridCol>
                    <a:gridCol w="2741897">
                      <a:extLst>
                        <a:ext uri="{9D8B030D-6E8A-4147-A177-3AD203B41FA5}">
                          <a16:colId xmlns:a16="http://schemas.microsoft.com/office/drawing/2014/main" val="3885971571"/>
                        </a:ext>
                      </a:extLst>
                    </a:gridCol>
                  </a:tblGrid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p[i-1]||p[i-2]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z0[i-1]</a:t>
                          </a:r>
                          <a:r>
                            <a:rPr lang="zh-CN" altLang="en-US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i="0" dirty="0"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</m:oMath>
                          </a14:m>
                          <a:r>
                            <a:rPr lang="en-US" altLang="zh-CN" dirty="0"/>
                            <a:t>z0[i-1]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z0[i]</a:t>
                          </a:r>
                          <a:endParaRPr lang="zh-CN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3335449"/>
                      </a:ext>
                    </a:extLst>
                  </a:tr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00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p[i]</a:t>
                          </a:r>
                          <a:r>
                            <a:rPr lang="zh-CN" altLang="en-US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i="0" dirty="0"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</m:oMath>
                          </a14:m>
                          <a:r>
                            <a:rPr lang="en-US" altLang="zh-CN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x1[i-1]</a:t>
                          </a:r>
                          <a:r>
                            <a:rPr lang="zh-CN" altLang="en-US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i="0" dirty="0"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</m:oMath>
                          </a14:m>
                          <a:r>
                            <a:rPr lang="en-US" altLang="zh-CN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x1[i-2]</a:t>
                          </a:r>
                          <a:endParaRPr lang="zh-CN" alt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zh-CN" altLang="en-US" dirty="0"/>
                            <a:t>√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0928188"/>
                      </a:ext>
                    </a:extLst>
                  </a:tr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01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not available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zh-CN" altLang="en-US" dirty="0"/>
                            <a:t>√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80915833"/>
                      </a:ext>
                    </a:extLst>
                  </a:tr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10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p[i]</a:t>
                          </a:r>
                          <a:r>
                            <a:rPr lang="zh-CN" alt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i="0" dirty="0"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</m:oMath>
                          </a14:m>
                          <a:r>
                            <a:rPr lang="en-US" altLang="zh-CN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zh-CN" alt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zh-CN" altLang="en-US" dirty="0"/>
                            <a:t>√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3982490"/>
                      </a:ext>
                    </a:extLst>
                  </a:tr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11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p[i]</a:t>
                          </a:r>
                          <a:r>
                            <a:rPr lang="zh-CN" alt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i="0" dirty="0"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</m:oMath>
                          </a14:m>
                          <a:r>
                            <a:rPr lang="en-US" altLang="zh-CN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1</a:t>
                          </a:r>
                          <a:endParaRPr lang="zh-CN" altLang="en-US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not available</a:t>
                          </a:r>
                          <a:endParaRPr lang="zh-CN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292298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表格 3">
                <a:extLst>
                  <a:ext uri="{FF2B5EF4-FFF2-40B4-BE49-F238E27FC236}">
                    <a16:creationId xmlns:a16="http://schemas.microsoft.com/office/drawing/2014/main" id="{326308A7-EB9C-4BC9-A171-1D817BD36A8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628353"/>
                  </p:ext>
                </p:extLst>
              </p:nvPr>
            </p:nvGraphicFramePr>
            <p:xfrm>
              <a:off x="1875693" y="2965939"/>
              <a:ext cx="8225691" cy="2093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52953">
                      <a:extLst>
                        <a:ext uri="{9D8B030D-6E8A-4147-A177-3AD203B41FA5}">
                          <a16:colId xmlns:a16="http://schemas.microsoft.com/office/drawing/2014/main" val="710268351"/>
                        </a:ext>
                      </a:extLst>
                    </a:gridCol>
                    <a:gridCol w="3830841">
                      <a:extLst>
                        <a:ext uri="{9D8B030D-6E8A-4147-A177-3AD203B41FA5}">
                          <a16:colId xmlns:a16="http://schemas.microsoft.com/office/drawing/2014/main" val="2825607308"/>
                        </a:ext>
                      </a:extLst>
                    </a:gridCol>
                    <a:gridCol w="2741897">
                      <a:extLst>
                        <a:ext uri="{9D8B030D-6E8A-4147-A177-3AD203B41FA5}">
                          <a16:colId xmlns:a16="http://schemas.microsoft.com/office/drawing/2014/main" val="3885971571"/>
                        </a:ext>
                      </a:extLst>
                    </a:gridCol>
                  </a:tblGrid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p[i-1]||p[i-2]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43175" t="-7246" r="-72063" b="-4086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z0[i]</a:t>
                          </a:r>
                          <a:endParaRPr lang="zh-CN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3335449"/>
                      </a:ext>
                    </a:extLst>
                  </a:tr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00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43175" t="-107246" r="-72063" b="-3086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altLang="en-US" dirty="0"/>
                            <a:t>√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60928188"/>
                      </a:ext>
                    </a:extLst>
                  </a:tr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01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not available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zh-CN" altLang="en-US" dirty="0"/>
                            <a:t>√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80915833"/>
                      </a:ext>
                    </a:extLst>
                  </a:tr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10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43175" t="-305797" r="-72063" b="-1101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zh-CN" altLang="en-US" dirty="0"/>
                            <a:t>√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3982490"/>
                      </a:ext>
                    </a:extLst>
                  </a:tr>
                  <a:tr h="418644"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11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43175" t="-405797" r="-72063" b="-101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CN" dirty="0"/>
                            <a:t>not available</a:t>
                          </a:r>
                          <a:endParaRPr lang="zh-CN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729229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4370610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8E8C61-AC16-4C55-BA11-A7FA7DCCA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7182"/>
          </a:xfrm>
        </p:spPr>
        <p:txBody>
          <a:bodyPr>
            <a:normAutofit/>
          </a:bodyPr>
          <a:lstStyle/>
          <a:p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划分技术</a:t>
            </a:r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414F231E-36F9-43FF-8A8E-17C5375669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42966" y="1667180"/>
            <a:ext cx="4848605" cy="352364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D86FF3FD-99B1-4A74-8A63-72D51F73AE0F}"/>
                  </a:ext>
                </a:extLst>
              </p:cNvPr>
              <p:cNvSpPr txBox="1"/>
              <p:nvPr/>
            </p:nvSpPr>
            <p:spPr>
              <a:xfrm>
                <a:off x="697522" y="1418491"/>
                <a:ext cx="6500447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以右图为例说明。</a:t>
                </a:r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由前述引理可知，</a:t>
                </a:r>
                <a:r>
                  <a:rPr lang="en-US" altLang="zh-CN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z0[i]</a:t>
                </a: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同</a:t>
                </a:r>
                <a:r>
                  <a:rPr lang="en-US" altLang="zh-CN" sz="2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p1[i-1],p2[i-2]</a:t>
                </a: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的取值相关，那么通过猜测</a:t>
                </a:r>
                <a:r>
                  <a:rPr lang="en-US" altLang="zh-CN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k0[i-1]</a:t>
                </a:r>
                <a:r>
                  <a:rPr lang="zh-CN" altLang="en-US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，</a:t>
                </a:r>
                <a:r>
                  <a:rPr lang="en-US" altLang="zh-CN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k1[i-1],</a:t>
                </a:r>
                <a:r>
                  <a:rPr lang="zh-CN" altLang="en-US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我们可以将数据过滤，在满足</a:t>
                </a:r>
                <a:r>
                  <a:rPr lang="en-US" altLang="zh-CN" sz="2800" dirty="0">
                    <a:solidFill>
                      <a:srgbClr val="00B05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k1[i-1]</a:t>
                </a:r>
                <a:r>
                  <a:rPr lang="zh-CN" altLang="en-US" sz="2800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sz="2800" i="0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zh-CN" sz="2800" dirty="0">
                    <a:solidFill>
                      <a:srgbClr val="00B05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k0[i-1]</a:t>
                </a:r>
                <a:r>
                  <a:rPr lang="zh-CN" altLang="en-US" sz="2800" dirty="0">
                    <a:solidFill>
                      <a:srgbClr val="00B05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≠</a:t>
                </a:r>
                <a:r>
                  <a:rPr lang="en-US" altLang="zh-CN" sz="2800" dirty="0">
                    <a:solidFill>
                      <a:srgbClr val="00B05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c1[i-1]</a:t>
                </a:r>
                <a:r>
                  <a:rPr lang="zh-CN" altLang="en-US" sz="2800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sz="2800" i="0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zh-CN" sz="2800" dirty="0">
                    <a:solidFill>
                      <a:srgbClr val="00B05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c0[i-1]</a:t>
                </a:r>
                <a:r>
                  <a:rPr lang="zh-CN" altLang="en-US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的密文中，我们可以简单地应用引理</a:t>
                </a:r>
                <a:r>
                  <a:rPr lang="en-US" altLang="zh-CN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r>
                  <a:rPr lang="zh-CN" altLang="en-US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的第一个条件，即</a:t>
                </a:r>
                <a:r>
                  <a:rPr lang="en-US" altLang="zh-CN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z0[i]=y1[i]</a:t>
                </a:r>
                <a:r>
                  <a:rPr lang="zh-CN" altLang="en-US" sz="2800" dirty="0"/>
                  <a:t> </a:t>
                </a:r>
                <a14:m>
                  <m:oMath xmlns:m="http://schemas.openxmlformats.org/officeDocument/2006/math">
                    <m:r>
                      <a:rPr lang="zh-CN" altLang="en-US" sz="2800" i="0" dirty="0"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zh-CN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y0[i]</a:t>
                </a:r>
                <a:r>
                  <a:rPr lang="zh-CN" altLang="en-US" sz="2800" dirty="0"/>
                  <a:t> </a:t>
                </a:r>
                <a14:m>
                  <m:oMath xmlns:m="http://schemas.openxmlformats.org/officeDocument/2006/math">
                    <m:r>
                      <a:rPr lang="zh-CN" altLang="en-US" sz="2800" i="0" dirty="0"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zh-CN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y1[i-1]</a:t>
                </a:r>
                <a:r>
                  <a:rPr lang="zh-CN" altLang="en-US" sz="2800" dirty="0"/>
                  <a:t> </a:t>
                </a:r>
                <a14:m>
                  <m:oMath xmlns:m="http://schemas.openxmlformats.org/officeDocument/2006/math">
                    <m:r>
                      <a:rPr lang="zh-CN" altLang="en-US" sz="2800" i="0" dirty="0"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altLang="zh-CN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1,</a:t>
                </a:r>
                <a:r>
                  <a:rPr lang="zh-CN" altLang="en-US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在这种情况下，</a:t>
                </a:r>
                <a:endParaRPr lang="en-US" altLang="zh-CN" sz="28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zh-CN" altLang="en-US" sz="2800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zh-CN" altLang="en-US" sz="2800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sz="2800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z0[i]</a:t>
                </a:r>
                <a:r>
                  <a:rPr lang="zh-CN" altLang="en-US" sz="2800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sz="2800" i="0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zh-CN" altLang="en-US" sz="28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sz="2800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y1[i]</a:t>
                </a:r>
                <a:r>
                  <a:rPr lang="zh-CN" altLang="en-US" sz="2800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sz="2800" i="0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zh-CN" altLang="en-US" sz="28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sz="2800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y0[i]</a:t>
                </a:r>
                <a:r>
                  <a:rPr lang="zh-CN" altLang="en-US" sz="2800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sz="2800" i="0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⊕</m:t>
                    </m:r>
                    <m:r>
                      <a:rPr lang="zh-CN" altLang="en-US" sz="2800" i="1" dirty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sz="2800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y1[i-1]</a:t>
                </a:r>
                <a:r>
                  <a:rPr lang="zh-CN" altLang="en-US" sz="2800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  <a:r>
                  <a:rPr lang="en-US" altLang="zh-CN" sz="2800" dirty="0">
                    <a:solidFill>
                      <a:srgbClr val="7030A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= -1</a:t>
                </a:r>
                <a:r>
                  <a:rPr lang="zh-CN" altLang="en-US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。</a:t>
                </a:r>
                <a:endParaRPr lang="en-US" altLang="zh-CN" sz="2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endParaRPr lang="zh-CN" altLang="en-US" sz="2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D86FF3FD-99B1-4A74-8A63-72D51F73A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522" y="1418491"/>
                <a:ext cx="6500447" cy="4401205"/>
              </a:xfrm>
              <a:prstGeom prst="rect">
                <a:avLst/>
              </a:prstGeom>
              <a:blipFill>
                <a:blip r:embed="rId3"/>
                <a:stretch>
                  <a:fillRect l="-1874" t="-1524" r="-7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3807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3FB6F1-0F00-4C29-8D7C-F7472407C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9244"/>
          </a:xfrm>
        </p:spPr>
        <p:txBody>
          <a:bodyPr>
            <a:normAutofit/>
          </a:bodyPr>
          <a:lstStyle/>
          <a:p>
            <a:r>
              <a:rPr lang="zh-CN" altLang="en-US" sz="4000" dirty="0">
                <a:latin typeface="宋体" panose="02010600030101010101" pitchFamily="2" charset="-122"/>
                <a:ea typeface="宋体" panose="02010600030101010101" pitchFamily="2" charset="-122"/>
              </a:rPr>
              <a:t>划分技术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598ABBF-E387-477A-ABC6-3D229B5B6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2277"/>
            <a:ext cx="10515600" cy="4664686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通过猜测部分密文位，将密文划分为满足引理条件集合的特定的若干子集，可以改善差分线性输出的相关度。</a:t>
            </a:r>
            <a:endParaRPr lang="en-US" altLang="zh-CN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64937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3058FE-36BA-48CD-816D-E7D35D3D7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4783"/>
          </a:xfrm>
        </p:spPr>
        <p:txBody>
          <a:bodyPr>
            <a:normAutofit fontScale="90000"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结合不同的线性路线</a:t>
            </a:r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F4B5DD08-BEF2-4E58-845E-AEE5AE53C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81800" y="1186656"/>
            <a:ext cx="4572000" cy="475297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E4826AD-FF22-44A7-99F2-6B1FE6D52EB7}"/>
                  </a:ext>
                </a:extLst>
              </p:cNvPr>
              <p:cNvSpPr txBox="1"/>
              <p:nvPr/>
            </p:nvSpPr>
            <p:spPr>
              <a:xfrm>
                <a:off x="562706" y="2224315"/>
                <a:ext cx="6412523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对于每个划分，线性路线的选取可能是不同的。</a:t>
                </a:r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en-US" altLang="zh-CN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—</a:t>
                </a: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不同线性路线所包含的密钥位不尽相同。（</a:t>
                </a:r>
                <a:r>
                  <a:rPr lang="en-US" altLang="zh-CN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e.g.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sz="28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sz="280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p>
                        <m:r>
                          <a:rPr lang="en-US" altLang="zh-CN" sz="28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包含</a:t>
                </a:r>
                <a:r>
                  <a:rPr lang="en-US" altLang="zh-CN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k1[31],</a:t>
                </a:r>
                <a:r>
                  <a:rPr lang="zh-CN" altLang="en-US" sz="2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但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CN" altLang="en-US" sz="2800" i="1" smtClean="0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  <m:sup>
                        <m:r>
                          <a:rPr lang="en-US" altLang="zh-CN" sz="28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不包含）</a:t>
                </a:r>
                <a:endParaRPr lang="en-US" altLang="zh-CN" sz="2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en-US" altLang="zh-CN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—</a:t>
                </a:r>
                <a:r>
                  <a:rPr lang="zh-CN" altLang="en-US" sz="2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为了结合不同路线，这些不是共同包含的密钥位需要额外的猜测。</a:t>
                </a:r>
              </a:p>
            </p:txBody>
          </p:sp>
        </mc:Choice>
        <mc:Fallback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E4826AD-FF22-44A7-99F2-6B1FE6D52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706" y="2224315"/>
                <a:ext cx="6412523" cy="2677656"/>
              </a:xfrm>
              <a:prstGeom prst="rect">
                <a:avLst/>
              </a:prstGeom>
              <a:blipFill>
                <a:blip r:embed="rId3"/>
                <a:stretch>
                  <a:fillRect l="-1901" t="-2506" b="-54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90435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EE64ED25-CE2F-4C27-8E6A-1C0D89DC6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217493"/>
          </a:xfrm>
        </p:spPr>
        <p:txBody>
          <a:bodyPr/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谢谢大家！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72ACDCA-CBEC-4CF4-872F-C1003DF22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68086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1022</TotalTime>
  <Words>1231</Words>
  <Application>Microsoft Office PowerPoint</Application>
  <PresentationFormat>宽屏</PresentationFormat>
  <Paragraphs>131</Paragraphs>
  <Slides>18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等线</vt:lpstr>
      <vt:lpstr>等线 Light</vt:lpstr>
      <vt:lpstr>宋体</vt:lpstr>
      <vt:lpstr>Arial</vt:lpstr>
      <vt:lpstr>Cambria Math</vt:lpstr>
      <vt:lpstr>Times New Roman</vt:lpstr>
      <vt:lpstr>Wingdings</vt:lpstr>
      <vt:lpstr>Office 主题​​</vt:lpstr>
      <vt:lpstr>ARX算法的差分—线性攻击</vt:lpstr>
      <vt:lpstr>差分、线性攻击</vt:lpstr>
      <vt:lpstr>差分线性模型</vt:lpstr>
      <vt:lpstr>差分线性模型</vt:lpstr>
      <vt:lpstr>差分线性模型（实际）</vt:lpstr>
      <vt:lpstr>ARX算法</vt:lpstr>
      <vt:lpstr>对ARX的改进的差分线性攻击框架</vt:lpstr>
      <vt:lpstr>改进的差分线性模型</vt:lpstr>
      <vt:lpstr>产生正确对</vt:lpstr>
      <vt:lpstr>如何确定子空间U</vt:lpstr>
      <vt:lpstr>如何确定子空间U</vt:lpstr>
      <vt:lpstr>划分技术</vt:lpstr>
      <vt:lpstr>划分技术</vt:lpstr>
      <vt:lpstr>划分技术</vt:lpstr>
      <vt:lpstr>划分技术</vt:lpstr>
      <vt:lpstr>划分技术</vt:lpstr>
      <vt:lpstr>结合不同的线性路线</vt:lpstr>
      <vt:lpstr>谢谢大家！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ARX算法的差分—线性攻击</dc:title>
  <dc:creator>Fans</dc:creator>
  <cp:lastModifiedBy>Fans</cp:lastModifiedBy>
  <cp:revision>37</cp:revision>
  <dcterms:created xsi:type="dcterms:W3CDTF">2020-11-16T13:07:15Z</dcterms:created>
  <dcterms:modified xsi:type="dcterms:W3CDTF">2020-11-17T06:09:28Z</dcterms:modified>
</cp:coreProperties>
</file>