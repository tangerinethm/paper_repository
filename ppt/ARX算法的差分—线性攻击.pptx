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60" r:id="rId7"/>
    <p:sldId id="261" r:id="rId8"/>
    <p:sldId id="263" r:id="rId9"/>
    <p:sldId id="259" r:id="rId10"/>
    <p:sldId id="262" r:id="rId11"/>
    <p:sldId id="264" r:id="rId12"/>
    <p:sldId id="265" r:id="rId13"/>
    <p:sldId id="267" r:id="rId14"/>
    <p:sldId id="266" r:id="rId15"/>
    <p:sldId id="270" r:id="rId16"/>
    <p:sldId id="268" r:id="rId17"/>
    <p:sldId id="269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ns" initials="F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6357" autoAdjust="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14276-184D-4ADE-BACE-4B1A071C834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1621F-5705-402E-8B30-297AD408794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1621F-5705-402E-8B30-297AD408794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8E930-FC99-4238-B0EE-ACD1A6D07B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73FD-FD9B-42CC-9261-6811E61FD0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8E930-FC99-4238-B0EE-ACD1A6D07B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73FD-FD9B-42CC-9261-6811E61FD0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8E930-FC99-4238-B0EE-ACD1A6D07B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73FD-FD9B-42CC-9261-6811E61FD0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8E930-FC99-4238-B0EE-ACD1A6D07B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73FD-FD9B-42CC-9261-6811E61FD0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8E930-FC99-4238-B0EE-ACD1A6D07B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73FD-FD9B-42CC-9261-6811E61FD0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8E930-FC99-4238-B0EE-ACD1A6D07B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73FD-FD9B-42CC-9261-6811E61FD0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8E930-FC99-4238-B0EE-ACD1A6D07B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73FD-FD9B-42CC-9261-6811E61FD0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8E930-FC99-4238-B0EE-ACD1A6D07B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73FD-FD9B-42CC-9261-6811E61FD0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8E930-FC99-4238-B0EE-ACD1A6D07B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73FD-FD9B-42CC-9261-6811E61FD0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8E930-FC99-4238-B0EE-ACD1A6D07B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73FD-FD9B-42CC-9261-6811E61FD0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8E930-FC99-4238-B0EE-ACD1A6D07B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73FD-FD9B-42CC-9261-6811E61FD0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8E930-FC99-4238-B0EE-ACD1A6D07B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673FD-FD9B-42CC-9261-6811E61FD0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ARX</a:t>
            </a:r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算法的差分</a:t>
            </a:r>
            <a:r>
              <a:rPr lang="en-US" altLang="zh-CN" sz="4000" dirty="0">
                <a:latin typeface="宋体" panose="02010600030101010101" pitchFamily="2" charset="-122"/>
                <a:ea typeface="宋体" panose="02010600030101010101" pitchFamily="2" charset="-122"/>
              </a:rPr>
              <a:t>—</a:t>
            </a:r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线性攻击</a:t>
            </a:r>
            <a:endParaRPr lang="zh-CN" altLang="en-US" sz="4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						   	  	 </a:t>
            </a:r>
            <a:r>
              <a:rPr lang="en-US" altLang="zh-CN" i="1" dirty="0"/>
              <a:t>2020/11/16</a:t>
            </a:r>
            <a:endParaRPr lang="zh-CN" altLang="en-US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差分、线性攻击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差分攻击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ele attr="{BE1445F7-15D2-4634-8941-D1819035F51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输入差分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、输出差分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0" dirty="0"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e>
                    </m:d>
                    <m:r>
                      <a:rPr lang="zh-CN" altLang="en-US" i="0" dirty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0" dirty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p=Pr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CN" alt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zh-CN" alt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zh-CN" altLang="en-US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⊕</m:t>
                            </m:r>
                            <m:sSub>
                              <m:sSubPr>
                                <m:ctrlPr>
                                  <a:rPr lang="zh-CN" alt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zh-CN" alt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e>
                        </m:d>
                        <m:r>
                          <a:rPr lang="zh-CN" altLang="en-US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zh-CN" alt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zh-CN" altLang="en-US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zh-CN" alt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𝛱</m:t>
                    </m:r>
                    <m:sSub>
                      <m:sSubPr>
                        <m:ctrlPr>
                          <a:rPr lang="en-US" altLang="zh-CN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复杂度 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1/p</a:t>
                </a:r>
              </a:p>
              <a:p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p&gt;&gt;2^-n</a:t>
                </a: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1"/>
                <a:stretch>
                  <a:fillRect l="-2128" t="-3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6" name="文本占位符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线性攻击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内容占位符 6">
                <a:extLst>
                  <a:ext uri="{FF2B5EF4-FFF2-40B4-BE49-F238E27FC236}">
                    <ele attr="{BDC82D4E-4C29-4BDF-81A1-4CABC48BD487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198" y="2505075"/>
                <a:ext cx="6210301" cy="3684588"/>
              </a:xfrm>
            </p:spPr>
            <p:txBody>
              <a:bodyPr/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输入掩码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、输出掩码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</m:oMath>
                </a14:m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  <m:r>
                      <a:rPr lang="en-US" altLang="zh-CN" i="0" dirty="0" smtClean="0">
                        <a:latin typeface="Cambria Math" panose="02040503050406030204" pitchFamily="18" charset="0"/>
                      </a:rPr>
                      <m:t>≈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zh-CN" altLang="en-US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zh-CN" alt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begChr m:val="["/>
                        <m:endChr m:val="]"/>
                        <m:ctrlPr>
                          <a:rPr lang="zh-CN" altLang="en-US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altLang="zh-CN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zh-CN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e>
                        </m:d>
                        <m:r>
                          <a:rPr lang="zh-CN" altLang="en-US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zh-CN" altLang="en-US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𝛱</m:t>
                    </m:r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 i="0" dirty="0">
                            <a:latin typeface="Cambria Math" panose="02040503050406030204" pitchFamily="18" charset="0"/>
                          </a:rPr>
                          <m:t>ⅈ</m:t>
                        </m:r>
                      </m:sub>
                    </m:sSub>
                  </m:oMath>
                </a14:m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复杂度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1/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&gt;&gt;2^-n/2</a:t>
                </a: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内容占位符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198" y="2505075"/>
                <a:ext cx="6210301" cy="3684588"/>
              </a:xfrm>
              <a:blipFill rotWithShape="1">
                <a:blip r:embed="rId2"/>
                <a:stretch>
                  <a:fillRect l="-1668" t="-3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cxnSp>
        <p:nvCxnSpPr>
          <p:cNvPr id="14" name="直接箭头连接符 13"/>
          <p:cNvCxnSpPr/>
          <p:nvPr/>
        </p:nvCxnSpPr>
        <p:spPr>
          <a:xfrm flipV="1">
            <a:off x="7432431" y="1547446"/>
            <a:ext cx="550984" cy="16412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ele attr="{10AC889E-D2C1-4CDE-B856-41B89102C612}"/>
                  </a:ext>
                </a:extLst>
              </p:cNvPr>
              <p:cNvSpPr txBox="1"/>
              <p:nvPr/>
            </p:nvSpPr>
            <p:spPr>
              <a:xfrm>
                <a:off x="8070898" y="967973"/>
                <a:ext cx="331365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&lt; a , b&gt;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称为内积，定义为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(a[0]*b[0])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0" dirty="0"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…</a:t>
                </a:r>
                <a14:m>
                  <m:oMath xmlns:m="http://schemas.openxmlformats.org/officeDocument/2006/math">
                    <m:r>
                      <a:rPr lang="zh-CN" altLang="en-US" i="0" dirty="0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(a[n]*b[n])</a:t>
                </a: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898" y="967973"/>
                <a:ext cx="3313651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1654" t="-7547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122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差分线性模型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内容占位符 7">
                <a:extLst>
                  <a:ext uri="{FF2B5EF4-FFF2-40B4-BE49-F238E27FC236}">
                    <ele attr="{71514A84-1B01-48E6-9D5C-FA19FFA9E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82180"/>
                <a:ext cx="10515600" cy="509478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首先将密码算法分为两部分，分别记为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E0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E1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，即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E=E1</a:t>
                </a:r>
                <a14:m>
                  <m:oMath xmlns:m="http://schemas.openxmlformats.org/officeDocument/2006/math"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∘</m:t>
                    </m:r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</a:endParaRPr>
              </a:p>
              <a:p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对于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E0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，我们有一条差分路径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概率为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（注意此处的路线可以是截断差分路线，即输入输出位只有某些位能够固定）；对于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E1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，我们有一条线性路径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相关度为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攻击者使用若干对满足差分为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的明文，观察密文对之间的相关度，即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acc>
                    <m:r>
                      <a:rPr lang="zh-CN" altLang="en-US" i="0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⊕</m:t>
                                </m:r>
                                <m:sSub>
                                  <m:sSubPr>
                                    <m:ctrlP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zh-CN" altLang="en-US" i="0" dirty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altLang="en-US" i="0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zh-CN" altLang="en-US" i="0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内容占位符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82180"/>
                <a:ext cx="10515600" cy="5094783"/>
              </a:xfrm>
              <a:blipFill rotWithShape="1">
                <a:blip r:embed="rId1"/>
                <a:stretch>
                  <a:fillRect l="-1043" t="-2515" r="-6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122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差分线性模型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内容占位符 7">
                <a:extLst>
                  <a:ext uri="{FF2B5EF4-FFF2-40B4-BE49-F238E27FC236}">
                    <ele attr="{71514A84-1B01-48E6-9D5C-FA19FFA9E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82180"/>
                <a:ext cx="10515600" cy="5094783"/>
              </a:xfrm>
            </p:spPr>
            <p:txBody>
              <a:bodyPr/>
              <a:lstStyle/>
              <a:p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明文对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CN" altLang="en-US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zh-CN" altLang="en-US" i="0" dirty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CN" altLang="en-US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zh-CN" altLang="en-US" i="0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zh-CN" altLang="en-US" i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满足概率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，在这种情况下，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  <m:r>
                          <a:rPr lang="en-US" altLang="zh-CN" i="0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  <m:r>
                      <a:rPr lang="en-US" altLang="zh-CN" i="0" smtClean="0">
                        <a:latin typeface="Cambria Math" panose="02040503050406030204" pitchFamily="18" charset="0"/>
                      </a:rPr>
                      <m:t>⊕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US" altLang="zh-CN" i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altLang="zh-CN" i="0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  <m:r>
                      <a:rPr lang="en-US" altLang="zh-CN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i="0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，不失一般性，我们假定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i="0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=0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  <m:r>
                          <a:rPr lang="en-US" altLang="zh-CN" i="0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  <m:r>
                      <a:rPr lang="en-US" altLang="zh-CN" i="0" smtClean="0">
                        <a:latin typeface="Cambria Math" panose="02040503050406030204" pitchFamily="18" charset="0"/>
                      </a:rPr>
                      <m:t>⊕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US" altLang="zh-CN" i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altLang="zh-CN" i="0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的值不能由差分路线的输出对直接确定时，我们假设其是随机分布的，故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Pr</a:t>
                </a:r>
                <a:r>
                  <a:rPr lang="en-US" altLang="zh-CN" dirty="0"/>
                  <a:t> [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  <m:r>
                          <a:rPr lang="en-US" altLang="zh-CN" i="0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  <m:r>
                      <a:rPr lang="en-US" altLang="zh-CN" i="0" smtClean="0">
                        <a:latin typeface="Cambria Math" panose="02040503050406030204" pitchFamily="18" charset="0"/>
                      </a:rPr>
                      <m:t>⊕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US" altLang="zh-CN" i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altLang="zh-CN" i="0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=0]=p+(1-p)*1/2=1/2+p/2,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也即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=p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而我们有线性路径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𝜀</m:t>
                    </m:r>
                    <m:d>
                      <m:dPr>
                        <m:ctrlPr>
                          <a:rPr lang="en-US" altLang="zh-CN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𝜀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p>
                                <m:r>
                                  <a:rPr lang="en-US" altLang="zh-CN" i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因此可以得到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𝜀</m:t>
                    </m:r>
                    <m:d>
                      <m:dPr>
                        <m:ctrlPr>
                          <a:rPr lang="en-US" altLang="zh-CN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⊕</m:t>
                        </m:r>
                        <m:sSup>
                          <m:s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攻击者可以使用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的选择明文进行区分攻击。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内容占位符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82180"/>
                <a:ext cx="10515600" cy="5094783"/>
              </a:xfrm>
              <a:blipFill rotWithShape="1">
                <a:blip r:embed="rId1"/>
                <a:stretch>
                  <a:fillRect l="-1043" t="-2515" r="-580" b="-3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122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差分线性模型（实际）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内容占位符 7">
                <a:extLst>
                  <a:ext uri="{FF2B5EF4-FFF2-40B4-BE49-F238E27FC236}">
                    <ele attr="{71514A84-1B01-48E6-9D5C-FA19FFA9E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82180"/>
                <a:ext cx="10515600" cy="5094783"/>
              </a:xfrm>
            </p:spPr>
            <p:txBody>
              <a:bodyPr/>
              <a:lstStyle/>
              <a:p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由于前述的理论模型结果是基于某些假设推导出的，在实际攻击中，常常通过增加中间步来改善结果的准确性。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具体步骤为，实验性地检验中间步的相关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度，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即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altLang="zh-CN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0" dirty="0" smtClean="0">
                                <a:latin typeface="Cambria Math" panose="02040503050406030204" pitchFamily="18" charset="0"/>
                              </a:rPr>
                              <m:t>⊕</m:t>
                            </m:r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0" dirty="0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模型的相关度为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𝑝𝑟</m:t>
                    </m:r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攻击者使用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的选择明文进行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区分攻击。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内容占位符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82180"/>
                <a:ext cx="10515600" cy="5094783"/>
              </a:xfrm>
              <a:blipFill rotWithShape="1">
                <a:blip r:embed="rId1"/>
                <a:stretch>
                  <a:fillRect l="-1217" t="-21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425" y="2081213"/>
            <a:ext cx="3943350" cy="4095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ARX</a:t>
            </a:r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4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97000"/>
            <a:ext cx="10515600" cy="47799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ARX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算法是一类只包含三个操作的算法族，即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A(modular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ddition)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word-wise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otation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）。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ARX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结构设计的算法避免了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盒或查询表的计算开销。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SPECK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算法为例，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SPECK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算法是由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美国国家安全局（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NSA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）设计并于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2013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年发布的系列分组密码，轮函数如右图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所示。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6112" y="2932521"/>
            <a:ext cx="3330575" cy="34222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27100" y="1709739"/>
            <a:ext cx="10420350" cy="193516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对</a:t>
            </a:r>
            <a:r>
              <a:rPr lang="en-US" altLang="zh-CN" sz="4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ARX</a:t>
            </a:r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的改进的差分线性攻击框架</a:t>
            </a:r>
            <a:endParaRPr lang="zh-CN" altLang="en-US" sz="4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122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改进的差分线性模型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内容占位符 7">
                <a:extLst>
                  <a:ext uri="{FF2B5EF4-FFF2-40B4-BE49-F238E27FC236}">
                    <ele attr="{71514A84-1B01-48E6-9D5C-FA19FFA9E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82180"/>
                <a:ext cx="10515600" cy="5094783"/>
              </a:xfrm>
            </p:spPr>
            <p:txBody>
              <a:bodyPr/>
              <a:lstStyle/>
              <a:p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差分步：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—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独立位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—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明文复杂度改进为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线性步：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—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比特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划分技术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—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动态选取线性路线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—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使用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FWHT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加速密钥恢复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内容占位符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82180"/>
                <a:ext cx="10515600" cy="5094783"/>
              </a:xfrm>
              <a:blipFill rotWithShape="1">
                <a:blip r:embed="rId1"/>
                <a:stretch>
                  <a:fillRect l="-1217" t="-2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112734"/>
            <a:ext cx="3932237" cy="501041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产生正确对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6" name="内容占位符 1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914366" y="864297"/>
            <a:ext cx="4714008" cy="46914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占位符 10">
                <a:extLst>
                  <a:ext uri="{FF2B5EF4-FFF2-40B4-BE49-F238E27FC236}">
                    <ele attr="{2F90DD7B-95DA-4295-907F-4F851C7F62BD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839787" y="864297"/>
                <a:ext cx="6300049" cy="5004692"/>
              </a:xfrm>
            </p:spPr>
            <p:txBody>
              <a:bodyPr>
                <a:normAutofit fontScale="92500"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找到一对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80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800" i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8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800" i="0" dirty="0"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CN" altLang="en-US" sz="2800" i="0" dirty="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zh-CN" altLang="en-US" sz="2800" i="1" dirty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800" dirty="0">
                  <a:latin typeface="宋体" panose="02010600030101010101" pitchFamily="2" charset="-122"/>
                </a:endParaRPr>
              </a:p>
              <a:p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满足输出差分为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800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zh-CN" altLang="en-US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，我们每尝试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zh-CN" altLang="en-US" sz="2800" i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对可以得到这样的一对。</a:t>
                </a:r>
                <a:endParaRPr lang="en-US" altLang="zh-CN" sz="2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准备一个子空间</a:t>
                </a:r>
                <a:r>
                  <a:rPr lang="en-US" altLang="zh-CN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U</a:t>
                </a:r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，对于任意的</a:t>
                </a:r>
                <a:r>
                  <a:rPr lang="en-US" altLang="zh-CN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u</a:t>
                </a:r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∈</a:t>
                </a:r>
                <a:r>
                  <a:rPr lang="en-US" altLang="zh-CN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U</a:t>
                </a:r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800" i="0" dirty="0" smtClean="0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zh-CN" sz="2800" i="0" dirty="0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800" i="0" dirty="0" smtClean="0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800" i="0" dirty="0" smtClean="0"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en-US" altLang="zh-CN" sz="2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 i="0" dirty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altLang="zh-CN" sz="2800" i="1" dirty="0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e>
                    </m:d>
                    <m:r>
                      <a:rPr lang="en-US" altLang="zh-CN" sz="280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i="0" dirty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altLang="zh-CN" sz="2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满足概率</a:t>
                </a:r>
                <a:r>
                  <a:rPr lang="en-US" altLang="zh-CN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。</a:t>
                </a:r>
                <a:endParaRPr lang="en-US" altLang="zh-CN" sz="2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只使用从</a:t>
                </a:r>
                <a:r>
                  <a:rPr lang="en-US" altLang="zh-CN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U</a:t>
                </a:r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中产生的正确对。</a:t>
                </a:r>
                <a:endParaRPr lang="en-US" altLang="zh-CN" sz="2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最终的相关度为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CN" sz="28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条件为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altLang="zh-CN" sz="2800" i="0" dirty="0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CN" sz="2800" i="0" dirty="0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altLang="zh-CN" sz="2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需要的数据量为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800" i="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CN" sz="2800" i="0" dirty="0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（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800" i="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提升）</a:t>
                </a:r>
                <a:endParaRPr lang="en-US" altLang="zh-CN" sz="2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endParaRPr lang="zh-CN" altLang="en-US" sz="2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1" name="文本占位符 1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839787" y="864297"/>
                <a:ext cx="6300049" cy="5004692"/>
              </a:xfrm>
              <a:blipFill rotWithShape="1">
                <a:blip r:embed="rId2"/>
                <a:stretch>
                  <a:fillRect l="-1742" t="-20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9691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如何确定子空间</a:t>
            </a:r>
            <a:r>
              <a:rPr lang="en-US" altLang="zh-CN" sz="4000" dirty="0"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endParaRPr lang="zh-CN" altLang="en-US" sz="4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726510" y="1215025"/>
            <a:ext cx="10627290" cy="5277850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特例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—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扩散不完全。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—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很容易确定为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维。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—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Example , ChaCha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119" y="2359264"/>
            <a:ext cx="6962775" cy="962025"/>
          </a:xfrm>
          <a:prstGeom prst="rect">
            <a:avLst/>
          </a:prstGeom>
        </p:spPr>
      </p:pic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174118" y="4465528"/>
          <a:ext cx="1443823" cy="14630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88801"/>
                <a:gridCol w="388801"/>
                <a:gridCol w="388801"/>
                <a:gridCol w="277420"/>
              </a:tblGrid>
              <a:tr h="24050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cxnSp>
        <p:nvCxnSpPr>
          <p:cNvPr id="13" name="直接箭头连接符 12"/>
          <p:cNvCxnSpPr/>
          <p:nvPr/>
        </p:nvCxnSpPr>
        <p:spPr>
          <a:xfrm>
            <a:off x="2843408" y="5197048"/>
            <a:ext cx="7640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3933594" y="4465528"/>
          <a:ext cx="1443823" cy="14630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88801"/>
                <a:gridCol w="388801"/>
                <a:gridCol w="388801"/>
                <a:gridCol w="277420"/>
              </a:tblGrid>
              <a:tr h="24050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ele attr="{5F7BAA57-A1BC-435A-8190-AAF3C4629E27}"/>
                  </a:ext>
                </a:extLst>
              </p:cNvPr>
              <p:cNvSpPr txBox="1"/>
              <p:nvPr/>
            </p:nvSpPr>
            <p:spPr>
              <a:xfrm>
                <a:off x="989556" y="6018417"/>
                <a:ext cx="19665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（</a:t>
                </a:r>
                <a:r>
                  <a:rPr lang="en-US" altLang="zh-CN" dirty="0"/>
                  <a:t>0,0,0,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zh-CN" altLang="en-US" dirty="0"/>
                  <a:t>）</a:t>
                </a: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556" y="6018417"/>
                <a:ext cx="1966586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477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ele attr="{27AB0D0A-51BC-4B38-AF41-A1D41E09DF8F}"/>
                  </a:ext>
                </a:extLst>
              </p:cNvPr>
              <p:cNvSpPr txBox="1"/>
              <p:nvPr/>
            </p:nvSpPr>
            <p:spPr>
              <a:xfrm>
                <a:off x="3933594" y="6038560"/>
                <a:ext cx="14438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（</a:t>
                </a:r>
                <a:r>
                  <a:rPr lang="en-US" altLang="zh-CN" dirty="0"/>
                  <a:t>0,0,0,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dirty="0"/>
                  <a:t>）</a:t>
                </a: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3594" y="6038560"/>
                <a:ext cx="1443823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3376" t="-10000" r="-19831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725" y="3182090"/>
            <a:ext cx="792549" cy="493819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352778" y="4709760"/>
            <a:ext cx="35072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dim(U)=96</a:t>
            </a:r>
            <a:endParaRPr lang="zh-CN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ele attr="{E6648D74-AA34-43A0-897A-F398D222069B}"/>
                  </a:ext>
                </a:extLst>
              </p:cNvPr>
              <p:cNvSpPr txBox="1"/>
              <p:nvPr/>
            </p:nvSpPr>
            <p:spPr>
              <a:xfrm>
                <a:off x="7114784" y="4016161"/>
                <a:ext cx="43507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前三列独立于差分路径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zh-CN" altLang="en-US" i="0" dirty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i="0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784" y="4016161"/>
                <a:ext cx="4350706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120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9691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如何确定子空间</a:t>
            </a:r>
            <a:r>
              <a:rPr lang="en-US" altLang="zh-CN" sz="4000" dirty="0"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endParaRPr lang="zh-CN" altLang="en-US" sz="4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738554" y="1215024"/>
            <a:ext cx="10615246" cy="5642975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非特例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—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模加的全部输入位无法扩散至输出位。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改变输入的最高位（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MSB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），对输出      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+                  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的最低位（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LSB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）没有影响。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         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改变输入的最低位（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LSB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），对输出                   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的最高位（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MSB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）影响很小。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+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—Example , Chaskey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找到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1.5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轮的差分路径                 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dim(U)=25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搜索到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比特独立于该差分路径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90597" y="2417294"/>
            <a:ext cx="2655518" cy="325677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490597" y="2843180"/>
            <a:ext cx="2655518" cy="325677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1064712" y="3294345"/>
            <a:ext cx="35949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490597" y="3394554"/>
            <a:ext cx="2655518" cy="325677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490597" y="2417294"/>
            <a:ext cx="926926" cy="776807"/>
          </a:xfrm>
          <a:prstGeom prst="ellipse">
            <a:avLst/>
          </a:prstGeom>
          <a:noFill/>
          <a:ln>
            <a:solidFill>
              <a:schemeClr val="accent1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3369501" y="3370088"/>
            <a:ext cx="776614" cy="388421"/>
          </a:xfrm>
          <a:prstGeom prst="ellipse">
            <a:avLst/>
          </a:prstGeom>
          <a:noFill/>
          <a:ln>
            <a:solidFill>
              <a:srgbClr val="FF0000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490597" y="3995354"/>
            <a:ext cx="2655518" cy="325677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490597" y="4425323"/>
            <a:ext cx="2655518" cy="325677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1064712" y="4888683"/>
            <a:ext cx="35949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490597" y="5044308"/>
            <a:ext cx="2655518" cy="325677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>
            <a:stCxn id="10" idx="6"/>
            <a:endCxn id="11" idx="1"/>
          </p:cNvCxnSpPr>
          <p:nvPr/>
        </p:nvCxnSpPr>
        <p:spPr>
          <a:xfrm>
            <a:off x="2417523" y="2805698"/>
            <a:ext cx="1065710" cy="621273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3270738" y="3978344"/>
            <a:ext cx="875377" cy="772655"/>
          </a:xfrm>
          <a:prstGeom prst="ellipse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1490597" y="4988893"/>
            <a:ext cx="678172" cy="462311"/>
          </a:xfrm>
          <a:prstGeom prst="ellipse">
            <a:avLst/>
          </a:prstGeom>
          <a:noFill/>
          <a:ln>
            <a:solidFill>
              <a:srgbClr val="FF0000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>
            <a:endCxn id="23" idx="7"/>
          </p:cNvCxnSpPr>
          <p:nvPr/>
        </p:nvCxnSpPr>
        <p:spPr>
          <a:xfrm flipH="1">
            <a:off x="2069453" y="4321031"/>
            <a:ext cx="1201285" cy="735566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306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划分技术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ele attr="{4B9841CE-12C7-46DC-9D3D-1962DBC219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59877"/>
                <a:ext cx="10515600" cy="4817086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, b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∈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zh-CN" altLang="en-US" i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,s = a + b .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当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=0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时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(LSB),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显然有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s[0]=a[0]</a:t>
                </a:r>
                <a14:m>
                  <m:oMath xmlns:m="http://schemas.openxmlformats.org/officeDocument/2006/math">
                    <m:r>
                      <a:rPr lang="en-US" altLang="zh-CN" smtClean="0"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b[0]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，对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i&gt;0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时，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第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位的输出显然非线性。我们有以下引理：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类似地，对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(z1,z0)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(y1,y0),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要计算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z0[i]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，我们有以下引理：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  Z0    Z1</a:t>
                </a:r>
              </a:p>
              <a:p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  Y0    Y1</a:t>
                </a:r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59877"/>
                <a:ext cx="10515600" cy="4817086"/>
              </a:xfrm>
              <a:blipFill rotWithShape="1">
                <a:blip r:embed="rId1"/>
                <a:stretch>
                  <a:fillRect l="-1043" t="-2658" r="-4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80493"/>
            <a:ext cx="9397317" cy="1049215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>
            <a:off x="1862698" y="4196861"/>
            <a:ext cx="0" cy="1324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2917775" y="4196861"/>
            <a:ext cx="0" cy="1324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2044399" y="4859215"/>
            <a:ext cx="8733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1688123" y="4630615"/>
            <a:ext cx="363402" cy="42203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1688122" y="4841630"/>
            <a:ext cx="3562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970" y="4202721"/>
            <a:ext cx="6673547" cy="13422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860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划分技术</a:t>
            </a:r>
            <a:endParaRPr lang="zh-CN" altLang="en-US" sz="4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12986"/>
            <a:ext cx="10515600" cy="4863977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进一步地，通过对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z0[i-1]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位的观察，我们有引理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723349"/>
            <a:ext cx="9678380" cy="19840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8567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划分技术</a:t>
            </a:r>
            <a:endParaRPr lang="zh-CN" altLang="en-US" sz="4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ele attr="{6EF73FCE-A769-41BD-BCB0-7A0DE99032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2646"/>
                <a:ext cx="10515600" cy="4934317"/>
              </a:xfrm>
            </p:spPr>
            <p:txBody>
              <a:bodyPr/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0" dirty="0">
                        <a:latin typeface="Cambria Math" panose="02040503050406030204" pitchFamily="18" charset="0"/>
                      </a:rPr>
                      <m:t>⊕</m:t>
                    </m:r>
                    <m:acc>
                      <m:accPr>
                        <m:chr m:val="̅"/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p,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那么根据引理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以及引理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，我们可以得到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z0[i]</a:t>
                </a:r>
                <a14:m>
                  <m:oMath xmlns:m="http://schemas.openxmlformats.org/officeDocument/2006/math">
                    <m:r>
                      <a:rPr lang="zh-CN" altLang="en-US" i="0" dirty="0" smtClean="0">
                        <a:latin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[i-1]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或是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z0[i]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的值。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具体地</a:t>
                </a: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2646"/>
                <a:ext cx="10515600" cy="4934317"/>
              </a:xfrm>
              <a:blipFill rotWithShape="1">
                <a:blip r:embed="rId1"/>
                <a:stretch>
                  <a:fillRect l="-1043" t="-2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875693" y="2965939"/>
          <a:ext cx="8225691" cy="2093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953"/>
                <a:gridCol w="3830841"/>
                <a:gridCol w="2741897"/>
              </a:tblGrid>
              <a:tr h="418644">
                <a:tc>
                  <a:txBody>
                    <a:bodyPr/>
                    <a:lstStyle/>
                    <a:p>
                      <a:r>
                        <a:rPr lang="en-US" altLang="zh-CN" dirty="0"/>
                        <a:t>p[i-1]||p[i-2]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blipFill>
                      <a:blip r:embed="rId2"/>
                      <a:stretch>
                        <a:fillRect l="-43175" t="-7246" r="-72063" b="-408696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z0[i]</a:t>
                      </a:r>
                      <a:endParaRPr lang="zh-CN" altLang="en-US" dirty="0"/>
                    </a:p>
                  </a:txBody>
                  <a:tcPr/>
                </a:tc>
              </a:tr>
              <a:tr h="418644">
                <a:tc>
                  <a:txBody>
                    <a:bodyPr/>
                    <a:lstStyle/>
                    <a:p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blipFill>
                      <a:blip r:embed="rId2"/>
                      <a:stretch>
                        <a:fillRect l="-43175" t="-107246" r="-72063" b="-308696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√</a:t>
                      </a:r>
                      <a:endParaRPr lang="zh-CN" altLang="en-US" dirty="0"/>
                    </a:p>
                  </a:txBody>
                  <a:tcPr/>
                </a:tc>
              </a:tr>
              <a:tr h="418644">
                <a:tc>
                  <a:txBody>
                    <a:bodyPr/>
                    <a:lstStyle/>
                    <a:p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not available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√</a:t>
                      </a:r>
                      <a:endParaRPr lang="zh-CN" altLang="en-US" dirty="0"/>
                    </a:p>
                  </a:txBody>
                  <a:tcPr/>
                </a:tc>
              </a:tr>
              <a:tr h="418644"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blipFill>
                      <a:blip r:embed="rId2"/>
                      <a:stretch>
                        <a:fillRect l="-43175" t="-305797" r="-72063" b="-110145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√</a:t>
                      </a:r>
                      <a:endParaRPr lang="zh-CN" altLang="en-US" dirty="0"/>
                    </a:p>
                  </a:txBody>
                  <a:tcPr/>
                </a:tc>
              </a:tr>
              <a:tr h="418644"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blipFill>
                      <a:blip r:embed="rId2"/>
                      <a:stretch>
                        <a:fillRect l="-43175" t="-405797" r="-72063" b="-10145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not available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7182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划分技术</a:t>
            </a:r>
            <a:endParaRPr lang="zh-CN" altLang="en-US" sz="4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42966" y="1667180"/>
            <a:ext cx="4848605" cy="35236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ele attr="{D86FF3FD-99B1-4A74-8A63-72D51F73AE0F}"/>
                  </a:ext>
                </a:extLst>
              </p:cNvPr>
              <p:cNvSpPr txBox="1"/>
              <p:nvPr/>
            </p:nvSpPr>
            <p:spPr>
              <a:xfrm>
                <a:off x="697522" y="1418491"/>
                <a:ext cx="6500447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以右图为例说明。</a:t>
                </a:r>
                <a:endParaRPr lang="en-US" altLang="zh-CN" sz="2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由前述引理可知，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z0[i]</a:t>
                </a:r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同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p1[i-1],p2[i-2]</a:t>
                </a:r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的取值相关，那么通过猜测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k0[i-1]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k1[i-1],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我们可以将数据过滤，在满足</a:t>
                </a:r>
                <a:r>
                  <a:rPr lang="en-US" altLang="zh-CN" sz="28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k1[i-1]</a:t>
                </a:r>
                <a:r>
                  <a:rPr lang="zh-CN" altLang="en-US" sz="2800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800" i="0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altLang="zh-CN" sz="28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k0[i-1]</a:t>
                </a:r>
                <a:r>
                  <a:rPr lang="zh-CN" altLang="en-US" sz="28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≠</a:t>
                </a:r>
                <a:r>
                  <a:rPr lang="en-US" altLang="zh-CN" sz="28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c1[i-1]</a:t>
                </a:r>
                <a:r>
                  <a:rPr lang="zh-CN" altLang="en-US" sz="2800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800" i="0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altLang="zh-CN" sz="2800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c0[i-1]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的密文中，我们可以简单地应用引理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的第一个条件，即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z0[i]=y1[i]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zh-CN" altLang="en-US" sz="2800" i="0" dirty="0"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y0[i]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zh-CN" altLang="en-US" sz="2800" i="0" dirty="0"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y1[i-1]</a:t>
                </a: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r>
                      <a:rPr lang="zh-CN" altLang="en-US" sz="2800" i="0" dirty="0"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1,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在这种情况下，</a:t>
                </a:r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28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z0[i]</a:t>
                </a:r>
                <a:r>
                  <a:rPr lang="zh-CN" altLang="en-US" sz="2800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800" i="0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zh-CN" altLang="en-US" sz="28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y1[i]</a:t>
                </a:r>
                <a:r>
                  <a:rPr lang="zh-CN" altLang="en-US" sz="2800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800" i="0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zh-CN" altLang="en-US" sz="28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y0[i]</a:t>
                </a:r>
                <a:r>
                  <a:rPr lang="zh-CN" altLang="en-US" sz="2800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800" i="0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zh-CN" altLang="en-US" sz="28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y1[i-1]</a:t>
                </a:r>
                <a:r>
                  <a:rPr lang="zh-CN" altLang="en-US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 -1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en-US" sz="2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22" y="1418491"/>
                <a:ext cx="6500447" cy="4401205"/>
              </a:xfrm>
              <a:prstGeom prst="rect">
                <a:avLst/>
              </a:prstGeom>
              <a:blipFill rotWithShape="1">
                <a:blip r:embed="rId2"/>
                <a:stretch>
                  <a:fillRect l="-1874" t="-1524" r="-74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9244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划分技术</a:t>
            </a:r>
            <a:endParaRPr lang="zh-CN" altLang="en-US" sz="4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2277"/>
            <a:ext cx="10515600" cy="4664686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通过猜测部分密文位，将密文划分为满足引理条件集合的特定的若干子集，可以改善差分线性输出的相关度。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4783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结合不同的线性路线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81800" y="1186656"/>
            <a:ext cx="4572000" cy="47529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ele attr="{BE4826AD-FF22-44A7-99F2-6B1FE6D52EB7}"/>
                  </a:ext>
                </a:extLst>
              </p:cNvPr>
              <p:cNvSpPr txBox="1"/>
              <p:nvPr/>
            </p:nvSpPr>
            <p:spPr>
              <a:xfrm>
                <a:off x="562706" y="2224315"/>
                <a:ext cx="6412523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对于每个划分，线性路线的选取可能是不同的。</a:t>
                </a:r>
                <a:endParaRPr lang="en-US" altLang="zh-CN" sz="2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—</a:t>
                </a:r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不同线性路线所包含的密钥位不尽相同。（</a:t>
                </a:r>
                <a:r>
                  <a:rPr lang="en-US" altLang="zh-CN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e.g.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包含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k1[31],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不包含）</a:t>
                </a:r>
                <a:endParaRPr lang="en-US" altLang="zh-CN" sz="2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—</a:t>
                </a:r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为了结合不同路线，这些不是共同包含的密钥位需要额外的猜测。</a:t>
                </a: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06" y="2224315"/>
                <a:ext cx="6412523" cy="2677656"/>
              </a:xfrm>
              <a:prstGeom prst="rect">
                <a:avLst/>
              </a:prstGeom>
              <a:blipFill rotWithShape="1">
                <a:blip r:embed="rId2"/>
                <a:stretch>
                  <a:fillRect l="-1901" t="-2506" b="-54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217493"/>
          </a:xfrm>
        </p:spPr>
        <p:txBody>
          <a:bodyPr/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谢谢大家！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818</Words>
  <Application>WPS 演示</Application>
  <PresentationFormat>宽屏</PresentationFormat>
  <Paragraphs>130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Times New Roman</vt:lpstr>
      <vt:lpstr>等线</vt:lpstr>
      <vt:lpstr>微软雅黑</vt:lpstr>
      <vt:lpstr>Arial Unicode MS</vt:lpstr>
      <vt:lpstr>等线 Light</vt:lpstr>
      <vt:lpstr>Calibri</vt:lpstr>
      <vt:lpstr>Office 主题​​</vt:lpstr>
      <vt:lpstr>ARX算法的差分—线性攻击</vt:lpstr>
      <vt:lpstr>差分、线性攻击</vt:lpstr>
      <vt:lpstr>差分线性模型</vt:lpstr>
      <vt:lpstr>差分线性模型</vt:lpstr>
      <vt:lpstr>差分线性模型（实际）</vt:lpstr>
      <vt:lpstr>ARX算法</vt:lpstr>
      <vt:lpstr>对ARX的改进的差分线性攻击框架</vt:lpstr>
      <vt:lpstr>改进的差分线性模型</vt:lpstr>
      <vt:lpstr>产生正确对</vt:lpstr>
      <vt:lpstr>如何确定子空间U</vt:lpstr>
      <vt:lpstr>如何确定子空间U</vt:lpstr>
      <vt:lpstr>划分技术</vt:lpstr>
      <vt:lpstr>划分技术</vt:lpstr>
      <vt:lpstr>划分技术</vt:lpstr>
      <vt:lpstr>划分技术</vt:lpstr>
      <vt:lpstr>划分技术</vt:lpstr>
      <vt:lpstr>结合不同的线性路线</vt:lpstr>
      <vt:lpstr>谢谢大家！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ARX算法的差分—线性攻击</dc:title>
  <dc:creator>Fans</dc:creator>
  <cp:lastModifiedBy>Tangerine</cp:lastModifiedBy>
  <cp:revision>38</cp:revision>
  <dcterms:created xsi:type="dcterms:W3CDTF">2020-11-16T13:07:00Z</dcterms:created>
  <dcterms:modified xsi:type="dcterms:W3CDTF">2020-12-18T04:07:28Z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