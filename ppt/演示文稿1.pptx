
<file path=[Content_Types].xml><?xml version="1.0" encoding="utf-8"?>
<Types xmlns="http://schemas.openxmlformats.org/package/2006/content-types">
  <Default Extension="jpeg" ContentType="image/jpeg"/>
  <Default Extension="vml" ContentType="application/vnd.openxmlformats-officedocument.vmlDrawing"/>
  <Default Extension="bin" ContentType="application/vnd.openxmlformats-officedocument.oleObject"/>
  <Default Extension="png" ContentType="image/png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comments/comment1.xml" ContentType="application/vnd.openxmlformats-officedocument.presentationml.comment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8" r:id="rId4"/>
    <p:sldId id="257" r:id="rId5"/>
    <p:sldId id="259" r:id="rId6"/>
    <p:sldId id="284" r:id="rId7"/>
    <p:sldId id="285" r:id="rId8"/>
    <p:sldId id="260" r:id="rId9"/>
    <p:sldId id="262" r:id="rId10"/>
    <p:sldId id="264" r:id="rId11"/>
    <p:sldId id="273" r:id="rId12"/>
    <p:sldId id="307" r:id="rId13"/>
    <p:sldId id="308" r:id="rId14"/>
    <p:sldId id="320" r:id="rId15"/>
    <p:sldId id="265" r:id="rId16"/>
    <p:sldId id="267" r:id="rId17"/>
    <p:sldId id="268" r:id="rId18"/>
    <p:sldId id="269" r:id="rId19"/>
    <p:sldId id="296" r:id="rId20"/>
    <p:sldId id="297" r:id="rId21"/>
    <p:sldId id="270" r:id="rId22"/>
    <p:sldId id="300" r:id="rId23"/>
    <p:sldId id="302" r:id="rId24"/>
    <p:sldId id="305" r:id="rId25"/>
    <p:sldId id="271" r:id="rId26"/>
  </p:sldIdLst>
  <p:sldSz cx="12192000" cy="6858000"/>
  <p:notesSz cx="6858000" cy="9144000"/>
  <p:defaultTextStyle>
    <a:defPPr>
      <a:defRPr lang="zh-CN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c56d167e-0933-4b72-b30c-9ae094f47a85}">
          <p14:sldIdLst>
            <p14:sldId id="256"/>
            <p14:sldId id="258"/>
          </p14:sldIdLst>
        </p14:section>
        <p14:section name="无标题节" id="{21a85184-17ea-4d34-b646-8448d4fa895e}">
          <p14:sldIdLst>
            <p14:sldId id="257"/>
            <p14:sldId id="259"/>
            <p14:sldId id="284"/>
            <p14:sldId id="285"/>
            <p14:sldId id="260"/>
            <p14:sldId id="262"/>
            <p14:sldId id="264"/>
            <p14:sldId id="273"/>
            <p14:sldId id="307"/>
            <p14:sldId id="308"/>
            <p14:sldId id="320"/>
          </p14:sldIdLst>
        </p14:section>
        <p14:section name="无标题节" id="{5ee41d53-ca4d-42c1-b071-d6f233960489}">
          <p14:sldIdLst>
            <p14:sldId id="265"/>
            <p14:sldId id="267"/>
            <p14:sldId id="268"/>
            <p14:sldId id="269"/>
            <p14:sldId id="296"/>
            <p14:sldId id="297"/>
          </p14:sldIdLst>
        </p14:section>
        <p14:section name="无标题节" id="{f2b3a4c9-2983-49d3-a900-96aaafafe83b}">
          <p14:sldIdLst>
            <p14:sldId id="270"/>
            <p14:sldId id="300"/>
            <p14:sldId id="302"/>
            <p14:sldId id="305"/>
            <p14:sldId id="271"/>
          </p14:sldIdLst>
        </p14:section>
      </p14:section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wgl002" initials="w" lastIdx="2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0" Type="http://schemas.openxmlformats.org/officeDocument/2006/relationships/commentAuthors" Target="commentAuthors.xml"/><Relationship Id="rId3" Type="http://schemas.openxmlformats.org/officeDocument/2006/relationships/slide" Target="slides/slide1.xml"/><Relationship Id="rId29" Type="http://schemas.openxmlformats.org/officeDocument/2006/relationships/tableStyles" Target="tableStyles.xml"/><Relationship Id="rId28" Type="http://schemas.openxmlformats.org/officeDocument/2006/relationships/viewProps" Target="viewProps.xml"/><Relationship Id="rId27" Type="http://schemas.openxmlformats.org/officeDocument/2006/relationships/presProps" Target="presProps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0-10-20T17:04:05.824" idx="2">
    <p:pos x="10" y="10"/>
    <p:text>差分攻击的第一步即找到一条高概率的差分路径，对于密码算法的设计者来说，他们通过这个高概率的差分路径来得到密码算法的安全边界；而对于攻击者来说，一条高概率的差分路径可以帮助敌手进行密钥恢复攻击
</p:text>
  </p:cm>
</p:cmLst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w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24.wmf"/><Relationship Id="rId1" Type="http://schemas.openxmlformats.org/officeDocument/2006/relationships/image" Target="../media/image22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25.wmf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29.wmf"/><Relationship Id="rId1" Type="http://schemas.openxmlformats.org/officeDocument/2006/relationships/image" Target="../media/image28.w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/>
              <a:t>单击此处编辑母版副标题样式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B4BC6-B3A8-4ADE-BC25-A71C0AEEBF1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1D95CE-D62D-483D-A457-8A642A840A9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B4BC6-B3A8-4ADE-BC25-A71C0AEEBF1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1D95CE-D62D-483D-A457-8A642A840A9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B4BC6-B3A8-4ADE-BC25-A71C0AEEBF1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1D95CE-D62D-483D-A457-8A642A840A9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2276475"/>
            <a:ext cx="5376672" cy="3849688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05728" y="2276475"/>
            <a:ext cx="5376672" cy="3849688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B4BC6-B3A8-4ADE-BC25-A71C0AEEBF18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1D95CE-D62D-483D-A457-8A642A840A9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6"/>
            <a:ext cx="10515600" cy="1325563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186775" y="1778438"/>
            <a:ext cx="4873575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1186775" y="2665379"/>
            <a:ext cx="4873575" cy="3524284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256939" y="1778438"/>
            <a:ext cx="4897576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256939" y="2665379"/>
            <a:ext cx="4897576" cy="3524284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B4BC6-B3A8-4ADE-BC25-A71C0AEEBF18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1D95CE-D62D-483D-A457-8A642A840A9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B4BC6-B3A8-4ADE-BC25-A71C0AEEBF18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1D95CE-D62D-483D-A457-8A642A840A9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B4BC6-B3A8-4ADE-BC25-A71C0AEEBF18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1D95CE-D62D-483D-A457-8A642A840A9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B4BC6-B3A8-4ADE-BC25-A71C0AEEBF18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1D95CE-D62D-483D-A457-8A642A840A9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4165349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457201"/>
            <a:ext cx="617220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r>
              <a:rPr lang="zh-CN" altLang="en-US" strike="noStrike" noProof="1"/>
              <a:t>单击图标添加图片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4165349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B4BC6-B3A8-4ADE-BC25-A71C0AEEBF18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1D95CE-D62D-483D-A457-8A642A840A9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B4BC6-B3A8-4ADE-BC25-A71C0AEEBF1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1D95CE-D62D-483D-A457-8A642A840A9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50313" y="981075"/>
            <a:ext cx="2746904" cy="5145088"/>
          </a:xfrm>
        </p:spPr>
        <p:txBody>
          <a:bodyPr vert="eaVert"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981075"/>
            <a:ext cx="8081472" cy="5145088"/>
          </a:xfrm>
        </p:spPr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B4BC6-B3A8-4ADE-BC25-A71C0AEEBF1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1D95CE-D62D-483D-A457-8A642A840A9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 1025"/>
          <p:cNvSpPr>
            <a:spLocks noGrp="1"/>
          </p:cNvSpPr>
          <p:nvPr>
            <p:ph type="title"/>
          </p:nvPr>
        </p:nvSpPr>
        <p:spPr>
          <a:xfrm>
            <a:off x="624417" y="981075"/>
            <a:ext cx="109728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27" name="文本占位符 1026"/>
          <p:cNvSpPr>
            <a:spLocks noGrp="1"/>
          </p:cNvSpPr>
          <p:nvPr>
            <p:ph type="body"/>
          </p:nvPr>
        </p:nvSpPr>
        <p:spPr>
          <a:xfrm>
            <a:off x="609600" y="2276475"/>
            <a:ext cx="10972800" cy="3849688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 indent="-285750"/>
            <a:r>
              <a:rPr lang="zh-CN" altLang="en-US" dirty="0"/>
              <a:t>第二级</a:t>
            </a:r>
            <a:endParaRPr lang="zh-CN" altLang="en-US" dirty="0"/>
          </a:p>
          <a:p>
            <a:pPr lvl="2" indent="-228600"/>
            <a:r>
              <a:rPr lang="zh-CN" altLang="en-US" dirty="0"/>
              <a:t>第三级</a:t>
            </a:r>
            <a:endParaRPr lang="zh-CN" altLang="en-US" dirty="0"/>
          </a:p>
          <a:p>
            <a:pPr lvl="3" indent="-228600"/>
            <a:r>
              <a:rPr lang="zh-CN" altLang="en-US" dirty="0"/>
              <a:t>第四级</a:t>
            </a:r>
            <a:endParaRPr lang="zh-CN" altLang="en-US" dirty="0"/>
          </a:p>
          <a:p>
            <a:pPr lvl="4" indent="-228600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028" name="日期占位符 1027"/>
          <p:cNvSpPr>
            <a:spLocks noGrp="1"/>
          </p:cNvSpPr>
          <p:nvPr>
            <p:ph type="dt" sz="half" idx="2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 sz="1400"/>
            </a:lvl1pPr>
          </a:lstStyle>
          <a:p>
            <a:fld id="{425B4BC6-B3A8-4ADE-BC25-A71C0AEEBF18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29" name="页脚占位符 1028"/>
          <p:cNvSpPr>
            <a:spLocks noGrp="1"/>
          </p:cNvSpPr>
          <p:nvPr>
            <p:ph type="ftr" sz="quarter" idx="3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ctr">
              <a:defRPr sz="1400"/>
            </a:lvl1pPr>
          </a:lstStyle>
          <a:p>
            <a:endParaRPr lang="zh-CN" altLang="en-US"/>
          </a:p>
        </p:txBody>
      </p:sp>
      <p:sp>
        <p:nvSpPr>
          <p:cNvPr id="1030" name="灯片编号占位符 1029"/>
          <p:cNvSpPr>
            <a:spLocks noGrp="1"/>
          </p:cNvSpPr>
          <p:nvPr>
            <p:ph type="sldNum" sz="quarter" idx="4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r">
              <a:defRPr sz="1400"/>
            </a:lvl1pPr>
          </a:lstStyle>
          <a:p>
            <a:fld id="{8D1D95CE-D62D-483D-A457-8A642A840A95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marL="0" lvl="0" indent="0" algn="ctr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4000" b="1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32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lvl="2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lvl="3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lvl="4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lvl="5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2pPr>
      <a:lvl3pPr marL="914400" lvl="2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3pPr>
      <a:lvl4pPr marL="1371600" lvl="3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4pPr>
      <a:lvl5pPr marL="1828800" lvl="4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5pPr>
      <a:lvl6pPr marL="2286000" lvl="5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6pPr>
      <a:lvl7pPr marL="2743200" lvl="6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7pPr>
      <a:lvl8pPr marL="3200400" lvl="7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8pPr>
      <a:lvl9pPr marL="3657600" lvl="8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omments" Target="../comments/comment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1.v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6.png"/><Relationship Id="rId2" Type="http://schemas.openxmlformats.org/officeDocument/2006/relationships/image" Target="../media/image5.wmf"/><Relationship Id="rId1" Type="http://schemas.openxmlformats.org/officeDocument/2006/relationships/oleObject" Target="../embeddings/oleObject1.bin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13.png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17.png"/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1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0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2.v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24.wmf"/><Relationship Id="rId5" Type="http://schemas.openxmlformats.org/officeDocument/2006/relationships/oleObject" Target="../embeddings/oleObject3.bin"/><Relationship Id="rId4" Type="http://schemas.openxmlformats.org/officeDocument/2006/relationships/image" Target="../media/image23.png"/><Relationship Id="rId3" Type="http://schemas.openxmlformats.org/officeDocument/2006/relationships/image" Target="../media/image22.wmf"/><Relationship Id="rId2" Type="http://schemas.openxmlformats.org/officeDocument/2006/relationships/oleObject" Target="../embeddings/oleObject2.bin"/><Relationship Id="rId1" Type="http://schemas.openxmlformats.org/officeDocument/2006/relationships/image" Target="../media/image21.png"/></Relationships>
</file>

<file path=ppt/slides/_rels/slide18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3.v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6.png"/><Relationship Id="rId2" Type="http://schemas.openxmlformats.org/officeDocument/2006/relationships/image" Target="../media/image25.wmf"/><Relationship Id="rId1" Type="http://schemas.openxmlformats.org/officeDocument/2006/relationships/oleObject" Target="../embeddings/oleObject4.bin"/></Relationships>
</file>

<file path=ppt/slides/_rels/slide19.xml.rels><?xml version="1.0" encoding="UTF-8" standalone="yes"?>
<Relationships xmlns="http://schemas.openxmlformats.org/package/2006/relationships"><Relationship Id="rId7" Type="http://schemas.openxmlformats.org/officeDocument/2006/relationships/vmlDrawing" Target="../drawings/vmlDrawing4.vml"/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29.wmf"/><Relationship Id="rId4" Type="http://schemas.openxmlformats.org/officeDocument/2006/relationships/oleObject" Target="../embeddings/oleObject6.bin"/><Relationship Id="rId3" Type="http://schemas.openxmlformats.org/officeDocument/2006/relationships/image" Target="../media/image28.wmf"/><Relationship Id="rId2" Type="http://schemas.openxmlformats.org/officeDocument/2006/relationships/oleObject" Target="../embeddings/oleObject5.bin"/><Relationship Id="rId1" Type="http://schemas.openxmlformats.org/officeDocument/2006/relationships/image" Target="../media/image2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1.png"/><Relationship Id="rId1" Type="http://schemas.openxmlformats.org/officeDocument/2006/relationships/image" Target="../media/image3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3.png"/><Relationship Id="rId1" Type="http://schemas.openxmlformats.org/officeDocument/2006/relationships/image" Target="../media/image32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4.png"/></Relationships>
</file>

<file path=ppt/slides/_rels/slide2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image" Target="../media/image35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548005" y="1537335"/>
            <a:ext cx="11095355" cy="15684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3200">
                <a:solidFill>
                  <a:schemeClr val="tx1"/>
                </a:solidFill>
                <a:uFillTx/>
                <a:latin typeface="Times New Roman" panose="02020603050405020304" charset="0"/>
                <a:ea typeface="微软雅黑" panose="020B0503020204020204" charset="-122"/>
              </a:rPr>
              <a:t>Improvement on the Method for </a:t>
            </a:r>
            <a:r>
              <a:rPr lang="zh-CN" altLang="en-US" sz="3200" b="1">
                <a:solidFill>
                  <a:schemeClr val="tx1"/>
                </a:solidFill>
                <a:uFillTx/>
                <a:latin typeface="Times New Roman" panose="02020603050405020304" charset="0"/>
                <a:ea typeface="微软雅黑" panose="020B0503020204020204" charset="-122"/>
              </a:rPr>
              <a:t>Automatic Differential Analysis</a:t>
            </a:r>
            <a:r>
              <a:rPr lang="zh-CN" altLang="en-US" sz="3200">
                <a:solidFill>
                  <a:schemeClr val="tx1"/>
                </a:solidFill>
                <a:uFillTx/>
                <a:latin typeface="Times New Roman" panose="02020603050405020304" charset="0"/>
                <a:ea typeface="微软雅黑" panose="020B0503020204020204" charset="-122"/>
              </a:rPr>
              <a:t> and Its Application to Two Lightweight Block Ciphers DESL and LBlock-s</a:t>
            </a:r>
            <a:endParaRPr lang="zh-CN" altLang="en-US" sz="3200">
              <a:solidFill>
                <a:schemeClr val="tx1"/>
              </a:solidFill>
              <a:uFillTx/>
              <a:latin typeface="Times New Roman" panose="02020603050405020304" charset="0"/>
              <a:ea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48005" y="3691255"/>
            <a:ext cx="11008995" cy="16300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2000" b="1">
                <a:uFillTx/>
                <a:latin typeface="Times New Roman" panose="02020603050405020304" charset="0"/>
                <a:ea typeface="微软雅黑" panose="020B0503020204020204" charset="-122"/>
              </a:rPr>
              <a:t>Author</a:t>
            </a:r>
            <a:r>
              <a:rPr lang="en-US" altLang="zh-CN" sz="2000">
                <a:uFillTx/>
                <a:latin typeface="Times New Roman" panose="02020603050405020304" charset="0"/>
                <a:ea typeface="微软雅黑" panose="020B0503020204020204" charset="-122"/>
              </a:rPr>
              <a:t>: </a:t>
            </a:r>
            <a:r>
              <a:rPr lang="zh-CN" altLang="en-US" sz="2000">
                <a:uFillTx/>
                <a:latin typeface="Times New Roman" panose="02020603050405020304" charset="0"/>
                <a:ea typeface="微软雅黑" panose="020B0503020204020204" charset="-122"/>
              </a:rPr>
              <a:t>Siwei Sun，Lei Hu，Kexin Qiao，Xiaoshuang Ma，Ling Song</a:t>
            </a:r>
            <a:endParaRPr lang="zh-CN" altLang="en-US" sz="2000">
              <a:uFillTx/>
              <a:latin typeface="Times New Roman" panose="02020603050405020304" charset="0"/>
              <a:ea typeface="微软雅黑" panose="020B0503020204020204" charset="-122"/>
            </a:endParaRPr>
          </a:p>
          <a:p>
            <a:r>
              <a:rPr lang="en-US" altLang="zh-CN" sz="2000" b="1">
                <a:uFillTx/>
                <a:latin typeface="Times New Roman" panose="02020603050405020304" charset="0"/>
                <a:ea typeface="微软雅黑" panose="020B0503020204020204" charset="-122"/>
              </a:rPr>
              <a:t>Keywords</a:t>
            </a:r>
            <a:r>
              <a:rPr lang="en-US" altLang="zh-CN" sz="2000">
                <a:uFillTx/>
                <a:latin typeface="Times New Roman" panose="02020603050405020304" charset="0"/>
                <a:ea typeface="微软雅黑" panose="020B0503020204020204" charset="-122"/>
              </a:rPr>
              <a:t>: Automatic cryptanalysis · Security evaluation · Related-key differential attack · Authenticated encryption · Mixed-Integer LinearProgramming</a:t>
            </a:r>
            <a:endParaRPr lang="en-US" altLang="zh-CN" sz="2000">
              <a:uFillTx/>
              <a:latin typeface="Times New Roman" panose="02020603050405020304" charset="0"/>
              <a:ea typeface="微软雅黑" panose="020B0503020204020204" charset="-122"/>
            </a:endParaRPr>
          </a:p>
          <a:p>
            <a:r>
              <a:rPr lang="en-US" altLang="zh-CN" sz="2000" b="1">
                <a:uFillTx/>
                <a:latin typeface="Times New Roman" panose="02020603050405020304" charset="0"/>
                <a:ea typeface="微软雅黑" panose="020B0503020204020204" charset="-122"/>
              </a:rPr>
              <a:t>Conference</a:t>
            </a:r>
            <a:r>
              <a:rPr lang="en-US" altLang="zh-CN" sz="2000">
                <a:uFillTx/>
                <a:latin typeface="Times New Roman" panose="02020603050405020304" charset="0"/>
                <a:ea typeface="微软雅黑" panose="020B0503020204020204" charset="-122"/>
              </a:rPr>
              <a:t>: International Workshop on Security——IWSEC</a:t>
            </a:r>
            <a:endParaRPr lang="en-US" altLang="zh-CN" sz="2000">
              <a:uFillTx/>
              <a:latin typeface="Times New Roman" panose="02020603050405020304" charset="0"/>
              <a:ea typeface="微软雅黑" panose="020B0503020204020204" charset="-122"/>
            </a:endParaRPr>
          </a:p>
          <a:p>
            <a:r>
              <a:rPr lang="en-US" altLang="zh-CN" sz="2000" b="1">
                <a:uFillTx/>
                <a:latin typeface="Times New Roman" panose="02020603050405020304" charset="0"/>
                <a:ea typeface="微软雅黑" panose="020B0503020204020204" charset="-122"/>
              </a:rPr>
              <a:t>Time</a:t>
            </a:r>
            <a:r>
              <a:rPr lang="en-US" altLang="zh-CN" sz="2000">
                <a:uFillTx/>
                <a:latin typeface="Times New Roman" panose="02020603050405020304" charset="0"/>
                <a:ea typeface="微软雅黑" panose="020B0503020204020204" charset="-122"/>
              </a:rPr>
              <a:t>: 2015/8/26</a:t>
            </a:r>
            <a:endParaRPr lang="en-US" altLang="zh-CN" sz="2000">
              <a:uFillTx/>
              <a:latin typeface="Times New Roman" panose="02020603050405020304" charset="0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文本框 4"/>
          <p:cNvSpPr txBox="1"/>
          <p:nvPr/>
        </p:nvSpPr>
        <p:spPr>
          <a:xfrm>
            <a:off x="473710" y="1421130"/>
            <a:ext cx="11244580" cy="31692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buFont typeface="+mj-lt"/>
            </a:pPr>
            <a:r>
              <a:rPr lang="en-US" altLang="zh-CN" sz="3200" b="1">
                <a:uFillTx/>
                <a:latin typeface="Times New Roman" panose="02020603050405020304" charset="0"/>
                <a:ea typeface="微软雅黑" panose="020B0503020204020204" charset="-122"/>
              </a:rPr>
              <a:t>main ideas:</a:t>
            </a:r>
            <a:endParaRPr lang="en-US" altLang="zh-CN" sz="3200" b="1">
              <a:uFillTx/>
              <a:latin typeface="Times New Roman" panose="02020603050405020304" charset="0"/>
              <a:ea typeface="微软雅黑" panose="020B0503020204020204" charset="-122"/>
            </a:endParaRPr>
          </a:p>
          <a:p>
            <a:pPr algn="l">
              <a:buFont typeface="+mj-lt"/>
            </a:pPr>
            <a:endParaRPr lang="en-US" altLang="zh-CN" sz="2800">
              <a:uFillTx/>
              <a:latin typeface="Times New Roman" panose="02020603050405020304" charset="0"/>
              <a:ea typeface="微软雅黑" panose="020B0503020204020204" charset="-122"/>
            </a:endParaRPr>
          </a:p>
          <a:p>
            <a:pPr marL="514350" indent="-514350" algn="l">
              <a:buFont typeface="+mj-lt"/>
              <a:buAutoNum type="arabicPeriod"/>
            </a:pPr>
            <a:r>
              <a:rPr lang="en-US" altLang="zh-CN" sz="2800">
                <a:uFillTx/>
                <a:latin typeface="Times New Roman" panose="02020603050405020304" charset="0"/>
                <a:ea typeface="微软雅黑" panose="020B0503020204020204" charset="-122"/>
              </a:rPr>
              <a:t>introduce some </a:t>
            </a:r>
            <a:r>
              <a:rPr lang="zh-CN" altLang="en-US" sz="2800">
                <a:uFillTx/>
                <a:latin typeface="Times New Roman" panose="02020603050405020304" charset="0"/>
                <a:ea typeface="微软雅黑" panose="020B0503020204020204" charset="-122"/>
              </a:rPr>
              <a:t>methods for finding the best differential characteristic of a cipher</a:t>
            </a:r>
            <a:endParaRPr lang="zh-CN" altLang="en-US" sz="2800">
              <a:uFillTx/>
              <a:latin typeface="Times New Roman" panose="02020603050405020304" charset="0"/>
              <a:ea typeface="微软雅黑" panose="020B0503020204020204" charset="-122"/>
            </a:endParaRPr>
          </a:p>
          <a:p>
            <a:pPr marL="514350" indent="-514350" algn="l">
              <a:buFont typeface="+mj-lt"/>
              <a:buAutoNum type="arabicPeriod"/>
            </a:pPr>
            <a:r>
              <a:rPr lang="en-US" altLang="zh-CN" sz="2800">
                <a:uFillTx/>
                <a:latin typeface="Times New Roman" panose="02020603050405020304" charset="0"/>
                <a:ea typeface="微软雅黑" panose="020B0503020204020204" charset="-122"/>
              </a:rPr>
              <a:t>how to use the MILP based methods in a clever way such that better characteristics can be found</a:t>
            </a:r>
            <a:endParaRPr lang="en-US" altLang="zh-CN" sz="2800">
              <a:uFillTx/>
              <a:latin typeface="Times New Roman" panose="02020603050405020304" charset="0"/>
              <a:ea typeface="微软雅黑" panose="020B0503020204020204" charset="-122"/>
            </a:endParaRPr>
          </a:p>
          <a:p>
            <a:pPr marL="514350" indent="-514350" algn="l">
              <a:buFont typeface="+mj-lt"/>
              <a:buAutoNum type="arabicPeriod"/>
            </a:pPr>
            <a:r>
              <a:rPr lang="en-US" altLang="zh-CN" sz="2800">
                <a:uFillTx/>
                <a:latin typeface="Times New Roman" panose="02020603050405020304" charset="0"/>
                <a:ea typeface="微软雅黑" panose="020B0503020204020204" charset="-122"/>
              </a:rPr>
              <a:t>apply to two lightweight block cipers DESL and LBlock-s</a:t>
            </a:r>
            <a:endParaRPr lang="en-US" altLang="zh-CN" sz="2800">
              <a:uFillTx/>
              <a:latin typeface="Times New Roman" panose="02020603050405020304" charset="0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812" y="1453515"/>
            <a:ext cx="10972800" cy="1143000"/>
          </a:xfrm>
        </p:spPr>
        <p:txBody>
          <a:bodyPr/>
          <a:p>
            <a:pPr algn="l"/>
            <a:r>
              <a:rPr lang="en-US" altLang="zh-CN">
                <a:uFillTx/>
                <a:latin typeface="Times New Roman" panose="02020603050405020304" charset="0"/>
                <a:ea typeface="微软雅黑" panose="020B0503020204020204" charset="-122"/>
                <a:sym typeface="+mn-ea"/>
              </a:rPr>
              <a:t>1.</a:t>
            </a:r>
            <a:r>
              <a:rPr lang="zh-CN" altLang="en-US">
                <a:uFillTx/>
                <a:latin typeface="Times New Roman" panose="02020603050405020304" charset="0"/>
                <a:ea typeface="微软雅黑" panose="020B0503020204020204" charset="-122"/>
                <a:sym typeface="+mn-ea"/>
              </a:rPr>
              <a:t>methods for finding the best differential characteristic of a cipher</a:t>
            </a:r>
            <a:br>
              <a:rPr lang="zh-CN" altLang="en-US">
                <a:uFillTx/>
                <a:latin typeface="Times New Roman" panose="02020603050405020304" charset="0"/>
                <a:ea typeface="微软雅黑" panose="020B0503020204020204" charset="-122"/>
              </a:rPr>
            </a:b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00" y="2596515"/>
            <a:ext cx="11186160" cy="3249930"/>
          </a:xfrm>
        </p:spPr>
        <p:txBody>
          <a:bodyPr/>
          <a:p>
            <a:r>
              <a:rPr lang="en-US" altLang="zh-CN" sz="2800">
                <a:uFillTx/>
                <a:latin typeface="Times New Roman" panose="02020603050405020304" charset="0"/>
                <a:ea typeface="微软雅黑" panose="020B0503020204020204" charset="-122"/>
              </a:rPr>
              <a:t>Matusi's branch-and-bound depth-first search algorithm</a:t>
            </a:r>
            <a:endParaRPr lang="en-US" altLang="zh-CN" sz="2800">
              <a:uFillTx/>
              <a:latin typeface="Times New Roman" panose="02020603050405020304" charset="0"/>
              <a:ea typeface="微软雅黑" panose="020B0503020204020204" charset="-122"/>
            </a:endParaRPr>
          </a:p>
          <a:p>
            <a:pPr marL="0" indent="0">
              <a:buNone/>
            </a:pPr>
            <a:r>
              <a:rPr lang="zh-CN" altLang="en-US" sz="2400">
                <a:uFillTx/>
                <a:latin typeface="Times New Roman" panose="02020603050405020304" charset="0"/>
                <a:ea typeface="微软雅黑" panose="020B0503020204020204" charset="-122"/>
              </a:rPr>
              <a:t>     分支定界深度优先搜索算法</a:t>
            </a:r>
            <a:endParaRPr lang="en-US" altLang="zh-CN" sz="2400">
              <a:uFillTx/>
              <a:latin typeface="Times New Roman" panose="02020603050405020304" charset="0"/>
              <a:ea typeface="微软雅黑" panose="020B0503020204020204" charset="-122"/>
            </a:endParaRPr>
          </a:p>
          <a:p>
            <a:r>
              <a:rPr lang="en-US" altLang="zh-CN" sz="2800">
                <a:uFillTx/>
                <a:latin typeface="Times New Roman" panose="02020603050405020304" charset="0"/>
                <a:ea typeface="微软雅黑" panose="020B0503020204020204" charset="-122"/>
              </a:rPr>
              <a:t>Biryukov et al.extend Matsui's algorithm by using the partial (rather than the full) difference distribution table (pDDT)</a:t>
            </a:r>
            <a:r>
              <a:rPr lang="zh-CN" altLang="en-US" sz="2400">
                <a:uFillTx/>
                <a:latin typeface="Times New Roman" panose="02020603050405020304" charset="0"/>
                <a:ea typeface="微软雅黑" panose="020B0503020204020204" charset="-122"/>
              </a:rPr>
              <a:t>部分差异分布表</a:t>
            </a:r>
            <a:endParaRPr lang="zh-CN" altLang="en-US" sz="2400">
              <a:uFillTx/>
              <a:latin typeface="Times New Roman" panose="02020603050405020304" charset="0"/>
              <a:ea typeface="微软雅黑" panose="020B0503020204020204" charset="-122"/>
            </a:endParaRPr>
          </a:p>
          <a:p>
            <a:r>
              <a:rPr lang="en-US" altLang="zh-CN" sz="2800">
                <a:uFillTx/>
                <a:latin typeface="Times New Roman" panose="02020603050405020304" charset="0"/>
                <a:ea typeface="微软雅黑" panose="020B0503020204020204" charset="-122"/>
              </a:rPr>
              <a:t>a breadth-first search based on the Dijkstra’s algorithm</a:t>
            </a:r>
            <a:endParaRPr lang="en-US" altLang="zh-CN" sz="2800">
              <a:uFillTx/>
              <a:latin typeface="Times New Roman" panose="02020603050405020304" charset="0"/>
              <a:ea typeface="微软雅黑" panose="020B0503020204020204" charset="-122"/>
            </a:endParaRPr>
          </a:p>
          <a:p>
            <a:r>
              <a:rPr lang="en-US" altLang="zh-CN" sz="2800" b="1">
                <a:uFillTx/>
                <a:latin typeface="Times New Roman" panose="02020603050405020304" charset="0"/>
                <a:ea typeface="微软雅黑" panose="020B0503020204020204" charset="-122"/>
              </a:rPr>
              <a:t>SAT or Mixed-Integer Linear Programming (MILP) </a:t>
            </a:r>
            <a:r>
              <a:rPr lang="zh-CN" altLang="en-US" sz="2800" b="1">
                <a:uFillTx/>
                <a:latin typeface="Times New Roman" panose="02020603050405020304" charset="0"/>
                <a:ea typeface="微软雅黑" panose="020B0503020204020204" charset="-122"/>
              </a:rPr>
              <a:t>建模</a:t>
            </a:r>
            <a:endParaRPr lang="zh-CN" altLang="en-US" sz="2800" b="1">
              <a:uFillTx/>
              <a:latin typeface="Times New Roman" panose="02020603050405020304" charset="0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" name="文本框 7"/>
          <p:cNvSpPr txBox="1"/>
          <p:nvPr/>
        </p:nvSpPr>
        <p:spPr>
          <a:xfrm>
            <a:off x="318770" y="1055370"/>
            <a:ext cx="677418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 b="1">
                <a:solidFill>
                  <a:schemeClr val="tx2"/>
                </a:solidFill>
                <a:uFillTx/>
                <a:latin typeface="Times New Roman" panose="02020603050405020304" charset="0"/>
                <a:ea typeface="微软雅黑" panose="020B0503020204020204" charset="-122"/>
                <a:cs typeface="+mj-cs"/>
                <a:sym typeface="+mn-ea"/>
              </a:rPr>
              <a:t> 分支定界</a:t>
            </a:r>
            <a:endParaRPr lang="zh-CN" altLang="en-US" sz="2800" b="1">
              <a:solidFill>
                <a:schemeClr val="tx2"/>
              </a:solidFill>
              <a:uFillTx/>
              <a:latin typeface="Times New Roman" panose="02020603050405020304" charset="0"/>
              <a:ea typeface="微软雅黑" panose="020B0503020204020204" charset="-122"/>
              <a:cs typeface="+mj-cs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18770" y="1577340"/>
            <a:ext cx="11554460" cy="439991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 sz="2000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</a:rPr>
              <a:t>分支定界法（branch and bound）是一种求解整数规划问题的最常用算法。这种方法不但可以求解纯整数规划，还可以求解混合整数规划问题。分支定界法是一种搜索与迭代的方法，选择不同的分支变量和子问题进行分支。</a:t>
            </a:r>
            <a:endParaRPr lang="zh-CN" altLang="en-US" sz="2000">
              <a:latin typeface="微软雅黑" panose="020B0503020204020204" charset="-122"/>
              <a:ea typeface="微软雅黑" panose="020B0503020204020204" charset="-122"/>
            </a:endParaRPr>
          </a:p>
          <a:p>
            <a:endParaRPr lang="zh-CN" altLang="en-US" sz="2000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</a:rPr>
              <a:t>通常，把全部可行解空间反复地分割为越来越小的子集，称为</a:t>
            </a:r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</a:rPr>
              <a:t>分枝</a:t>
            </a: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</a:rPr>
              <a:t>；并且对每个子集内的解集计算一个目标上界或下界，这称为</a:t>
            </a:r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</a:rPr>
              <a:t>定界</a:t>
            </a: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</a:rPr>
              <a:t>。在每次分枝后，凡是界限超出已知可行解集目标值的那些子集不再进一步分枝，这样，许多子集可不予考虑，这称</a:t>
            </a:r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</a:rPr>
              <a:t>剪枝</a:t>
            </a: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zh-CN" altLang="en-US" sz="2000">
              <a:latin typeface="微软雅黑" panose="020B0503020204020204" charset="-122"/>
              <a:ea typeface="微软雅黑" panose="020B0503020204020204" charset="-122"/>
            </a:endParaRPr>
          </a:p>
          <a:p>
            <a:endParaRPr lang="zh-CN" altLang="en-US" sz="2000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</a:rPr>
              <a:t>分支定界算法始终围绕着一颗搜索树进行的，我们将原问题看作搜索树的根节点，从这里出发，分支的含义就是将大的问题分割成小的问题。大问题可以看成是搜索树的父节点，那么从大问题分割出来的小问题就是父节点的子节点了。分支的过程就是不断给树增加子节点的过程。而定界就是在分支的过程中检查子问题的上下界，如果子问题不能产生一比当前最优解还要优的解，那么砍掉这一支。直到所有子问题都不能产生一个更优的解时，算法结束。</a:t>
            </a:r>
            <a:endParaRPr lang="zh-CN" altLang="en-US" sz="2000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15895" y="1123315"/>
            <a:ext cx="5753100" cy="121920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499110" y="1123315"/>
            <a:ext cx="172910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 b="1">
                <a:latin typeface="+mj-ea"/>
                <a:ea typeface="+mj-ea"/>
              </a:rPr>
              <a:t>举个例子</a:t>
            </a:r>
            <a:endParaRPr lang="zh-CN" altLang="en-US" sz="2000" b="1">
              <a:latin typeface="+mj-ea"/>
              <a:ea typeface="+mj-ea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418465" y="2407920"/>
            <a:ext cx="11218545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文本框 5"/>
          <p:cNvSpPr txBox="1"/>
          <p:nvPr/>
        </p:nvSpPr>
        <p:spPr>
          <a:xfrm>
            <a:off x="241935" y="2644140"/>
            <a:ext cx="11555730" cy="92202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en-US" altLang="zh-CN">
                <a:solidFill>
                  <a:schemeClr val="tx1"/>
                </a:solidFill>
                <a:uFillTx/>
                <a:latin typeface="Times New Roman" panose="02020603050405020304" charset="0"/>
                <a:ea typeface="微软雅黑" panose="020B0503020204020204" charset="-122"/>
              </a:rPr>
              <a:t>1.</a:t>
            </a:r>
            <a:r>
              <a:rPr lang="zh-CN" altLang="en-US">
                <a:solidFill>
                  <a:schemeClr val="tx1"/>
                </a:solidFill>
                <a:uFillTx/>
                <a:latin typeface="Times New Roman" panose="02020603050405020304" charset="0"/>
                <a:ea typeface="微软雅黑" panose="020B0503020204020204" charset="-122"/>
              </a:rPr>
              <a:t>设立一个初始变量</a:t>
            </a:r>
            <a:r>
              <a:rPr lang="en-US" altLang="zh-CN">
                <a:solidFill>
                  <a:schemeClr val="tx1"/>
                </a:solidFill>
                <a:uFillTx/>
                <a:latin typeface="Times New Roman" panose="02020603050405020304" charset="0"/>
                <a:ea typeface="微软雅黑" panose="020B0503020204020204" charset="-122"/>
              </a:rPr>
              <a:t>Best = </a:t>
            </a:r>
            <a:r>
              <a:rPr lang="en-US">
                <a:solidFill>
                  <a:schemeClr val="tx1"/>
                </a:solidFill>
                <a:uFillTx/>
                <a:latin typeface="Times New Roman" panose="02020603050405020304" charset="0"/>
                <a:ea typeface="微软雅黑" panose="020B0503020204020204" charset="-122"/>
                <a:sym typeface="+mn-ea"/>
              </a:rPr>
              <a:t>-INF</a:t>
            </a:r>
            <a:endParaRPr lang="en-US">
              <a:solidFill>
                <a:schemeClr val="tx1"/>
              </a:solidFill>
              <a:uFillTx/>
              <a:latin typeface="Times New Roman" panose="02020603050405020304" charset="0"/>
              <a:ea typeface="微软雅黑" panose="020B0503020204020204" charset="-122"/>
              <a:sym typeface="+mn-ea"/>
            </a:endParaRPr>
          </a:p>
          <a:p>
            <a:pPr algn="l"/>
            <a:r>
              <a:rPr lang="en-US" altLang="zh-CN">
                <a:solidFill>
                  <a:schemeClr val="tx1"/>
                </a:solidFill>
                <a:uFillTx/>
                <a:latin typeface="Times New Roman" panose="02020603050405020304" charset="0"/>
                <a:ea typeface="微软雅黑" panose="020B0503020204020204" charset="-122"/>
              </a:rPr>
              <a:t>2.</a:t>
            </a:r>
            <a:r>
              <a:rPr lang="zh-CN" altLang="en-US">
                <a:solidFill>
                  <a:schemeClr val="tx1"/>
                </a:solidFill>
                <a:uFillTx/>
                <a:latin typeface="Times New Roman" panose="02020603050405020304" charset="0"/>
                <a:ea typeface="微软雅黑" panose="020B0503020204020204" charset="-122"/>
              </a:rPr>
              <a:t>从</a:t>
            </a:r>
            <a:r>
              <a:rPr lang="en-US" altLang="zh-CN">
                <a:solidFill>
                  <a:schemeClr val="tx1"/>
                </a:solidFill>
                <a:uFillTx/>
                <a:latin typeface="Times New Roman" panose="02020603050405020304" charset="0"/>
                <a:ea typeface="微软雅黑" panose="020B0503020204020204" charset="-122"/>
              </a:rPr>
              <a:t>x3</a:t>
            </a:r>
            <a:r>
              <a:rPr lang="zh-CN" altLang="en-US">
                <a:solidFill>
                  <a:schemeClr val="tx1"/>
                </a:solidFill>
                <a:uFillTx/>
                <a:latin typeface="Times New Roman" panose="02020603050405020304" charset="0"/>
                <a:ea typeface="微软雅黑" panose="020B0503020204020204" charset="-122"/>
              </a:rPr>
              <a:t>开始分支，将大问题转化成两个新的小问题，不考虑整数条件，将余下的目标函数和约束条件构成的线性问</a:t>
            </a:r>
            <a:endParaRPr lang="zh-CN" altLang="en-US">
              <a:solidFill>
                <a:schemeClr val="tx1"/>
              </a:solidFill>
              <a:uFillTx/>
              <a:latin typeface="Times New Roman" panose="02020603050405020304" charset="0"/>
              <a:ea typeface="微软雅黑" panose="020B0503020204020204" charset="-122"/>
            </a:endParaRPr>
          </a:p>
          <a:p>
            <a:pPr algn="l"/>
            <a:r>
              <a:rPr lang="zh-CN" altLang="en-US">
                <a:solidFill>
                  <a:schemeClr val="tx1"/>
                </a:solidFill>
                <a:uFillTx/>
                <a:latin typeface="Times New Roman" panose="02020603050405020304" charset="0"/>
                <a:ea typeface="微软雅黑" panose="020B0503020204020204" charset="-122"/>
              </a:rPr>
              <a:t>题称之为松弛问题，并求出该松弛</a:t>
            </a:r>
            <a:r>
              <a:rPr lang="zh-CN" altLang="en-US">
                <a:solidFill>
                  <a:schemeClr val="tx1"/>
                </a:solidFill>
                <a:uFillTx/>
                <a:latin typeface="Times New Roman" panose="02020603050405020304" charset="0"/>
                <a:ea typeface="微软雅黑" panose="020B0503020204020204" charset="-122"/>
              </a:rPr>
              <a:t>问题的上界</a:t>
            </a:r>
            <a:r>
              <a:rPr lang="en-US" altLang="zh-CN">
                <a:solidFill>
                  <a:schemeClr val="tx1"/>
                </a:solidFill>
                <a:uFillTx/>
                <a:latin typeface="Times New Roman" panose="02020603050405020304" charset="0"/>
                <a:ea typeface="微软雅黑" panose="020B0503020204020204" charset="-122"/>
              </a:rPr>
              <a:t>Z_LP1</a:t>
            </a:r>
            <a:r>
              <a:rPr lang="zh-CN" altLang="en-US">
                <a:solidFill>
                  <a:schemeClr val="tx1"/>
                </a:solidFill>
                <a:uFillTx/>
                <a:latin typeface="Times New Roman" panose="02020603050405020304" charset="0"/>
                <a:ea typeface="微软雅黑" panose="020B0503020204020204" charset="-122"/>
              </a:rPr>
              <a:t>、</a:t>
            </a:r>
            <a:r>
              <a:rPr lang="en-US" altLang="zh-CN">
                <a:solidFill>
                  <a:schemeClr val="tx1"/>
                </a:solidFill>
                <a:uFillTx/>
                <a:latin typeface="Times New Roman" panose="02020603050405020304" charset="0"/>
                <a:ea typeface="微软雅黑" panose="020B0503020204020204" charset="-122"/>
              </a:rPr>
              <a:t>Z_LP2;</a:t>
            </a:r>
            <a:endParaRPr lang="en-US" altLang="zh-CN">
              <a:solidFill>
                <a:schemeClr val="tx1"/>
              </a:solidFill>
              <a:uFillTx/>
              <a:latin typeface="Times New Roman" panose="02020603050405020304" charset="0"/>
              <a:ea typeface="微软雅黑" panose="020B0503020204020204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5" y="3566160"/>
            <a:ext cx="8343265" cy="2508885"/>
          </a:xfrm>
          <a:prstGeom prst="rect">
            <a:avLst/>
          </a:prstGeom>
        </p:spPr>
      </p:pic>
      <p:sp>
        <p:nvSpPr>
          <p:cNvPr id="8" name="圆角矩形 7"/>
          <p:cNvSpPr/>
          <p:nvPr/>
        </p:nvSpPr>
        <p:spPr>
          <a:xfrm>
            <a:off x="644525" y="5028565"/>
            <a:ext cx="3867785" cy="1046480"/>
          </a:xfrm>
          <a:prstGeom prst="roundRect">
            <a:avLst/>
          </a:prstGeom>
          <a:noFill/>
          <a:ln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圆角矩形 8"/>
          <p:cNvSpPr/>
          <p:nvPr/>
        </p:nvSpPr>
        <p:spPr>
          <a:xfrm>
            <a:off x="4808855" y="4947920"/>
            <a:ext cx="4057650" cy="1127760"/>
          </a:xfrm>
          <a:prstGeom prst="roundRect">
            <a:avLst/>
          </a:prstGeom>
          <a:noFill/>
          <a:ln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8995410" y="3667125"/>
            <a:ext cx="3086735" cy="23069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800">
                <a:solidFill>
                  <a:schemeClr val="tx1"/>
                </a:solidFill>
              </a:rPr>
              <a:t>Tips:</a:t>
            </a:r>
            <a:r>
              <a:rPr lang="zh-CN" altLang="en-US" sz="1800">
                <a:solidFill>
                  <a:schemeClr val="tx1"/>
                </a:solidFill>
              </a:rPr>
              <a:t>为什么要将整形规划问题转化为它的松弛问题求解？</a:t>
            </a:r>
            <a:endParaRPr lang="zh-CN" altLang="en-US" sz="1800">
              <a:solidFill>
                <a:schemeClr val="tx1"/>
              </a:solidFill>
            </a:endParaRPr>
          </a:p>
          <a:p>
            <a:r>
              <a:rPr lang="zh-CN" altLang="en-US" sz="1800">
                <a:solidFill>
                  <a:schemeClr val="tx1"/>
                </a:solidFill>
              </a:rPr>
              <a:t>对于一个求最优解的问题，通过把{0,1}变量松弛成[0,1]，等于增加了可行解的个数（可行域的范围），这样该最小化问题就有可能得到比原问题更好（小）的解。</a:t>
            </a:r>
            <a:endParaRPr lang="zh-CN" altLang="en-US" sz="1800">
              <a:solidFill>
                <a:schemeClr val="tx1"/>
              </a:solidFill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8973185" y="3514725"/>
            <a:ext cx="3042285" cy="2495550"/>
          </a:xfrm>
          <a:prstGeom prst="rect">
            <a:avLst/>
          </a:prstGeom>
          <a:noFill/>
          <a:ln>
            <a:solidFill>
              <a:srgbClr val="00B0F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404495" y="1204595"/>
            <a:ext cx="79686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800">
                <a:uFillTx/>
                <a:latin typeface="Times New Roman" panose="02020603050405020304" charset="0"/>
                <a:ea typeface="微软雅黑" panose="020B0503020204020204" charset="-122"/>
              </a:rPr>
              <a:t>3.由于Z_LP1、Z_LP2都大于</a:t>
            </a:r>
            <a:r>
              <a:rPr lang="zh-CN" altLang="en-US" sz="1800">
                <a:uFillTx/>
                <a:latin typeface="Times New Roman" panose="02020603050405020304" charset="0"/>
                <a:ea typeface="微软雅黑" panose="020B0503020204020204" charset="-122"/>
                <a:sym typeface="+mn-ea"/>
              </a:rPr>
              <a:t>初始变量Best，所以我们继续向下分支</a:t>
            </a:r>
            <a:endParaRPr lang="zh-CN" altLang="en-US" sz="1800">
              <a:uFillTx/>
              <a:latin typeface="Times New Roman" panose="02020603050405020304" charset="0"/>
              <a:ea typeface="微软雅黑" panose="020B0503020204020204" charset="-122"/>
              <a:sym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4495" y="1708785"/>
            <a:ext cx="6470015" cy="2599690"/>
          </a:xfrm>
          <a:prstGeom prst="rect">
            <a:avLst/>
          </a:prstGeom>
        </p:spPr>
      </p:pic>
      <p:sp>
        <p:nvSpPr>
          <p:cNvPr id="4" name="乘号 3"/>
          <p:cNvSpPr/>
          <p:nvPr/>
        </p:nvSpPr>
        <p:spPr>
          <a:xfrm>
            <a:off x="1690370" y="2784475"/>
            <a:ext cx="532130" cy="570230"/>
          </a:xfrm>
          <a:prstGeom prst="mathMultiply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圆角矩形 4"/>
          <p:cNvSpPr/>
          <p:nvPr/>
        </p:nvSpPr>
        <p:spPr>
          <a:xfrm>
            <a:off x="1974850" y="3817620"/>
            <a:ext cx="2336165" cy="267335"/>
          </a:xfrm>
          <a:prstGeom prst="roundRect">
            <a:avLst/>
          </a:prstGeom>
          <a:noFill/>
          <a:ln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588645" y="4538980"/>
            <a:ext cx="750125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buClrTx/>
              <a:buSzTx/>
              <a:buFontTx/>
            </a:pPr>
            <a:r>
              <a:rPr lang="zh-CN" altLang="en-US" sz="1800">
                <a:uFillTx/>
                <a:latin typeface="Times New Roman" panose="02020603050405020304" charset="0"/>
                <a:ea typeface="微软雅黑" panose="020B0503020204020204" charset="-122"/>
              </a:rPr>
              <a:t>子问题4可得到一个最优解10，因更新best值为10，再继续找更优的解，以此类推，再向下进行分支、定界、剪枝，更新........</a:t>
            </a:r>
            <a:endParaRPr lang="zh-CN" altLang="en-US" sz="1800">
              <a:uFillTx/>
              <a:latin typeface="Times New Roman" panose="02020603050405020304" charset="0"/>
              <a:ea typeface="微软雅黑" panose="020B0503020204020204" charset="-122"/>
            </a:endParaRPr>
          </a:p>
        </p:txBody>
      </p:sp>
      <p:cxnSp>
        <p:nvCxnSpPr>
          <p:cNvPr id="8" name="直接连接符 7"/>
          <p:cNvCxnSpPr/>
          <p:nvPr/>
        </p:nvCxnSpPr>
        <p:spPr>
          <a:xfrm>
            <a:off x="7933690" y="1204595"/>
            <a:ext cx="13335" cy="425767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/>
          <p:cNvSpPr txBox="1"/>
          <p:nvPr/>
        </p:nvSpPr>
        <p:spPr>
          <a:xfrm>
            <a:off x="8089265" y="1204595"/>
            <a:ext cx="3709670" cy="45231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由于分支定界是围绕一棵搜索树展开的，那么对于一棵树来说有很多种搜索方式：</a:t>
            </a:r>
            <a:endParaRPr lang="zh-CN" altLang="en-US"/>
          </a:p>
          <a:p>
            <a:endParaRPr lang="zh-CN" altLang="en-US"/>
          </a:p>
          <a:p>
            <a:r>
              <a:rPr lang="en-US" altLang="zh-CN"/>
              <a:t>1.</a:t>
            </a:r>
            <a:r>
              <a:rPr lang="zh-CN" altLang="en-US"/>
              <a:t>深度优先</a:t>
            </a:r>
            <a:endParaRPr lang="zh-CN" altLang="en-US"/>
          </a:p>
          <a:p>
            <a:r>
              <a:rPr lang="en-US" altLang="zh-CN"/>
              <a:t>2.</a:t>
            </a:r>
            <a:r>
              <a:rPr lang="zh-CN" altLang="en-US"/>
              <a:t>广度优先</a:t>
            </a:r>
            <a:endParaRPr lang="zh-CN" altLang="en-US"/>
          </a:p>
          <a:p>
            <a:r>
              <a:rPr lang="en-US" altLang="zh-CN"/>
              <a:t>3.最佳优先搜索</a:t>
            </a:r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r>
              <a:rPr lang="zh-CN" altLang="en-US"/>
              <a:t>文中提到</a:t>
            </a:r>
            <a:endParaRPr lang="zh-CN" altLang="en-US"/>
          </a:p>
          <a:p>
            <a:r>
              <a:rPr lang="zh-CN" altLang="en-US"/>
              <a:t>《Structural Evaluation of AES and Chosen-Key Distinguisher of 9-round AES-128》</a:t>
            </a:r>
            <a:endParaRPr lang="zh-CN" altLang="en-US"/>
          </a:p>
          <a:p>
            <a:r>
              <a:rPr lang="zh-CN" altLang="en-US"/>
              <a:t>基于迪杰斯特拉算法的广度优先搜索算法</a:t>
            </a:r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417830" y="1271905"/>
            <a:ext cx="667512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 b="1">
                <a:solidFill>
                  <a:schemeClr val="tx2"/>
                </a:solidFill>
                <a:uFillTx/>
                <a:latin typeface="Times New Roman" panose="02020603050405020304" charset="0"/>
                <a:ea typeface="微软雅黑" panose="020B0503020204020204" charset="-122"/>
                <a:cs typeface="+mj-cs"/>
                <a:sym typeface="+mn-ea"/>
              </a:rPr>
              <a:t> 分支定界深度优先搜索算法——</a:t>
            </a:r>
            <a:r>
              <a:rPr lang="zh-CN" altLang="en-US" sz="2800" b="1">
                <a:solidFill>
                  <a:schemeClr val="tx2"/>
                </a:solidFill>
                <a:uFillTx/>
                <a:latin typeface="Times New Roman" panose="02020603050405020304" charset="0"/>
                <a:ea typeface="微软雅黑" panose="020B0503020204020204" charset="-122"/>
                <a:cs typeface="+mj-cs"/>
                <a:sym typeface="+mn-ea"/>
              </a:rPr>
              <a:t>局限性</a:t>
            </a:r>
            <a:endParaRPr lang="zh-CN" altLang="en-US" sz="2800" b="1">
              <a:solidFill>
                <a:schemeClr val="tx2"/>
              </a:solidFill>
              <a:uFillTx/>
              <a:latin typeface="Times New Roman" panose="02020603050405020304" charset="0"/>
              <a:ea typeface="微软雅黑" panose="020B0503020204020204" charset="-122"/>
              <a:cs typeface="+mj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417830" y="1951355"/>
            <a:ext cx="10962005" cy="1938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>
                <a:latin typeface="+mn-ea"/>
                <a:ea typeface="+mn-ea"/>
                <a:cs typeface="+mn-ea"/>
              </a:rPr>
              <a:t>1. </a:t>
            </a:r>
            <a:r>
              <a:rPr lang="zh-CN" altLang="en-US" sz="2000">
                <a:latin typeface="+mn-ea"/>
                <a:ea typeface="+mn-ea"/>
                <a:cs typeface="+mn-ea"/>
              </a:rPr>
              <a:t>Matusi的方法不适用于相关密钥模型，尽管有人拓展了</a:t>
            </a:r>
            <a:r>
              <a:rPr lang="en-US" altLang="zh-CN" sz="2000">
                <a:latin typeface="+mn-ea"/>
                <a:ea typeface="+mn-ea"/>
                <a:cs typeface="+mn-ea"/>
              </a:rPr>
              <a:t>Matusi</a:t>
            </a:r>
            <a:r>
              <a:rPr lang="zh-CN" altLang="en-US" sz="2000">
                <a:latin typeface="+mn-ea"/>
                <a:ea typeface="+mn-ea"/>
                <a:cs typeface="+mn-ea"/>
              </a:rPr>
              <a:t>的方法使之可以应用于相关密钥模型，但这种方法对于使用非线性密钥调度算法的密码不太有用。</a:t>
            </a:r>
            <a:endParaRPr lang="zh-CN" altLang="en-US" sz="2000">
              <a:latin typeface="+mn-ea"/>
              <a:ea typeface="+mn-ea"/>
              <a:cs typeface="+mn-ea"/>
            </a:endParaRPr>
          </a:p>
          <a:p>
            <a:endParaRPr lang="zh-CN" altLang="en-US" sz="2000">
              <a:latin typeface="+mn-ea"/>
              <a:ea typeface="+mn-ea"/>
              <a:cs typeface="+mn-ea"/>
            </a:endParaRPr>
          </a:p>
          <a:p>
            <a:r>
              <a:rPr lang="en-US" altLang="zh-CN" sz="2000">
                <a:latin typeface="+mn-ea"/>
                <a:ea typeface="+mn-ea"/>
                <a:cs typeface="+mn-ea"/>
              </a:rPr>
              <a:t>2. </a:t>
            </a:r>
            <a:r>
              <a:rPr lang="zh-CN" altLang="en-US" sz="2000">
                <a:latin typeface="+mn-ea"/>
                <a:ea typeface="+mn-ea"/>
                <a:cs typeface="+mn-ea"/>
                <a:sym typeface="+mn-ea"/>
              </a:rPr>
              <a:t>Matusi</a:t>
            </a:r>
            <a:r>
              <a:rPr lang="zh-CN" altLang="en-US" sz="2000">
                <a:latin typeface="+mn-ea"/>
                <a:ea typeface="+mn-ea"/>
                <a:cs typeface="+mn-ea"/>
              </a:rPr>
              <a:t>的方法对于很多密码算法无法找到最佳差分路径，该方法中的一些加速技术与所应用的特定密码的特定性质密切相关，因此实现困难，通用性不高</a:t>
            </a:r>
            <a:r>
              <a:rPr lang="zh-CN" altLang="en-US" sz="2000">
                <a:latin typeface="+mn-ea"/>
                <a:ea typeface="+mn-ea"/>
                <a:cs typeface="+mn-ea"/>
              </a:rPr>
              <a:t>。</a:t>
            </a:r>
            <a:endParaRPr lang="zh-CN" altLang="en-US" sz="2000">
              <a:latin typeface="+mn-ea"/>
              <a:ea typeface="+mn-ea"/>
              <a:cs typeface="+mn-ea"/>
            </a:endParaRPr>
          </a:p>
          <a:p>
            <a:endParaRPr lang="zh-CN" altLang="en-US" sz="2000">
              <a:latin typeface="+mn-ea"/>
              <a:ea typeface="+mn-ea"/>
              <a:cs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35940" y="4624070"/>
            <a:ext cx="705167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>
                <a:uFillTx/>
                <a:latin typeface="Times New Roman" panose="02020603050405020304" charset="0"/>
                <a:ea typeface="微软雅黑" panose="020B0503020204020204" charset="-122"/>
                <a:sym typeface="+mn-ea"/>
              </a:rPr>
              <a:t>Biryukov et al.extend Matsui's algorithm by using the partial (rather than the full) difference distribution table (pDDT)</a:t>
            </a:r>
            <a:r>
              <a:rPr lang="zh-CN" altLang="en-US">
                <a:uFillTx/>
                <a:latin typeface="Times New Roman" panose="02020603050405020304" charset="0"/>
                <a:ea typeface="微软雅黑" panose="020B0503020204020204" charset="-122"/>
                <a:sym typeface="+mn-ea"/>
              </a:rPr>
              <a:t>部分差异分布表</a:t>
            </a:r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535940" y="3889375"/>
            <a:ext cx="667512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 b="1">
                <a:solidFill>
                  <a:schemeClr val="tx2"/>
                </a:solidFill>
                <a:uFillTx/>
                <a:latin typeface="Times New Roman" panose="02020603050405020304" charset="0"/>
                <a:ea typeface="微软雅黑" panose="020B0503020204020204" charset="-122"/>
                <a:cs typeface="+mj-cs"/>
                <a:sym typeface="+mn-ea"/>
              </a:rPr>
              <a:t> 分支定界深度优先搜索算法</a:t>
            </a:r>
            <a:r>
              <a:rPr lang="zh-CN" altLang="en-US" sz="2800" b="1">
                <a:solidFill>
                  <a:schemeClr val="tx2"/>
                </a:solidFill>
                <a:uFillTx/>
                <a:latin typeface="Times New Roman" panose="02020603050405020304" charset="0"/>
                <a:ea typeface="微软雅黑" panose="020B0503020204020204" charset="-122"/>
                <a:cs typeface="+mj-cs"/>
                <a:sym typeface="+mn-ea"/>
              </a:rPr>
              <a:t>的拓展</a:t>
            </a:r>
            <a:endParaRPr lang="zh-CN" altLang="en-US" sz="2800" b="1">
              <a:solidFill>
                <a:schemeClr val="tx2"/>
              </a:solidFill>
              <a:uFillTx/>
              <a:latin typeface="Times New Roman" panose="02020603050405020304" charset="0"/>
              <a:ea typeface="微软雅黑" panose="020B0503020204020204" charset="-122"/>
              <a:cs typeface="+mj-cs"/>
              <a:sym typeface="+mn-e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zh-CN"/>
              <a:t>Mouha's method</a:t>
            </a:r>
            <a:endParaRPr lang="en-US" altLang="zh-CN"/>
          </a:p>
          <a:p>
            <a:r>
              <a:rPr lang="en-US" altLang="zh-CN"/>
              <a:t>Sun's method</a:t>
            </a:r>
            <a:endParaRPr lang="en-US" altLang="zh-CN"/>
          </a:p>
        </p:txBody>
      </p:sp>
      <p:sp>
        <p:nvSpPr>
          <p:cNvPr id="4" name="文本框 3"/>
          <p:cNvSpPr txBox="1"/>
          <p:nvPr/>
        </p:nvSpPr>
        <p:spPr>
          <a:xfrm>
            <a:off x="431165" y="1149985"/>
            <a:ext cx="667512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3200" b="1">
                <a:solidFill>
                  <a:schemeClr val="tx2"/>
                </a:solidFill>
                <a:uFillTx/>
                <a:latin typeface="Times New Roman" panose="02020603050405020304" charset="0"/>
                <a:ea typeface="微软雅黑" panose="020B0503020204020204" charset="-122"/>
                <a:cs typeface="+mj-cs"/>
                <a:sym typeface="+mn-ea"/>
              </a:rPr>
              <a:t>MILP</a:t>
            </a:r>
            <a:r>
              <a:rPr lang="zh-CN" altLang="en-US" sz="3200" b="1">
                <a:solidFill>
                  <a:schemeClr val="tx2"/>
                </a:solidFill>
                <a:uFillTx/>
                <a:latin typeface="Times New Roman" panose="02020603050405020304" charset="0"/>
                <a:ea typeface="微软雅黑" panose="020B0503020204020204" charset="-122"/>
                <a:cs typeface="+mj-cs"/>
                <a:sym typeface="+mn-ea"/>
              </a:rPr>
              <a:t>建模</a:t>
            </a:r>
            <a:endParaRPr lang="zh-CN" altLang="en-US" sz="3200" b="1">
              <a:solidFill>
                <a:schemeClr val="tx2"/>
              </a:solidFill>
              <a:uFillTx/>
              <a:latin typeface="Times New Roman" panose="02020603050405020304" charset="0"/>
              <a:ea typeface="微软雅黑" panose="020B0503020204020204" charset="-122"/>
              <a:cs typeface="+mj-cs"/>
              <a:sym typeface="+mn-e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00" y="1814830"/>
            <a:ext cx="10972800" cy="4311650"/>
          </a:xfrm>
        </p:spPr>
        <p:txBody>
          <a:bodyPr/>
          <a:p>
            <a:r>
              <a:rPr lang="zh-CN" altLang="en-US" sz="2400"/>
              <a:t>对输入输出差分，引入一个新变量</a:t>
            </a:r>
            <a:r>
              <a:rPr lang="en-US" altLang="zh-CN" sz="2400"/>
              <a:t>xi</a:t>
            </a:r>
            <a:endParaRPr lang="en-US" altLang="zh-CN" sz="2400"/>
          </a:p>
          <a:p>
            <a:pPr marL="0" indent="0">
              <a:buNone/>
            </a:pPr>
            <a:endParaRPr lang="en-US" altLang="zh-CN" sz="2400"/>
          </a:p>
          <a:p>
            <a:pPr marL="0" indent="0">
              <a:buNone/>
            </a:pPr>
            <a:endParaRPr lang="en-US" altLang="zh-CN" sz="2400"/>
          </a:p>
          <a:p>
            <a:pPr marL="0" indent="0">
              <a:buNone/>
            </a:pPr>
            <a:endParaRPr lang="en-US" altLang="zh-CN" sz="2400"/>
          </a:p>
          <a:p>
            <a:pPr marL="0" indent="0">
              <a:buNone/>
            </a:pPr>
            <a:endParaRPr lang="en-US" altLang="zh-CN" sz="2400"/>
          </a:p>
          <a:p>
            <a:r>
              <a:rPr lang="zh-CN" altLang="en-US" sz="2400" dirty="0">
                <a:sym typeface="+mn-ea"/>
              </a:rPr>
              <a:t>对于每个</a:t>
            </a:r>
            <a:r>
              <a:rPr lang="en-US" altLang="zh-CN" sz="2400" dirty="0">
                <a:sym typeface="+mn-ea"/>
              </a:rPr>
              <a:t>S</a:t>
            </a:r>
            <a:r>
              <a:rPr lang="zh-CN" altLang="en-US" sz="2400" dirty="0">
                <a:sym typeface="+mn-ea"/>
              </a:rPr>
              <a:t>盒，引入一个</a:t>
            </a:r>
            <a:r>
              <a:rPr lang="en-US" altLang="zh-CN" sz="2400" dirty="0">
                <a:sym typeface="+mn-ea"/>
              </a:rPr>
              <a:t>0-1</a:t>
            </a:r>
            <a:r>
              <a:rPr lang="zh-CN" altLang="en-US" sz="2400" dirty="0">
                <a:sym typeface="+mn-ea"/>
              </a:rPr>
              <a:t>变量使得</a:t>
            </a:r>
            <a:endParaRPr lang="en-US" altLang="zh-CN" sz="2400" dirty="0"/>
          </a:p>
          <a:p>
            <a:endParaRPr lang="en-US" altLang="zh-CN" sz="2400"/>
          </a:p>
          <a:p>
            <a:endParaRPr lang="en-US" altLang="zh-CN" sz="2400"/>
          </a:p>
          <a:p>
            <a:pPr marL="457200" lvl="1" indent="0">
              <a:buNone/>
            </a:pPr>
            <a:r>
              <a:rPr lang="en-US" altLang="zh-CN" sz="1800">
                <a:uFillTx/>
                <a:latin typeface="Times New Roman" panose="02020603050405020304" charset="0"/>
                <a:ea typeface="微软雅黑" panose="020B0503020204020204" charset="-122"/>
              </a:rPr>
              <a:t>	</a:t>
            </a:r>
            <a:endParaRPr lang="en-US" altLang="zh-CN" sz="1800">
              <a:uFillTx/>
              <a:latin typeface="Times New Roman" panose="02020603050405020304" charset="0"/>
              <a:ea typeface="微软雅黑" panose="020B0503020204020204" charset="-122"/>
            </a:endParaRPr>
          </a:p>
          <a:p>
            <a:pPr marL="457200" lvl="1" indent="0">
              <a:buNone/>
            </a:pPr>
            <a:r>
              <a:rPr lang="en-US" altLang="zh-CN" sz="1800">
                <a:uFillTx/>
                <a:latin typeface="Times New Roman" panose="02020603050405020304" charset="0"/>
                <a:ea typeface="微软雅黑" panose="020B0503020204020204" charset="-122"/>
              </a:rPr>
              <a:t>	</a:t>
            </a:r>
            <a:r>
              <a:rPr lang="zh-CN" altLang="en-US" sz="1800">
                <a:uFillTx/>
                <a:latin typeface="Times New Roman" panose="02020603050405020304" charset="0"/>
                <a:ea typeface="微软雅黑" panose="020B0503020204020204" charset="-122"/>
              </a:rPr>
              <a:t>   </a:t>
            </a:r>
            <a:endParaRPr lang="zh-CN" altLang="en-US" sz="1800">
              <a:uFillTx/>
              <a:latin typeface="Times New Roman" panose="02020603050405020304" charset="0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04495" y="1123315"/>
            <a:ext cx="667512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3200" b="1">
                <a:solidFill>
                  <a:schemeClr val="tx2"/>
                </a:solidFill>
                <a:uFillTx/>
                <a:latin typeface="Times New Roman" panose="02020603050405020304" charset="0"/>
                <a:ea typeface="微软雅黑" panose="020B0503020204020204" charset="-122"/>
                <a:cs typeface="+mj-cs"/>
                <a:sym typeface="+mn-ea"/>
              </a:rPr>
              <a:t>Sun's method</a:t>
            </a:r>
            <a:endParaRPr lang="en-US" sz="3200" b="1">
              <a:solidFill>
                <a:schemeClr val="tx2"/>
              </a:solidFill>
              <a:uFillTx/>
              <a:latin typeface="Times New Roman" panose="02020603050405020304" charset="0"/>
              <a:ea typeface="微软雅黑" panose="020B0503020204020204" charset="-122"/>
              <a:cs typeface="+mj-cs"/>
              <a:sym typeface="+mn-ea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1548130" y="2600325"/>
            <a:ext cx="7212330" cy="935990"/>
            <a:chOff x="2213" y="3644"/>
            <a:chExt cx="11358" cy="1474"/>
          </a:xfrm>
        </p:grpSpPr>
        <p:graphicFrame>
          <p:nvGraphicFramePr>
            <p:cNvPr id="5" name="对象 4">
              <a:hlinkClick r:id="" action="ppaction://ole?verb="/>
            </p:cNvPr>
            <p:cNvGraphicFramePr>
              <a:graphicFrameLocks noChangeAspect="1"/>
            </p:cNvGraphicFramePr>
            <p:nvPr/>
          </p:nvGraphicFramePr>
          <p:xfrm>
            <a:off x="2213" y="4011"/>
            <a:ext cx="523" cy="68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25" name="" r:id="rId1" imgW="165100" imgH="215900" progId="Equation.KSEE3">
                    <p:embed/>
                  </p:oleObj>
                </mc:Choice>
                <mc:Fallback>
                  <p:oleObj name="" r:id="rId1" imgW="165100" imgH="215900" progId="Equation.KSEE3">
                    <p:embed/>
                    <p:pic>
                      <p:nvPicPr>
                        <p:cNvPr id="0" name="图片 1024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2213" y="4011"/>
                          <a:ext cx="523" cy="685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" name="左大括号 5"/>
            <p:cNvSpPr/>
            <p:nvPr/>
          </p:nvSpPr>
          <p:spPr>
            <a:xfrm>
              <a:off x="2990" y="3780"/>
              <a:ext cx="717" cy="1147"/>
            </a:xfrm>
            <a:prstGeom prst="leftBrac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" name="文本框 6"/>
            <p:cNvSpPr txBox="1"/>
            <p:nvPr/>
          </p:nvSpPr>
          <p:spPr>
            <a:xfrm>
              <a:off x="3961" y="3644"/>
              <a:ext cx="9611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/>
                <a:t>1</a:t>
              </a:r>
              <a:r>
                <a:rPr lang="zh-CN" altLang="en-US"/>
                <a:t>，</a:t>
              </a:r>
              <a:r>
                <a:rPr lang="en-US" altLang="zh-CN"/>
                <a:t> the XOR difference at this position is 1  </a:t>
              </a:r>
              <a:endParaRPr lang="en-US" altLang="zh-CN"/>
            </a:p>
          </p:txBody>
        </p:sp>
        <p:sp>
          <p:nvSpPr>
            <p:cNvPr id="8" name="文本框 7"/>
            <p:cNvSpPr txBox="1"/>
            <p:nvPr/>
          </p:nvSpPr>
          <p:spPr>
            <a:xfrm>
              <a:off x="3961" y="4538"/>
              <a:ext cx="6932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t>0</a:t>
              </a:r>
              <a:r>
                <a:rPr lang="zh-CN"/>
                <a:t>，</a:t>
              </a:r>
              <a:r>
                <a:t> if there is no difference</a:t>
              </a:r>
            </a:p>
          </p:txBody>
        </p:sp>
      </p:grpSp>
      <p:pic>
        <p:nvPicPr>
          <p:cNvPr id="10" name="图片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8130" y="4639310"/>
            <a:ext cx="6457950" cy="113728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404495" y="1123315"/>
            <a:ext cx="667512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3200" b="1">
                <a:solidFill>
                  <a:schemeClr val="tx2"/>
                </a:solidFill>
                <a:uFillTx/>
                <a:latin typeface="Times New Roman" panose="02020603050405020304" charset="0"/>
                <a:ea typeface="微软雅黑" panose="020B0503020204020204" charset="-122"/>
                <a:cs typeface="+mj-cs"/>
                <a:sym typeface="+mn-ea"/>
              </a:rPr>
              <a:t>Sun's method</a:t>
            </a:r>
            <a:endParaRPr lang="en-US" sz="3200" b="1">
              <a:solidFill>
                <a:schemeClr val="tx2"/>
              </a:solidFill>
              <a:uFillTx/>
              <a:latin typeface="Times New Roman" panose="02020603050405020304" charset="0"/>
              <a:ea typeface="微软雅黑" panose="020B0503020204020204" charset="-122"/>
              <a:cs typeface="+mj-cs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14350" y="1963420"/>
            <a:ext cx="11228070" cy="30460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zh-CN" altLang="en-US" sz="2400">
                <a:latin typeface="+mn-lt"/>
                <a:ea typeface="+mn-ea"/>
                <a:sym typeface="+mn-ea"/>
              </a:rPr>
              <a:t>Objective Function、</a:t>
            </a:r>
            <a:endParaRPr lang="zh-CN" altLang="en-US" sz="2400">
              <a:latin typeface="+mn-lt"/>
              <a:ea typeface="+mn-ea"/>
              <a:sym typeface="+mn-ea"/>
            </a:endParaRPr>
          </a:p>
          <a:p>
            <a:pPr algn="l">
              <a:buFont typeface="Arial" panose="020B0604020202020204" pitchFamily="34" charset="0"/>
            </a:pPr>
            <a:r>
              <a:rPr lang="en-US" altLang="zh-CN" sz="2400">
                <a:sym typeface="+mn-ea"/>
              </a:rPr>
              <a:t>	</a:t>
            </a:r>
            <a:r>
              <a:rPr lang="zh-CN" altLang="en-US" sz="2400">
                <a:sym typeface="+mn-ea"/>
              </a:rPr>
              <a:t>由活跃</a:t>
            </a:r>
            <a:r>
              <a:rPr lang="en-US" altLang="zh-CN" sz="2400">
                <a:sym typeface="+mn-ea"/>
              </a:rPr>
              <a:t>S</a:t>
            </a:r>
            <a:r>
              <a:rPr lang="zh-CN" altLang="en-US" sz="2400">
                <a:sym typeface="+mn-ea"/>
              </a:rPr>
              <a:t>盒数量的下界来确定差分路径的上界</a:t>
            </a:r>
            <a:endParaRPr lang="zh-CN" altLang="en-US" sz="240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zh-CN" sz="2400">
                <a:latin typeface="+mn-lt"/>
                <a:ea typeface="+mn-ea"/>
                <a:sym typeface="+mn-ea"/>
              </a:rPr>
              <a:t>Constraints</a:t>
            </a:r>
            <a:endParaRPr lang="en-US" altLang="zh-CN" sz="2400">
              <a:latin typeface="+mn-lt"/>
              <a:ea typeface="+mn-ea"/>
              <a:sym typeface="+mn-ea"/>
            </a:endParaRP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zh-CN" altLang="en-US" sz="2400">
                <a:latin typeface="+mn-lt"/>
                <a:ea typeface="+mn-ea"/>
                <a:sym typeface="+mn-ea"/>
              </a:rPr>
              <a:t>对于每个</a:t>
            </a:r>
            <a:r>
              <a:rPr lang="zh-CN" altLang="en-US" sz="2400">
                <a:latin typeface="+mn-lt"/>
                <a:ea typeface="+mn-ea"/>
                <a:sym typeface="+mn-ea"/>
              </a:rPr>
              <a:t>异或操作</a:t>
            </a:r>
            <a:endParaRPr lang="en-US" altLang="zh-CN" sz="2400">
              <a:latin typeface="+mn-lt"/>
              <a:ea typeface="+mn-ea"/>
              <a:sym typeface="+mn-ea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zh-CN" altLang="en-US" sz="2400">
              <a:latin typeface="+mn-lt"/>
              <a:ea typeface="+mn-ea"/>
              <a:sym typeface="+mn-ea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zh-CN" altLang="en-US" sz="2400">
              <a:latin typeface="+mn-lt"/>
              <a:ea typeface="+mn-ea"/>
              <a:sym typeface="+mn-ea"/>
            </a:endParaRPr>
          </a:p>
          <a:p>
            <a:pPr algn="l"/>
            <a:endParaRPr lang="zh-CN" altLang="en-US" sz="2400">
              <a:latin typeface="+mn-lt"/>
              <a:ea typeface="+mn-ea"/>
              <a:sym typeface="+mn-ea"/>
            </a:endParaRPr>
          </a:p>
          <a:p>
            <a:endParaRPr lang="zh-CN" altLang="en-US" sz="240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00755" y="1963420"/>
            <a:ext cx="1106805" cy="46990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7210" y="3627120"/>
            <a:ext cx="9519285" cy="138239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00170" y="2999105"/>
            <a:ext cx="2267585" cy="51244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404495" y="1123315"/>
            <a:ext cx="667512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3200" b="1">
                <a:solidFill>
                  <a:schemeClr val="tx2"/>
                </a:solidFill>
                <a:uFillTx/>
                <a:latin typeface="Times New Roman" panose="02020603050405020304" charset="0"/>
                <a:ea typeface="微软雅黑" panose="020B0503020204020204" charset="-122"/>
                <a:cs typeface="+mj-cs"/>
                <a:sym typeface="+mn-ea"/>
              </a:rPr>
              <a:t>Sun's method</a:t>
            </a:r>
            <a:endParaRPr lang="en-US" sz="3200" b="1">
              <a:solidFill>
                <a:schemeClr val="tx2"/>
              </a:solidFill>
              <a:uFillTx/>
              <a:latin typeface="Times New Roman" panose="02020603050405020304" charset="0"/>
              <a:ea typeface="微软雅黑" panose="020B0503020204020204" charset="-122"/>
              <a:cs typeface="+mj-cs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81965" y="1706880"/>
            <a:ext cx="11228070" cy="1938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zh-CN" sz="2400">
                <a:latin typeface="+mn-lt"/>
                <a:ea typeface="+mn-ea"/>
                <a:sym typeface="+mn-ea"/>
              </a:rPr>
              <a:t>Constraints</a:t>
            </a:r>
            <a:endParaRPr lang="en-US" altLang="zh-CN" sz="2400">
              <a:latin typeface="+mn-lt"/>
              <a:ea typeface="+mn-ea"/>
              <a:sym typeface="+mn-ea"/>
            </a:endParaRP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zh-CN" altLang="en-US" sz="2400">
                <a:latin typeface="+mn-lt"/>
                <a:ea typeface="+mn-ea"/>
                <a:sym typeface="+mn-ea"/>
              </a:rPr>
              <a:t>假设                                                   是</a:t>
            </a:r>
            <a:r>
              <a:rPr lang="en-US" altLang="zh-CN" sz="2400">
                <a:latin typeface="+mn-lt"/>
                <a:ea typeface="+mn-ea"/>
                <a:sym typeface="+mn-ea"/>
              </a:rPr>
              <a:t>w*vS</a:t>
            </a:r>
            <a:r>
              <a:rPr lang="zh-CN" altLang="en-US" sz="2400">
                <a:latin typeface="+mn-lt"/>
                <a:ea typeface="+mn-ea"/>
                <a:sym typeface="+mn-ea"/>
              </a:rPr>
              <a:t>盒的输入差分盒输出差分</a:t>
            </a:r>
            <a:endParaRPr lang="zh-CN" altLang="en-US" sz="2400">
              <a:latin typeface="+mn-lt"/>
              <a:ea typeface="+mn-ea"/>
              <a:sym typeface="+mn-ea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zh-CN" altLang="en-US" sz="2400">
              <a:latin typeface="+mn-lt"/>
              <a:ea typeface="+mn-ea"/>
              <a:sym typeface="+mn-ea"/>
            </a:endParaRPr>
          </a:p>
          <a:p>
            <a:pPr algn="l"/>
            <a:endParaRPr lang="zh-CN" altLang="en-US" sz="2400">
              <a:latin typeface="+mn-lt"/>
              <a:ea typeface="+mn-ea"/>
              <a:sym typeface="+mn-ea"/>
            </a:endParaRPr>
          </a:p>
          <a:p>
            <a:endParaRPr lang="zh-CN" altLang="en-US" sz="240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34870" y="2105025"/>
            <a:ext cx="4187190" cy="33210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1285" y="2860675"/>
            <a:ext cx="8392795" cy="2789555"/>
          </a:xfrm>
          <a:prstGeom prst="rect">
            <a:avLst/>
          </a:prstGeom>
        </p:spPr>
      </p:pic>
      <p:grpSp>
        <p:nvGrpSpPr>
          <p:cNvPr id="8" name="组合 7"/>
          <p:cNvGrpSpPr/>
          <p:nvPr/>
        </p:nvGrpSpPr>
        <p:grpSpPr>
          <a:xfrm>
            <a:off x="2530475" y="2491105"/>
            <a:ext cx="6418580" cy="708660"/>
            <a:chOff x="3127" y="4488"/>
            <a:chExt cx="10220" cy="1116"/>
          </a:xfrm>
        </p:grpSpPr>
        <p:sp>
          <p:nvSpPr>
            <p:cNvPr id="7" name="文本框 6"/>
            <p:cNvSpPr txBox="1"/>
            <p:nvPr/>
          </p:nvSpPr>
          <p:spPr>
            <a:xfrm>
              <a:off x="3127" y="4588"/>
              <a:ext cx="10220" cy="10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dirty="0">
                  <a:sym typeface="+mn-ea"/>
                </a:rPr>
                <a:t>首先当且仅当输入差分非</a:t>
              </a:r>
              <a:r>
                <a:rPr lang="en-US" altLang="zh-CN" dirty="0">
                  <a:sym typeface="+mn-ea"/>
                </a:rPr>
                <a:t>0</a:t>
              </a:r>
              <a:r>
                <a:rPr lang="zh-CN" altLang="en-US" dirty="0">
                  <a:sym typeface="+mn-ea"/>
                </a:rPr>
                <a:t>时             ，所以 有如下式子：</a:t>
              </a:r>
              <a:endParaRPr lang="en-US" altLang="zh-CN" dirty="0"/>
            </a:p>
            <a:p>
              <a:endParaRPr lang="zh-CN" altLang="en-US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" name="文本框 10">
                  <a:extLst>
                    <a:ext uri="{FF2B5EF4-FFF2-40B4-BE49-F238E27FC236}">
                      <ele/>
                    </a:ext>
                  </a:extLst>
                </p:cNvPr>
                <p:cNvSpPr txBox="1"/>
                <p:nvPr/>
              </p:nvSpPr>
              <p:spPr>
                <a:xfrm>
                  <a:off x="2366506" y="2276488"/>
                  <a:ext cx="967821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zh-CN" altLang="en-US" i="1" smtClean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zh-CN" altLang="en-US" i="0">
                            <a:latin typeface="Cambria Math" panose="02040503050406030204" pitchFamily="18" charset="0"/>
                          </a:rPr>
                          <m:t>=1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>
            <p:sp>
              <p:nvSpPr>
                <p:cNvPr id="11" name="文本框 1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11" y="4488"/>
                  <a:ext cx="1524" cy="582"/>
                </a:xfrm>
                <a:prstGeom prst="rect">
                  <a:avLst/>
                </a:prstGeom>
                <a:blipFill rotWithShape="1">
                  <a:blip r:embed="rId3"/>
                  <a:stretch>
                    <a:fillRect/>
                  </a:stretch>
                </a:blipFill>
              </p:spPr>
              <p:txBody>
                <a:bodyPr/>
                <a:p>
                  <a:r>
                    <a:rPr lang="zh-CN" altLang="en-US">
                      <a:noFill/>
                    </a:rPr>
                    <a:t> </a:t>
                  </a:r>
                  <a:endParaRPr lang="zh-CN" altLang="en-US">
                    <a:noFill/>
                  </a:endParaRPr>
                </a:p>
              </p:txBody>
            </p:sp>
          </mc:Fallback>
        </mc:AlternateContent>
      </p:grpSp>
      <p:sp>
        <p:nvSpPr>
          <p:cNvPr id="12" name="文本框 11"/>
          <p:cNvSpPr txBox="1"/>
          <p:nvPr/>
        </p:nvSpPr>
        <p:spPr>
          <a:xfrm>
            <a:off x="1800225" y="5758180"/>
            <a:ext cx="81756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ds = {0,1} , Bs</a:t>
            </a:r>
            <a:r>
              <a:rPr lang="zh-CN" altLang="en-US"/>
              <a:t>是</a:t>
            </a:r>
            <a:r>
              <a:rPr lang="en-US" altLang="zh-CN"/>
              <a:t>S</a:t>
            </a:r>
            <a:r>
              <a:rPr lang="zh-CN" altLang="en-US"/>
              <a:t>盒的分支数</a:t>
            </a:r>
            <a:r>
              <a:rPr lang="en-US" altLang="zh-CN"/>
              <a:t> = </a:t>
            </a:r>
            <a:endParaRPr lang="en-US" altLang="zh-CN"/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5255" y="5758180"/>
            <a:ext cx="5046980" cy="3683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404495" y="1123315"/>
            <a:ext cx="667512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3200" b="1">
                <a:solidFill>
                  <a:schemeClr val="tx2"/>
                </a:solidFill>
                <a:uFillTx/>
                <a:latin typeface="Times New Roman" panose="02020603050405020304" charset="0"/>
                <a:ea typeface="微软雅黑" panose="020B0503020204020204" charset="-122"/>
                <a:cs typeface="+mj-cs"/>
                <a:sym typeface="+mn-ea"/>
              </a:rPr>
              <a:t>Sun's method</a:t>
            </a:r>
            <a:endParaRPr lang="en-US" sz="3200" b="1">
              <a:solidFill>
                <a:schemeClr val="tx2"/>
              </a:solidFill>
              <a:uFillTx/>
              <a:latin typeface="Times New Roman" panose="02020603050405020304" charset="0"/>
              <a:ea typeface="微软雅黑" panose="020B0503020204020204" charset="-122"/>
              <a:cs typeface="+mj-cs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81965" y="1706880"/>
            <a:ext cx="11228070" cy="30460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zh-CN" sz="2400">
                <a:latin typeface="+mn-lt"/>
                <a:ea typeface="+mn-ea"/>
                <a:sym typeface="+mn-ea"/>
              </a:rPr>
              <a:t>Constraints</a:t>
            </a:r>
            <a:endParaRPr lang="en-US" altLang="zh-CN" sz="2400">
              <a:latin typeface="+mn-lt"/>
              <a:ea typeface="+mn-ea"/>
              <a:sym typeface="+mn-ea"/>
            </a:endParaRPr>
          </a:p>
          <a:p>
            <a:pPr lvl="2" indent="-342900" algn="l">
              <a:buFont typeface="Arial" panose="020B0604020202020204" pitchFamily="34" charset="0"/>
              <a:buChar char="•"/>
            </a:pPr>
            <a:r>
              <a:rPr lang="zh-CN" altLang="en-US" sz="2400">
                <a:latin typeface="+mn-lt"/>
                <a:ea typeface="+mn-ea"/>
                <a:sym typeface="+mn-ea"/>
              </a:rPr>
              <a:t>对于双射S盒而言，非0输入必然导致非0输出，反之亦然。</a:t>
            </a:r>
            <a:endParaRPr lang="zh-CN" altLang="en-US" sz="2400">
              <a:latin typeface="+mn-lt"/>
              <a:ea typeface="+mn-ea"/>
              <a:sym typeface="+mn-ea"/>
            </a:endParaRPr>
          </a:p>
          <a:p>
            <a:pPr lvl="1" algn="l">
              <a:buFont typeface="Arial" panose="020B0604020202020204" pitchFamily="34" charset="0"/>
            </a:pPr>
            <a:endParaRPr lang="en-US" altLang="zh-CN" sz="2400">
              <a:latin typeface="+mn-lt"/>
              <a:ea typeface="+mn-ea"/>
              <a:sym typeface="+mn-ea"/>
            </a:endParaRPr>
          </a:p>
          <a:p>
            <a:pPr lvl="1" algn="l">
              <a:buFont typeface="Arial" panose="020B0604020202020204" pitchFamily="34" charset="0"/>
            </a:pPr>
            <a:endParaRPr lang="en-US" altLang="zh-CN" sz="2400">
              <a:latin typeface="+mn-lt"/>
              <a:ea typeface="+mn-ea"/>
              <a:sym typeface="+mn-ea"/>
            </a:endParaRPr>
          </a:p>
          <a:p>
            <a:pPr lvl="1" algn="l">
              <a:buFont typeface="Arial" panose="020B0604020202020204" pitchFamily="34" charset="0"/>
            </a:pPr>
            <a:endParaRPr lang="en-US" altLang="zh-CN" sz="2400">
              <a:latin typeface="+mn-lt"/>
              <a:ea typeface="+mn-ea"/>
              <a:sym typeface="+mn-ea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zh-CN" altLang="en-US" sz="2400">
              <a:latin typeface="+mn-lt"/>
              <a:ea typeface="+mn-ea"/>
              <a:sym typeface="+mn-ea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zh-CN" altLang="en-US" sz="2400">
              <a:latin typeface="+mn-lt"/>
              <a:ea typeface="+mn-ea"/>
              <a:sym typeface="+mn-ea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zh-CN" sz="2400"/>
              <a:t>Then....</a:t>
            </a:r>
            <a:endParaRPr lang="en-US" altLang="zh-CN" sz="240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38045" y="2525395"/>
            <a:ext cx="5886450" cy="143002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771525" y="4752975"/>
            <a:ext cx="10291445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buClrTx/>
              <a:buSzTx/>
              <a:buNone/>
            </a:pPr>
            <a:r>
              <a:rPr lang="zh-CN" altLang="en-US" sz="1800">
                <a:uFillTx/>
                <a:latin typeface="Times New Roman" panose="02020603050405020304" charset="0"/>
                <a:ea typeface="微软雅黑" panose="020B0503020204020204" charset="-122"/>
              </a:rPr>
              <a:t>将每一个可能的差分模式                       ——&gt;                            看成一个w+v向量 (x0,...,xω−1,</a:t>
            </a:r>
            <a:endParaRPr lang="zh-CN" altLang="en-US" sz="1800">
              <a:uFillTx/>
              <a:latin typeface="Times New Roman" panose="02020603050405020304" charset="0"/>
              <a:ea typeface="微软雅黑" panose="020B0503020204020204" charset="-122"/>
            </a:endParaRPr>
          </a:p>
          <a:p>
            <a:pPr algn="l">
              <a:buClrTx/>
              <a:buSzTx/>
              <a:buNone/>
            </a:pPr>
            <a:r>
              <a:rPr lang="zh-CN" altLang="en-US" sz="1800">
                <a:uFillTx/>
                <a:latin typeface="Times New Roman" panose="02020603050405020304" charset="0"/>
                <a:ea typeface="微软雅黑" panose="020B0503020204020204" charset="-122"/>
              </a:rPr>
              <a:t>y0,...,yν−1)                             ，并计算所有可能的差分模式的凸包的H表达。利用贪心算法，在闭包中选择一些最优的不等式来描述S盒的差分行为，通过这些不等式来切割不可能的差分，缩紧</a:t>
            </a:r>
            <a:r>
              <a:rPr lang="zh-CN" altLang="en-US" sz="1800">
                <a:uFillTx/>
                <a:latin typeface="Times New Roman" panose="02020603050405020304" charset="0"/>
                <a:ea typeface="微软雅黑" panose="020B0503020204020204" charset="-122"/>
              </a:rPr>
              <a:t>可行域。</a:t>
            </a:r>
            <a:endParaRPr lang="zh-CN" altLang="en-US" sz="1800">
              <a:uFillTx/>
              <a:latin typeface="Times New Roman" panose="02020603050405020304" charset="0"/>
              <a:ea typeface="微软雅黑" panose="020B0503020204020204" charset="-122"/>
            </a:endParaRPr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5040" y="4681855"/>
            <a:ext cx="1742440" cy="38544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4960" y="4681855"/>
            <a:ext cx="1684655" cy="38544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79930" y="5067300"/>
            <a:ext cx="1699895" cy="28321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404495" y="1123315"/>
            <a:ext cx="1137412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3200" b="1">
                <a:solidFill>
                  <a:schemeClr val="tx2"/>
                </a:solidFill>
                <a:uFillTx/>
                <a:latin typeface="Times New Roman" panose="02020603050405020304" charset="0"/>
                <a:ea typeface="微软雅黑" panose="020B0503020204020204" charset="-122"/>
                <a:cs typeface="+mj-cs"/>
                <a:sym typeface="+mn-ea"/>
              </a:rPr>
              <a:t>Mouha's method &amp;</a:t>
            </a:r>
            <a:r>
              <a:rPr lang="en-US" altLang="zh-CN" sz="3200">
                <a:sym typeface="+mn-ea"/>
              </a:rPr>
              <a:t> </a:t>
            </a:r>
            <a:r>
              <a:rPr lang="en-US" sz="3200" b="1">
                <a:solidFill>
                  <a:schemeClr val="tx2"/>
                </a:solidFill>
                <a:uFillTx/>
                <a:latin typeface="Times New Roman" panose="02020603050405020304" charset="0"/>
                <a:ea typeface="微软雅黑" panose="020B0503020204020204" charset="-122"/>
                <a:cs typeface="+mj-cs"/>
                <a:sym typeface="+mn-ea"/>
              </a:rPr>
              <a:t>Sun's method —— </a:t>
            </a:r>
            <a:r>
              <a:rPr lang="zh-CN" altLang="en-US" sz="3200" b="1">
                <a:solidFill>
                  <a:schemeClr val="tx2"/>
                </a:solidFill>
                <a:uFillTx/>
                <a:latin typeface="Times New Roman" panose="02020603050405020304" charset="0"/>
                <a:ea typeface="微软雅黑" panose="020B0503020204020204" charset="-122"/>
                <a:cs typeface="+mj-cs"/>
                <a:sym typeface="+mn-ea"/>
              </a:rPr>
              <a:t>确定</a:t>
            </a:r>
            <a:r>
              <a:rPr lang="en-US" altLang="zh-CN" sz="3200" b="1">
                <a:solidFill>
                  <a:schemeClr val="tx2"/>
                </a:solidFill>
                <a:uFillTx/>
                <a:latin typeface="Times New Roman" panose="02020603050405020304" charset="0"/>
                <a:ea typeface="微软雅黑" panose="020B0503020204020204" charset="-122"/>
                <a:cs typeface="+mj-cs"/>
                <a:sym typeface="+mn-ea"/>
              </a:rPr>
              <a:t>S</a:t>
            </a:r>
            <a:r>
              <a:rPr lang="zh-CN" altLang="en-US" sz="3200" b="1">
                <a:solidFill>
                  <a:schemeClr val="tx2"/>
                </a:solidFill>
                <a:uFillTx/>
                <a:latin typeface="Times New Roman" panose="02020603050405020304" charset="0"/>
                <a:ea typeface="微软雅黑" panose="020B0503020204020204" charset="-122"/>
                <a:cs typeface="+mj-cs"/>
                <a:sym typeface="+mn-ea"/>
              </a:rPr>
              <a:t>活跃</a:t>
            </a:r>
            <a:r>
              <a:rPr lang="en-US" altLang="zh-CN" sz="3200" b="1">
                <a:solidFill>
                  <a:schemeClr val="tx2"/>
                </a:solidFill>
                <a:uFillTx/>
                <a:latin typeface="Times New Roman" panose="02020603050405020304" charset="0"/>
                <a:ea typeface="微软雅黑" panose="020B0503020204020204" charset="-122"/>
                <a:cs typeface="+mj-cs"/>
                <a:sym typeface="+mn-ea"/>
              </a:rPr>
              <a:t>S</a:t>
            </a:r>
            <a:r>
              <a:rPr lang="zh-CN" altLang="en-US" sz="3200" b="1">
                <a:solidFill>
                  <a:schemeClr val="tx2"/>
                </a:solidFill>
                <a:uFillTx/>
                <a:latin typeface="Times New Roman" panose="02020603050405020304" charset="0"/>
                <a:ea typeface="微软雅黑" panose="020B0503020204020204" charset="-122"/>
                <a:cs typeface="+mj-cs"/>
                <a:sym typeface="+mn-ea"/>
              </a:rPr>
              <a:t>盒的下界</a:t>
            </a:r>
            <a:endParaRPr lang="zh-CN" altLang="en-US" sz="3200" b="1">
              <a:solidFill>
                <a:schemeClr val="tx2"/>
              </a:solidFill>
              <a:uFillTx/>
              <a:latin typeface="Times New Roman" panose="02020603050405020304" charset="0"/>
              <a:ea typeface="微软雅黑" panose="020B0503020204020204" charset="-122"/>
              <a:cs typeface="+mj-cs"/>
              <a:sym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2550160"/>
            <a:ext cx="6196965" cy="293052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6965" y="1849755"/>
            <a:ext cx="5842000" cy="3939540"/>
          </a:xfrm>
          <a:prstGeom prst="rect">
            <a:avLst/>
          </a:prstGeom>
        </p:spPr>
      </p:pic>
      <p:cxnSp>
        <p:nvCxnSpPr>
          <p:cNvPr id="5" name="直接连接符 4"/>
          <p:cNvCxnSpPr/>
          <p:nvPr/>
        </p:nvCxnSpPr>
        <p:spPr>
          <a:xfrm>
            <a:off x="6128385" y="1793875"/>
            <a:ext cx="8890" cy="442595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zh-CN" altLang="en-US"/>
              <a:t>为什么要改进？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因为在之前的方法中，我们以活跃</a:t>
            </a:r>
            <a:r>
              <a:rPr lang="en-US" altLang="zh-CN"/>
              <a:t>S</a:t>
            </a:r>
            <a:r>
              <a:rPr lang="zh-CN" altLang="en-US"/>
              <a:t>盒的数量的下界去找差分路径概率的上界，以此来评估该密码算法是否安全。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这就导致有很多高概率但活跃</a:t>
            </a:r>
            <a:r>
              <a:rPr lang="en-US" altLang="zh-CN"/>
              <a:t>S</a:t>
            </a:r>
            <a:r>
              <a:rPr lang="zh-CN" altLang="en-US"/>
              <a:t>盒数量较多</a:t>
            </a:r>
            <a:r>
              <a:rPr lang="zh-CN" altLang="en-US"/>
              <a:t>的差分路径没有被找到。</a:t>
            </a:r>
            <a:endParaRPr lang="zh-CN" altLang="en-US"/>
          </a:p>
          <a:p>
            <a:pPr marL="0" indent="0">
              <a:buNone/>
            </a:pPr>
            <a:endParaRPr lang="zh-CN" altLang="en-US"/>
          </a:p>
          <a:p>
            <a:pPr marL="0" indent="0">
              <a:buNone/>
            </a:pPr>
            <a:endParaRPr lang="zh-CN" altLang="en-US"/>
          </a:p>
        </p:txBody>
      </p:sp>
      <p:sp>
        <p:nvSpPr>
          <p:cNvPr id="8" name="标题 7"/>
          <p:cNvSpPr>
            <a:spLocks noGrp="1"/>
          </p:cNvSpPr>
          <p:nvPr>
            <p:ph type="title"/>
          </p:nvPr>
        </p:nvSpPr>
        <p:spPr>
          <a:xfrm>
            <a:off x="549275" y="1047115"/>
            <a:ext cx="11094720" cy="913765"/>
          </a:xfrm>
        </p:spPr>
        <p:txBody>
          <a:bodyPr/>
          <a:p>
            <a:pPr algn="l"/>
            <a:r>
              <a:rPr lang="zh-CN" altLang="en-US">
                <a:uFillTx/>
                <a:latin typeface="Times New Roman" panose="02020603050405020304" charset="0"/>
                <a:ea typeface="微软雅黑" panose="020B0503020204020204" charset="-122"/>
                <a:sym typeface="+mn-ea"/>
              </a:rPr>
              <a:t>2.Techniques for Obtaining Better Characteristics</a:t>
            </a:r>
            <a:endParaRPr lang="zh-CN" alt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3055" y="1143000"/>
            <a:ext cx="10972800" cy="602615"/>
          </a:xfrm>
        </p:spPr>
        <p:txBody>
          <a:bodyPr/>
          <a:p>
            <a:r>
              <a:rPr lang="zh-CN" altLang="en-US" sz="2800"/>
              <a:t>Technique 1. Finding Characteristics with More Active S-Boxes</a:t>
            </a:r>
            <a:endParaRPr lang="zh-CN" altLang="en-US" sz="2800"/>
          </a:p>
        </p:txBody>
      </p:sp>
      <p:sp>
        <p:nvSpPr>
          <p:cNvPr id="5" name="文本框 4"/>
          <p:cNvSpPr txBox="1"/>
          <p:nvPr/>
        </p:nvSpPr>
        <p:spPr>
          <a:xfrm>
            <a:off x="458470" y="2124075"/>
            <a:ext cx="11083925" cy="34150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buClrTx/>
              <a:buSzTx/>
              <a:buFontTx/>
            </a:pPr>
            <a:r>
              <a:rPr lang="zh-CN" altLang="en-US" sz="1800">
                <a:uFillTx/>
                <a:latin typeface="Times New Roman" panose="02020603050405020304" charset="0"/>
                <a:ea typeface="微软雅黑" panose="020B0503020204020204" charset="-122"/>
                <a:sym typeface="+mn-ea"/>
              </a:rPr>
              <a:t>假设一条r轮差分路径中有NA个活跃的S盒，增加约束</a:t>
            </a:r>
            <a:endParaRPr lang="zh-CN" altLang="en-US" sz="1800">
              <a:uFillTx/>
              <a:latin typeface="Times New Roman" panose="02020603050405020304" charset="0"/>
              <a:ea typeface="微软雅黑" panose="020B0503020204020204" charset="-122"/>
            </a:endParaRPr>
          </a:p>
          <a:p>
            <a:pPr algn="l">
              <a:buClrTx/>
              <a:buSzTx/>
              <a:buFontTx/>
            </a:pPr>
            <a:endParaRPr lang="zh-CN" altLang="en-US" sz="1800">
              <a:uFillTx/>
              <a:latin typeface="Times New Roman" panose="02020603050405020304" charset="0"/>
              <a:ea typeface="微软雅黑" panose="020B0503020204020204" charset="-122"/>
            </a:endParaRPr>
          </a:p>
          <a:p>
            <a:pPr algn="l">
              <a:buClrTx/>
              <a:buSzTx/>
              <a:buFontTx/>
            </a:pPr>
            <a:r>
              <a:rPr lang="zh-CN" altLang="en-US" sz="1800">
                <a:uFillTx/>
                <a:latin typeface="Times New Roman" panose="02020603050405020304" charset="0"/>
                <a:ea typeface="微软雅黑" panose="020B0503020204020204" charset="-122"/>
              </a:rPr>
              <a:t>							</a:t>
            </a:r>
            <a:endParaRPr lang="zh-CN" altLang="en-US" sz="1800">
              <a:uFillTx/>
              <a:latin typeface="Times New Roman" panose="02020603050405020304" charset="0"/>
              <a:ea typeface="微软雅黑" panose="020B0503020204020204" charset="-122"/>
            </a:endParaRPr>
          </a:p>
          <a:p>
            <a:pPr algn="l">
              <a:buClrTx/>
              <a:buSzTx/>
              <a:buFontTx/>
            </a:pPr>
            <a:endParaRPr lang="zh-CN" altLang="en-US" sz="1800">
              <a:uFillTx/>
              <a:latin typeface="Times New Roman" panose="02020603050405020304" charset="0"/>
              <a:ea typeface="微软雅黑" panose="020B0503020204020204" charset="-122"/>
            </a:endParaRPr>
          </a:p>
          <a:p>
            <a:pPr algn="l">
              <a:buClrTx/>
              <a:buSzTx/>
              <a:buFontTx/>
            </a:pPr>
            <a:r>
              <a:rPr lang="zh-CN" altLang="en-US" sz="1800">
                <a:uFillTx/>
                <a:latin typeface="Times New Roman" panose="02020603050405020304" charset="0"/>
                <a:ea typeface="微软雅黑" panose="020B0503020204020204" charset="-122"/>
              </a:rPr>
              <a:t>m为任意一个正整数</a:t>
            </a:r>
            <a:endParaRPr lang="zh-CN" altLang="en-US" sz="1800">
              <a:uFillTx/>
              <a:latin typeface="Times New Roman" panose="02020603050405020304" charset="0"/>
              <a:ea typeface="微软雅黑" panose="020B0503020204020204" charset="-122"/>
            </a:endParaRPr>
          </a:p>
          <a:p>
            <a:pPr algn="l">
              <a:buClrTx/>
              <a:buSzTx/>
              <a:buFontTx/>
            </a:pPr>
            <a:endParaRPr lang="zh-CN" altLang="en-US" sz="1800">
              <a:uFillTx/>
              <a:latin typeface="Times New Roman" panose="02020603050405020304" charset="0"/>
              <a:ea typeface="微软雅黑" panose="020B0503020204020204" charset="-122"/>
            </a:endParaRPr>
          </a:p>
          <a:p>
            <a:pPr algn="l">
              <a:buClrTx/>
              <a:buSzTx/>
              <a:buFontTx/>
            </a:pPr>
            <a:r>
              <a:rPr lang="zh-CN" altLang="en-US" sz="1800">
                <a:uFillTx/>
                <a:latin typeface="Times New Roman" panose="02020603050405020304" charset="0"/>
                <a:ea typeface="微软雅黑" panose="020B0503020204020204" charset="-122"/>
              </a:rPr>
              <a:t>Sj  =&gt;  相关S盒的活动数量  =&gt;  标记S盒的活跃度 </a:t>
            </a:r>
            <a:endParaRPr lang="zh-CN" altLang="en-US" sz="1800">
              <a:uFillTx/>
              <a:latin typeface="Times New Roman" panose="02020603050405020304" charset="0"/>
              <a:ea typeface="微软雅黑" panose="020B0503020204020204" charset="-122"/>
            </a:endParaRPr>
          </a:p>
          <a:p>
            <a:pPr algn="l">
              <a:buClrTx/>
              <a:buSzTx/>
              <a:buFontTx/>
            </a:pPr>
            <a:endParaRPr lang="zh-CN" altLang="en-US" sz="1800">
              <a:uFillTx/>
              <a:latin typeface="Times New Roman" panose="02020603050405020304" charset="0"/>
              <a:ea typeface="微软雅黑" panose="020B0503020204020204" charset="-122"/>
            </a:endParaRPr>
          </a:p>
          <a:p>
            <a:pPr algn="l">
              <a:buClrTx/>
              <a:buSzTx/>
              <a:buFontTx/>
            </a:pPr>
            <a:r>
              <a:rPr lang="zh-CN" altLang="en-US" sz="1800">
                <a:uFillTx/>
                <a:latin typeface="Times New Roman" panose="02020603050405020304" charset="0"/>
                <a:ea typeface="微软雅黑" panose="020B0503020204020204" charset="-122"/>
              </a:rPr>
              <a:t>也就是说，我们要求在原来的基础上更加严格的要求了参与差分路径的每个S盒的活跃度要大于参与差分路径的S盒的总数，这样我们可以找到概率更高的更优的差分路径。</a:t>
            </a:r>
            <a:endParaRPr lang="zh-CN" altLang="en-US" sz="1800">
              <a:uFillTx/>
              <a:latin typeface="Times New Roman" panose="02020603050405020304" charset="0"/>
              <a:ea typeface="微软雅黑" panose="020B0503020204020204" charset="-122"/>
            </a:endParaRPr>
          </a:p>
          <a:p>
            <a:endParaRPr lang="zh-CN" altLang="en-US"/>
          </a:p>
          <a:p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20595" y="2613025"/>
            <a:ext cx="3339465" cy="4318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34340" y="1170305"/>
            <a:ext cx="11582400" cy="588645"/>
          </a:xfrm>
        </p:spPr>
        <p:txBody>
          <a:bodyPr/>
          <a:p>
            <a:pPr algn="l"/>
            <a:r>
              <a:rPr lang="zh-CN" altLang="en-US" sz="2800"/>
              <a:t>Technique 2. Imposing Different Constraints for Different Rounds.</a:t>
            </a:r>
            <a:endParaRPr lang="zh-CN" altLang="en-US" sz="2800"/>
          </a:p>
        </p:txBody>
      </p:sp>
      <p:sp>
        <p:nvSpPr>
          <p:cNvPr id="3" name="文本框 2"/>
          <p:cNvSpPr txBox="1"/>
          <p:nvPr/>
        </p:nvSpPr>
        <p:spPr>
          <a:xfrm>
            <a:off x="526415" y="1927860"/>
            <a:ext cx="11002645" cy="34150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800">
                <a:uFillTx/>
                <a:latin typeface="Times New Roman" panose="02020603050405020304" charset="0"/>
                <a:ea typeface="微软雅黑" panose="020B0503020204020204" charset="-122"/>
              </a:rPr>
              <a:t>(1) 允许第一轮和最后一轮手动选取高概率的差分特征</a:t>
            </a:r>
            <a:endParaRPr lang="zh-CN" altLang="en-US" sz="1800">
              <a:uFillTx/>
              <a:latin typeface="Times New Roman" panose="02020603050405020304" charset="0"/>
              <a:ea typeface="微软雅黑" panose="020B0503020204020204" charset="-122"/>
            </a:endParaRPr>
          </a:p>
          <a:p>
            <a:endParaRPr lang="zh-CN" altLang="en-US" sz="1800">
              <a:uFillTx/>
              <a:latin typeface="Times New Roman" panose="02020603050405020304" charset="0"/>
              <a:ea typeface="微软雅黑" panose="020B0503020204020204" charset="-122"/>
            </a:endParaRPr>
          </a:p>
          <a:p>
            <a:r>
              <a:rPr lang="zh-CN" altLang="en-US" sz="1800">
                <a:uFillTx/>
                <a:latin typeface="Times New Roman" panose="02020603050405020304" charset="0"/>
                <a:ea typeface="微软雅黑" panose="020B0503020204020204" charset="-122"/>
              </a:rPr>
              <a:t>(2) 在MILP模型中如何操作：</a:t>
            </a:r>
            <a:endParaRPr lang="zh-CN" altLang="en-US" sz="1800">
              <a:uFillTx/>
              <a:latin typeface="Times New Roman" panose="02020603050405020304" charset="0"/>
              <a:ea typeface="微软雅黑" panose="020B0503020204020204" charset="-122"/>
            </a:endParaRPr>
          </a:p>
          <a:p>
            <a:endParaRPr lang="zh-CN" altLang="en-US" sz="1800">
              <a:uFillTx/>
              <a:latin typeface="Times New Roman" panose="02020603050405020304" charset="0"/>
              <a:ea typeface="微软雅黑" panose="020B0503020204020204" charset="-122"/>
            </a:endParaRPr>
          </a:p>
          <a:p>
            <a:r>
              <a:rPr lang="zh-CN" altLang="en-US" sz="1800">
                <a:uFillTx/>
                <a:latin typeface="Times New Roman" panose="02020603050405020304" charset="0"/>
                <a:ea typeface="微软雅黑" panose="020B0503020204020204" charset="-122"/>
              </a:rPr>
              <a:t>设定一个阈值pT ，在第一轮和最后一轮中：</a:t>
            </a:r>
            <a:endParaRPr lang="zh-CN" altLang="en-US" sz="1800">
              <a:uFillTx/>
              <a:latin typeface="Times New Roman" panose="02020603050405020304" charset="0"/>
              <a:ea typeface="微软雅黑" panose="020B0503020204020204" charset="-122"/>
            </a:endParaRPr>
          </a:p>
          <a:p>
            <a:endParaRPr lang="zh-CN" altLang="en-US" sz="1800">
              <a:uFillTx/>
              <a:latin typeface="Times New Roman" panose="02020603050405020304" charset="0"/>
              <a:ea typeface="微软雅黑" panose="020B0503020204020204" charset="-122"/>
            </a:endParaRPr>
          </a:p>
          <a:p>
            <a:r>
              <a:rPr lang="zh-CN" altLang="en-US" sz="1800">
                <a:uFillTx/>
                <a:latin typeface="Times New Roman" panose="02020603050405020304" charset="0"/>
                <a:ea typeface="微软雅黑" panose="020B0503020204020204" charset="-122"/>
              </a:rPr>
              <a:t>由原来的包含所有可能的差分模式的凸包确定一个可行域</a:t>
            </a:r>
            <a:r>
              <a:rPr lang="zh-CN" altLang="en-US" sz="1800">
                <a:uFillTx/>
                <a:latin typeface="Times New Roman" panose="02020603050405020304" charset="0"/>
                <a:ea typeface="微软雅黑" panose="020B0503020204020204" charset="-122"/>
              </a:rPr>
              <a:t>  </a:t>
            </a:r>
            <a:r>
              <a:rPr lang="en-US" altLang="zh-CN" sz="1800">
                <a:uFillTx/>
                <a:latin typeface="Times New Roman" panose="02020603050405020304" charset="0"/>
                <a:ea typeface="微软雅黑" panose="020B0503020204020204" charset="-122"/>
              </a:rPr>
              <a:t>=&gt;</a:t>
            </a:r>
            <a:endParaRPr lang="en-US" altLang="zh-CN" sz="1800">
              <a:uFillTx/>
              <a:latin typeface="Times New Roman" panose="02020603050405020304" charset="0"/>
              <a:ea typeface="微软雅黑" panose="020B0503020204020204" charset="-122"/>
            </a:endParaRPr>
          </a:p>
          <a:p>
            <a:endParaRPr lang="en-US" altLang="zh-CN" sz="1800">
              <a:uFillTx/>
              <a:latin typeface="Times New Roman" panose="02020603050405020304" charset="0"/>
              <a:ea typeface="微软雅黑" panose="020B0503020204020204" charset="-122"/>
            </a:endParaRPr>
          </a:p>
          <a:p>
            <a:r>
              <a:rPr lang="zh-CN" altLang="en-US" sz="1800" b="1">
                <a:solidFill>
                  <a:srgbClr val="FF0000"/>
                </a:solidFill>
                <a:uFillTx/>
                <a:latin typeface="Times New Roman" panose="02020603050405020304" charset="0"/>
                <a:ea typeface="微软雅黑" panose="020B0503020204020204" charset="-122"/>
              </a:rPr>
              <a:t>包含所有差分概率大于</a:t>
            </a:r>
            <a:r>
              <a:rPr lang="en-US" altLang="zh-CN" sz="1800" b="1">
                <a:solidFill>
                  <a:srgbClr val="FF0000"/>
                </a:solidFill>
                <a:uFillTx/>
                <a:latin typeface="Times New Roman" panose="02020603050405020304" charset="0"/>
                <a:ea typeface="微软雅黑" panose="020B0503020204020204" charset="-122"/>
              </a:rPr>
              <a:t>pT</a:t>
            </a:r>
            <a:r>
              <a:rPr lang="zh-CN" altLang="en-US" sz="1800" b="1">
                <a:solidFill>
                  <a:srgbClr val="FF0000"/>
                </a:solidFill>
                <a:uFillTx/>
                <a:latin typeface="Times New Roman" panose="02020603050405020304" charset="0"/>
                <a:ea typeface="微软雅黑" panose="020B0503020204020204" charset="-122"/>
              </a:rPr>
              <a:t>的差分模式的凸包确定一个可行域</a:t>
            </a:r>
            <a:endParaRPr lang="zh-CN" altLang="en-US" sz="1800" b="1">
              <a:solidFill>
                <a:srgbClr val="FF0000"/>
              </a:solidFill>
              <a:uFillTx/>
              <a:latin typeface="Times New Roman" panose="02020603050405020304" charset="0"/>
              <a:ea typeface="微软雅黑" panose="020B0503020204020204" charset="-122"/>
            </a:endParaRPr>
          </a:p>
          <a:p>
            <a:endParaRPr lang="zh-CN" altLang="en-US" sz="1800">
              <a:uFillTx/>
              <a:latin typeface="Times New Roman" panose="02020603050405020304" charset="0"/>
              <a:ea typeface="微软雅黑" panose="020B0503020204020204" charset="-122"/>
            </a:endParaRPr>
          </a:p>
          <a:p>
            <a:r>
              <a:rPr lang="zh-CN" altLang="en-US" sz="1800">
                <a:uFillTx/>
                <a:latin typeface="Times New Roman" panose="02020603050405020304" charset="0"/>
                <a:ea typeface="微软雅黑" panose="020B0503020204020204" charset="-122"/>
                <a:sym typeface="+mn-ea"/>
              </a:rPr>
              <a:t>自动化模型在这一步非常重要，因为会产生大量枚举！</a:t>
            </a:r>
            <a:endParaRPr lang="zh-CN" altLang="en-US" sz="1800">
              <a:uFillTx/>
              <a:latin typeface="Times New Roman" panose="02020603050405020304" charset="0"/>
              <a:ea typeface="微软雅黑" panose="020B0503020204020204" charset="-122"/>
            </a:endParaRPr>
          </a:p>
          <a:p>
            <a:endParaRPr lang="zh-CN" altLang="en-US" sz="1800">
              <a:uFillTx/>
              <a:latin typeface="Times New Roman" panose="02020603050405020304" charset="0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7903210" y="2484755"/>
            <a:ext cx="335915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buClrTx/>
              <a:buSzTx/>
              <a:buNone/>
            </a:pPr>
            <a:r>
              <a:rPr lang="zh-CN" altLang="en-US" sz="1800">
                <a:uFillTx/>
                <a:latin typeface="Times New Roman" panose="02020603050405020304" charset="0"/>
                <a:ea typeface="微软雅黑" panose="020B0503020204020204" charset="-122"/>
              </a:rPr>
              <a:t>Tips: 如果采用技术2，孙思维方法中的（3）（4）约束不需使用，因为这两个约束会消除大量约束。</a:t>
            </a:r>
            <a:endParaRPr lang="zh-CN" altLang="en-US" sz="1800">
              <a:uFillTx/>
              <a:latin typeface="Times New Roman" panose="02020603050405020304" charset="0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pPr algn="l"/>
            <a:r>
              <a:rPr lang="zh-CN" altLang="en-US" sz="2400"/>
              <a:t>Technique 3. Encoding More Information into the Differential Patterns of an S-Box </a:t>
            </a:r>
            <a:r>
              <a:rPr lang="en-US" altLang="zh-CN" sz="2400"/>
              <a:t>—— </a:t>
            </a:r>
            <a:r>
              <a:rPr lang="zh-CN" altLang="en-US" sz="2400"/>
              <a:t>将差分概率封装在</a:t>
            </a:r>
            <a:r>
              <a:rPr lang="en-US" altLang="zh-CN" sz="2400"/>
              <a:t>S</a:t>
            </a:r>
            <a:r>
              <a:rPr lang="zh-CN" altLang="en-US" sz="2400"/>
              <a:t>盒中</a:t>
            </a:r>
            <a:endParaRPr lang="zh-CN" altLang="en-US" sz="2400"/>
          </a:p>
        </p:txBody>
      </p:sp>
      <p:sp>
        <p:nvSpPr>
          <p:cNvPr id="4" name="文本框 3"/>
          <p:cNvSpPr txBox="1"/>
          <p:nvPr/>
        </p:nvSpPr>
        <p:spPr>
          <a:xfrm>
            <a:off x="560705" y="2124075"/>
            <a:ext cx="1163129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>
                <a:ln>
                  <a:noFill/>
                </a:ln>
                <a:solidFill>
                  <a:schemeClr val="tx1"/>
                </a:solidFill>
              </a:rPr>
              <a:t>【</a:t>
            </a:r>
            <a:r>
              <a:rPr lang="en-US" altLang="zh-CN">
                <a:ln>
                  <a:noFill/>
                </a:ln>
                <a:solidFill>
                  <a:schemeClr val="tx1"/>
                </a:solidFill>
              </a:rPr>
              <a:t>38</a:t>
            </a:r>
            <a:r>
              <a:rPr lang="zh-CN" altLang="en-US">
                <a:ln>
                  <a:noFill/>
                </a:ln>
                <a:solidFill>
                  <a:schemeClr val="tx1"/>
                </a:solidFill>
              </a:rPr>
              <a:t>】Towards finding the best characteristics of some bit-oriented block ciphers and automatic enumeration of (related-key) differential and linear characteristics with predefined properties.</a:t>
            </a:r>
            <a:endParaRPr lang="zh-CN" altLang="en-US">
              <a:ln>
                <a:noFill/>
              </a:ln>
              <a:solidFill>
                <a:schemeClr val="tx1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24205" y="2890520"/>
            <a:ext cx="5688965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800">
                <a:uFillTx/>
                <a:latin typeface="Times New Roman" panose="02020603050405020304" charset="0"/>
                <a:ea typeface="微软雅黑" panose="020B0503020204020204" charset="-122"/>
              </a:rPr>
              <a:t>对present的(4进4出)S盒为例 </a:t>
            </a:r>
            <a:endParaRPr lang="zh-CN" altLang="en-US" sz="1800">
              <a:uFillTx/>
              <a:latin typeface="Times New Roman" panose="02020603050405020304" charset="0"/>
              <a:ea typeface="微软雅黑" panose="020B0503020204020204" charset="-122"/>
            </a:endParaRPr>
          </a:p>
          <a:p>
            <a:endParaRPr lang="zh-CN" altLang="en-US" sz="1800">
              <a:uFillTx/>
              <a:latin typeface="Times New Roman" panose="02020603050405020304" charset="0"/>
              <a:ea typeface="微软雅黑" panose="020B0503020204020204" charset="-122"/>
            </a:endParaRPr>
          </a:p>
          <a:p>
            <a:r>
              <a:rPr lang="zh-CN" altLang="en-US" sz="1800">
                <a:uFillTx/>
                <a:latin typeface="Times New Roman" panose="02020603050405020304" charset="0"/>
                <a:ea typeface="微软雅黑" panose="020B0503020204020204" charset="-122"/>
              </a:rPr>
              <a:t>对于可能的差分概率(x0, x1, x2, x3) → (y0, y1, y2, y3)</a:t>
            </a:r>
            <a:endParaRPr lang="zh-CN" altLang="en-US" sz="1800">
              <a:uFillTx/>
              <a:latin typeface="Times New Roman" panose="02020603050405020304" charset="0"/>
              <a:ea typeface="微软雅黑" panose="020B0503020204020204" charset="-122"/>
            </a:endParaRPr>
          </a:p>
          <a:p>
            <a:r>
              <a:rPr lang="zh-CN" altLang="en-US" sz="1800">
                <a:uFillTx/>
                <a:latin typeface="Times New Roman" panose="02020603050405020304" charset="0"/>
                <a:ea typeface="微软雅黑" panose="020B0503020204020204" charset="-122"/>
              </a:rPr>
              <a:t>我们至少要增加               个比特去封装该差分概率</a:t>
            </a:r>
            <a:endParaRPr lang="zh-CN" altLang="en-US" sz="1800">
              <a:uFillTx/>
              <a:latin typeface="Times New Roman" panose="02020603050405020304" charset="0"/>
              <a:ea typeface="微软雅黑" panose="020B0503020204020204" charset="-122"/>
            </a:endParaRPr>
          </a:p>
          <a:p>
            <a:r>
              <a:rPr lang="zh-CN" altLang="en-US" sz="1800">
                <a:uFillTx/>
                <a:latin typeface="Times New Roman" panose="02020603050405020304" charset="0"/>
                <a:ea typeface="微软雅黑" panose="020B0503020204020204" charset="-122"/>
              </a:rPr>
              <a:t>(x0, x1, x2, x3, y0, y1, y2, y3; p0, p1) ∈ {0, 1}^(8+2)</a:t>
            </a:r>
            <a:endParaRPr lang="zh-CN" altLang="en-US" sz="1800">
              <a:uFillTx/>
              <a:latin typeface="Times New Roman" panose="02020603050405020304" charset="0"/>
              <a:ea typeface="微软雅黑" panose="020B0503020204020204" charset="-122"/>
            </a:endParaRPr>
          </a:p>
          <a:p>
            <a:endParaRPr lang="en-US" altLang="zh-CN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4205" y="4366895"/>
            <a:ext cx="6365875" cy="94107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624205" y="5473700"/>
            <a:ext cx="645922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 PrS[</a:t>
            </a:r>
            <a:r>
              <a:rPr lang="zh-CN" altLang="en-US">
                <a:uFillTx/>
                <a:latin typeface="Times New Roman" panose="02020603050405020304" charset="0"/>
                <a:ea typeface="微软雅黑" panose="020B0503020204020204" charset="-122"/>
                <a:sym typeface="+mn-ea"/>
              </a:rPr>
              <a:t>(x0, x1, x2, x3) → (y0, y1, y2, y3)</a:t>
            </a:r>
            <a:r>
              <a:rPr lang="zh-CN" altLang="en-US"/>
              <a:t>] </a:t>
            </a:r>
            <a:r>
              <a:rPr lang="en-US" altLang="zh-CN"/>
              <a:t>=  </a:t>
            </a:r>
            <a:endParaRPr lang="en-US" altLang="zh-CN"/>
          </a:p>
        </p:txBody>
      </p:sp>
      <p:graphicFrame>
        <p:nvGraphicFramePr>
          <p:cNvPr id="9" name="对象 8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4705985" y="5497195"/>
          <a:ext cx="940435" cy="320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" name="" r:id="rId2" imgW="558800" imgH="190500" progId="Equation.KSEE3">
                  <p:embed/>
                </p:oleObj>
              </mc:Choice>
              <mc:Fallback>
                <p:oleObj name="" r:id="rId2" imgW="558800" imgH="1905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4705985" y="5497195"/>
                        <a:ext cx="940435" cy="3206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" name="图片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74100" y="2417445"/>
            <a:ext cx="3234055" cy="3540125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8589010" y="5957570"/>
            <a:ext cx="356679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PRESENT算法S盒的差分分布表</a:t>
            </a:r>
            <a:endParaRPr lang="zh-CN" altLang="en-US"/>
          </a:p>
        </p:txBody>
      </p:sp>
      <p:graphicFrame>
        <p:nvGraphicFramePr>
          <p:cNvPr id="12" name="对象 11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2395220" y="3762375"/>
          <a:ext cx="683260" cy="3073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" name="" r:id="rId5" imgW="508000" imgH="228600" progId="Equation.KSEE3">
                  <p:embed/>
                </p:oleObj>
              </mc:Choice>
              <mc:Fallback>
                <p:oleObj name="" r:id="rId5" imgW="508000" imgH="228600" progId="Equation.KSEE3">
                  <p:embed/>
                  <p:pic>
                    <p:nvPicPr>
                      <p:cNvPr id="0" name="图片 1025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395220" y="3762375"/>
                        <a:ext cx="683260" cy="30734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431800" y="1204595"/>
            <a:ext cx="9515475" cy="25228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buClrTx/>
              <a:buSzTx/>
              <a:buFontTx/>
              <a:buNone/>
            </a:pPr>
            <a:r>
              <a:rPr lang="en-US" sz="3200" b="1">
                <a:solidFill>
                  <a:schemeClr val="tx2"/>
                </a:solidFill>
                <a:uFillTx/>
                <a:latin typeface="Times New Roman" panose="02020603050405020304" charset="0"/>
                <a:ea typeface="微软雅黑" panose="020B0503020204020204" charset="-122"/>
                <a:cs typeface="+mj-cs"/>
              </a:rPr>
              <a:t>上述方法的局限性</a:t>
            </a:r>
            <a:endParaRPr lang="en-US" sz="3200" b="1">
              <a:solidFill>
                <a:schemeClr val="tx2"/>
              </a:solidFill>
              <a:uFillTx/>
              <a:latin typeface="Times New Roman" panose="02020603050405020304" charset="0"/>
              <a:ea typeface="微软雅黑" panose="020B0503020204020204" charset="-122"/>
              <a:cs typeface="+mj-cs"/>
            </a:endParaRPr>
          </a:p>
          <a:p>
            <a:pPr algn="l">
              <a:buClrTx/>
              <a:buSzTx/>
              <a:buNone/>
            </a:pPr>
            <a:endParaRPr lang="zh-CN" altLang="en-US" sz="1800">
              <a:uFillTx/>
              <a:latin typeface="Times New Roman" panose="02020603050405020304" charset="0"/>
              <a:ea typeface="微软雅黑" panose="020B0503020204020204" charset="-122"/>
            </a:endParaRPr>
          </a:p>
          <a:p>
            <a:pPr algn="l">
              <a:buClrTx/>
              <a:buSzTx/>
              <a:buNone/>
            </a:pPr>
            <a:r>
              <a:rPr lang="zh-CN" altLang="en-US" sz="1800">
                <a:uFillTx/>
                <a:latin typeface="Times New Roman" panose="02020603050405020304" charset="0"/>
                <a:ea typeface="微软雅黑" panose="020B0503020204020204" charset="-122"/>
              </a:rPr>
              <a:t>将上述封装形式拓展到DESL这种密码，不可行</a:t>
            </a:r>
            <a:endParaRPr lang="zh-CN" altLang="en-US" sz="1800">
              <a:uFillTx/>
              <a:latin typeface="Times New Roman" panose="02020603050405020304" charset="0"/>
              <a:ea typeface="微软雅黑" panose="020B0503020204020204" charset="-122"/>
            </a:endParaRPr>
          </a:p>
          <a:p>
            <a:pPr algn="l">
              <a:buClrTx/>
              <a:buSzTx/>
              <a:buNone/>
            </a:pPr>
            <a:endParaRPr lang="zh-CN" altLang="en-US" sz="1800">
              <a:uFillTx/>
              <a:latin typeface="Times New Roman" panose="02020603050405020304" charset="0"/>
              <a:ea typeface="微软雅黑" panose="020B0503020204020204" charset="-122"/>
            </a:endParaRPr>
          </a:p>
          <a:p>
            <a:pPr algn="l">
              <a:buClrTx/>
              <a:buSzTx/>
              <a:buNone/>
            </a:pPr>
            <a:r>
              <a:rPr lang="en-US" altLang="zh-CN" sz="1800">
                <a:uFillTx/>
                <a:latin typeface="Times New Roman" panose="02020603050405020304" charset="0"/>
                <a:ea typeface="微软雅黑" panose="020B0503020204020204" charset="-122"/>
              </a:rPr>
              <a:t>DESL</a:t>
            </a:r>
            <a:r>
              <a:rPr lang="zh-CN" altLang="en-US" sz="1800">
                <a:uFillTx/>
                <a:latin typeface="Times New Roman" panose="02020603050405020304" charset="0"/>
                <a:ea typeface="微软雅黑" panose="020B0503020204020204" charset="-122"/>
                <a:sym typeface="+mn-ea"/>
              </a:rPr>
              <a:t>是</a:t>
            </a:r>
            <a:r>
              <a:rPr lang="en-US" altLang="zh-CN" sz="1800">
                <a:uFillTx/>
                <a:latin typeface="Times New Roman" panose="02020603050405020304" charset="0"/>
                <a:ea typeface="微软雅黑" panose="020B0503020204020204" charset="-122"/>
                <a:sym typeface="+mn-ea"/>
              </a:rPr>
              <a:t>DES</a:t>
            </a:r>
            <a:r>
              <a:rPr lang="zh-CN" altLang="en-US" sz="1800">
                <a:uFillTx/>
                <a:latin typeface="Times New Roman" panose="02020603050405020304" charset="0"/>
                <a:ea typeface="微软雅黑" panose="020B0503020204020204" charset="-122"/>
                <a:sym typeface="+mn-ea"/>
              </a:rPr>
              <a:t>的变体，它</a:t>
            </a:r>
            <a:r>
              <a:rPr lang="zh-CN" altLang="en-US" sz="1800">
                <a:uFillTx/>
                <a:latin typeface="Times New Roman" panose="02020603050405020304" charset="0"/>
                <a:ea typeface="微软雅黑" panose="020B0503020204020204" charset="-122"/>
              </a:rPr>
              <a:t>的</a:t>
            </a:r>
            <a:r>
              <a:rPr lang="en-US" altLang="zh-CN" sz="1800">
                <a:uFillTx/>
                <a:latin typeface="Times New Roman" panose="02020603050405020304" charset="0"/>
                <a:ea typeface="微软雅黑" panose="020B0503020204020204" charset="-122"/>
              </a:rPr>
              <a:t>S</a:t>
            </a:r>
            <a:r>
              <a:rPr lang="zh-CN" altLang="en-US" sz="1800">
                <a:uFillTx/>
                <a:latin typeface="Times New Roman" panose="02020603050405020304" charset="0"/>
                <a:ea typeface="微软雅黑" panose="020B0503020204020204" charset="-122"/>
              </a:rPr>
              <a:t>盒是</a:t>
            </a:r>
            <a:r>
              <a:rPr lang="en-US" altLang="zh-CN" sz="1800">
                <a:uFillTx/>
                <a:latin typeface="Times New Roman" panose="02020603050405020304" charset="0"/>
                <a:ea typeface="微软雅黑" panose="020B0503020204020204" charset="-122"/>
              </a:rPr>
              <a:t>6</a:t>
            </a:r>
            <a:r>
              <a:rPr lang="zh-CN" altLang="en-US" sz="1800">
                <a:uFillTx/>
                <a:latin typeface="Times New Roman" panose="02020603050405020304" charset="0"/>
                <a:ea typeface="微软雅黑" panose="020B0503020204020204" charset="-122"/>
              </a:rPr>
              <a:t>进</a:t>
            </a:r>
            <a:r>
              <a:rPr lang="en-US" altLang="zh-CN" sz="1800">
                <a:uFillTx/>
                <a:latin typeface="Times New Roman" panose="02020603050405020304" charset="0"/>
                <a:ea typeface="微软雅黑" panose="020B0503020204020204" charset="-122"/>
              </a:rPr>
              <a:t>4</a:t>
            </a:r>
            <a:r>
              <a:rPr lang="zh-CN" altLang="en-US" sz="1800">
                <a:uFillTx/>
                <a:latin typeface="Times New Roman" panose="02020603050405020304" charset="0"/>
                <a:ea typeface="微软雅黑" panose="020B0503020204020204" charset="-122"/>
              </a:rPr>
              <a:t>出，有</a:t>
            </a:r>
            <a:r>
              <a:rPr lang="en-US" altLang="zh-CN" sz="1800">
                <a:uFillTx/>
                <a:latin typeface="Times New Roman" panose="02020603050405020304" charset="0"/>
                <a:ea typeface="微软雅黑" panose="020B0503020204020204" charset="-122"/>
              </a:rPr>
              <a:t>9</a:t>
            </a:r>
            <a:r>
              <a:rPr lang="zh-CN" altLang="en-US" sz="1800">
                <a:uFillTx/>
                <a:latin typeface="Times New Roman" panose="02020603050405020304" charset="0"/>
                <a:ea typeface="微软雅黑" panose="020B0503020204020204" charset="-122"/>
              </a:rPr>
              <a:t>中可能的差分概率，至少需要               </a:t>
            </a:r>
            <a:r>
              <a:rPr lang="en-US" altLang="zh-CN" sz="1800">
                <a:uFillTx/>
                <a:latin typeface="Times New Roman" panose="02020603050405020304" charset="0"/>
                <a:ea typeface="微软雅黑" panose="020B0503020204020204" charset="-122"/>
              </a:rPr>
              <a:t>= 4</a:t>
            </a:r>
            <a:r>
              <a:rPr lang="zh-CN" altLang="en-US" sz="1800">
                <a:uFillTx/>
                <a:latin typeface="Times New Roman" panose="02020603050405020304" charset="0"/>
                <a:ea typeface="微软雅黑" panose="020B0503020204020204" charset="-122"/>
              </a:rPr>
              <a:t>个额外的比特，导致在实际操作环节中计算凸包的</a:t>
            </a:r>
            <a:r>
              <a:rPr lang="en-US" altLang="zh-CN" sz="1800">
                <a:uFillTx/>
                <a:latin typeface="Times New Roman" panose="02020603050405020304" charset="0"/>
                <a:ea typeface="微软雅黑" panose="020B0503020204020204" charset="-122"/>
              </a:rPr>
              <a:t>H</a:t>
            </a:r>
            <a:r>
              <a:rPr lang="zh-CN" altLang="en-US" sz="1800">
                <a:uFillTx/>
                <a:latin typeface="Times New Roman" panose="02020603050405020304" charset="0"/>
                <a:ea typeface="微软雅黑" panose="020B0503020204020204" charset="-122"/>
              </a:rPr>
              <a:t>表达时，</a:t>
            </a:r>
            <a:r>
              <a:rPr lang="en-US" altLang="zh-CN" sz="1800">
                <a:uFillTx/>
                <a:latin typeface="Times New Roman" panose="02020603050405020304" charset="0"/>
                <a:ea typeface="微软雅黑" panose="020B0503020204020204" charset="-122"/>
              </a:rPr>
              <a:t>MILP</a:t>
            </a:r>
            <a:r>
              <a:rPr lang="zh-CN" altLang="en-US" sz="1800">
                <a:uFillTx/>
                <a:latin typeface="Times New Roman" panose="02020603050405020304" charset="0"/>
                <a:ea typeface="微软雅黑" panose="020B0503020204020204" charset="-122"/>
              </a:rPr>
              <a:t>模型</a:t>
            </a:r>
            <a:r>
              <a:rPr lang="zh-CN" altLang="en-US" sz="1800">
                <a:uFillTx/>
                <a:latin typeface="Times New Roman" panose="02020603050405020304" charset="0"/>
                <a:ea typeface="微软雅黑" panose="020B0503020204020204" charset="-122"/>
              </a:rPr>
              <a:t>中</a:t>
            </a:r>
            <a:r>
              <a:rPr lang="zh-CN" altLang="en-US" sz="1800">
                <a:uFillTx/>
                <a:latin typeface="Times New Roman" panose="02020603050405020304" charset="0"/>
                <a:ea typeface="微软雅黑" panose="020B0503020204020204" charset="-122"/>
              </a:rPr>
              <a:t>出现大量的约束。</a:t>
            </a:r>
            <a:endParaRPr lang="zh-CN" altLang="en-US" sz="1800">
              <a:uFillTx/>
              <a:latin typeface="Times New Roman" panose="02020603050405020304" charset="0"/>
              <a:ea typeface="微软雅黑" panose="020B0503020204020204" charset="-122"/>
            </a:endParaRPr>
          </a:p>
          <a:p>
            <a:pPr algn="l">
              <a:buClrTx/>
              <a:buSzTx/>
              <a:buNone/>
            </a:pPr>
            <a:endParaRPr lang="zh-CN" altLang="en-US" sz="1800">
              <a:uFillTx/>
              <a:latin typeface="Times New Roman" panose="02020603050405020304" charset="0"/>
              <a:ea typeface="微软雅黑" panose="020B0503020204020204" charset="-122"/>
            </a:endParaRPr>
          </a:p>
          <a:p>
            <a:pPr algn="l">
              <a:buClrTx/>
              <a:buSzTx/>
              <a:buNone/>
            </a:pPr>
            <a:r>
              <a:rPr lang="zh-CN" altLang="en-US" sz="1800" b="1">
                <a:uFillTx/>
                <a:latin typeface="Times New Roman" panose="02020603050405020304" charset="0"/>
                <a:ea typeface="微软雅黑" panose="020B0503020204020204" charset="-122"/>
              </a:rPr>
              <a:t>启发式解决</a:t>
            </a:r>
            <a:r>
              <a:rPr lang="zh-CN" altLang="en-US" sz="1800" b="1">
                <a:uFillTx/>
                <a:latin typeface="Times New Roman" panose="02020603050405020304" charset="0"/>
                <a:ea typeface="微软雅黑" panose="020B0503020204020204" charset="-122"/>
              </a:rPr>
              <a:t>方法：</a:t>
            </a:r>
            <a:endParaRPr lang="zh-CN" altLang="en-US" sz="1800" b="1">
              <a:uFillTx/>
              <a:latin typeface="Times New Roman" panose="02020603050405020304" charset="0"/>
              <a:ea typeface="微软雅黑" panose="020B0503020204020204" charset="-122"/>
            </a:endParaRPr>
          </a:p>
        </p:txBody>
      </p:sp>
      <p:sp>
        <p:nvSpPr>
          <p:cNvPr id="5" name="乘号 4"/>
          <p:cNvSpPr/>
          <p:nvPr/>
        </p:nvSpPr>
        <p:spPr>
          <a:xfrm>
            <a:off x="5236845" y="1911985"/>
            <a:ext cx="662940" cy="513715"/>
          </a:xfrm>
          <a:prstGeom prst="mathMultiply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aphicFrame>
        <p:nvGraphicFramePr>
          <p:cNvPr id="12" name="对象 11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7960360" y="2524443"/>
          <a:ext cx="683260" cy="3092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" name="" r:id="rId1" imgW="508000" imgH="228600" progId="Equation.KSEE3">
                  <p:embed/>
                </p:oleObj>
              </mc:Choice>
              <mc:Fallback>
                <p:oleObj name="" r:id="rId1" imgW="508000" imgH="228600" progId="Equation.KSEE3">
                  <p:embed/>
                  <p:pic>
                    <p:nvPicPr>
                      <p:cNvPr id="0" name="图片 102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7960360" y="2524443"/>
                        <a:ext cx="683260" cy="30924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3460" y="3849370"/>
            <a:ext cx="8811895" cy="1663700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1539875" y="5083810"/>
            <a:ext cx="5325745" cy="446405"/>
          </a:xfrm>
          <a:prstGeom prst="rect">
            <a:avLst/>
          </a:prstGeom>
          <a:noFill/>
          <a:ln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6565" y="1313180"/>
            <a:ext cx="7816215" cy="284734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456565" y="4380865"/>
            <a:ext cx="11257915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800">
                <a:uFillTx/>
                <a:latin typeface="Times New Roman" panose="02020603050405020304" charset="0"/>
                <a:ea typeface="微软雅黑" panose="020B0503020204020204" charset="-122"/>
              </a:rPr>
              <a:t>此时，</a:t>
            </a:r>
            <a:r>
              <a:rPr lang="zh-CN" altLang="en-US" sz="1800">
                <a:uFillTx/>
                <a:latin typeface="Times New Roman" panose="02020603050405020304" charset="0"/>
                <a:ea typeface="微软雅黑" panose="020B0503020204020204" charset="-122"/>
              </a:rPr>
              <a:t>我们将</a:t>
            </a:r>
            <a:r>
              <a:rPr lang="en-US" altLang="zh-CN" sz="1800">
                <a:uFillTx/>
                <a:latin typeface="Times New Roman" panose="02020603050405020304" charset="0"/>
                <a:ea typeface="微软雅黑" panose="020B0503020204020204" charset="-122"/>
              </a:rPr>
              <a:t>目标函数</a:t>
            </a:r>
            <a:r>
              <a:rPr lang="zh-CN" altLang="en-US" sz="1800">
                <a:uFillTx/>
                <a:latin typeface="Times New Roman" panose="02020603050405020304" charset="0"/>
                <a:ea typeface="微软雅黑" panose="020B0503020204020204" charset="-122"/>
              </a:rPr>
              <a:t>设</a:t>
            </a:r>
            <a:r>
              <a:rPr lang="en-US" altLang="zh-CN" sz="1800">
                <a:uFillTx/>
                <a:latin typeface="Times New Roman" panose="02020603050405020304" charset="0"/>
                <a:ea typeface="微软雅黑" panose="020B0503020204020204" charset="-122"/>
              </a:rPr>
              <a:t>为                      ，我们会发现：</a:t>
            </a:r>
            <a:endParaRPr lang="en-US" altLang="zh-CN" sz="1800">
              <a:uFillTx/>
              <a:latin typeface="Times New Roman" panose="02020603050405020304" charset="0"/>
              <a:ea typeface="微软雅黑" panose="020B0503020204020204" charset="-122"/>
            </a:endParaRPr>
          </a:p>
          <a:p>
            <a:endParaRPr lang="en-US" altLang="zh-CN" sz="1800">
              <a:uFillTx/>
              <a:latin typeface="Times New Roman" panose="02020603050405020304" charset="0"/>
              <a:ea typeface="微软雅黑" panose="020B0503020204020204" charset="-122"/>
            </a:endParaRPr>
          </a:p>
          <a:p>
            <a:r>
              <a:rPr lang="en-US" altLang="zh-CN" sz="1800">
                <a:uFillTx/>
                <a:latin typeface="Times New Roman" panose="02020603050405020304" charset="0"/>
                <a:ea typeface="微软雅黑" panose="020B0503020204020204" charset="-122"/>
              </a:rPr>
              <a:t>	差分概率最大，目标函数的值越小</a:t>
            </a:r>
            <a:endParaRPr lang="en-US" altLang="zh-CN" sz="1800">
              <a:uFillTx/>
              <a:latin typeface="Times New Roman" panose="02020603050405020304" charset="0"/>
              <a:ea typeface="微软雅黑" panose="020B0503020204020204" charset="-122"/>
            </a:endParaRPr>
          </a:p>
          <a:p>
            <a:endParaRPr lang="en-US" altLang="zh-CN" sz="1800">
              <a:uFillTx/>
              <a:latin typeface="Times New Roman" panose="02020603050405020304" charset="0"/>
              <a:ea typeface="微软雅黑" panose="020B0503020204020204" charset="-122"/>
            </a:endParaRPr>
          </a:p>
          <a:p>
            <a:r>
              <a:rPr lang="zh-CN" altLang="en-US" sz="1800">
                <a:uFillTx/>
                <a:latin typeface="Times New Roman" panose="02020603050405020304" charset="0"/>
                <a:ea typeface="微软雅黑" panose="020B0503020204020204" charset="-122"/>
              </a:rPr>
              <a:t>但该方法仍需改进，原因是：（</a:t>
            </a:r>
            <a:r>
              <a:rPr lang="en-US" altLang="zh-CN" sz="1800">
                <a:uFillTx/>
                <a:latin typeface="Times New Roman" panose="02020603050405020304" charset="0"/>
                <a:ea typeface="微软雅黑" panose="020B0503020204020204" charset="-122"/>
              </a:rPr>
              <a:t>1</a:t>
            </a:r>
            <a:r>
              <a:rPr lang="zh-CN" altLang="en-US" sz="1800">
                <a:uFillTx/>
                <a:latin typeface="Times New Roman" panose="02020603050405020304" charset="0"/>
                <a:ea typeface="微软雅黑" panose="020B0503020204020204" charset="-122"/>
              </a:rPr>
              <a:t>）无法知道所得到的差分路径确切的概率  （</a:t>
            </a:r>
            <a:r>
              <a:rPr lang="en-US" altLang="zh-CN" sz="1800">
                <a:uFillTx/>
                <a:latin typeface="Times New Roman" panose="02020603050405020304" charset="0"/>
                <a:ea typeface="微软雅黑" panose="020B0503020204020204" charset="-122"/>
              </a:rPr>
              <a:t>2</a:t>
            </a:r>
            <a:r>
              <a:rPr lang="zh-CN" altLang="en-US" sz="1800">
                <a:uFillTx/>
                <a:latin typeface="Times New Roman" panose="02020603050405020304" charset="0"/>
                <a:ea typeface="微软雅黑" panose="020B0503020204020204" charset="-122"/>
              </a:rPr>
              <a:t>）得出的高概率差分不一定是最优的  （</a:t>
            </a:r>
            <a:r>
              <a:rPr lang="en-US" altLang="zh-CN" sz="1800">
                <a:uFillTx/>
                <a:latin typeface="Times New Roman" panose="02020603050405020304" charset="0"/>
                <a:ea typeface="微软雅黑" panose="020B0503020204020204" charset="-122"/>
              </a:rPr>
              <a:t>3</a:t>
            </a:r>
            <a:r>
              <a:rPr lang="zh-CN" altLang="en-US" sz="1800">
                <a:uFillTx/>
                <a:latin typeface="Times New Roman" panose="02020603050405020304" charset="0"/>
                <a:ea typeface="微软雅黑" panose="020B0503020204020204" charset="-122"/>
              </a:rPr>
              <a:t>）   选择较为特殊  （在</a:t>
            </a:r>
            <a:r>
              <a:rPr lang="en-US" altLang="zh-CN" sz="1800">
                <a:uFillTx/>
                <a:latin typeface="Times New Roman" panose="02020603050405020304" charset="0"/>
                <a:ea typeface="微软雅黑" panose="020B0503020204020204" charset="-122"/>
              </a:rPr>
              <a:t>DESL</a:t>
            </a:r>
            <a:r>
              <a:rPr lang="zh-CN" altLang="en-US" sz="1800">
                <a:uFillTx/>
                <a:latin typeface="Times New Roman" panose="02020603050405020304" charset="0"/>
                <a:ea typeface="微软雅黑" panose="020B0503020204020204" charset="-122"/>
              </a:rPr>
              <a:t>算法中我们选取</a:t>
            </a:r>
            <a:r>
              <a:rPr lang="en-US" altLang="zh-CN" sz="1800">
                <a:uFillTx/>
                <a:latin typeface="Times New Roman" panose="02020603050405020304" charset="0"/>
                <a:ea typeface="微软雅黑" panose="020B0503020204020204" charset="-122"/>
              </a:rPr>
              <a:t>3</a:t>
            </a:r>
            <a:r>
              <a:rPr lang="zh-CN" altLang="en-US" sz="1800">
                <a:uFillTx/>
                <a:latin typeface="Times New Roman" panose="02020603050405020304" charset="0"/>
                <a:ea typeface="微软雅黑" panose="020B0503020204020204" charset="-122"/>
              </a:rPr>
              <a:t>）</a:t>
            </a:r>
            <a:endParaRPr lang="zh-CN" altLang="en-US" sz="1800">
              <a:uFillTx/>
              <a:latin typeface="Times New Roman" panose="02020603050405020304" charset="0"/>
              <a:ea typeface="微软雅黑" panose="020B0503020204020204" charset="-122"/>
            </a:endParaRPr>
          </a:p>
        </p:txBody>
      </p:sp>
      <p:graphicFrame>
        <p:nvGraphicFramePr>
          <p:cNvPr id="6" name="对象 5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3339465" y="4380865"/>
          <a:ext cx="120142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9" name="" r:id="rId2" imgW="838200" imgH="254000" progId="Equation.KSEE3">
                  <p:embed/>
                </p:oleObj>
              </mc:Choice>
              <mc:Fallback>
                <p:oleObj name="" r:id="rId2" imgW="838200" imgH="254000" progId="Equation.KSEE3">
                  <p:embed/>
                  <p:pic>
                    <p:nvPicPr>
                      <p:cNvPr id="0" name="图片 2048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3339465" y="4380865"/>
                        <a:ext cx="1201420" cy="368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1837055" y="5845175"/>
          <a:ext cx="184785" cy="2343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0" name="" r:id="rId4" imgW="139700" imgH="177165" progId="Equation.KSEE3">
                  <p:embed/>
                </p:oleObj>
              </mc:Choice>
              <mc:Fallback>
                <p:oleObj name="" r:id="rId4" imgW="139700" imgH="177165" progId="Equation.KSEE3">
                  <p:embed/>
                  <p:pic>
                    <p:nvPicPr>
                      <p:cNvPr id="0" name="图片 2049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837055" y="5845175"/>
                        <a:ext cx="184785" cy="23431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97815" y="887095"/>
            <a:ext cx="11135995" cy="1035050"/>
          </a:xfrm>
        </p:spPr>
        <p:txBody>
          <a:bodyPr/>
          <a:p>
            <a:pPr algn="l"/>
            <a:r>
              <a:rPr lang="zh-CN" altLang="en-US">
                <a:uFillTx/>
                <a:latin typeface="Times New Roman" panose="02020603050405020304" charset="0"/>
                <a:ea typeface="微软雅黑" panose="020B0503020204020204" charset="-122"/>
              </a:rPr>
              <a:t> </a:t>
            </a:r>
            <a:r>
              <a:rPr lang="en-US" altLang="zh-CN">
                <a:uFillTx/>
                <a:latin typeface="Times New Roman" panose="02020603050405020304" charset="0"/>
                <a:ea typeface="微软雅黑" panose="020B0503020204020204" charset="-122"/>
              </a:rPr>
              <a:t>3.</a:t>
            </a:r>
            <a:r>
              <a:rPr lang="zh-CN" altLang="en-US">
                <a:uFillTx/>
                <a:latin typeface="Times New Roman" panose="02020603050405020304" charset="0"/>
                <a:ea typeface="微软雅黑" panose="020B0503020204020204" charset="-122"/>
              </a:rPr>
              <a:t>Application to DESL</a:t>
            </a:r>
            <a:endParaRPr lang="zh-CN" altLang="en-US">
              <a:uFillTx/>
              <a:latin typeface="Times New Roman" panose="02020603050405020304" charset="0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34950" y="2002155"/>
            <a:ext cx="107118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buClrTx/>
              <a:buSzTx/>
              <a:buNone/>
            </a:pPr>
            <a:r>
              <a:rPr lang="en-US" altLang="zh-CN" sz="1800">
                <a:uFillTx/>
                <a:latin typeface="Times New Roman" panose="02020603050405020304" charset="0"/>
                <a:ea typeface="微软雅黑" panose="020B0503020204020204" charset="-122"/>
              </a:rPr>
              <a:t>（1）根据技术2和技术3建立9轮DESL相关密钥攻击的MILP模型</a:t>
            </a:r>
            <a:r>
              <a:rPr lang="zh-CN" altLang="en-US" sz="1800">
                <a:uFillTx/>
                <a:latin typeface="Times New Roman" panose="02020603050405020304" charset="0"/>
                <a:ea typeface="微软雅黑" panose="020B0503020204020204" charset="-122"/>
              </a:rPr>
              <a:t>，找出一条</a:t>
            </a:r>
            <a:r>
              <a:rPr lang="en-US" altLang="zh-CN" sz="1800">
                <a:uFillTx/>
                <a:latin typeface="Times New Roman" panose="02020603050405020304" charset="0"/>
                <a:ea typeface="微软雅黑" panose="020B0503020204020204" charset="-122"/>
              </a:rPr>
              <a:t>9</a:t>
            </a:r>
            <a:r>
              <a:rPr lang="zh-CN" altLang="en-US" sz="1800">
                <a:uFillTx/>
                <a:latin typeface="Times New Roman" panose="02020603050405020304" charset="0"/>
                <a:ea typeface="微软雅黑" panose="020B0503020204020204" charset="-122"/>
              </a:rPr>
              <a:t>轮相关密钥差分路径</a:t>
            </a:r>
            <a:endParaRPr lang="zh-CN" altLang="en-US" sz="1800">
              <a:uFillTx/>
              <a:latin typeface="Times New Roman" panose="02020603050405020304" charset="0"/>
              <a:ea typeface="微软雅黑" panose="020B0503020204020204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7815" y="2888615"/>
            <a:ext cx="5513705" cy="261874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0260" y="2888615"/>
            <a:ext cx="6019800" cy="261874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97815" y="887095"/>
            <a:ext cx="11135995" cy="1035050"/>
          </a:xfrm>
        </p:spPr>
        <p:txBody>
          <a:bodyPr/>
          <a:p>
            <a:pPr algn="l"/>
            <a:r>
              <a:rPr lang="zh-CN" altLang="en-US">
                <a:uFillTx/>
                <a:latin typeface="Times New Roman" panose="02020603050405020304" charset="0"/>
                <a:ea typeface="微软雅黑" panose="020B0503020204020204" charset="-122"/>
              </a:rPr>
              <a:t> </a:t>
            </a:r>
            <a:r>
              <a:rPr lang="en-US" altLang="zh-CN">
                <a:uFillTx/>
                <a:latin typeface="Times New Roman" panose="02020603050405020304" charset="0"/>
                <a:ea typeface="微软雅黑" panose="020B0503020204020204" charset="-122"/>
              </a:rPr>
              <a:t>3.</a:t>
            </a:r>
            <a:r>
              <a:rPr lang="zh-CN" altLang="en-US">
                <a:uFillTx/>
                <a:latin typeface="Times New Roman" panose="02020603050405020304" charset="0"/>
                <a:ea typeface="微软雅黑" panose="020B0503020204020204" charset="-122"/>
              </a:rPr>
              <a:t>Application to DESL</a:t>
            </a:r>
            <a:endParaRPr lang="zh-CN" altLang="en-US">
              <a:uFillTx/>
              <a:latin typeface="Times New Roman" panose="02020603050405020304" charset="0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34950" y="2002155"/>
            <a:ext cx="1071181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buClrTx/>
              <a:buSzTx/>
              <a:buNone/>
            </a:pPr>
            <a:r>
              <a:rPr lang="zh-CN" altLang="en-US" sz="1800">
                <a:uFillTx/>
                <a:latin typeface="Times New Roman" panose="02020603050405020304" charset="0"/>
                <a:ea typeface="微软雅黑" panose="020B0503020204020204" charset="-122"/>
              </a:rPr>
              <a:t>（</a:t>
            </a:r>
            <a:r>
              <a:rPr lang="en-US" altLang="zh-CN" sz="1800">
                <a:uFillTx/>
                <a:latin typeface="Times New Roman" panose="02020603050405020304" charset="0"/>
                <a:ea typeface="微软雅黑" panose="020B0503020204020204" charset="-122"/>
              </a:rPr>
              <a:t>2</a:t>
            </a:r>
            <a:r>
              <a:rPr lang="zh-CN" altLang="en-US" sz="1800">
                <a:uFillTx/>
                <a:latin typeface="Times New Roman" panose="02020603050405020304" charset="0"/>
                <a:ea typeface="微软雅黑" panose="020B0503020204020204" charset="-122"/>
              </a:rPr>
              <a:t>）将</a:t>
            </a:r>
            <a:r>
              <a:rPr lang="en-US" altLang="zh-CN" sz="1800">
                <a:uFillTx/>
                <a:latin typeface="Times New Roman" panose="02020603050405020304" charset="0"/>
                <a:ea typeface="微软雅黑" panose="020B0503020204020204" charset="-122"/>
              </a:rPr>
              <a:t>9</a:t>
            </a:r>
            <a:r>
              <a:rPr lang="zh-CN" altLang="en-US" sz="1800">
                <a:uFillTx/>
                <a:latin typeface="Times New Roman" panose="02020603050405020304" charset="0"/>
                <a:ea typeface="微软雅黑" panose="020B0503020204020204" charset="-122"/>
              </a:rPr>
              <a:t>轮差分特征写入</a:t>
            </a:r>
            <a:r>
              <a:rPr lang="en-US" altLang="zh-CN" sz="1800">
                <a:uFillTx/>
                <a:latin typeface="Times New Roman" panose="02020603050405020304" charset="0"/>
                <a:ea typeface="微软雅黑" panose="020B0503020204020204" charset="-122"/>
              </a:rPr>
              <a:t>MST</a:t>
            </a:r>
            <a:r>
              <a:rPr lang="zh-CN" altLang="en-US" sz="1800">
                <a:uFillTx/>
                <a:latin typeface="Times New Roman" panose="02020603050405020304" charset="0"/>
                <a:ea typeface="微软雅黑" panose="020B0503020204020204" charset="-122"/>
              </a:rPr>
              <a:t>文件（在</a:t>
            </a:r>
            <a:r>
              <a:rPr lang="en-US" altLang="zh-CN" sz="1800">
                <a:uFillTx/>
                <a:latin typeface="Times New Roman" panose="02020603050405020304" charset="0"/>
                <a:ea typeface="微软雅黑" panose="020B0503020204020204" charset="-122"/>
              </a:rPr>
              <a:t>Gurobi</a:t>
            </a:r>
            <a:r>
              <a:rPr lang="zh-CN" altLang="en-US" sz="1800">
                <a:uFillTx/>
                <a:latin typeface="Times New Roman" panose="02020603050405020304" charset="0"/>
                <a:ea typeface="微软雅黑" panose="020B0503020204020204" charset="-122"/>
              </a:rPr>
              <a:t>中用于指定一个初始解决方案，可加速</a:t>
            </a:r>
            <a:r>
              <a:rPr lang="en-US" altLang="zh-CN" sz="1800">
                <a:uFillTx/>
                <a:latin typeface="Times New Roman" panose="02020603050405020304" charset="0"/>
                <a:ea typeface="微软雅黑" panose="020B0503020204020204" charset="-122"/>
              </a:rPr>
              <a:t>MILP</a:t>
            </a:r>
            <a:r>
              <a:rPr lang="zh-CN" altLang="en-US" sz="1800">
                <a:uFillTx/>
                <a:latin typeface="Times New Roman" panose="02020603050405020304" charset="0"/>
                <a:ea typeface="微软雅黑" panose="020B0503020204020204" charset="-122"/>
              </a:rPr>
              <a:t>模型的求解</a:t>
            </a:r>
            <a:r>
              <a:rPr lang="zh-CN" altLang="en-US" sz="1800">
                <a:uFillTx/>
                <a:latin typeface="Times New Roman" panose="02020603050405020304" charset="0"/>
                <a:ea typeface="微软雅黑" panose="020B0503020204020204" charset="-122"/>
              </a:rPr>
              <a:t>），   建立</a:t>
            </a:r>
            <a:r>
              <a:rPr lang="en-US" altLang="zh-CN" sz="1800">
                <a:uFillTx/>
                <a:latin typeface="Times New Roman" panose="02020603050405020304" charset="0"/>
                <a:ea typeface="微软雅黑" panose="020B0503020204020204" charset="-122"/>
              </a:rPr>
              <a:t>10</a:t>
            </a:r>
            <a:r>
              <a:rPr lang="zh-CN" altLang="en-US" sz="1800">
                <a:uFillTx/>
                <a:latin typeface="Times New Roman" panose="02020603050405020304" charset="0"/>
                <a:ea typeface="微软雅黑" panose="020B0503020204020204" charset="-122"/>
              </a:rPr>
              <a:t>轮相关密钥攻击</a:t>
            </a:r>
            <a:r>
              <a:rPr lang="zh-CN" altLang="en-US" sz="1800">
                <a:uFillTx/>
                <a:latin typeface="Times New Roman" panose="02020603050405020304" charset="0"/>
                <a:ea typeface="微软雅黑" panose="020B0503020204020204" charset="-122"/>
              </a:rPr>
              <a:t>模型</a:t>
            </a:r>
            <a:endParaRPr lang="zh-CN" altLang="en-US" sz="1800">
              <a:uFillTx/>
              <a:latin typeface="Times New Roman" panose="02020603050405020304" charset="0"/>
              <a:ea typeface="微软雅黑" panose="020B050302020402020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4950" y="3030220"/>
            <a:ext cx="5830570" cy="267652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1105" y="3001010"/>
            <a:ext cx="5286375" cy="2705735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97815" y="887095"/>
            <a:ext cx="11135995" cy="1035050"/>
          </a:xfrm>
        </p:spPr>
        <p:txBody>
          <a:bodyPr/>
          <a:p>
            <a:pPr algn="l"/>
            <a:r>
              <a:rPr lang="zh-CN" altLang="en-US">
                <a:uFillTx/>
                <a:latin typeface="Times New Roman" panose="02020603050405020304" charset="0"/>
                <a:ea typeface="微软雅黑" panose="020B0503020204020204" charset="-122"/>
              </a:rPr>
              <a:t> </a:t>
            </a:r>
            <a:r>
              <a:rPr lang="en-US" altLang="zh-CN">
                <a:uFillTx/>
                <a:latin typeface="Times New Roman" panose="02020603050405020304" charset="0"/>
                <a:ea typeface="微软雅黑" panose="020B0503020204020204" charset="-122"/>
              </a:rPr>
              <a:t>3.</a:t>
            </a:r>
            <a:r>
              <a:rPr lang="zh-CN" altLang="en-US">
                <a:uFillTx/>
                <a:latin typeface="Times New Roman" panose="02020603050405020304" charset="0"/>
                <a:ea typeface="微软雅黑" panose="020B0503020204020204" charset="-122"/>
              </a:rPr>
              <a:t>Application to DESL</a:t>
            </a:r>
            <a:endParaRPr lang="zh-CN" altLang="en-US">
              <a:uFillTx/>
              <a:latin typeface="Times New Roman" panose="02020603050405020304" charset="0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34950" y="2002155"/>
            <a:ext cx="107118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buClrTx/>
              <a:buSzTx/>
              <a:buNone/>
            </a:pPr>
            <a:r>
              <a:rPr lang="zh-CN" altLang="en-US" sz="1800">
                <a:uFillTx/>
                <a:latin typeface="Times New Roman" panose="02020603050405020304" charset="0"/>
                <a:ea typeface="微软雅黑" panose="020B0503020204020204" charset="-122"/>
              </a:rPr>
              <a:t>（</a:t>
            </a:r>
            <a:r>
              <a:rPr lang="en-US" altLang="zh-CN" sz="1800">
                <a:uFillTx/>
                <a:latin typeface="Times New Roman" panose="02020603050405020304" charset="0"/>
                <a:ea typeface="微软雅黑" panose="020B0503020204020204" charset="-122"/>
              </a:rPr>
              <a:t>3</a:t>
            </a:r>
            <a:r>
              <a:rPr lang="zh-CN" altLang="en-US" sz="1800">
                <a:uFillTx/>
                <a:latin typeface="Times New Roman" panose="02020603050405020304" charset="0"/>
                <a:ea typeface="微软雅黑" panose="020B0503020204020204" charset="-122"/>
              </a:rPr>
              <a:t>）最终，首次找到一条</a:t>
            </a:r>
            <a:r>
              <a:rPr lang="en-US" altLang="zh-CN" sz="1800">
                <a:uFillTx/>
                <a:latin typeface="Times New Roman" panose="02020603050405020304" charset="0"/>
                <a:ea typeface="微软雅黑" panose="020B0503020204020204" charset="-122"/>
              </a:rPr>
              <a:t>10</a:t>
            </a:r>
            <a:r>
              <a:rPr lang="zh-CN" altLang="en-US" sz="1800">
                <a:uFillTx/>
                <a:latin typeface="Times New Roman" panose="02020603050405020304" charset="0"/>
                <a:ea typeface="微软雅黑" panose="020B0503020204020204" charset="-122"/>
              </a:rPr>
              <a:t>轮单密钥差分路径，差分概率 2 </a:t>
            </a:r>
            <a:r>
              <a:rPr lang="en-US" altLang="zh-CN" sz="1800">
                <a:uFillTx/>
                <a:latin typeface="Times New Roman" panose="02020603050405020304" charset="0"/>
                <a:ea typeface="微软雅黑" panose="020B0503020204020204" charset="-122"/>
              </a:rPr>
              <a:t>^</a:t>
            </a:r>
            <a:r>
              <a:rPr lang="zh-CN" altLang="en-US" sz="1800">
                <a:uFillTx/>
                <a:latin typeface="Times New Roman" panose="02020603050405020304" charset="0"/>
                <a:ea typeface="微软雅黑" panose="020B0503020204020204" charset="-122"/>
              </a:rPr>
              <a:t>−52.25，活跃</a:t>
            </a:r>
            <a:r>
              <a:rPr lang="en-US" altLang="zh-CN" sz="1800">
                <a:uFillTx/>
                <a:latin typeface="Times New Roman" panose="02020603050405020304" charset="0"/>
                <a:ea typeface="微软雅黑" panose="020B0503020204020204" charset="-122"/>
              </a:rPr>
              <a:t>S</a:t>
            </a:r>
            <a:r>
              <a:rPr lang="zh-CN" altLang="en-US" sz="1800">
                <a:uFillTx/>
                <a:latin typeface="Times New Roman" panose="02020603050405020304" charset="0"/>
                <a:ea typeface="微软雅黑" panose="020B0503020204020204" charset="-122"/>
              </a:rPr>
              <a:t>盒个数</a:t>
            </a:r>
            <a:r>
              <a:rPr lang="en-US" altLang="zh-CN" sz="1800">
                <a:uFillTx/>
                <a:latin typeface="Times New Roman" panose="02020603050405020304" charset="0"/>
                <a:ea typeface="微软雅黑" panose="020B0503020204020204" charset="-122"/>
              </a:rPr>
              <a:t>15.</a:t>
            </a:r>
            <a:endParaRPr lang="en-US" altLang="zh-CN" sz="1800">
              <a:uFillTx/>
              <a:latin typeface="Times New Roman" panose="02020603050405020304" charset="0"/>
              <a:ea typeface="微软雅黑" panose="020B0503020204020204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9505" y="2632075"/>
            <a:ext cx="7186295" cy="3302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97815" y="887095"/>
            <a:ext cx="11135995" cy="1035050"/>
          </a:xfrm>
        </p:spPr>
        <p:txBody>
          <a:bodyPr/>
          <a:p>
            <a:pPr algn="l"/>
            <a:r>
              <a:rPr lang="zh-CN" altLang="en-US">
                <a:uFillTx/>
                <a:latin typeface="Times New Roman" panose="02020603050405020304" charset="0"/>
                <a:ea typeface="微软雅黑" panose="020B0503020204020204" charset="-122"/>
              </a:rPr>
              <a:t> </a:t>
            </a:r>
            <a:r>
              <a:rPr lang="en-US" altLang="zh-CN">
                <a:uFillTx/>
                <a:latin typeface="Times New Roman" panose="02020603050405020304" charset="0"/>
                <a:ea typeface="微软雅黑" panose="020B0503020204020204" charset="-122"/>
              </a:rPr>
              <a:t>4</a:t>
            </a:r>
            <a:r>
              <a:rPr lang="en-US" altLang="zh-CN">
                <a:uFillTx/>
                <a:latin typeface="Times New Roman" panose="02020603050405020304" charset="0"/>
                <a:ea typeface="微软雅黑" panose="020B0503020204020204" charset="-122"/>
              </a:rPr>
              <a:t>.</a:t>
            </a:r>
            <a:r>
              <a:rPr lang="zh-CN" altLang="en-US">
                <a:uFillTx/>
                <a:latin typeface="Times New Roman" panose="02020603050405020304" charset="0"/>
                <a:ea typeface="微软雅黑" panose="020B0503020204020204" charset="-122"/>
              </a:rPr>
              <a:t>Application to LBlock-s</a:t>
            </a:r>
            <a:endParaRPr lang="zh-CN" altLang="en-US">
              <a:uFillTx/>
              <a:latin typeface="Times New Roman" panose="02020603050405020304" charset="0"/>
              <a:ea typeface="微软雅黑" panose="020B050302020402020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10870" y="1925955"/>
            <a:ext cx="9998075" cy="34150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buClrTx/>
              <a:buSzTx/>
              <a:buFontTx/>
            </a:pPr>
            <a:r>
              <a:rPr lang="zh-CN" altLang="en-US" sz="1800">
                <a:uFillTx/>
                <a:latin typeface="Times New Roman" panose="02020603050405020304" charset="0"/>
                <a:ea typeface="微软雅黑" panose="020B0503020204020204" charset="-122"/>
              </a:rPr>
              <a:t>LBlock ——Feistel结构，块长度64bits，密钥长度80bits ----- &gt; LBlock-s</a:t>
            </a:r>
            <a:endParaRPr lang="zh-CN" altLang="en-US" sz="1800">
              <a:uFillTx/>
              <a:latin typeface="Times New Roman" panose="02020603050405020304" charset="0"/>
              <a:ea typeface="微软雅黑" panose="020B0503020204020204" charset="-122"/>
            </a:endParaRPr>
          </a:p>
          <a:p>
            <a:pPr algn="l">
              <a:buClrTx/>
              <a:buSzTx/>
              <a:buFontTx/>
            </a:pPr>
            <a:endParaRPr lang="zh-CN" altLang="en-US" sz="1800">
              <a:uFillTx/>
              <a:latin typeface="Times New Roman" panose="02020603050405020304" charset="0"/>
              <a:ea typeface="微软雅黑" panose="020B0503020204020204" charset="-122"/>
            </a:endParaRPr>
          </a:p>
          <a:p>
            <a:pPr algn="l">
              <a:buClrTx/>
              <a:buSzTx/>
              <a:buFontTx/>
            </a:pPr>
            <a:r>
              <a:rPr lang="zh-CN" altLang="en-US" sz="1800">
                <a:uFillTx/>
                <a:latin typeface="Times New Roman" panose="02020603050405020304" charset="0"/>
                <a:ea typeface="微软雅黑" panose="020B0503020204020204" charset="-122"/>
              </a:rPr>
              <a:t>(1) 10轮MILP模型中得到至少有10个活跃S盒；11轮MILP模型中得到至少有</a:t>
            </a:r>
            <a:r>
              <a:rPr lang="zh-CN" altLang="en-US" sz="1800" b="1">
                <a:solidFill>
                  <a:srgbClr val="FF0000"/>
                </a:solidFill>
                <a:uFillTx/>
                <a:latin typeface="Times New Roman" panose="02020603050405020304" charset="0"/>
                <a:ea typeface="微软雅黑" panose="020B0503020204020204" charset="-122"/>
              </a:rPr>
              <a:t>11</a:t>
            </a:r>
            <a:r>
              <a:rPr lang="zh-CN" altLang="en-US" sz="1800">
                <a:uFillTx/>
                <a:latin typeface="Times New Roman" panose="02020603050405020304" charset="0"/>
                <a:ea typeface="微软雅黑" panose="020B0503020204020204" charset="-122"/>
              </a:rPr>
              <a:t>个活跃S盒</a:t>
            </a:r>
            <a:endParaRPr lang="zh-CN" altLang="en-US" sz="1800">
              <a:uFillTx/>
              <a:latin typeface="Times New Roman" panose="02020603050405020304" charset="0"/>
              <a:ea typeface="微软雅黑" panose="020B0503020204020204" charset="-122"/>
            </a:endParaRPr>
          </a:p>
          <a:p>
            <a:pPr algn="l">
              <a:buClrTx/>
              <a:buSzTx/>
              <a:buFontTx/>
            </a:pPr>
            <a:endParaRPr lang="zh-CN" altLang="en-US" sz="1800">
              <a:uFillTx/>
              <a:latin typeface="Times New Roman" panose="02020603050405020304" charset="0"/>
              <a:ea typeface="微软雅黑" panose="020B0503020204020204" charset="-122"/>
            </a:endParaRPr>
          </a:p>
          <a:p>
            <a:pPr algn="l">
              <a:buClrTx/>
              <a:buSzTx/>
              <a:buFontTx/>
            </a:pPr>
            <a:r>
              <a:rPr lang="zh-CN" altLang="en-US" sz="1800">
                <a:uFillTx/>
                <a:latin typeface="Times New Roman" panose="02020603050405020304" charset="0"/>
                <a:ea typeface="微软雅黑" panose="020B0503020204020204" charset="-122"/>
              </a:rPr>
              <a:t>(2) 求解11轮MILP模型前导入10轮相关差分特征作为MST文件，求解速度提高了大约7%</a:t>
            </a:r>
            <a:endParaRPr lang="zh-CN" altLang="en-US" sz="1800">
              <a:uFillTx/>
              <a:latin typeface="Times New Roman" panose="02020603050405020304" charset="0"/>
              <a:ea typeface="微软雅黑" panose="020B0503020204020204" charset="-122"/>
            </a:endParaRPr>
          </a:p>
          <a:p>
            <a:pPr algn="l">
              <a:buClrTx/>
              <a:buSzTx/>
              <a:buFontTx/>
            </a:pPr>
            <a:endParaRPr lang="zh-CN" altLang="en-US" sz="1800">
              <a:uFillTx/>
              <a:latin typeface="Times New Roman" panose="02020603050405020304" charset="0"/>
              <a:ea typeface="微软雅黑" panose="020B0503020204020204" charset="-122"/>
            </a:endParaRPr>
          </a:p>
          <a:p>
            <a:pPr algn="l">
              <a:buClrTx/>
              <a:buSzTx/>
              <a:buFontTx/>
            </a:pPr>
            <a:r>
              <a:rPr lang="zh-CN" altLang="en-US" sz="1800">
                <a:uFillTx/>
                <a:latin typeface="Times New Roman" panose="02020603050405020304" charset="0"/>
                <a:ea typeface="微软雅黑" panose="020B0503020204020204" charset="-122"/>
              </a:rPr>
              <a:t>(3) 利用技术2在11轮MILP模型中只允许差分概率大于等于</a:t>
            </a:r>
            <a:r>
              <a:rPr lang="zh-CN" altLang="en-US" sz="1800" b="1">
                <a:solidFill>
                  <a:srgbClr val="FF0000"/>
                </a:solidFill>
                <a:uFillTx/>
                <a:latin typeface="Times New Roman" panose="02020603050405020304" charset="0"/>
                <a:ea typeface="微软雅黑" panose="020B0503020204020204" charset="-122"/>
              </a:rPr>
              <a:t>2^(-2)</a:t>
            </a:r>
            <a:r>
              <a:rPr lang="zh-CN" altLang="en-US" sz="1800">
                <a:uFillTx/>
                <a:latin typeface="Times New Roman" panose="02020603050405020304" charset="0"/>
                <a:ea typeface="微软雅黑" panose="020B0503020204020204" charset="-122"/>
              </a:rPr>
              <a:t>，得到至少又</a:t>
            </a:r>
            <a:r>
              <a:rPr lang="zh-CN" altLang="en-US" sz="1800" b="1">
                <a:solidFill>
                  <a:srgbClr val="FF0000"/>
                </a:solidFill>
                <a:uFillTx/>
                <a:latin typeface="Times New Roman" panose="02020603050405020304" charset="0"/>
                <a:ea typeface="微软雅黑" panose="020B0503020204020204" charset="-122"/>
              </a:rPr>
              <a:t>12</a:t>
            </a:r>
            <a:r>
              <a:rPr lang="zh-CN" altLang="en-US" sz="1800">
                <a:uFillTx/>
                <a:latin typeface="Times New Roman" panose="02020603050405020304" charset="0"/>
                <a:ea typeface="微软雅黑" panose="020B0503020204020204" charset="-122"/>
              </a:rPr>
              <a:t>个活跃S盒</a:t>
            </a:r>
            <a:endParaRPr lang="zh-CN" altLang="en-US" sz="1800">
              <a:uFillTx/>
              <a:latin typeface="Times New Roman" panose="02020603050405020304" charset="0"/>
              <a:ea typeface="微软雅黑" panose="020B0503020204020204" charset="-122"/>
            </a:endParaRPr>
          </a:p>
          <a:p>
            <a:pPr algn="l">
              <a:buClrTx/>
              <a:buSzTx/>
              <a:buFontTx/>
            </a:pPr>
            <a:endParaRPr lang="zh-CN" altLang="en-US" sz="1800">
              <a:uFillTx/>
              <a:latin typeface="Times New Roman" panose="02020603050405020304" charset="0"/>
              <a:ea typeface="微软雅黑" panose="020B0503020204020204" charset="-122"/>
            </a:endParaRPr>
          </a:p>
          <a:p>
            <a:pPr algn="l">
              <a:buClrTx/>
              <a:buSzTx/>
              <a:buFontTx/>
            </a:pPr>
            <a:r>
              <a:rPr lang="zh-CN" altLang="en-US" sz="1800">
                <a:uFillTx/>
                <a:latin typeface="Times New Roman" panose="02020603050405020304" charset="0"/>
                <a:ea typeface="微软雅黑" panose="020B0503020204020204" charset="-122"/>
              </a:rPr>
              <a:t>(4)  我们可以推测</a:t>
            </a:r>
            <a:r>
              <a:rPr lang="en-US" altLang="zh-CN" sz="1800">
                <a:uFillTx/>
                <a:latin typeface="Times New Roman" panose="02020603050405020304" charset="0"/>
                <a:ea typeface="微软雅黑" panose="020B0503020204020204" charset="-122"/>
              </a:rPr>
              <a:t>11</a:t>
            </a:r>
            <a:r>
              <a:rPr lang="zh-CN" altLang="en-US" sz="1800">
                <a:uFillTx/>
                <a:latin typeface="Times New Roman" panose="02020603050405020304" charset="0"/>
                <a:ea typeface="微软雅黑" panose="020B0503020204020204" charset="-122"/>
              </a:rPr>
              <a:t>轮</a:t>
            </a:r>
            <a:r>
              <a:rPr lang="zh-CN" altLang="en-US" sz="1800">
                <a:uFillTx/>
                <a:latin typeface="Times New Roman" panose="02020603050405020304" charset="0"/>
                <a:ea typeface="微软雅黑" panose="020B0503020204020204" charset="-122"/>
                <a:sym typeface="+mn-ea"/>
              </a:rPr>
              <a:t>LBlock</a:t>
            </a:r>
            <a:r>
              <a:rPr lang="en-US" altLang="zh-CN" sz="1800">
                <a:uFillTx/>
                <a:latin typeface="Times New Roman" panose="02020603050405020304" charset="0"/>
                <a:ea typeface="微软雅黑" panose="020B0503020204020204" charset="-122"/>
                <a:sym typeface="+mn-ea"/>
              </a:rPr>
              <a:t>-s</a:t>
            </a:r>
            <a:r>
              <a:rPr lang="zh-CN" altLang="en-US" sz="1800">
                <a:uFillTx/>
                <a:latin typeface="Times New Roman" panose="02020603050405020304" charset="0"/>
                <a:ea typeface="微软雅黑" panose="020B0503020204020204" charset="-122"/>
                <a:sym typeface="+mn-ea"/>
              </a:rPr>
              <a:t>模型的相关密钥差分概率至少为</a:t>
            </a:r>
            <a:endParaRPr lang="zh-CN" altLang="en-US" sz="1800">
              <a:uFillTx/>
              <a:latin typeface="Times New Roman" panose="02020603050405020304" charset="0"/>
              <a:ea typeface="微软雅黑" panose="020B0503020204020204" charset="-122"/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zh-CN" altLang="en-US" sz="1800">
                <a:uFillTx/>
                <a:latin typeface="Times New Roman" panose="02020603050405020304" charset="0"/>
                <a:ea typeface="微软雅黑" panose="020B0503020204020204" charset="-122"/>
                <a:sym typeface="+mn-ea"/>
              </a:rPr>
              <a:t>      </a:t>
            </a:r>
            <a:endParaRPr lang="zh-CN" altLang="en-US" sz="1800">
              <a:uFillTx/>
              <a:latin typeface="Times New Roman" panose="02020603050405020304" charset="0"/>
              <a:ea typeface="微软雅黑" panose="020B0503020204020204" charset="-122"/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zh-CN" altLang="en-US" sz="1800">
                <a:uFillTx/>
                <a:latin typeface="Times New Roman" panose="02020603050405020304" charset="0"/>
                <a:ea typeface="微软雅黑" panose="020B0503020204020204" charset="-122"/>
                <a:sym typeface="+mn-ea"/>
              </a:rPr>
              <a:t>     LBlock</a:t>
            </a:r>
            <a:r>
              <a:rPr lang="en-US" altLang="zh-CN" sz="1800">
                <a:uFillTx/>
                <a:latin typeface="Times New Roman" panose="02020603050405020304" charset="0"/>
                <a:ea typeface="微软雅黑" panose="020B0503020204020204" charset="-122"/>
                <a:sym typeface="+mn-ea"/>
              </a:rPr>
              <a:t>-s32</a:t>
            </a:r>
            <a:r>
              <a:rPr lang="zh-CN" altLang="en-US" sz="1800">
                <a:uFillTx/>
                <a:latin typeface="Times New Roman" panose="02020603050405020304" charset="0"/>
                <a:ea typeface="微软雅黑" panose="020B0503020204020204" charset="-122"/>
                <a:sym typeface="+mn-ea"/>
              </a:rPr>
              <a:t>轮差分概率上界为</a:t>
            </a:r>
            <a:endParaRPr lang="zh-CN" altLang="en-US" sz="1800">
              <a:uFillTx/>
              <a:latin typeface="Times New Roman" panose="02020603050405020304" charset="0"/>
              <a:ea typeface="微软雅黑" panose="020B0503020204020204" charset="-122"/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1800">
                <a:uFillTx/>
                <a:latin typeface="Times New Roman" panose="02020603050405020304" charset="0"/>
                <a:ea typeface="微软雅黑" panose="020B0503020204020204" charset="-122"/>
                <a:sym typeface="+mn-ea"/>
              </a:rPr>
              <a:t>		</a:t>
            </a:r>
            <a:endParaRPr lang="en-US" altLang="zh-CN" sz="1800">
              <a:uFillTx/>
              <a:latin typeface="Times New Roman" panose="02020603050405020304" charset="0"/>
              <a:ea typeface="微软雅黑" panose="020B0503020204020204" charset="-122"/>
              <a:sym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26910" y="4116705"/>
            <a:ext cx="2428875" cy="39433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2410" y="4653915"/>
            <a:ext cx="3134995" cy="39560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7405" y="4653915"/>
            <a:ext cx="626110" cy="393065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3872230" y="2650490"/>
            <a:ext cx="4447540" cy="7683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4400">
                <a:latin typeface="微软雅黑" panose="020B0503020204020204" charset="-122"/>
                <a:ea typeface="微软雅黑" panose="020B0503020204020204" charset="-122"/>
              </a:rPr>
              <a:t>欢迎批评与指正！</a:t>
            </a:r>
            <a:endParaRPr lang="zh-CN" altLang="en-US" sz="4400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主题1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9EDEE"/>
      </a:accent5>
      <a:accent6>
        <a:srgbClr val="2D2D89"/>
      </a:accent6>
      <a:hlink>
        <a:srgbClr val="009999"/>
      </a:hlink>
      <a:folHlink>
        <a:srgbClr val="99CC00"/>
      </a:folHlink>
    </a:clrScheme>
    <a:fontScheme name="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raClrSchemeLst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9EDEE"/>
        </a:accent5>
        <a:accent6>
          <a:srgbClr val="2D2D89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4"/>
        </a:accent5>
        <a:accent6>
          <a:srgbClr val="E5895B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7B7E5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BFAF7"/>
        </a:accent3>
        <a:accent4>
          <a:srgbClr val="000000"/>
        </a:accent4>
        <a:accent5>
          <a:srgbClr val="FFFFFF"/>
        </a:accent5>
        <a:accent6>
          <a:srgbClr val="7EB1E5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7B7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8080"/>
        </a:lt1>
        <a:dk2>
          <a:srgbClr val="FFFF99"/>
        </a:dk2>
        <a:lt2>
          <a:srgbClr val="005A58"/>
        </a:lt2>
        <a:accent1>
          <a:srgbClr val="006462"/>
        </a:accent1>
        <a:accent2>
          <a:srgbClr val="6D6FC7"/>
        </a:accent2>
        <a:accent3>
          <a:srgbClr val="AAC1C1"/>
        </a:accent3>
        <a:accent4>
          <a:srgbClr val="DCDCDC"/>
        </a:accent4>
        <a:accent5>
          <a:srgbClr val="AAB8B8"/>
        </a:accent5>
        <a:accent6>
          <a:srgbClr val="6163B2"/>
        </a:accent6>
        <a:hlink>
          <a:srgbClr val="00FFFF"/>
        </a:hlink>
        <a:folHlink>
          <a:srgbClr val="00FF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800000"/>
        </a:lt1>
        <a:dk2>
          <a:srgbClr val="DFD293"/>
        </a:dk2>
        <a:lt2>
          <a:srgbClr val="5C1F00"/>
        </a:lt2>
        <a:accent1>
          <a:srgbClr val="CC3300"/>
        </a:accent1>
        <a:accent2>
          <a:srgbClr val="BE7960"/>
        </a:accent2>
        <a:accent3>
          <a:srgbClr val="C1AAAA"/>
        </a:accent3>
        <a:accent4>
          <a:srgbClr val="DCDCDC"/>
        </a:accent4>
        <a:accent5>
          <a:srgbClr val="E2ADAA"/>
        </a:accent5>
        <a:accent6>
          <a:srgbClr val="AA6C55"/>
        </a:accent6>
        <a:hlink>
          <a:srgbClr val="FFFF99"/>
        </a:hlink>
        <a:folHlink>
          <a:srgbClr val="D3A21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99"/>
        </a:lt1>
        <a:dk2>
          <a:srgbClr val="CCFFFF"/>
        </a:dk2>
        <a:lt2>
          <a:srgbClr val="003366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CDCDC"/>
        </a:accent4>
        <a:accent5>
          <a:srgbClr val="ADB9E2"/>
        </a:accent5>
        <a:accent6>
          <a:srgbClr val="009D00"/>
        </a:accent6>
        <a:hlink>
          <a:srgbClr val="66CCFF"/>
        </a:hlink>
        <a:folHlink>
          <a:srgbClr val="FFE70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00"/>
        </a:lt1>
        <a:dk2>
          <a:srgbClr val="E3EBF1"/>
        </a:dk2>
        <a:lt2>
          <a:srgbClr val="336699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CDCDC"/>
        </a:accent4>
        <a:accent5>
          <a:srgbClr val="AAADCA"/>
        </a:accent5>
        <a:accent6>
          <a:srgbClr val="3E7B43"/>
        </a:accent6>
        <a:hlink>
          <a:srgbClr val="66CCFF"/>
        </a:hlink>
        <a:folHlink>
          <a:srgbClr val="F0E5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86B5D"/>
        </a:lt1>
        <a:dk2>
          <a:srgbClr val="D1D1CB"/>
        </a:dk2>
        <a:lt2>
          <a:srgbClr val="777777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CDCDC"/>
        </a:accent4>
        <a:accent5>
          <a:srgbClr val="C7C7C1"/>
        </a:accent5>
        <a:accent6>
          <a:srgbClr val="728D96"/>
        </a:accent6>
        <a:hlink>
          <a:srgbClr val="FFCC66"/>
        </a:hlink>
        <a:folHlink>
          <a:srgbClr val="E9DCB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66699"/>
        </a:lt1>
        <a:dk2>
          <a:srgbClr val="FFFFFF"/>
        </a:dk2>
        <a:lt2>
          <a:srgbClr val="3E3E5C"/>
        </a:lt2>
        <a:accent1>
          <a:srgbClr val="60597B"/>
        </a:accent1>
        <a:accent2>
          <a:srgbClr val="6666FF"/>
        </a:accent2>
        <a:accent3>
          <a:srgbClr val="B9B9CA"/>
        </a:accent3>
        <a:accent4>
          <a:srgbClr val="DCDCDC"/>
        </a:accent4>
        <a:accent5>
          <a:srgbClr val="B7B5BF"/>
        </a:accent5>
        <a:accent6>
          <a:srgbClr val="5B5BE5"/>
        </a:accent6>
        <a:hlink>
          <a:srgbClr val="99CCFF"/>
        </a:hlink>
        <a:folHlink>
          <a:srgbClr val="FFFF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523E26"/>
        </a:lt1>
        <a:dk2>
          <a:srgbClr val="DFC08D"/>
        </a:dk2>
        <a:lt2>
          <a:srgbClr val="2D2015"/>
        </a:lt2>
        <a:accent1>
          <a:srgbClr val="8C7B70"/>
        </a:accent1>
        <a:accent2>
          <a:srgbClr val="8F5F2F"/>
        </a:accent2>
        <a:accent3>
          <a:srgbClr val="B3AFAB"/>
        </a:accent3>
        <a:accent4>
          <a:srgbClr val="DCDCDC"/>
        </a:accent4>
        <a:accent5>
          <a:srgbClr val="C5BFBC"/>
        </a:accent5>
        <a:accent6>
          <a:srgbClr val="805529"/>
        </a:accent6>
        <a:hlink>
          <a:srgbClr val="CCB400"/>
        </a:hlink>
        <a:folHlink>
          <a:srgbClr val="8C9EA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主题1</Template>
  <TotalTime>0</TotalTime>
  <Words>4839</Words>
  <Application>WPS 演示</Application>
  <PresentationFormat>宽屏</PresentationFormat>
  <Paragraphs>229</Paragraphs>
  <Slides>24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6</vt:i4>
      </vt:variant>
      <vt:variant>
        <vt:lpstr>幻灯片标题</vt:lpstr>
      </vt:variant>
      <vt:variant>
        <vt:i4>24</vt:i4>
      </vt:variant>
    </vt:vector>
  </HeadingPairs>
  <TitlesOfParts>
    <vt:vector size="38" baseType="lpstr">
      <vt:lpstr>Arial</vt:lpstr>
      <vt:lpstr>宋体</vt:lpstr>
      <vt:lpstr>Wingdings</vt:lpstr>
      <vt:lpstr>Times New Roman</vt:lpstr>
      <vt:lpstr>微软雅黑</vt:lpstr>
      <vt:lpstr>Arial Unicode MS</vt:lpstr>
      <vt:lpstr>Calibri</vt:lpstr>
      <vt:lpstr>主题1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PowerPoint 演示文稿</vt:lpstr>
      <vt:lpstr>PowerPoint 演示文稿</vt:lpstr>
      <vt:lpstr>1.methods for finding the best differential characteristic of a cipher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2.Techniques for Obtaining Better Characteristics</vt:lpstr>
      <vt:lpstr>Technique 1. Finding Characteristics with More Active S-Boxes</vt:lpstr>
      <vt:lpstr>Technique 2. Imposing Different Constraints for Different Rounds.</vt:lpstr>
      <vt:lpstr>Technique 3. Encoding More Information into the Differential Patterns of an S-Box —— 将差分概率封装在S盒中</vt:lpstr>
      <vt:lpstr>PowerPoint 演示文稿</vt:lpstr>
      <vt:lpstr>PowerPoint 演示文稿</vt:lpstr>
      <vt:lpstr> 3.Application to DESL</vt:lpstr>
      <vt:lpstr> 3.Application to DESL</vt:lpstr>
      <vt:lpstr> 3.Application to DESL</vt:lpstr>
      <vt:lpstr> 4.Application to LBlock-s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838352371@qq.com</dc:creator>
  <cp:lastModifiedBy>wgl002</cp:lastModifiedBy>
  <cp:revision>89</cp:revision>
  <dcterms:created xsi:type="dcterms:W3CDTF">2020-10-06T12:54:00Z</dcterms:created>
  <dcterms:modified xsi:type="dcterms:W3CDTF">2020-10-26T11:34:12Z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2052-11.1.0.10072</vt:lpwstr>
  </property>
</Properties>
</file>