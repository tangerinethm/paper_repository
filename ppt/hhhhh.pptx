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2" r:id="rId3"/>
    <p:sldId id="413" r:id="rId4"/>
    <p:sldId id="416" r:id="rId5"/>
    <p:sldId id="417" r:id="rId6"/>
    <p:sldId id="444" r:id="rId7"/>
    <p:sldId id="418" r:id="rId8"/>
    <p:sldId id="422" r:id="rId9"/>
    <p:sldId id="423" r:id="rId10"/>
    <p:sldId id="414" r:id="rId11"/>
    <p:sldId id="419" r:id="rId12"/>
    <p:sldId id="427" r:id="rId13"/>
    <p:sldId id="433" r:id="rId14"/>
    <p:sldId id="415" r:id="rId15"/>
    <p:sldId id="428" r:id="rId16"/>
    <p:sldId id="429" r:id="rId17"/>
    <p:sldId id="446" r:id="rId18"/>
    <p:sldId id="430" r:id="rId19"/>
    <p:sldId id="432" r:id="rId20"/>
    <p:sldId id="439" r:id="rId21"/>
    <p:sldId id="448"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06a6d709-353b-49f4-af1d-2bd86c7bbaea}">
          <p14:sldIdLst>
            <p14:sldId id="412"/>
          </p14:sldIdLst>
        </p14:section>
        <p14:section name="无标题节" id="{b8d9e00e-2d26-4dbb-94c9-86eecf1563c2}">
          <p14:sldIdLst>
            <p14:sldId id="413"/>
            <p14:sldId id="416"/>
            <p14:sldId id="417"/>
            <p14:sldId id="444"/>
            <p14:sldId id="418"/>
            <p14:sldId id="422"/>
            <p14:sldId id="423"/>
          </p14:sldIdLst>
        </p14:section>
        <p14:section name="无标题节" id="{41946c21-306b-40db-bf99-5edf46f865c9}">
          <p14:sldIdLst>
            <p14:sldId id="414"/>
            <p14:sldId id="419"/>
            <p14:sldId id="427"/>
            <p14:sldId id="433"/>
          </p14:sldIdLst>
        </p14:section>
        <p14:section name="无标题节" id="{bd5df506-de1c-471e-ac8f-68853eabc858}">
          <p14:sldIdLst>
            <p14:sldId id="415"/>
            <p14:sldId id="428"/>
            <p14:sldId id="429"/>
            <p14:sldId id="446"/>
            <p14:sldId id="432"/>
            <p14:sldId id="439"/>
            <p14:sldId id="448"/>
            <p14:sldId id="43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gl002"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2276475"/>
            <a:ext cx="5376672" cy="38496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6205728" y="2276475"/>
            <a:ext cx="5376672" cy="38496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1186775" y="2665379"/>
            <a:ext cx="4873575"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256939" y="2665379"/>
            <a:ext cx="4897576"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7" name="日期占位符 6"/>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r>
              <a:rPr lang="zh-CN" altLang="en-US" strike="noStrike" noProof="1"/>
              <a:t>单击图标添加图片</a:t>
            </a:r>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0313" y="981075"/>
            <a:ext cx="2746904" cy="5145088"/>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981075"/>
            <a:ext cx="8081472" cy="5145088"/>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lstStyle/>
          <a:p>
            <a:fld id="{425B4BC6-B3A8-4ADE-BC25-A71C0AEEBF1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D1D95CE-D62D-483D-A457-8A642A840A9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24417" y="981075"/>
            <a:ext cx="109728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09600" y="2276475"/>
            <a:ext cx="10972800" cy="3849688"/>
          </a:xfrm>
          <a:prstGeom prst="rect">
            <a:avLst/>
          </a:prstGeom>
          <a:noFill/>
          <a:ln w="9525">
            <a:noFill/>
          </a:ln>
        </p:spPr>
        <p:txBody>
          <a:bodyPr anchor="t"/>
          <a:lstStyle/>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425B4BC6-B3A8-4ADE-BC25-A71C0AEEBF18}" type="datetimeFigureOut">
              <a:rPr lang="zh-CN" altLang="en-US" smtClean="0"/>
            </a:fld>
            <a:endParaRPr lang="zh-CN" altLang="en-US"/>
          </a:p>
        </p:txBody>
      </p:sp>
      <p:sp>
        <p:nvSpPr>
          <p:cNvPr id="1029" name="页脚占位符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zh-CN" altLang="en-US"/>
          </a:p>
        </p:txBody>
      </p:sp>
      <p:sp>
        <p:nvSpPr>
          <p:cNvPr id="1030" name="灯片编号占位符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8D1D95CE-D62D-483D-A457-8A642A840A9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lvl="0" indent="0" algn="ctr" defTabSz="914400" rtl="0" eaLnBrk="1" fontAlgn="base" latinLnBrk="0" hangingPunct="1">
        <a:lnSpc>
          <a:spcPct val="100000"/>
        </a:lnSpc>
        <a:spcBef>
          <a:spcPct val="0"/>
        </a:spcBef>
        <a:spcAft>
          <a:spcPct val="0"/>
        </a:spcAft>
        <a:buNone/>
        <a:defRPr sz="4000" b="1"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7.wmf"/><Relationship Id="rId7" Type="http://schemas.openxmlformats.org/officeDocument/2006/relationships/oleObject" Target="../embeddings/oleObject4.bin"/><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6" Type="http://schemas.openxmlformats.org/officeDocument/2006/relationships/vmlDrawing" Target="../drawings/vmlDrawing1.vml"/><Relationship Id="rId15" Type="http://schemas.openxmlformats.org/officeDocument/2006/relationships/slideLayout" Target="../slideLayouts/slideLayout7.xml"/><Relationship Id="rId14" Type="http://schemas.openxmlformats.org/officeDocument/2006/relationships/image" Target="../media/image10.wmf"/><Relationship Id="rId13" Type="http://schemas.openxmlformats.org/officeDocument/2006/relationships/oleObject" Target="../embeddings/oleObject7.bin"/><Relationship Id="rId12" Type="http://schemas.openxmlformats.org/officeDocument/2006/relationships/image" Target="../media/image9.wmf"/><Relationship Id="rId11" Type="http://schemas.openxmlformats.org/officeDocument/2006/relationships/oleObject" Target="../embeddings/oleObject6.bin"/><Relationship Id="rId10" Type="http://schemas.openxmlformats.org/officeDocument/2006/relationships/image" Target="../media/image8.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7.xml"/><Relationship Id="rId7" Type="http://schemas.openxmlformats.org/officeDocument/2006/relationships/image" Target="../media/image18.wmf"/><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image" Target="../media/image17.wmf"/><Relationship Id="rId3" Type="http://schemas.openxmlformats.org/officeDocument/2006/relationships/oleObject" Target="../embeddings/oleObject9.bin"/><Relationship Id="rId2" Type="http://schemas.openxmlformats.org/officeDocument/2006/relationships/image" Target="../media/image16.wmf"/><Relationship Id="rId1"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8005" y="1478280"/>
            <a:ext cx="11095355" cy="1076325"/>
          </a:xfrm>
          <a:prstGeom prst="rect">
            <a:avLst/>
          </a:prstGeom>
          <a:noFill/>
        </p:spPr>
        <p:txBody>
          <a:bodyPr wrap="square" rtlCol="0" anchor="t">
            <a:spAutoFit/>
          </a:bodyPr>
          <a:p>
            <a:r>
              <a:rPr lang="zh-CN" altLang="en-US" sz="3200">
                <a:solidFill>
                  <a:schemeClr val="tx1"/>
                </a:solidFill>
                <a:uFillTx/>
                <a:latin typeface="Times New Roman" panose="02020603050405020304" charset="0"/>
                <a:ea typeface="微软雅黑" panose="020B0503020204020204" pitchFamily="34" charset="-122"/>
              </a:rPr>
              <a:t>An Easy-To-Use Tool for Rotational-XOR Cryptanalysis of ARX Block Ciphers</a:t>
            </a:r>
            <a:endParaRPr lang="zh-CN" altLang="en-US" sz="3200">
              <a:solidFill>
                <a:schemeClr val="tx1"/>
              </a:solidFill>
              <a:uFillTx/>
              <a:latin typeface="Times New Roman" panose="02020603050405020304" charset="0"/>
              <a:ea typeface="微软雅黑" panose="020B0503020204020204" pitchFamily="34" charset="-122"/>
            </a:endParaRPr>
          </a:p>
        </p:txBody>
      </p:sp>
      <p:sp>
        <p:nvSpPr>
          <p:cNvPr id="6" name="文本框 5"/>
          <p:cNvSpPr txBox="1"/>
          <p:nvPr/>
        </p:nvSpPr>
        <p:spPr>
          <a:xfrm>
            <a:off x="548005" y="3691255"/>
            <a:ext cx="11008995" cy="1014730"/>
          </a:xfrm>
          <a:prstGeom prst="rect">
            <a:avLst/>
          </a:prstGeom>
          <a:noFill/>
        </p:spPr>
        <p:txBody>
          <a:bodyPr wrap="square" rtlCol="0" anchor="t">
            <a:spAutoFit/>
          </a:bodyPr>
          <a:p>
            <a:r>
              <a:rPr lang="en-US" altLang="zh-CN" sz="2000" b="1">
                <a:uFillTx/>
                <a:latin typeface="Times New Roman" panose="02020603050405020304" charset="0"/>
                <a:ea typeface="微软雅黑" panose="020B0503020204020204" pitchFamily="34" charset="-122"/>
              </a:rPr>
              <a:t>Author</a:t>
            </a:r>
            <a:r>
              <a:rPr lang="en-US" altLang="zh-CN" sz="2000">
                <a:uFillTx/>
                <a:latin typeface="Times New Roman" panose="02020603050405020304" charset="0"/>
                <a:ea typeface="微软雅黑" panose="020B0503020204020204" pitchFamily="34" charset="-122"/>
              </a:rPr>
              <a:t>: </a:t>
            </a:r>
            <a:r>
              <a:rPr lang="zh-CN" altLang="en-US" sz="2000">
                <a:uFillTx/>
                <a:latin typeface="Times New Roman" panose="02020603050405020304" charset="0"/>
                <a:ea typeface="微软雅黑" panose="020B0503020204020204" pitchFamily="34" charset="-122"/>
              </a:rPr>
              <a:t>Adri´an Ranea1,2, Yunwen Liu1,3, Tomer Ashur1</a:t>
            </a:r>
            <a:endParaRPr lang="zh-CN" altLang="en-US" sz="2000">
              <a:uFillTx/>
              <a:latin typeface="Times New Roman" panose="02020603050405020304" charset="0"/>
              <a:ea typeface="微软雅黑" panose="020B0503020204020204" pitchFamily="34" charset="-122"/>
            </a:endParaRPr>
          </a:p>
          <a:p>
            <a:r>
              <a:rPr lang="en-US" altLang="zh-CN" sz="2000" b="1">
                <a:uFillTx/>
                <a:latin typeface="Times New Roman" panose="02020603050405020304" charset="0"/>
                <a:ea typeface="微软雅黑" panose="020B0503020204020204" pitchFamily="34" charset="-122"/>
              </a:rPr>
              <a:t>Keywords</a:t>
            </a:r>
            <a:r>
              <a:rPr lang="en-US" altLang="zh-CN" sz="2000">
                <a:uFillTx/>
                <a:latin typeface="Times New Roman" panose="02020603050405020304" charset="0"/>
                <a:ea typeface="微软雅黑" panose="020B0503020204020204" pitchFamily="34" charset="-122"/>
              </a:rPr>
              <a:t>: ARX, rotational-XOR cryptanalysis, automatic search, ArxPy</a:t>
            </a:r>
            <a:endParaRPr lang="en-US" altLang="zh-CN" sz="2000">
              <a:uFillTx/>
              <a:latin typeface="Times New Roman" panose="02020603050405020304" charset="0"/>
              <a:ea typeface="微软雅黑" panose="020B0503020204020204" pitchFamily="34" charset="-122"/>
            </a:endParaRPr>
          </a:p>
          <a:p>
            <a:r>
              <a:rPr lang="en-US" altLang="zh-CN" sz="2000" b="1">
                <a:uFillTx/>
                <a:latin typeface="Times New Roman" panose="02020603050405020304" charset="0"/>
                <a:ea typeface="微软雅黑" panose="020B0503020204020204" pitchFamily="34" charset="-122"/>
              </a:rPr>
              <a:t>Year</a:t>
            </a:r>
            <a:r>
              <a:rPr lang="en-US" altLang="zh-CN" sz="2000">
                <a:uFillTx/>
                <a:latin typeface="Times New Roman" panose="02020603050405020304" charset="0"/>
                <a:ea typeface="微软雅黑" panose="020B0503020204020204" pitchFamily="34" charset="-122"/>
              </a:rPr>
              <a:t>: 2020</a:t>
            </a:r>
            <a:endParaRPr lang="en-US" altLang="zh-CN" sz="2000">
              <a:uFillTx/>
              <a:latin typeface="Times New Roman" panose="02020603050405020304" charset="0"/>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ctrTitle"/>
          </p:nvPr>
        </p:nvSpPr>
        <p:spPr/>
        <p:txBody>
          <a:bodyPr/>
          <a:p>
            <a:r>
              <a:rPr lang="zh-CN" altLang="en-US"/>
              <a:t> Preliminaries</a:t>
            </a:r>
            <a:endParaRPr lang="zh-CN" altLang="en-US"/>
          </a:p>
        </p:txBody>
      </p:sp>
      <p:sp>
        <p:nvSpPr>
          <p:cNvPr id="7" name="副标题 6"/>
          <p:cNvSpPr>
            <a:spLocks noGrp="1"/>
          </p:cNvSpPr>
          <p:nvPr>
            <p:ph type="subTitle" idx="1"/>
          </p:nvPr>
        </p:nvSpPr>
        <p:spPr/>
        <p:txBody>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2409825" cy="521970"/>
          </a:xfrm>
          <a:prstGeom prst="rect">
            <a:avLst/>
          </a:prstGeom>
          <a:noFill/>
        </p:spPr>
        <p:txBody>
          <a:bodyPr wrap="square" rtlCol="0">
            <a:spAutoFit/>
          </a:bodyPr>
          <a:p>
            <a:r>
              <a:rPr lang="en-US" altLang="zh-CN" sz="2800"/>
              <a:t>1. Notations</a:t>
            </a:r>
            <a:endParaRPr lang="en-US" altLang="zh-CN" sz="2800"/>
          </a:p>
        </p:txBody>
      </p:sp>
      <p:pic>
        <p:nvPicPr>
          <p:cNvPr id="2" name="图片 1"/>
          <p:cNvPicPr>
            <a:picLocks noChangeAspect="1"/>
          </p:cNvPicPr>
          <p:nvPr>
            <p:custDataLst>
              <p:tags r:id="rId1"/>
            </p:custDataLst>
          </p:nvPr>
        </p:nvPicPr>
        <p:blipFill>
          <a:blip r:embed="rId2"/>
          <a:stretch>
            <a:fillRect/>
          </a:stretch>
        </p:blipFill>
        <p:spPr>
          <a:xfrm>
            <a:off x="2682240" y="1359535"/>
            <a:ext cx="6429375" cy="4789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2.  ARX Block Ciphers</a:t>
            </a:r>
            <a:endParaRPr lang="en-US" altLang="zh-CN" sz="2800"/>
          </a:p>
        </p:txBody>
      </p:sp>
      <p:sp>
        <p:nvSpPr>
          <p:cNvPr id="2" name="文本框 1"/>
          <p:cNvSpPr txBox="1"/>
          <p:nvPr/>
        </p:nvSpPr>
        <p:spPr>
          <a:xfrm>
            <a:off x="402590" y="1819910"/>
            <a:ext cx="11348720" cy="829945"/>
          </a:xfrm>
          <a:prstGeom prst="rect">
            <a:avLst/>
          </a:prstGeom>
          <a:noFill/>
        </p:spPr>
        <p:txBody>
          <a:bodyPr wrap="square" rtlCol="0">
            <a:spAutoFit/>
          </a:bodyPr>
          <a:p>
            <a:r>
              <a:rPr lang="zh-CN" altLang="en-US" sz="2400">
                <a:solidFill>
                  <a:schemeClr val="tx1"/>
                </a:solidFill>
                <a:uFillTx/>
                <a:latin typeface="Times New Roman" panose="02020603050405020304" charset="0"/>
                <a:ea typeface="楷体" panose="02010609060101010101" charset="-122"/>
                <a:cs typeface="楷体" panose="02010609060101010101" charset="-122"/>
              </a:rPr>
              <a:t>只使用模加</a:t>
            </a:r>
            <a:r>
              <a:rPr lang="en-US" altLang="zh-CN" sz="2400">
                <a:solidFill>
                  <a:schemeClr val="tx1"/>
                </a:solidFill>
                <a:uFillTx/>
                <a:latin typeface="Times New Roman" panose="02020603050405020304" charset="0"/>
                <a:ea typeface="楷体" panose="02010609060101010101" charset="-122"/>
                <a:cs typeface="楷体" panose="02010609060101010101" charset="-122"/>
              </a:rPr>
              <a:t>(modular additions)</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、循环旋转</a:t>
            </a:r>
            <a:r>
              <a:rPr lang="en-US" altLang="zh-CN" sz="2400">
                <a:solidFill>
                  <a:schemeClr val="tx1"/>
                </a:solidFill>
                <a:uFillTx/>
                <a:latin typeface="Times New Roman" panose="02020603050405020304" charset="0"/>
                <a:ea typeface="楷体" panose="02010609060101010101" charset="-122"/>
                <a:cs typeface="楷体" panose="02010609060101010101" charset="-122"/>
              </a:rPr>
              <a:t>(cyclic rotations)</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和异或(XOR)操作的分组密码称为</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分组分密码</a:t>
            </a: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p:txBody>
      </p:sp>
      <p:sp>
        <p:nvSpPr>
          <p:cNvPr id="3" name="文本框 2"/>
          <p:cNvSpPr txBox="1"/>
          <p:nvPr/>
        </p:nvSpPr>
        <p:spPr>
          <a:xfrm>
            <a:off x="402590" y="2912745"/>
            <a:ext cx="8505825" cy="1938020"/>
          </a:xfrm>
          <a:prstGeom prst="rect">
            <a:avLst/>
          </a:prstGeom>
          <a:noFill/>
        </p:spPr>
        <p:txBody>
          <a:bodyPr wrap="square" rtlCol="0" anchor="t">
            <a:spAutoFit/>
          </a:bodyPr>
          <a:p>
            <a:pPr algn="l">
              <a:buClrTx/>
              <a:buSzTx/>
              <a:buFontTx/>
            </a:pPr>
            <a:r>
              <a:rPr lang="zh-CN" altLang="en-US" sz="2400">
                <a:uFillTx/>
                <a:latin typeface="Times New Roman" panose="02020603050405020304" charset="0"/>
                <a:ea typeface="楷体" panose="02010609060101010101" charset="-122"/>
                <a:cs typeface="楷体" panose="02010609060101010101" charset="-122"/>
                <a:sym typeface="+mn-ea"/>
              </a:rPr>
              <a:t>以SPECK算法为例，SPECK算法是由美国国家安全局</a:t>
            </a:r>
            <a:r>
              <a:rPr lang="en-US" altLang="zh-CN" sz="2400">
                <a:uFillTx/>
                <a:latin typeface="Times New Roman" panose="02020603050405020304" charset="0"/>
                <a:ea typeface="楷体" panose="02010609060101010101" charset="-122"/>
                <a:cs typeface="楷体" panose="02010609060101010101" charset="-122"/>
                <a:sym typeface="+mn-ea"/>
              </a:rPr>
              <a:t>(</a:t>
            </a:r>
            <a:r>
              <a:rPr lang="zh-CN" altLang="en-US" sz="2400">
                <a:uFillTx/>
                <a:latin typeface="Times New Roman" panose="02020603050405020304" charset="0"/>
                <a:ea typeface="楷体" panose="02010609060101010101" charset="-122"/>
                <a:cs typeface="楷体" panose="02010609060101010101" charset="-122"/>
                <a:sym typeface="+mn-ea"/>
              </a:rPr>
              <a:t>NSA</a:t>
            </a:r>
            <a:r>
              <a:rPr lang="en-US" altLang="zh-CN" sz="2400">
                <a:uFillTx/>
                <a:latin typeface="Times New Roman" panose="02020603050405020304" charset="0"/>
                <a:ea typeface="楷体" panose="02010609060101010101" charset="-122"/>
                <a:cs typeface="楷体" panose="02010609060101010101" charset="-122"/>
                <a:sym typeface="+mn-ea"/>
              </a:rPr>
              <a:t>)</a:t>
            </a:r>
            <a:endParaRPr lang="zh-CN" altLang="en-US" sz="2400">
              <a:uFillTx/>
              <a:latin typeface="Times New Roman" panose="02020603050405020304" charset="0"/>
              <a:ea typeface="楷体" panose="02010609060101010101" charset="-122"/>
              <a:cs typeface="楷体" panose="02010609060101010101" charset="-122"/>
              <a:sym typeface="+mn-ea"/>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sym typeface="+mn-ea"/>
              </a:rPr>
              <a:t>设计并于2013年发布的系列分组密码，轮函数如右图。</a:t>
            </a:r>
            <a:endParaRPr lang="zh-CN" altLang="en-US" sz="2400">
              <a:uFillTx/>
              <a:latin typeface="Times New Roman" panose="02020603050405020304" charset="0"/>
              <a:ea typeface="楷体" panose="02010609060101010101" charset="-122"/>
              <a:cs typeface="楷体" panose="02010609060101010101" charset="-122"/>
              <a:sym typeface="+mn-ea"/>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SPECK家族被表示为Speck2n/mn</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块长度为2n，n ∈ {16, 24, 32, 48, 64}</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密钥长度为mn，m ∈ {2, 3, 4}</a:t>
            </a:r>
            <a:endParaRPr lang="zh-CN" altLang="en-US" sz="2400">
              <a:uFillTx/>
              <a:latin typeface="Times New Roman" panose="02020603050405020304" charset="0"/>
              <a:ea typeface="楷体" panose="02010609060101010101" charset="-122"/>
              <a:cs typeface="楷体" panose="02010609060101010101" charset="-122"/>
            </a:endParaRPr>
          </a:p>
        </p:txBody>
      </p:sp>
      <p:pic>
        <p:nvPicPr>
          <p:cNvPr id="5" name="图片 4"/>
          <p:cNvPicPr>
            <a:picLocks noChangeAspect="1"/>
          </p:cNvPicPr>
          <p:nvPr/>
        </p:nvPicPr>
        <p:blipFill>
          <a:blip r:embed="rId1"/>
          <a:stretch>
            <a:fillRect/>
          </a:stretch>
        </p:blipFill>
        <p:spPr>
          <a:xfrm>
            <a:off x="8418830" y="2489200"/>
            <a:ext cx="3642360" cy="3741420"/>
          </a:xfrm>
          <a:prstGeom prst="rect">
            <a:avLst/>
          </a:prstGeom>
        </p:spPr>
      </p:pic>
      <p:sp>
        <p:nvSpPr>
          <p:cNvPr id="7" name="文本框 6"/>
          <p:cNvSpPr txBox="1"/>
          <p:nvPr/>
        </p:nvSpPr>
        <p:spPr>
          <a:xfrm>
            <a:off x="402590" y="5123815"/>
            <a:ext cx="7920355" cy="1106805"/>
          </a:xfrm>
          <a:prstGeom prst="rect">
            <a:avLst/>
          </a:prstGeom>
          <a:noFill/>
        </p:spPr>
        <p:txBody>
          <a:bodyPr wrap="square" rtlCol="0" anchor="t">
            <a:spAutoFit/>
          </a:bodyPr>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对S</a:t>
            </a:r>
            <a:r>
              <a:rPr lang="en-US" altLang="zh-CN" sz="2400">
                <a:uFillTx/>
                <a:latin typeface="Times New Roman" panose="02020603050405020304" charset="0"/>
                <a:ea typeface="楷体" panose="02010609060101010101" charset="-122"/>
                <a:cs typeface="楷体" panose="02010609060101010101" charset="-122"/>
              </a:rPr>
              <a:t>PECK</a:t>
            </a:r>
            <a:r>
              <a:rPr lang="zh-CN" altLang="en-US" sz="2400">
                <a:uFillTx/>
                <a:latin typeface="Times New Roman" panose="02020603050405020304" charset="0"/>
                <a:ea typeface="楷体" panose="02010609060101010101" charset="-122"/>
                <a:cs typeface="楷体" panose="02010609060101010101" charset="-122"/>
              </a:rPr>
              <a:t>32，旋转量</a:t>
            </a:r>
            <a:r>
              <a:rPr lang="zh-CN" altLang="en-US" sz="2400">
                <a:uFillTx/>
                <a:latin typeface="Times New Roman" panose="02020603050405020304" charset="0"/>
                <a:ea typeface="楷体" panose="02010609060101010101" charset="-122"/>
                <a:cs typeface="楷体" panose="02010609060101010101" charset="-122"/>
                <a:sym typeface="+mn-ea"/>
              </a:rPr>
              <a:t> (α, β) 为 (7, 2) </a:t>
            </a:r>
            <a:endParaRPr lang="zh-CN" altLang="en-US" sz="2400">
              <a:uFillTx/>
              <a:latin typeface="Times New Roman" panose="02020603050405020304" charset="0"/>
              <a:ea typeface="楷体" panose="02010609060101010101" charset="-122"/>
              <a:cs typeface="楷体" panose="02010609060101010101" charset="-122"/>
              <a:sym typeface="+mn-ea"/>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对块长度更大的Speck算法，</a:t>
            </a:r>
            <a:r>
              <a:rPr lang="zh-CN" altLang="en-US" sz="2400">
                <a:uFillTx/>
                <a:latin typeface="Times New Roman" panose="02020603050405020304" charset="0"/>
                <a:ea typeface="楷体" panose="02010609060101010101" charset="-122"/>
                <a:cs typeface="楷体" panose="02010609060101010101" charset="-122"/>
                <a:sym typeface="+mn-ea"/>
              </a:rPr>
              <a:t>旋转量</a:t>
            </a:r>
            <a:r>
              <a:rPr lang="zh-CN" altLang="en-US" sz="2400">
                <a:uFillTx/>
                <a:latin typeface="Times New Roman" panose="02020603050405020304" charset="0"/>
                <a:ea typeface="楷体" panose="02010609060101010101" charset="-122"/>
                <a:cs typeface="楷体" panose="02010609060101010101" charset="-122"/>
                <a:sym typeface="+mn-ea"/>
              </a:rPr>
              <a:t> (α, β) 为 (8, 3) </a:t>
            </a:r>
            <a:endParaRPr lang="zh-CN" altLang="en-US" sz="2400">
              <a:uFillTx/>
              <a:latin typeface="Times New Roman" panose="02020603050405020304" charset="0"/>
              <a:ea typeface="楷体" panose="02010609060101010101" charset="-122"/>
              <a:cs typeface="楷体" panose="02010609060101010101" charset="-122"/>
              <a:sym typeface="+mn-ea"/>
            </a:endParaRPr>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0215" y="1245870"/>
            <a:ext cx="11276965" cy="3384550"/>
          </a:xfrm>
          <a:prstGeom prst="rect">
            <a:avLst/>
          </a:prstGeom>
          <a:noFill/>
        </p:spPr>
        <p:txBody>
          <a:bodyPr wrap="square" rtlCol="0">
            <a:spAutoFit/>
          </a:bodyPr>
          <a:p>
            <a:pPr algn="l">
              <a:buClrTx/>
              <a:buSzTx/>
              <a:buFontTx/>
            </a:pPr>
            <a:r>
              <a:rPr lang="en-US" altLang="zh-CN" sz="2800"/>
              <a:t>对ARX结构密码提出并应用了的攻击方法</a:t>
            </a:r>
            <a:endParaRPr lang="en-US" altLang="zh-CN" sz="2800"/>
          </a:p>
          <a:p>
            <a:endParaRPr lang="zh-CN" altLang="en-US"/>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1）差分攻击</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2）旋转攻击</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en-US" altLang="zh-CN" sz="2400">
                <a:uFillTx/>
                <a:latin typeface="Times New Roman" panose="02020603050405020304" charset="0"/>
                <a:ea typeface="楷体" panose="02010609060101010101" charset="-122"/>
                <a:cs typeface="楷体" panose="02010609060101010101" charset="-122"/>
              </a:rPr>
              <a:t>	</a:t>
            </a:r>
            <a:r>
              <a:rPr lang="zh-CN" altLang="en-US" sz="2400">
                <a:uFillTx/>
                <a:latin typeface="Times New Roman" panose="02020603050405020304" charset="0"/>
                <a:ea typeface="楷体" panose="02010609060101010101" charset="-122"/>
                <a:cs typeface="楷体" panose="02010609060101010101" charset="-122"/>
              </a:rPr>
              <a:t>当ARX原语中的状态值与常数进行了异或，旋转攻击失效。</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3）旋转异或攻击</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400">
                <a:uFillTx/>
                <a:latin typeface="Times New Roman" panose="02020603050405020304" charset="0"/>
                <a:ea typeface="楷体" panose="02010609060101010101" charset="-122"/>
                <a:cs typeface="楷体" panose="02010609060101010101" charset="-122"/>
              </a:rPr>
              <a:t>	是差分攻击和旋转攻击的结合</a:t>
            </a:r>
            <a:endParaRPr lang="zh-CN" altLang="en-US" sz="2400">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3.  Rotational-XOR Cryptanalysis</a:t>
            </a:r>
            <a:endParaRPr lang="en-US" altLang="zh-CN" sz="2800"/>
          </a:p>
        </p:txBody>
      </p:sp>
      <p:sp>
        <p:nvSpPr>
          <p:cNvPr id="2" name="文本框 1"/>
          <p:cNvSpPr txBox="1"/>
          <p:nvPr/>
        </p:nvSpPr>
        <p:spPr>
          <a:xfrm>
            <a:off x="331470" y="1701165"/>
            <a:ext cx="11622405" cy="5223510"/>
          </a:xfrm>
          <a:prstGeom prst="rect">
            <a:avLst/>
          </a:prstGeom>
          <a:noFill/>
        </p:spPr>
        <p:txBody>
          <a:bodyPr wrap="square" rtlCol="0">
            <a:spAutoFit/>
          </a:bodyPr>
          <a:p>
            <a:pPr marL="342900" indent="-342900" algn="l">
              <a:buClrTx/>
              <a:buSzTx/>
              <a:buFont typeface="Arial" panose="020B0604020202020204" pitchFamily="34" charset="0"/>
              <a:buChar char="•"/>
            </a:pPr>
            <a:r>
              <a:rPr lang="zh-CN" altLang="en-US" sz="2400">
                <a:uFillTx/>
                <a:latin typeface="Times New Roman" panose="02020603050405020304" charset="0"/>
                <a:ea typeface="楷体" panose="02010609060101010101" charset="-122"/>
                <a:cs typeface="楷体" panose="02010609060101010101" charset="-122"/>
              </a:rPr>
              <a:t>如果有一对变量</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X,X'</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且                               </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那么我们说这对变量有</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差分为 </a:t>
            </a:r>
            <a:r>
              <a:rPr lang="en-US" altLang="zh-CN" sz="2400">
                <a:uFillTx/>
                <a:latin typeface="Times New Roman" panose="02020603050405020304" charset="0"/>
                <a:ea typeface="楷体" panose="02010609060101010101" charset="-122"/>
                <a:cs typeface="楷体" panose="02010609060101010101" charset="-122"/>
              </a:rPr>
              <a:t>(α, γ)</a:t>
            </a:r>
            <a:endParaRPr lang="en-US" altLang="zh-CN" sz="2400">
              <a:uFillTx/>
              <a:latin typeface="Times New Roman" panose="02020603050405020304" charset="0"/>
              <a:ea typeface="楷体" panose="02010609060101010101" charset="-122"/>
              <a:cs typeface="楷体" panose="02010609060101010101" charset="-122"/>
            </a:endParaRPr>
          </a:p>
          <a:p>
            <a:pPr indent="0" algn="l">
              <a:buClrTx/>
              <a:buSzTx/>
              <a:buFont typeface="Arial" panose="020B0604020202020204" pitchFamily="34" charset="0"/>
              <a:buNone/>
            </a:pPr>
            <a:r>
              <a:rPr lang="en-US" altLang="zh-CN" sz="2400">
                <a:uFillTx/>
                <a:latin typeface="Times New Roman" panose="02020603050405020304" charset="0"/>
                <a:ea typeface="楷体" panose="02010609060101010101" charset="-122"/>
                <a:cs typeface="楷体" panose="02010609060101010101" charset="-122"/>
              </a:rPr>
              <a:t>	</a:t>
            </a:r>
            <a:r>
              <a:rPr lang="zh-CN" altLang="en-US" sz="2400">
                <a:uFillTx/>
                <a:latin typeface="Times New Roman" panose="02020603050405020304" charset="0"/>
                <a:ea typeface="楷体" panose="02010609060101010101" charset="-122"/>
                <a:cs typeface="楷体" panose="02010609060101010101" charset="-122"/>
              </a:rPr>
              <a:t>如果旋转值 γ已固定，  表示               </a:t>
            </a:r>
            <a:r>
              <a:rPr lang="en-US" altLang="zh-CN" sz="2400">
                <a:uFillTx/>
                <a:latin typeface="Times New Roman" panose="02020603050405020304" charset="0"/>
                <a:ea typeface="楷体" panose="02010609060101010101" charset="-122"/>
                <a:cs typeface="楷体" panose="02010609060101010101" charset="-122"/>
              </a:rPr>
              <a:t>,     </a:t>
            </a:r>
            <a:r>
              <a:rPr lang="zh-CN" altLang="en-US" sz="2400">
                <a:uFillTx/>
                <a:latin typeface="Times New Roman" panose="02020603050405020304" charset="0"/>
                <a:ea typeface="楷体" panose="02010609060101010101" charset="-122"/>
                <a:cs typeface="楷体" panose="02010609060101010101" charset="-122"/>
              </a:rPr>
              <a:t>表示             ，上述表达可简化为：</a:t>
            </a:r>
            <a:endParaRPr lang="zh-CN" altLang="en-US" sz="2400">
              <a:uFillTx/>
              <a:latin typeface="Times New Roman" panose="02020603050405020304" charset="0"/>
              <a:ea typeface="楷体" panose="02010609060101010101" charset="-122"/>
              <a:cs typeface="楷体" panose="02010609060101010101" charset="-122"/>
            </a:endParaRPr>
          </a:p>
          <a:p>
            <a:pPr indent="0" algn="l">
              <a:buClrTx/>
              <a:buSzTx/>
              <a:buFont typeface="Arial" panose="020B0604020202020204" pitchFamily="34" charset="0"/>
              <a:buNone/>
            </a:pPr>
            <a:r>
              <a:rPr lang="en-US" altLang="zh-CN" sz="2400">
                <a:uFillTx/>
                <a:latin typeface="Times New Roman" panose="02020603050405020304" charset="0"/>
                <a:ea typeface="楷体" panose="02010609060101010101" charset="-122"/>
                <a:cs typeface="楷体" panose="02010609060101010101" charset="-122"/>
              </a:rPr>
              <a:t>		</a:t>
            </a:r>
            <a:r>
              <a:rPr lang="zh-CN" altLang="en-US" sz="2400">
                <a:uFillTx/>
                <a:latin typeface="Times New Roman" panose="02020603050405020304" charset="0"/>
                <a:ea typeface="楷体" panose="02010609060101010101" charset="-122"/>
                <a:cs typeface="楷体" panose="02010609060101010101" charset="-122"/>
              </a:rPr>
              <a:t>如果                 </a:t>
            </a:r>
            <a:r>
              <a:rPr lang="en-US" altLang="zh-CN" sz="2400">
                <a:uFillTx/>
                <a:latin typeface="Times New Roman" panose="02020603050405020304" charset="0"/>
                <a:ea typeface="楷体" panose="02010609060101010101" charset="-122"/>
                <a:cs typeface="楷体" panose="02010609060101010101" charset="-122"/>
              </a:rPr>
              <a:t>, </a:t>
            </a:r>
            <a:r>
              <a:rPr lang="en-US" altLang="zh-CN" sz="2400">
                <a:uFillTx/>
                <a:latin typeface="Times New Roman" panose="02020603050405020304" charset="0"/>
                <a:ea typeface="楷体" panose="02010609060101010101" charset="-122"/>
                <a:cs typeface="楷体" panose="02010609060101010101" charset="-122"/>
                <a:sym typeface="+mn-ea"/>
              </a:rPr>
              <a:t>(</a:t>
            </a:r>
            <a:r>
              <a:rPr lang="zh-CN" altLang="en-US" sz="2400">
                <a:uFillTx/>
                <a:latin typeface="Times New Roman" panose="02020603050405020304" charset="0"/>
                <a:ea typeface="楷体" panose="02010609060101010101" charset="-122"/>
                <a:cs typeface="楷体" panose="02010609060101010101" charset="-122"/>
                <a:sym typeface="+mn-ea"/>
              </a:rPr>
              <a:t>X,X'</a:t>
            </a:r>
            <a:r>
              <a:rPr lang="en-US" altLang="zh-CN" sz="2400">
                <a:uFillTx/>
                <a:latin typeface="Times New Roman" panose="02020603050405020304" charset="0"/>
                <a:ea typeface="楷体" panose="02010609060101010101" charset="-122"/>
                <a:cs typeface="楷体" panose="02010609060101010101" charset="-122"/>
                <a:sym typeface="+mn-ea"/>
              </a:rPr>
              <a:t>)</a:t>
            </a:r>
            <a:r>
              <a:rPr lang="zh-CN" altLang="en-US" sz="2400">
                <a:uFillTx/>
                <a:latin typeface="Times New Roman" panose="02020603050405020304" charset="0"/>
                <a:ea typeface="楷体" panose="02010609060101010101" charset="-122"/>
                <a:cs typeface="楷体" panose="02010609060101010101" charset="-122"/>
                <a:sym typeface="+mn-ea"/>
              </a:rPr>
              <a:t>的</a:t>
            </a:r>
            <a:r>
              <a:rPr lang="en-US" altLang="zh-CN" sz="2400">
                <a:uFillTx/>
                <a:latin typeface="Times New Roman" panose="02020603050405020304" charset="0"/>
                <a:ea typeface="楷体" panose="02010609060101010101" charset="-122"/>
                <a:cs typeface="楷体" panose="02010609060101010101" charset="-122"/>
                <a:sym typeface="+mn-ea"/>
              </a:rPr>
              <a:t>RX</a:t>
            </a:r>
            <a:r>
              <a:rPr lang="zh-CN" altLang="en-US" sz="2400">
                <a:uFillTx/>
                <a:latin typeface="Times New Roman" panose="02020603050405020304" charset="0"/>
                <a:ea typeface="楷体" panose="02010609060101010101" charset="-122"/>
                <a:cs typeface="楷体" panose="02010609060101010101" charset="-122"/>
                <a:sym typeface="+mn-ea"/>
              </a:rPr>
              <a:t>差分为α</a:t>
            </a:r>
            <a:endParaRPr lang="zh-CN" altLang="en-US" sz="2400">
              <a:uFillTx/>
              <a:latin typeface="Times New Roman" panose="02020603050405020304" charset="0"/>
              <a:ea typeface="楷体" panose="02010609060101010101" charset="-122"/>
              <a:cs typeface="楷体" panose="02010609060101010101" charset="-122"/>
              <a:sym typeface="+mn-ea"/>
            </a:endParaRPr>
          </a:p>
          <a:p>
            <a:pPr marL="342900" indent="-342900" algn="l">
              <a:buClrTx/>
              <a:buSzTx/>
              <a:buFont typeface="Arial" panose="020B0604020202020204" pitchFamily="34" charset="0"/>
              <a:buChar char="•"/>
            </a:pPr>
            <a:endParaRPr lang="en-US" altLang="zh-CN" sz="2400">
              <a:uFillTx/>
              <a:latin typeface="Times New Roman" panose="02020603050405020304" charset="0"/>
              <a:ea typeface="楷体" panose="02010609060101010101" charset="-122"/>
              <a:cs typeface="楷体" panose="02010609060101010101" charset="-122"/>
            </a:endParaRPr>
          </a:p>
          <a:p>
            <a:pPr marL="342900" indent="-342900" algn="l">
              <a:lnSpc>
                <a:spcPct val="80000"/>
              </a:lnSpc>
              <a:buClrTx/>
              <a:buSzTx/>
              <a:buFont typeface="Arial" panose="020B0604020202020204" pitchFamily="34" charset="0"/>
              <a:buChar char="•"/>
            </a:pPr>
            <a:r>
              <a:rPr lang="zh-CN" altLang="en-US" sz="2400">
                <a:uFillTx/>
                <a:latin typeface="Times New Roman" panose="02020603050405020304" charset="0"/>
                <a:ea typeface="楷体" panose="02010609060101010101" charset="-122"/>
                <a:cs typeface="楷体" panose="02010609060101010101" charset="-122"/>
              </a:rPr>
              <a:t>如果</a:t>
            </a:r>
            <a:r>
              <a:rPr lang="zh-CN" altLang="en-US" sz="2400" b="1">
                <a:uFillTx/>
                <a:latin typeface="Times New Roman" panose="02020603050405020304" charset="0"/>
                <a:ea typeface="楷体" panose="02010609060101010101" charset="-122"/>
                <a:cs typeface="楷体" panose="02010609060101010101" charset="-122"/>
              </a:rPr>
              <a:t>γ = 0</a:t>
            </a:r>
            <a:r>
              <a:rPr lang="zh-CN" altLang="en-US" sz="2400">
                <a:uFillTx/>
                <a:latin typeface="Times New Roman" panose="02020603050405020304" charset="0"/>
                <a:ea typeface="楷体" panose="02010609060101010101" charset="-122"/>
                <a:cs typeface="楷体" panose="02010609060101010101" charset="-122"/>
              </a:rPr>
              <a:t>，那么这个</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差分就是一个</a:t>
            </a:r>
            <a:r>
              <a:rPr lang="en-US" altLang="zh-CN" sz="2400">
                <a:uFillTx/>
                <a:latin typeface="Times New Roman" panose="02020603050405020304" charset="0"/>
                <a:ea typeface="楷体" panose="02010609060101010101" charset="-122"/>
                <a:cs typeface="楷体" panose="02010609060101010101" charset="-122"/>
              </a:rPr>
              <a:t>XOR</a:t>
            </a:r>
            <a:r>
              <a:rPr lang="zh-CN" altLang="en-US" sz="2400">
                <a:uFillTx/>
                <a:latin typeface="Times New Roman" panose="02020603050405020304" charset="0"/>
                <a:ea typeface="楷体" panose="02010609060101010101" charset="-122"/>
                <a:cs typeface="楷体" panose="02010609060101010101" charset="-122"/>
              </a:rPr>
              <a:t>差分；如果</a:t>
            </a:r>
            <a:r>
              <a:rPr lang="zh-CN" altLang="en-US" sz="2400" b="1">
                <a:uFillTx/>
                <a:latin typeface="Times New Roman" panose="02020603050405020304" charset="0"/>
                <a:ea typeface="楷体" panose="02010609060101010101" charset="-122"/>
                <a:cs typeface="楷体" panose="02010609060101010101" charset="-122"/>
              </a:rPr>
              <a:t>α = 0</a:t>
            </a:r>
            <a:r>
              <a:rPr lang="zh-CN" altLang="en-US" sz="2400">
                <a:uFillTx/>
                <a:latin typeface="Times New Roman" panose="02020603050405020304" charset="0"/>
                <a:ea typeface="楷体" panose="02010609060101010101" charset="-122"/>
                <a:cs typeface="楷体" panose="02010609060101010101" charset="-122"/>
              </a:rPr>
              <a:t>，那么                         只是一个旋转对。</a:t>
            </a:r>
            <a:endParaRPr lang="zh-CN" altLang="en-US" sz="2400">
              <a:uFillTx/>
              <a:latin typeface="Times New Roman" panose="02020603050405020304" charset="0"/>
              <a:ea typeface="楷体" panose="02010609060101010101" charset="-122"/>
              <a:cs typeface="楷体" panose="02010609060101010101" charset="-122"/>
            </a:endParaRPr>
          </a:p>
          <a:p>
            <a:pPr marL="342900" indent="-342900" algn="l">
              <a:lnSpc>
                <a:spcPct val="60000"/>
              </a:lnSpc>
              <a:buClrTx/>
              <a:buSzTx/>
              <a:buFont typeface="Arial" panose="020B0604020202020204" pitchFamily="34" charset="0"/>
              <a:buChar char="•"/>
            </a:pPr>
            <a:endParaRPr lang="zh-CN" altLang="en-US" sz="2400">
              <a:uFillTx/>
              <a:latin typeface="Times New Roman" panose="02020603050405020304" charset="0"/>
              <a:ea typeface="楷体" panose="02010609060101010101" charset="-122"/>
              <a:cs typeface="楷体" panose="02010609060101010101" charset="-122"/>
            </a:endParaRPr>
          </a:p>
          <a:p>
            <a:pPr marL="342900" indent="-342900" algn="l">
              <a:buClrTx/>
              <a:buSzTx/>
              <a:buFont typeface="Arial" panose="020B0604020202020204" pitchFamily="34" charset="0"/>
              <a:buChar char="•"/>
            </a:pPr>
            <a:r>
              <a:rPr lang="zh-CN" altLang="en-US" sz="2400">
                <a:uFillTx/>
                <a:latin typeface="Times New Roman" panose="02020603050405020304" charset="0"/>
                <a:ea typeface="楷体" panose="02010609060101010101" charset="-122"/>
                <a:cs typeface="楷体" panose="02010609060101010101" charset="-122"/>
              </a:rPr>
              <a:t>在旋转异或密码分析中，攻击者可以得到明文对在一个密钥对下面的加密，其中，攻击者已知这个密钥对的</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a:t>
            </a:r>
            <a:endParaRPr lang="zh-CN" altLang="en-US" sz="2400">
              <a:uFillTx/>
              <a:latin typeface="Times New Roman" panose="02020603050405020304" charset="0"/>
              <a:ea typeface="楷体" panose="02010609060101010101" charset="-122"/>
              <a:cs typeface="楷体" panose="02010609060101010101" charset="-122"/>
            </a:endParaRPr>
          </a:p>
          <a:p>
            <a:pPr marL="342900" indent="-342900" algn="l">
              <a:lnSpc>
                <a:spcPct val="70000"/>
              </a:lnSpc>
              <a:buClrTx/>
              <a:buSzTx/>
              <a:buFont typeface="Arial" panose="020B0604020202020204" pitchFamily="34" charset="0"/>
              <a:buChar char="•"/>
            </a:pPr>
            <a:endParaRPr lang="zh-CN" altLang="en-US" sz="2400">
              <a:uFillTx/>
              <a:latin typeface="Times New Roman" panose="02020603050405020304" charset="0"/>
              <a:ea typeface="楷体" panose="02010609060101010101" charset="-122"/>
              <a:cs typeface="楷体" panose="02010609060101010101" charset="-122"/>
            </a:endParaRPr>
          </a:p>
          <a:p>
            <a:pPr marL="342900" indent="-342900" algn="l">
              <a:buClrTx/>
              <a:buSzTx/>
              <a:buFont typeface="Arial" panose="020B0604020202020204" pitchFamily="34" charset="0"/>
              <a:buChar char="•"/>
            </a:pPr>
            <a:r>
              <a:rPr lang="zh-CN" altLang="en-US" sz="2400">
                <a:uFillTx/>
                <a:latin typeface="Times New Roman" panose="02020603050405020304" charset="0"/>
                <a:ea typeface="楷体" panose="02010609060101010101" charset="-122"/>
                <a:cs typeface="楷体" panose="02010609060101010101" charset="-122"/>
              </a:rPr>
              <a:t>我们把一个明文对的</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差分叫做一个输入</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差分（input RX difference）</a:t>
            </a:r>
            <a:r>
              <a:rPr lang="zh-CN" altLang="en-US" sz="2400">
                <a:uFillTx/>
                <a:latin typeface="Times New Roman" panose="02020603050405020304" charset="0"/>
                <a:ea typeface="楷体" panose="02010609060101010101" charset="-122"/>
                <a:cs typeface="楷体" panose="02010609060101010101" charset="-122"/>
                <a:sym typeface="+mn-ea"/>
              </a:rPr>
              <a:t>α</a:t>
            </a:r>
            <a:r>
              <a:rPr lang="zh-CN" altLang="en-US" sz="2400">
                <a:uFillTx/>
                <a:latin typeface="Times New Roman" panose="02020603050405020304" charset="0"/>
                <a:ea typeface="楷体" panose="02010609060101010101" charset="-122"/>
                <a:cs typeface="楷体" panose="02010609060101010101" charset="-122"/>
              </a:rPr>
              <a:t>；对应的密文对的</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差分叫做输出</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差分（output RX difference）β；一个</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差分路径</a:t>
            </a:r>
            <a:r>
              <a:rPr lang="en-US" altLang="zh-CN" sz="2400">
                <a:uFillTx/>
                <a:latin typeface="Times New Roman" panose="02020603050405020304" charset="0"/>
                <a:ea typeface="楷体" panose="02010609060101010101" charset="-122"/>
                <a:cs typeface="楷体" panose="02010609060101010101" charset="-122"/>
              </a:rPr>
              <a:t>(RX characteristic)</a:t>
            </a:r>
            <a:r>
              <a:rPr lang="zh-CN" altLang="en-US" sz="2400">
                <a:uFillTx/>
                <a:latin typeface="Times New Roman" panose="02020603050405020304" charset="0"/>
                <a:ea typeface="楷体" panose="02010609060101010101" charset="-122"/>
                <a:cs typeface="楷体" panose="02010609060101010101" charset="-122"/>
              </a:rPr>
              <a:t>为（</a:t>
            </a:r>
            <a:r>
              <a:rPr lang="en-US" altLang="zh-CN" sz="2400">
                <a:uFillTx/>
                <a:latin typeface="Times New Roman" panose="02020603050405020304" charset="0"/>
                <a:ea typeface="楷体" panose="02010609060101010101" charset="-122"/>
                <a:cs typeface="楷体" panose="02010609060101010101" charset="-122"/>
              </a:rPr>
              <a:t>input RX </a:t>
            </a:r>
            <a:r>
              <a:rPr lang="zh-CN" altLang="en-US" sz="2400">
                <a:uFillTx/>
                <a:latin typeface="Times New Roman" panose="02020603050405020304" charset="0"/>
                <a:ea typeface="楷体" panose="02010609060101010101" charset="-122"/>
                <a:cs typeface="楷体" panose="02010609060101010101" charset="-122"/>
              </a:rPr>
              <a:t>差分</a:t>
            </a:r>
            <a:r>
              <a:rPr lang="en-US" altLang="zh-CN" sz="2400">
                <a:uFillTx/>
                <a:latin typeface="Times New Roman" panose="02020603050405020304" charset="0"/>
                <a:ea typeface="楷体" panose="02010609060101010101" charset="-122"/>
                <a:cs typeface="楷体" panose="02010609060101010101" charset="-122"/>
              </a:rPr>
              <a:t>, </a:t>
            </a:r>
            <a:r>
              <a:rPr lang="en-US" altLang="zh-CN" sz="2400">
                <a:uFillTx/>
                <a:latin typeface="Times New Roman" panose="02020603050405020304" charset="0"/>
                <a:ea typeface="楷体" panose="02010609060101010101" charset="-122"/>
                <a:cs typeface="楷体" panose="02010609060101010101" charset="-122"/>
              </a:rPr>
              <a:t>.... , intermediate RX differences, ... , output RX </a:t>
            </a:r>
            <a:r>
              <a:rPr lang="zh-CN" altLang="en-US" sz="2400">
                <a:uFillTx/>
                <a:latin typeface="Times New Roman" panose="02020603050405020304" charset="0"/>
                <a:ea typeface="楷体" panose="02010609060101010101" charset="-122"/>
                <a:cs typeface="楷体" panose="02010609060101010101" charset="-122"/>
              </a:rPr>
              <a:t>差分</a:t>
            </a:r>
            <a:r>
              <a:rPr lang="zh-CN" altLang="en-US" sz="2400">
                <a:uFillTx/>
                <a:latin typeface="Times New Roman" panose="02020603050405020304" charset="0"/>
                <a:ea typeface="楷体" panose="02010609060101010101" charset="-122"/>
                <a:cs typeface="楷体" panose="02010609060101010101" charset="-122"/>
              </a:rPr>
              <a:t>）</a:t>
            </a:r>
            <a:endParaRPr lang="zh-CN" altLang="en-US" sz="2400">
              <a:uFillTx/>
              <a:latin typeface="Times New Roman" panose="02020603050405020304" charset="0"/>
              <a:ea typeface="楷体" panose="02010609060101010101" charset="-122"/>
              <a:cs typeface="楷体" panose="02010609060101010101" charset="-122"/>
            </a:endParaRPr>
          </a:p>
          <a:p>
            <a:pPr indent="0" algn="l">
              <a:buClrTx/>
              <a:buSzTx/>
              <a:buFont typeface="Arial" panose="020B0604020202020204" pitchFamily="34" charset="0"/>
              <a:buNone/>
            </a:pPr>
            <a:endParaRPr lang="en-US" altLang="zh-CN" sz="2400">
              <a:uFillTx/>
              <a:latin typeface="Times New Roman" panose="02020603050405020304" charset="0"/>
              <a:ea typeface="楷体" panose="02010609060101010101" charset="-122"/>
              <a:cs typeface="楷体" panose="02010609060101010101" charset="-122"/>
            </a:endParaRPr>
          </a:p>
          <a:p>
            <a:pPr marL="342900" indent="-342900" algn="l">
              <a:buClrTx/>
              <a:buSzTx/>
              <a:buFont typeface="Arial" panose="020B0604020202020204" pitchFamily="34" charset="0"/>
              <a:buChar char="•"/>
            </a:pPr>
            <a:endParaRPr lang="en-US" altLang="zh-CN" sz="2400">
              <a:uFillTx/>
              <a:latin typeface="Times New Roman" panose="02020603050405020304" charset="0"/>
              <a:ea typeface="楷体" panose="02010609060101010101" charset="-122"/>
              <a:cs typeface="楷体" panose="02010609060101010101" charset="-122"/>
            </a:endParaRPr>
          </a:p>
        </p:txBody>
      </p:sp>
      <p:graphicFrame>
        <p:nvGraphicFramePr>
          <p:cNvPr id="3" name="对象 2">
            <a:hlinkClick r:id="" action="ppaction://ole?verb="/>
          </p:cNvPr>
          <p:cNvGraphicFramePr>
            <a:graphicFrameLocks noChangeAspect="1"/>
          </p:cNvGraphicFramePr>
          <p:nvPr/>
        </p:nvGraphicFramePr>
        <p:xfrm>
          <a:off x="4013518" y="1780540"/>
          <a:ext cx="2207260" cy="382270"/>
        </p:xfrm>
        <a:graphic>
          <a:graphicData uri="http://schemas.openxmlformats.org/presentationml/2006/ole">
            <mc:AlternateContent xmlns:mc="http://schemas.openxmlformats.org/markup-compatibility/2006">
              <mc:Choice xmlns:v="urn:schemas-microsoft-com:vml" Requires="v">
                <p:oleObj spid="_x0000_s1025" name="" r:id="rId1" imgW="1181100" imgH="203200" progId="Equation.KSEE3">
                  <p:embed/>
                </p:oleObj>
              </mc:Choice>
              <mc:Fallback>
                <p:oleObj name="" r:id="rId1" imgW="1181100" imgH="203200" progId="Equation.KSEE3">
                  <p:embed/>
                  <p:pic>
                    <p:nvPicPr>
                      <p:cNvPr id="0" name="图片 1024"/>
                      <p:cNvPicPr/>
                      <p:nvPr/>
                    </p:nvPicPr>
                    <p:blipFill>
                      <a:blip r:embed="rId2"/>
                      <a:stretch>
                        <a:fillRect/>
                      </a:stretch>
                    </p:blipFill>
                    <p:spPr>
                      <a:xfrm>
                        <a:off x="4013518" y="1780540"/>
                        <a:ext cx="2207260" cy="38227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4157345" y="2051685"/>
          <a:ext cx="334010" cy="384175"/>
        </p:xfrm>
        <a:graphic>
          <a:graphicData uri="http://schemas.openxmlformats.org/presentationml/2006/ole">
            <mc:AlternateContent xmlns:mc="http://schemas.openxmlformats.org/markup-compatibility/2006">
              <mc:Choice xmlns:v="urn:schemas-microsoft-com:vml" Requires="v">
                <p:oleObj spid="_x0000_s1026" name="" r:id="rId3" imgW="177165" imgH="203200" progId="Equation.KSEE3">
                  <p:embed/>
                </p:oleObj>
              </mc:Choice>
              <mc:Fallback>
                <p:oleObj name="" r:id="rId3" imgW="177165" imgH="203200" progId="Equation.KSEE3">
                  <p:embed/>
                  <p:pic>
                    <p:nvPicPr>
                      <p:cNvPr id="0" name="图片 1025"/>
                      <p:cNvPicPr/>
                      <p:nvPr/>
                    </p:nvPicPr>
                    <p:blipFill>
                      <a:blip r:embed="rId4"/>
                      <a:stretch>
                        <a:fillRect/>
                      </a:stretch>
                    </p:blipFill>
                    <p:spPr>
                      <a:xfrm>
                        <a:off x="4157345" y="2051685"/>
                        <a:ext cx="334010" cy="38417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114290" y="2107565"/>
          <a:ext cx="1106805" cy="384810"/>
        </p:xfrm>
        <a:graphic>
          <a:graphicData uri="http://schemas.openxmlformats.org/presentationml/2006/ole">
            <mc:AlternateContent xmlns:mc="http://schemas.openxmlformats.org/markup-compatibility/2006">
              <mc:Choice xmlns:v="urn:schemas-microsoft-com:vml" Requires="v">
                <p:oleObj spid="_x0000_s1027" name="" r:id="rId5" imgW="584200" imgH="203200" progId="Equation.KSEE3">
                  <p:embed/>
                </p:oleObj>
              </mc:Choice>
              <mc:Fallback>
                <p:oleObj name="" r:id="rId5" imgW="584200" imgH="203200" progId="Equation.KSEE3">
                  <p:embed/>
                  <p:pic>
                    <p:nvPicPr>
                      <p:cNvPr id="0" name="图片 1026"/>
                      <p:cNvPicPr/>
                      <p:nvPr/>
                    </p:nvPicPr>
                    <p:blipFill>
                      <a:blip r:embed="rId6"/>
                      <a:stretch>
                        <a:fillRect/>
                      </a:stretch>
                    </p:blipFill>
                    <p:spPr>
                      <a:xfrm>
                        <a:off x="5114290" y="2107565"/>
                        <a:ext cx="1106805" cy="38481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6374130" y="2051685"/>
          <a:ext cx="316865" cy="384810"/>
        </p:xfrm>
        <a:graphic>
          <a:graphicData uri="http://schemas.openxmlformats.org/presentationml/2006/ole">
            <mc:AlternateContent xmlns:mc="http://schemas.openxmlformats.org/markup-compatibility/2006">
              <mc:Choice xmlns:v="urn:schemas-microsoft-com:vml" Requires="v">
                <p:oleObj spid="_x0000_s1028" name="" r:id="rId7" imgW="177165" imgH="203200" progId="Equation.KSEE3">
                  <p:embed/>
                </p:oleObj>
              </mc:Choice>
              <mc:Fallback>
                <p:oleObj name="" r:id="rId7" imgW="177165" imgH="203200" progId="Equation.KSEE3">
                  <p:embed/>
                  <p:pic>
                    <p:nvPicPr>
                      <p:cNvPr id="0" name="图片 1027"/>
                      <p:cNvPicPr/>
                      <p:nvPr/>
                    </p:nvPicPr>
                    <p:blipFill>
                      <a:blip r:embed="rId8"/>
                      <a:stretch>
                        <a:fillRect/>
                      </a:stretch>
                    </p:blipFill>
                    <p:spPr>
                      <a:xfrm>
                        <a:off x="6374130" y="2051685"/>
                        <a:ext cx="316865" cy="38481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7271385" y="2107565"/>
          <a:ext cx="1024255" cy="356870"/>
        </p:xfrm>
        <a:graphic>
          <a:graphicData uri="http://schemas.openxmlformats.org/presentationml/2006/ole">
            <mc:AlternateContent xmlns:mc="http://schemas.openxmlformats.org/markup-compatibility/2006">
              <mc:Choice xmlns:v="urn:schemas-microsoft-com:vml" Requires="v">
                <p:oleObj spid="_x0000_s1029" name="" r:id="rId9" imgW="584200" imgH="203200" progId="Equation.KSEE3">
                  <p:embed/>
                </p:oleObj>
              </mc:Choice>
              <mc:Fallback>
                <p:oleObj name="" r:id="rId9" imgW="584200" imgH="203200" progId="Equation.KSEE3">
                  <p:embed/>
                  <p:pic>
                    <p:nvPicPr>
                      <p:cNvPr id="0" name="图片 1028"/>
                      <p:cNvPicPr/>
                      <p:nvPr/>
                    </p:nvPicPr>
                    <p:blipFill>
                      <a:blip r:embed="rId10"/>
                      <a:stretch>
                        <a:fillRect/>
                      </a:stretch>
                    </p:blipFill>
                    <p:spPr>
                      <a:xfrm>
                        <a:off x="7271385" y="2107565"/>
                        <a:ext cx="1024255" cy="35687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915603" y="2464435"/>
          <a:ext cx="1219835" cy="370205"/>
        </p:xfrm>
        <a:graphic>
          <a:graphicData uri="http://schemas.openxmlformats.org/presentationml/2006/ole">
            <mc:AlternateContent xmlns:mc="http://schemas.openxmlformats.org/markup-compatibility/2006">
              <mc:Choice xmlns:v="urn:schemas-microsoft-com:vml" Requires="v">
                <p:oleObj spid="_x0000_s1030" name="" r:id="rId11" imgW="711200" imgH="215900" progId="Equation.KSEE3">
                  <p:embed/>
                </p:oleObj>
              </mc:Choice>
              <mc:Fallback>
                <p:oleObj name="" r:id="rId11" imgW="711200" imgH="215900" progId="Equation.KSEE3">
                  <p:embed/>
                  <p:pic>
                    <p:nvPicPr>
                      <p:cNvPr id="0" name="图片 1029"/>
                      <p:cNvPicPr/>
                      <p:nvPr/>
                    </p:nvPicPr>
                    <p:blipFill>
                      <a:blip r:embed="rId12"/>
                      <a:stretch>
                        <a:fillRect/>
                      </a:stretch>
                    </p:blipFill>
                    <p:spPr>
                      <a:xfrm>
                        <a:off x="2915603" y="2464435"/>
                        <a:ext cx="1219835" cy="37020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9450070" y="3142615"/>
          <a:ext cx="1908175" cy="426720"/>
        </p:xfrm>
        <a:graphic>
          <a:graphicData uri="http://schemas.openxmlformats.org/presentationml/2006/ole">
            <mc:AlternateContent xmlns:mc="http://schemas.openxmlformats.org/markup-compatibility/2006">
              <mc:Choice xmlns:v="urn:schemas-microsoft-com:vml" Requires="v">
                <p:oleObj spid="_x0000_s1031" name="" r:id="rId13" imgW="1079500" imgH="241300" progId="Equation.KSEE3">
                  <p:embed/>
                </p:oleObj>
              </mc:Choice>
              <mc:Fallback>
                <p:oleObj name="" r:id="rId13" imgW="1079500" imgH="241300" progId="Equation.KSEE3">
                  <p:embed/>
                  <p:pic>
                    <p:nvPicPr>
                      <p:cNvPr id="0" name="图片 1030"/>
                      <p:cNvPicPr/>
                      <p:nvPr/>
                    </p:nvPicPr>
                    <p:blipFill>
                      <a:blip r:embed="rId14"/>
                      <a:stretch>
                        <a:fillRect/>
                      </a:stretch>
                    </p:blipFill>
                    <p:spPr>
                      <a:xfrm>
                        <a:off x="9450070" y="3142615"/>
                        <a:ext cx="1908175" cy="42672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4.  Propagation of RX Differences</a:t>
            </a:r>
            <a:endParaRPr lang="en-US" altLang="zh-CN" sz="2800"/>
          </a:p>
        </p:txBody>
      </p:sp>
      <p:pic>
        <p:nvPicPr>
          <p:cNvPr id="2" name="图片 1"/>
          <p:cNvPicPr>
            <a:picLocks noChangeAspect="1"/>
          </p:cNvPicPr>
          <p:nvPr/>
        </p:nvPicPr>
        <p:blipFill>
          <a:blip r:embed="rId1"/>
          <a:stretch>
            <a:fillRect/>
          </a:stretch>
        </p:blipFill>
        <p:spPr>
          <a:xfrm>
            <a:off x="882650" y="2510790"/>
            <a:ext cx="7603490" cy="2808605"/>
          </a:xfrm>
          <a:prstGeom prst="rect">
            <a:avLst/>
          </a:prstGeom>
        </p:spPr>
      </p:pic>
      <p:sp>
        <p:nvSpPr>
          <p:cNvPr id="3" name="文本框 2"/>
          <p:cNvSpPr txBox="1"/>
          <p:nvPr/>
        </p:nvSpPr>
        <p:spPr>
          <a:xfrm>
            <a:off x="616585" y="1801495"/>
            <a:ext cx="8844280" cy="460375"/>
          </a:xfrm>
          <a:prstGeom prst="rect">
            <a:avLst/>
          </a:prstGeom>
          <a:noFill/>
        </p:spPr>
        <p:txBody>
          <a:bodyPr wrap="square" rtlCol="0">
            <a:spAutoFit/>
          </a:bodyPr>
          <a:p>
            <a:r>
              <a:rPr lang="zh-CN" altLang="en-US" sz="2400">
                <a:uFillTx/>
                <a:latin typeface="Times New Roman" panose="02020603050405020304" charset="0"/>
                <a:ea typeface="楷体" panose="02010609060101010101" charset="-122"/>
                <a:cs typeface="楷体" panose="02010609060101010101" charset="-122"/>
              </a:rPr>
              <a:t>(1) 旋转/异或</a:t>
            </a:r>
            <a:endParaRPr lang="zh-CN" altLang="en-US" sz="2400">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4.  Propagation of RX Differences</a:t>
            </a:r>
            <a:endParaRPr lang="en-US" altLang="zh-CN" sz="2800"/>
          </a:p>
        </p:txBody>
      </p:sp>
      <p:sp>
        <p:nvSpPr>
          <p:cNvPr id="3" name="文本框 2"/>
          <p:cNvSpPr txBox="1"/>
          <p:nvPr/>
        </p:nvSpPr>
        <p:spPr>
          <a:xfrm>
            <a:off x="568960" y="1807845"/>
            <a:ext cx="8844280" cy="460375"/>
          </a:xfrm>
          <a:prstGeom prst="rect">
            <a:avLst/>
          </a:prstGeom>
          <a:noFill/>
        </p:spPr>
        <p:txBody>
          <a:bodyPr wrap="square" rtlCol="0">
            <a:spAutoFit/>
          </a:bodyPr>
          <a:p>
            <a:r>
              <a:rPr lang="en-US" altLang="zh-CN" sz="2400">
                <a:uFillTx/>
                <a:latin typeface="Times New Roman" panose="02020603050405020304" charset="0"/>
                <a:ea typeface="楷体" panose="02010609060101010101" charset="-122"/>
                <a:cs typeface="楷体" panose="02010609060101010101" charset="-122"/>
              </a:rPr>
              <a:t>(2) </a:t>
            </a:r>
            <a:r>
              <a:rPr lang="zh-CN" altLang="en-US" sz="2400">
                <a:uFillTx/>
                <a:latin typeface="Times New Roman" panose="02020603050405020304" charset="0"/>
                <a:ea typeface="楷体" panose="02010609060101010101" charset="-122"/>
                <a:cs typeface="楷体" panose="02010609060101010101" charset="-122"/>
              </a:rPr>
              <a:t>模加</a:t>
            </a:r>
            <a:endParaRPr lang="zh-CN" altLang="en-US" sz="2400">
              <a:uFillTx/>
              <a:latin typeface="Times New Roman" panose="02020603050405020304" charset="0"/>
              <a:ea typeface="楷体" panose="02010609060101010101" charset="-122"/>
              <a:cs typeface="楷体" panose="02010609060101010101" charset="-122"/>
            </a:endParaRPr>
          </a:p>
        </p:txBody>
      </p:sp>
      <p:pic>
        <p:nvPicPr>
          <p:cNvPr id="5" name="图片 4"/>
          <p:cNvPicPr>
            <a:picLocks noChangeAspect="1"/>
          </p:cNvPicPr>
          <p:nvPr/>
        </p:nvPicPr>
        <p:blipFill>
          <a:blip r:embed="rId1"/>
          <a:stretch>
            <a:fillRect/>
          </a:stretch>
        </p:blipFill>
        <p:spPr>
          <a:xfrm>
            <a:off x="721995" y="2459355"/>
            <a:ext cx="10687050" cy="34575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idx="4294967295"/>
          </p:nvPr>
        </p:nvSpPr>
        <p:spPr>
          <a:xfrm>
            <a:off x="565785" y="2235200"/>
            <a:ext cx="11060430" cy="2387600"/>
          </a:xfrm>
        </p:spPr>
        <p:txBody>
          <a:bodyPr/>
          <a:p>
            <a:r>
              <a:rPr lang="zh-CN" altLang="en-US"/>
              <a:t> A SAT-based Method for Searching Optimal Rotational-XOR Characteristics</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330200" y="1078865"/>
            <a:ext cx="11548110" cy="1198880"/>
          </a:xfrm>
          <a:prstGeom prst="rect">
            <a:avLst/>
          </a:prstGeom>
          <a:noFill/>
        </p:spPr>
        <p:txBody>
          <a:bodyPr wrap="square" rtlCol="0">
            <a:spAutoFit/>
          </a:bodyPr>
          <a:p>
            <a:r>
              <a:rPr lang="zh-CN" altLang="en-US" sz="2400">
                <a:uFillTx/>
                <a:latin typeface="Times New Roman" panose="02020603050405020304" charset="0"/>
                <a:ea typeface="楷体" panose="02010609060101010101" charset="-122"/>
                <a:cs typeface="楷体" panose="02010609060101010101" charset="-122"/>
              </a:rPr>
              <a:t>1.  构造约束</a:t>
            </a:r>
            <a:endParaRPr lang="zh-CN" altLang="en-US" sz="2400">
              <a:uFillTx/>
              <a:latin typeface="Times New Roman" panose="02020603050405020304" charset="0"/>
              <a:ea typeface="楷体" panose="02010609060101010101" charset="-122"/>
              <a:cs typeface="楷体" panose="02010609060101010101" charset="-122"/>
            </a:endParaRPr>
          </a:p>
          <a:p>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根据定理1：一个RX差分的三元组，当且仅当满足下面两个条件之一时是合法的</a:t>
            </a:r>
            <a:endParaRPr lang="zh-CN" altLang="en-US" sz="2400">
              <a:uFillTx/>
              <a:latin typeface="Times New Roman" panose="02020603050405020304" charset="0"/>
              <a:ea typeface="楷体" panose="02010609060101010101" charset="-122"/>
              <a:cs typeface="楷体" panose="02010609060101010101" charset="-122"/>
            </a:endParaRPr>
          </a:p>
        </p:txBody>
      </p:sp>
      <p:pic>
        <p:nvPicPr>
          <p:cNvPr id="2" name="图片 1"/>
          <p:cNvPicPr>
            <a:picLocks noChangeAspect="1"/>
          </p:cNvPicPr>
          <p:nvPr/>
        </p:nvPicPr>
        <p:blipFill>
          <a:blip r:embed="rId1"/>
          <a:stretch>
            <a:fillRect/>
          </a:stretch>
        </p:blipFill>
        <p:spPr>
          <a:xfrm>
            <a:off x="1833245" y="2393950"/>
            <a:ext cx="8557895" cy="969010"/>
          </a:xfrm>
          <a:prstGeom prst="rect">
            <a:avLst/>
          </a:prstGeom>
        </p:spPr>
      </p:pic>
      <p:sp>
        <p:nvSpPr>
          <p:cNvPr id="3" name="文本框 2"/>
          <p:cNvSpPr txBox="1"/>
          <p:nvPr/>
        </p:nvSpPr>
        <p:spPr>
          <a:xfrm>
            <a:off x="329565" y="3569970"/>
            <a:ext cx="10841355" cy="1568450"/>
          </a:xfrm>
          <a:prstGeom prst="rect">
            <a:avLst/>
          </a:prstGeom>
          <a:noFill/>
        </p:spPr>
        <p:txBody>
          <a:bodyPr wrap="square" rtlCol="0">
            <a:spAutoFit/>
          </a:bodyPr>
          <a:p>
            <a:r>
              <a:rPr lang="en-US" altLang="zh-CN" sz="2400">
                <a:uFillTx/>
                <a:latin typeface="Times New Roman" panose="02020603050405020304" charset="0"/>
                <a:ea typeface="楷体" panose="02010609060101010101" charset="-122"/>
                <a:cs typeface="楷体" panose="02010609060101010101" charset="-122"/>
              </a:rPr>
              <a:t>2.  </a:t>
            </a:r>
            <a:r>
              <a:rPr lang="zh-CN" altLang="en-US" sz="2400">
                <a:uFillTx/>
                <a:latin typeface="Times New Roman" panose="02020603050405020304" charset="0"/>
                <a:ea typeface="楷体" panose="02010609060101010101" charset="-122"/>
                <a:cs typeface="楷体" panose="02010609060101010101" charset="-122"/>
              </a:rPr>
              <a:t>权重</a:t>
            </a:r>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一个合法的三元组的权重为：</a:t>
            </a:r>
            <a:endParaRPr lang="zh-CN" altLang="en-US" sz="2400">
              <a:uFillTx/>
              <a:latin typeface="Times New Roman" panose="02020603050405020304" charset="0"/>
              <a:ea typeface="楷体" panose="02010609060101010101" charset="-122"/>
              <a:cs typeface="楷体" panose="02010609060101010101" charset="-122"/>
            </a:endParaRPr>
          </a:p>
          <a:p>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再由定理</a:t>
            </a:r>
            <a:r>
              <a:rPr lang="en-US" altLang="zh-CN" sz="2400">
                <a:uFillTx/>
                <a:latin typeface="Times New Roman" panose="02020603050405020304" charset="0"/>
                <a:ea typeface="楷体" panose="02010609060101010101" charset="-122"/>
                <a:cs typeface="楷体" panose="02010609060101010101" charset="-122"/>
              </a:rPr>
              <a:t>1</a:t>
            </a:r>
            <a:r>
              <a:rPr lang="zh-CN" altLang="en-US" sz="2400">
                <a:uFillTx/>
                <a:latin typeface="Times New Roman" panose="02020603050405020304" charset="0"/>
                <a:ea typeface="楷体" panose="02010609060101010101" charset="-122"/>
                <a:cs typeface="楷体" panose="02010609060101010101" charset="-122"/>
              </a:rPr>
              <a:t>，权重可表示为</a:t>
            </a:r>
            <a:endParaRPr lang="zh-CN" altLang="en-US" sz="2400">
              <a:uFillTx/>
              <a:latin typeface="Times New Roman" panose="02020603050405020304" charset="0"/>
              <a:ea typeface="楷体" panose="02010609060101010101" charset="-122"/>
              <a:cs typeface="楷体" panose="02010609060101010101" charset="-122"/>
            </a:endParaRPr>
          </a:p>
        </p:txBody>
      </p:sp>
      <p:pic>
        <p:nvPicPr>
          <p:cNvPr id="4" name="图片 3"/>
          <p:cNvPicPr>
            <a:picLocks noChangeAspect="1"/>
          </p:cNvPicPr>
          <p:nvPr/>
        </p:nvPicPr>
        <p:blipFill>
          <a:blip r:embed="rId2"/>
          <a:stretch>
            <a:fillRect/>
          </a:stretch>
        </p:blipFill>
        <p:spPr>
          <a:xfrm>
            <a:off x="4376420" y="3848100"/>
            <a:ext cx="4802505" cy="558800"/>
          </a:xfrm>
          <a:prstGeom prst="rect">
            <a:avLst/>
          </a:prstGeom>
        </p:spPr>
      </p:pic>
      <p:pic>
        <p:nvPicPr>
          <p:cNvPr id="5" name="图片 4"/>
          <p:cNvPicPr>
            <a:picLocks noChangeAspect="1"/>
          </p:cNvPicPr>
          <p:nvPr/>
        </p:nvPicPr>
        <p:blipFill>
          <a:blip r:embed="rId3"/>
          <a:stretch>
            <a:fillRect/>
          </a:stretch>
        </p:blipFill>
        <p:spPr>
          <a:xfrm>
            <a:off x="1936115" y="5138420"/>
            <a:ext cx="7887335" cy="883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329565" y="1078865"/>
            <a:ext cx="11532870" cy="5631180"/>
          </a:xfrm>
          <a:prstGeom prst="rect">
            <a:avLst/>
          </a:prstGeom>
          <a:noFill/>
        </p:spPr>
        <p:txBody>
          <a:bodyPr wrap="square" rtlCol="0">
            <a:spAutoFit/>
          </a:bodyPr>
          <a:p>
            <a:r>
              <a:rPr lang="en-US" altLang="zh-CN" sz="2400">
                <a:uFillTx/>
                <a:latin typeface="Times New Roman" panose="02020603050405020304" charset="0"/>
                <a:ea typeface="楷体" panose="02010609060101010101" charset="-122"/>
                <a:cs typeface="楷体" panose="02010609060101010101" charset="-122"/>
              </a:rPr>
              <a:t>3</a:t>
            </a:r>
            <a:r>
              <a:rPr lang="zh-CN" altLang="en-US" sz="2400">
                <a:uFillTx/>
                <a:latin typeface="Times New Roman" panose="02020603050405020304" charset="0"/>
                <a:ea typeface="楷体" panose="02010609060101010101" charset="-122"/>
                <a:cs typeface="楷体" panose="02010609060101010101" charset="-122"/>
              </a:rPr>
              <a:t>. 求解思路</a:t>
            </a:r>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确定是否有一个解决方案（</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差分路径），该差分路径的权重是</a:t>
            </a:r>
            <a:r>
              <a:rPr lang="en-US" altLang="zh-CN" sz="2400">
                <a:uFillTx/>
                <a:latin typeface="Times New Roman" panose="02020603050405020304" charset="0"/>
                <a:ea typeface="楷体" panose="02010609060101010101" charset="-122"/>
                <a:cs typeface="楷体" panose="02010609060101010101" charset="-122"/>
              </a:rPr>
              <a:t>W</a:t>
            </a:r>
            <a:r>
              <a:rPr lang="zh-CN" altLang="en-US" sz="2400">
                <a:uFillTx/>
                <a:latin typeface="Times New Roman" panose="02020603050405020304" charset="0"/>
                <a:ea typeface="楷体" panose="02010609060101010101" charset="-122"/>
                <a:cs typeface="楷体" panose="02010609060101010101" charset="-122"/>
              </a:rPr>
              <a:t>；</a:t>
            </a:r>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如果有，选择一个更小的权重；如果无，选择一个更大的权重，直到找到最小的权重</a:t>
            </a:r>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即：存在一条</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差分路径的权重为    ，但不存在权重为          的差分路径。</a:t>
            </a:r>
            <a:endParaRPr lang="en-US" altLang="zh-CN" sz="2400">
              <a:uFillTx/>
              <a:latin typeface="Times New Roman" panose="02020603050405020304" charset="0"/>
              <a:ea typeface="楷体" panose="02010609060101010101" charset="-122"/>
              <a:cs typeface="楷体" panose="02010609060101010101" charset="-122"/>
            </a:endParaRPr>
          </a:p>
          <a:p>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获得最小权重的策略：由小到大、由大到小、二分法。</a:t>
            </a:r>
            <a:endParaRPr lang="zh-CN" altLang="en-US" sz="2400">
              <a:uFillTx/>
              <a:latin typeface="Times New Roman" panose="02020603050405020304" charset="0"/>
              <a:ea typeface="楷体" panose="02010609060101010101" charset="-122"/>
              <a:cs typeface="楷体" panose="02010609060101010101" charset="-122"/>
            </a:endParaRPr>
          </a:p>
          <a:p>
            <a:endParaRPr lang="zh-CN" altLang="en-US" sz="2400">
              <a:uFillTx/>
              <a:latin typeface="Times New Roman" panose="02020603050405020304" charset="0"/>
              <a:ea typeface="楷体" panose="02010609060101010101" charset="-122"/>
              <a:cs typeface="楷体" panose="02010609060101010101" charset="-122"/>
            </a:endParaRPr>
          </a:p>
          <a:p>
            <a:r>
              <a:rPr lang="en-US" altLang="zh-CN" sz="2400">
                <a:uFillTx/>
                <a:latin typeface="Times New Roman" panose="02020603050405020304" charset="0"/>
                <a:ea typeface="楷体" panose="02010609060101010101" charset="-122"/>
                <a:cs typeface="楷体" panose="02010609060101010101" charset="-122"/>
              </a:rPr>
              <a:t>4. SMT </a:t>
            </a:r>
            <a:r>
              <a:rPr lang="zh-CN" altLang="en-US" sz="2400">
                <a:uFillTx/>
                <a:latin typeface="Times New Roman" panose="02020603050405020304" charset="0"/>
                <a:ea typeface="楷体" panose="02010609060101010101" charset="-122"/>
                <a:cs typeface="楷体" panose="02010609060101010101" charset="-122"/>
              </a:rPr>
              <a:t>求解器求解</a:t>
            </a:r>
            <a:endParaRPr lang="zh-CN" altLang="en-US" sz="2400">
              <a:uFillTx/>
              <a:latin typeface="Times New Roman" panose="02020603050405020304" charset="0"/>
              <a:ea typeface="楷体" panose="02010609060101010101" charset="-122"/>
              <a:cs typeface="楷体" panose="02010609060101010101" charset="-122"/>
            </a:endParaRPr>
          </a:p>
          <a:p>
            <a:r>
              <a:rPr lang="zh-CN" altLang="en-US" sz="2400">
                <a:uFillTx/>
                <a:latin typeface="Times New Roman" panose="02020603050405020304" charset="0"/>
                <a:ea typeface="楷体" panose="02010609060101010101" charset="-122"/>
                <a:cs typeface="楷体" panose="02010609060101010101" charset="-122"/>
              </a:rPr>
              <a:t>使用</a:t>
            </a:r>
            <a:r>
              <a:rPr lang="en-US" altLang="zh-CN" sz="2400">
                <a:uFillTx/>
                <a:latin typeface="Times New Roman" panose="02020603050405020304" charset="0"/>
                <a:ea typeface="楷体" panose="02010609060101010101" charset="-122"/>
                <a:cs typeface="楷体" panose="02010609060101010101" charset="-122"/>
              </a:rPr>
              <a:t>STP</a:t>
            </a:r>
            <a:r>
              <a:rPr lang="zh-CN" altLang="en-US" sz="2400">
                <a:uFillTx/>
                <a:latin typeface="Times New Roman" panose="02020603050405020304" charset="0"/>
                <a:ea typeface="楷体" panose="02010609060101010101" charset="-122"/>
                <a:cs typeface="楷体" panose="02010609060101010101" charset="-122"/>
              </a:rPr>
              <a:t>将（</a:t>
            </a:r>
            <a:r>
              <a:rPr lang="en-US" altLang="zh-CN" sz="2400">
                <a:uFillTx/>
                <a:latin typeface="Times New Roman" panose="02020603050405020304" charset="0"/>
                <a:ea typeface="楷体" panose="02010609060101010101" charset="-122"/>
                <a:cs typeface="楷体" panose="02010609060101010101" charset="-122"/>
              </a:rPr>
              <a:t>1</a:t>
            </a:r>
            <a:r>
              <a:rPr lang="zh-CN" altLang="en-US" sz="2400">
                <a:uFillTx/>
                <a:latin typeface="Times New Roman" panose="02020603050405020304" charset="0"/>
                <a:ea typeface="楷体" panose="02010609060101010101" charset="-122"/>
                <a:cs typeface="楷体" panose="02010609060101010101" charset="-122"/>
              </a:rPr>
              <a:t>）（</a:t>
            </a:r>
            <a:r>
              <a:rPr lang="en-US" altLang="zh-CN" sz="2400">
                <a:uFillTx/>
                <a:latin typeface="Times New Roman" panose="02020603050405020304" charset="0"/>
                <a:ea typeface="楷体" panose="02010609060101010101" charset="-122"/>
                <a:cs typeface="楷体" panose="02010609060101010101" charset="-122"/>
              </a:rPr>
              <a:t>2</a:t>
            </a:r>
            <a:r>
              <a:rPr lang="zh-CN" altLang="en-US" sz="2400">
                <a:uFillTx/>
                <a:latin typeface="Times New Roman" panose="02020603050405020304" charset="0"/>
                <a:ea typeface="楷体" panose="02010609060101010101" charset="-122"/>
                <a:cs typeface="楷体" panose="02010609060101010101" charset="-122"/>
              </a:rPr>
              <a:t>）（</a:t>
            </a:r>
            <a:r>
              <a:rPr lang="en-US" altLang="zh-CN" sz="2400">
                <a:uFillTx/>
                <a:latin typeface="Times New Roman" panose="02020603050405020304" charset="0"/>
                <a:ea typeface="楷体" panose="02010609060101010101" charset="-122"/>
                <a:cs typeface="楷体" panose="02010609060101010101" charset="-122"/>
              </a:rPr>
              <a:t>3</a:t>
            </a:r>
            <a:r>
              <a:rPr lang="zh-CN" altLang="en-US" sz="2400">
                <a:uFillTx/>
                <a:latin typeface="Times New Roman" panose="02020603050405020304" charset="0"/>
                <a:ea typeface="楷体" panose="02010609060101010101" charset="-122"/>
                <a:cs typeface="楷体" panose="02010609060101010101" charset="-122"/>
              </a:rPr>
              <a:t>）方程式转化为合取范式，这个问题就转化为一个布尔可满足问题（</a:t>
            </a:r>
            <a:r>
              <a:rPr lang="en-US" altLang="zh-CN" sz="2400">
                <a:uFillTx/>
                <a:latin typeface="Times New Roman" panose="02020603050405020304" charset="0"/>
                <a:ea typeface="楷体" panose="02010609060101010101" charset="-122"/>
                <a:cs typeface="楷体" panose="02010609060101010101" charset="-122"/>
              </a:rPr>
              <a:t>SAT problem</a:t>
            </a:r>
            <a:r>
              <a:rPr lang="zh-CN" altLang="en-US" sz="2400">
                <a:uFillTx/>
                <a:latin typeface="Times New Roman" panose="02020603050405020304" charset="0"/>
                <a:ea typeface="楷体" panose="02010609060101010101" charset="-122"/>
                <a:cs typeface="楷体" panose="02010609060101010101" charset="-122"/>
              </a:rPr>
              <a:t>），在</a:t>
            </a:r>
            <a:r>
              <a:rPr lang="en-US" altLang="zh-CN" sz="2400">
                <a:uFillTx/>
                <a:latin typeface="Times New Roman" panose="02020603050405020304" charset="0"/>
                <a:ea typeface="楷体" panose="02010609060101010101" charset="-122"/>
                <a:cs typeface="楷体" panose="02010609060101010101" charset="-122"/>
              </a:rPr>
              <a:t>SAT</a:t>
            </a:r>
            <a:r>
              <a:rPr lang="zh-CN" altLang="en-US" sz="2400">
                <a:uFillTx/>
                <a:latin typeface="Times New Roman" panose="02020603050405020304" charset="0"/>
                <a:ea typeface="楷体" panose="02010609060101010101" charset="-122"/>
                <a:cs typeface="楷体" panose="02010609060101010101" charset="-122"/>
              </a:rPr>
              <a:t>求解器其中求解。</a:t>
            </a:r>
            <a:endParaRPr lang="zh-CN" altLang="en-US" sz="2400">
              <a:uFillTx/>
              <a:latin typeface="Times New Roman" panose="02020603050405020304" charset="0"/>
              <a:ea typeface="楷体" panose="02010609060101010101" charset="-122"/>
              <a:cs typeface="楷体" panose="02010609060101010101" charset="-122"/>
            </a:endParaRPr>
          </a:p>
          <a:p>
            <a:endParaRPr lang="zh-CN" altLang="en-US" sz="2400">
              <a:uFillTx/>
              <a:latin typeface="Times New Roman" panose="02020603050405020304" charset="0"/>
              <a:ea typeface="楷体" panose="02010609060101010101" charset="-122"/>
              <a:cs typeface="楷体" panose="02010609060101010101" charset="-122"/>
            </a:endParaRPr>
          </a:p>
          <a:p>
            <a:r>
              <a:rPr lang="en-US" altLang="zh-CN" sz="2400">
                <a:uFillTx/>
                <a:latin typeface="Times New Roman" panose="02020603050405020304" charset="0"/>
                <a:ea typeface="楷体" panose="02010609060101010101" charset="-122"/>
                <a:cs typeface="楷体" panose="02010609060101010101" charset="-122"/>
              </a:rPr>
              <a:t>5. SAT</a:t>
            </a:r>
            <a:r>
              <a:rPr lang="zh-CN" altLang="en-US" sz="2400">
                <a:uFillTx/>
                <a:latin typeface="Times New Roman" panose="02020603050405020304" charset="0"/>
                <a:ea typeface="楷体" panose="02010609060101010101" charset="-122"/>
                <a:cs typeface="楷体" panose="02010609060101010101" charset="-122"/>
              </a:rPr>
              <a:t>求解结果</a:t>
            </a:r>
            <a:endParaRPr lang="zh-CN" altLang="en-US" sz="2400">
              <a:uFillTx/>
              <a:latin typeface="Times New Roman" panose="02020603050405020304" charset="0"/>
              <a:ea typeface="楷体" panose="02010609060101010101" charset="-122"/>
              <a:cs typeface="楷体" panose="02010609060101010101" charset="-122"/>
            </a:endParaRPr>
          </a:p>
          <a:p>
            <a:pPr marL="800100" lvl="1" indent="-342900">
              <a:buFont typeface="Arial" panose="020B0604020202020204" pitchFamily="34" charset="0"/>
              <a:buChar char="•"/>
            </a:pPr>
            <a:r>
              <a:rPr lang="zh-CN" altLang="en-US" sz="2400">
                <a:uFillTx/>
                <a:latin typeface="Times New Roman" panose="02020603050405020304" charset="0"/>
                <a:ea typeface="楷体" panose="02010609060101010101" charset="-122"/>
                <a:cs typeface="楷体" panose="02010609060101010101" charset="-122"/>
              </a:rPr>
              <a:t>satisfiable：一个最小权重     和在权重值在区间                 内的一条</a:t>
            </a:r>
            <a:r>
              <a:rPr lang="en-US" altLang="zh-CN" sz="2400">
                <a:uFillTx/>
                <a:latin typeface="Times New Roman" panose="02020603050405020304" charset="0"/>
                <a:ea typeface="楷体" panose="02010609060101010101" charset="-122"/>
                <a:cs typeface="楷体" panose="02010609060101010101" charset="-122"/>
              </a:rPr>
              <a:t>RX</a:t>
            </a:r>
            <a:r>
              <a:rPr lang="zh-CN" altLang="en-US" sz="2400">
                <a:uFillTx/>
                <a:latin typeface="Times New Roman" panose="02020603050405020304" charset="0"/>
                <a:ea typeface="楷体" panose="02010609060101010101" charset="-122"/>
                <a:cs typeface="楷体" panose="02010609060101010101" charset="-122"/>
              </a:rPr>
              <a:t>差分路径；</a:t>
            </a:r>
            <a:endParaRPr lang="zh-CN" altLang="en-US" sz="2400">
              <a:uFillTx/>
              <a:latin typeface="Times New Roman" panose="02020603050405020304" charset="0"/>
              <a:ea typeface="楷体" panose="02010609060101010101" charset="-122"/>
              <a:cs typeface="楷体" panose="02010609060101010101" charset="-122"/>
            </a:endParaRPr>
          </a:p>
          <a:p>
            <a:pPr marL="800100" lvl="1" indent="-342900">
              <a:buFont typeface="Arial" panose="020B0604020202020204" pitchFamily="34" charset="0"/>
              <a:buChar char="•"/>
            </a:pPr>
            <a:r>
              <a:rPr lang="en-US" altLang="zh-CN" sz="2400">
                <a:uFillTx/>
                <a:latin typeface="Times New Roman" panose="02020603050405020304" charset="0"/>
                <a:ea typeface="楷体" panose="02010609060101010101" charset="-122"/>
                <a:cs typeface="楷体" panose="02010609060101010101" charset="-122"/>
              </a:rPr>
              <a:t>unsatisfiable</a:t>
            </a:r>
            <a:endParaRPr lang="en-US" altLang="zh-CN" sz="2400">
              <a:uFillTx/>
              <a:latin typeface="Times New Roman" panose="02020603050405020304" charset="0"/>
              <a:ea typeface="楷体" panose="02010609060101010101" charset="-122"/>
              <a:cs typeface="楷体" panose="02010609060101010101" charset="-122"/>
            </a:endParaRPr>
          </a:p>
          <a:p>
            <a:r>
              <a:rPr lang="en-US" altLang="zh-CN" sz="2400">
                <a:uFillTx/>
                <a:latin typeface="Times New Roman" panose="02020603050405020304" charset="0"/>
                <a:ea typeface="楷体" panose="02010609060101010101" charset="-122"/>
                <a:cs typeface="楷体" panose="02010609060101010101" charset="-122"/>
              </a:rPr>
              <a:t>	</a:t>
            </a:r>
            <a:endParaRPr lang="en-US" altLang="zh-CN" sz="2400">
              <a:uFillTx/>
              <a:latin typeface="Times New Roman" panose="02020603050405020304" charset="0"/>
              <a:ea typeface="楷体" panose="02010609060101010101" charset="-122"/>
              <a:cs typeface="楷体" panose="02010609060101010101" charset="-122"/>
            </a:endParaRPr>
          </a:p>
        </p:txBody>
      </p:sp>
      <p:graphicFrame>
        <p:nvGraphicFramePr>
          <p:cNvPr id="2" name="对象 1">
            <a:hlinkClick r:id="" action="ppaction://ole?verb="/>
          </p:cNvPr>
          <p:cNvGraphicFramePr>
            <a:graphicFrameLocks noChangeAspect="1"/>
          </p:cNvGraphicFramePr>
          <p:nvPr/>
        </p:nvGraphicFramePr>
        <p:xfrm>
          <a:off x="5142865" y="2211070"/>
          <a:ext cx="312420" cy="358775"/>
        </p:xfrm>
        <a:graphic>
          <a:graphicData uri="http://schemas.openxmlformats.org/presentationml/2006/ole">
            <mc:AlternateContent xmlns:mc="http://schemas.openxmlformats.org/markup-compatibility/2006">
              <mc:Choice xmlns:v="urn:schemas-microsoft-com:vml" Requires="v">
                <p:oleObj spid="_x0000_s1025" name="" r:id="rId1" imgW="177165" imgH="203200" progId="Equation.KSEE3">
                  <p:embed/>
                </p:oleObj>
              </mc:Choice>
              <mc:Fallback>
                <p:oleObj name="" r:id="rId1" imgW="177165" imgH="203200" progId="Equation.KSEE3">
                  <p:embed/>
                  <p:pic>
                    <p:nvPicPr>
                      <p:cNvPr id="0" name="图片 1024"/>
                      <p:cNvPicPr/>
                      <p:nvPr/>
                    </p:nvPicPr>
                    <p:blipFill>
                      <a:blip r:embed="rId2"/>
                      <a:stretch>
                        <a:fillRect/>
                      </a:stretch>
                    </p:blipFill>
                    <p:spPr>
                      <a:xfrm>
                        <a:off x="5142865" y="2211070"/>
                        <a:ext cx="312420" cy="35877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7864475" y="2206625"/>
          <a:ext cx="704215" cy="363220"/>
        </p:xfrm>
        <a:graphic>
          <a:graphicData uri="http://schemas.openxmlformats.org/presentationml/2006/ole">
            <mc:AlternateContent xmlns:mc="http://schemas.openxmlformats.org/markup-compatibility/2006">
              <mc:Choice xmlns:v="urn:schemas-microsoft-com:vml" Requires="v">
                <p:oleObj spid="_x0000_s1026" name="" r:id="rId3" imgW="393700" imgH="203200" progId="Equation.KSEE3">
                  <p:embed/>
                </p:oleObj>
              </mc:Choice>
              <mc:Fallback>
                <p:oleObj name="" r:id="rId3" imgW="393700" imgH="203200" progId="Equation.KSEE3">
                  <p:embed/>
                  <p:pic>
                    <p:nvPicPr>
                      <p:cNvPr id="0" name="图片 1025"/>
                      <p:cNvPicPr/>
                      <p:nvPr/>
                    </p:nvPicPr>
                    <p:blipFill>
                      <a:blip r:embed="rId4"/>
                      <a:stretch>
                        <a:fillRect/>
                      </a:stretch>
                    </p:blipFill>
                    <p:spPr>
                      <a:xfrm>
                        <a:off x="7864475" y="2206625"/>
                        <a:ext cx="704215" cy="36322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4579620" y="5509895"/>
          <a:ext cx="312420" cy="358775"/>
        </p:xfrm>
        <a:graphic>
          <a:graphicData uri="http://schemas.openxmlformats.org/presentationml/2006/ole">
            <mc:AlternateContent xmlns:mc="http://schemas.openxmlformats.org/markup-compatibility/2006">
              <mc:Choice xmlns:v="urn:schemas-microsoft-com:vml" Requires="v">
                <p:oleObj spid="_x0000_s5" name="" r:id="rId5" imgW="177165" imgH="203200" progId="Equation.KSEE3">
                  <p:embed/>
                </p:oleObj>
              </mc:Choice>
              <mc:Fallback>
                <p:oleObj name="" r:id="rId5" imgW="177165" imgH="203200" progId="Equation.KSEE3">
                  <p:embed/>
                  <p:pic>
                    <p:nvPicPr>
                      <p:cNvPr id="0" name="图片 1024"/>
                      <p:cNvPicPr/>
                      <p:nvPr/>
                    </p:nvPicPr>
                    <p:blipFill>
                      <a:blip r:embed="rId2"/>
                      <a:stretch>
                        <a:fillRect/>
                      </a:stretch>
                    </p:blipFill>
                    <p:spPr>
                      <a:xfrm>
                        <a:off x="4579620" y="5509895"/>
                        <a:ext cx="312420" cy="35877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7455535" y="5442585"/>
          <a:ext cx="1253490" cy="426085"/>
        </p:xfrm>
        <a:graphic>
          <a:graphicData uri="http://schemas.openxmlformats.org/presentationml/2006/ole">
            <mc:AlternateContent xmlns:mc="http://schemas.openxmlformats.org/markup-compatibility/2006">
              <mc:Choice xmlns:v="urn:schemas-microsoft-com:vml" Requires="v">
                <p:oleObj spid="_x0000_s1027" name="" r:id="rId6" imgW="673100" imgH="228600" progId="Equation.KSEE3">
                  <p:embed/>
                </p:oleObj>
              </mc:Choice>
              <mc:Fallback>
                <p:oleObj name="" r:id="rId6" imgW="673100" imgH="228600" progId="Equation.KSEE3">
                  <p:embed/>
                  <p:pic>
                    <p:nvPicPr>
                      <p:cNvPr id="0" name="图片 1026"/>
                      <p:cNvPicPr/>
                      <p:nvPr/>
                    </p:nvPicPr>
                    <p:blipFill>
                      <a:blip r:embed="rId7"/>
                      <a:stretch>
                        <a:fillRect/>
                      </a:stretch>
                    </p:blipFill>
                    <p:spPr>
                      <a:xfrm>
                        <a:off x="7455535" y="5442585"/>
                        <a:ext cx="1253490" cy="42608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1718945" y="1334135"/>
            <a:ext cx="8754745" cy="41897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a:t> The ArxPy Tool</a:t>
            </a:r>
            <a:endParaRPr lang="zh-CN" altLang="en-US"/>
          </a:p>
        </p:txBody>
      </p:sp>
      <p:sp>
        <p:nvSpPr>
          <p:cNvPr id="5" name="副标题 4"/>
          <p:cNvSpPr>
            <a:spLocks noGrp="1"/>
          </p:cNvSpPr>
          <p:nvPr>
            <p:ph type="subTitle" idx="1"/>
          </p:nvPr>
        </p:nvSpPr>
        <p:spPr/>
        <p:txBody>
          <a:bodyPr/>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342900" y="1095375"/>
            <a:ext cx="11312525" cy="5015865"/>
          </a:xfrm>
          <a:prstGeom prst="rect">
            <a:avLst/>
          </a:prstGeom>
          <a:noFill/>
        </p:spPr>
        <p:txBody>
          <a:bodyPr wrap="square" rtlCol="0">
            <a:spAutoFit/>
          </a:bodyPr>
          <a:p>
            <a:r>
              <a:rPr lang="en-US" altLang="zh-CN" sz="2800"/>
              <a:t>1.  </a:t>
            </a:r>
            <a:r>
              <a:rPr lang="en-US" altLang="zh-CN" sz="2800">
                <a:solidFill>
                  <a:schemeClr val="tx1"/>
                </a:solidFill>
                <a:uFillTx/>
                <a:latin typeface="Times New Roman" panose="02020603050405020304" charset="0"/>
                <a:ea typeface="楷体" panose="02010609060101010101" charset="-122"/>
              </a:rPr>
              <a:t>ArxPy</a:t>
            </a:r>
            <a:r>
              <a:rPr lang="zh-CN" altLang="en-US" sz="2800">
                <a:solidFill>
                  <a:schemeClr val="tx1"/>
                </a:solidFill>
                <a:uFillTx/>
                <a:latin typeface="Times New Roman" panose="02020603050405020304" charset="0"/>
                <a:ea typeface="楷体" panose="02010609060101010101" charset="-122"/>
              </a:rPr>
              <a:t>简介</a:t>
            </a:r>
            <a:endParaRPr lang="zh-CN" altLang="en-US" sz="2800"/>
          </a:p>
          <a:p>
            <a:endParaRPr lang="zh-CN" altLang="en-US" sz="2800"/>
          </a:p>
          <a:p>
            <a:r>
              <a:rPr lang="en-US" altLang="zh-CN" sz="2400">
                <a:latin typeface="楷体" panose="02010609060101010101" charset="-122"/>
                <a:ea typeface="楷体" panose="02010609060101010101" charset="-122"/>
                <a:cs typeface="楷体" panose="02010609060101010101" charset="-122"/>
              </a:rPr>
              <a:t> </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ArxPy</a:t>
            </a:r>
            <a:r>
              <a:rPr lang="zh-CN" altLang="en-US" sz="2400">
                <a:solidFill>
                  <a:schemeClr val="tx1"/>
                </a:solidFill>
                <a:uFillTx/>
                <a:latin typeface="Times New Roman" panose="02020603050405020304" charset="0"/>
                <a:ea typeface="楷体" panose="02010609060101010101" charset="-122"/>
                <a:cs typeface="楷体" panose="02010609060101010101" charset="-122"/>
              </a:rPr>
              <a:t>是找</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分组密码最优旋转异或差分路径的一种开源工具。</a:t>
            </a: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r>
              <a:rPr lang="en-US" altLang="zh-CN" sz="2400">
                <a:solidFill>
                  <a:schemeClr val="tx1"/>
                </a:solidFill>
                <a:uFillTx/>
                <a:latin typeface="Times New Roman" panose="02020603050405020304" charset="0"/>
                <a:ea typeface="楷体" panose="02010609060101010101" charset="-122"/>
                <a:cs typeface="楷体" panose="02010609060101010101" charset="-122"/>
              </a:rPr>
              <a:t>  ArxPy</a:t>
            </a:r>
            <a:r>
              <a:rPr lang="zh-CN" altLang="en-US" sz="2400">
                <a:solidFill>
                  <a:schemeClr val="tx1"/>
                </a:solidFill>
                <a:uFillTx/>
                <a:latin typeface="Times New Roman" panose="02020603050405020304" charset="0"/>
                <a:ea typeface="楷体" panose="02010609060101010101" charset="-122"/>
                <a:cs typeface="楷体" panose="02010609060101010101" charset="-122"/>
              </a:rPr>
              <a:t>以一个</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分组密码的</a:t>
            </a:r>
            <a:r>
              <a:rPr lang="en-US" altLang="zh-CN" sz="2400">
                <a:solidFill>
                  <a:schemeClr val="tx1"/>
                </a:solidFill>
                <a:uFillTx/>
                <a:latin typeface="Times New Roman" panose="02020603050405020304" charset="0"/>
                <a:ea typeface="楷体" panose="02010609060101010101" charset="-122"/>
                <a:cs typeface="楷体" panose="02010609060101010101" charset="-122"/>
              </a:rPr>
              <a:t>Python</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实现作为输入，应用的是基于</a:t>
            </a:r>
            <a:r>
              <a:rPr lang="en-US" altLang="zh-CN" sz="2400">
                <a:solidFill>
                  <a:schemeClr val="tx1"/>
                </a:solidFill>
                <a:uFillTx/>
                <a:latin typeface="Times New Roman" panose="02020603050405020304" charset="0"/>
                <a:ea typeface="楷体" panose="02010609060101010101" charset="-122"/>
                <a:cs typeface="楷体" panose="02010609060101010101" charset="-122"/>
              </a:rPr>
              <a:t>SAT</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建模的方法</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t>
            </a: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r>
              <a:rPr lang="en-US" altLang="zh-CN" sz="2400">
                <a:solidFill>
                  <a:schemeClr val="tx1"/>
                </a:solidFill>
                <a:uFillTx/>
                <a:latin typeface="Times New Roman" panose="02020603050405020304" charset="0"/>
                <a:ea typeface="楷体" panose="02010609060101010101" charset="-122"/>
                <a:cs typeface="楷体" panose="02010609060101010101" charset="-122"/>
              </a:rPr>
              <a:t>  </a:t>
            </a:r>
            <a:r>
              <a:rPr sz="2400">
                <a:solidFill>
                  <a:schemeClr val="tx1"/>
                </a:solidFill>
                <a:uFillTx/>
                <a:latin typeface="Times New Roman" panose="02020603050405020304" charset="0"/>
                <a:ea typeface="楷体" panose="02010609060101010101" charset="-122"/>
                <a:cs typeface="楷体" panose="02010609060101010101" charset="-122"/>
              </a:rPr>
              <a:t>给定ARX块密码的Python实现，使用简单的shell命令执行ArxPy</a:t>
            </a:r>
            <a:r>
              <a:rPr lang="zh-CN" sz="2400">
                <a:solidFill>
                  <a:schemeClr val="tx1"/>
                </a:solidFill>
                <a:uFillTx/>
                <a:latin typeface="Times New Roman" panose="02020603050405020304" charset="0"/>
                <a:ea typeface="楷体" panose="02010609060101010101" charset="-122"/>
                <a:cs typeface="楷体" panose="02010609060101010101" charset="-122"/>
              </a:rPr>
              <a:t>。由于</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ArxPy</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具有</a:t>
            </a: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r>
              <a:rPr lang="zh-CN" altLang="en-US" sz="2400">
                <a:solidFill>
                  <a:schemeClr val="tx1"/>
                </a:solidFill>
                <a:uFillTx/>
                <a:latin typeface="Times New Roman" panose="02020603050405020304" charset="0"/>
                <a:ea typeface="楷体" panose="02010609060101010101" charset="-122"/>
                <a:cs typeface="楷体" panose="02010609060101010101" charset="-122"/>
              </a:rPr>
              <a:t>模块化的体系结构，因此可以很容易地适应特定的需要。</a:t>
            </a: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r>
              <a:rPr lang="zh-CN" altLang="en-US" sz="2400">
                <a:solidFill>
                  <a:schemeClr val="tx1"/>
                </a:solidFill>
                <a:uFillTx/>
                <a:latin typeface="Times New Roman" panose="02020603050405020304" charset="0"/>
                <a:ea typeface="楷体" panose="02010609060101010101" charset="-122"/>
                <a:cs typeface="楷体" panose="02010609060101010101" charset="-122"/>
              </a:rPr>
              <a:t>  </a:t>
            </a:r>
            <a:r>
              <a:rPr lang="en-US" altLang="zh-CN" sz="2400">
                <a:solidFill>
                  <a:schemeClr val="tx1"/>
                </a:solidFill>
                <a:uFillTx/>
                <a:latin typeface="Times New Roman" panose="02020603050405020304" charset="0"/>
                <a:ea typeface="楷体" panose="02010609060101010101" charset="-122"/>
                <a:cs typeface="楷体" panose="02010609060101010101" charset="-122"/>
              </a:rPr>
              <a:t>ArxPy</a:t>
            </a:r>
            <a:r>
              <a:rPr lang="zh-CN" altLang="en-US" sz="2400">
                <a:solidFill>
                  <a:schemeClr val="tx1"/>
                </a:solidFill>
                <a:uFillTx/>
                <a:latin typeface="Times New Roman" panose="02020603050405020304" charset="0"/>
                <a:ea typeface="楷体" panose="02010609060101010101" charset="-122"/>
                <a:cs typeface="楷体" panose="02010609060101010101" charset="-122"/>
              </a:rPr>
              <a:t>实现了三个模块：</a:t>
            </a: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a:lnSpc>
                <a:spcPct val="50000"/>
              </a:lnSpc>
            </a:pPr>
            <a:endParaRPr lang="zh-CN" altLang="en-US" sz="2400">
              <a:solidFill>
                <a:schemeClr val="tx1"/>
              </a:solidFill>
              <a:uFillTx/>
              <a:latin typeface="Times New Roman" panose="02020603050405020304" charset="0"/>
              <a:ea typeface="楷体" panose="02010609060101010101" charset="-122"/>
              <a:cs typeface="楷体" panose="02010609060101010101" charset="-122"/>
            </a:endParaRPr>
          </a:p>
          <a:p>
            <a:pPr marL="1257300" lvl="2" indent="-342900">
              <a:lnSpc>
                <a:spcPct val="50000"/>
              </a:lnSpc>
              <a:buFont typeface="Arial" panose="020B0604020202020204" pitchFamily="34" charset="0"/>
              <a:buChar char="•"/>
            </a:pPr>
            <a:r>
              <a:rPr lang="en-US" altLang="zh-CN" sz="2400">
                <a:solidFill>
                  <a:schemeClr val="tx1"/>
                </a:solidFill>
                <a:uFillTx/>
                <a:latin typeface="Times New Roman" panose="02020603050405020304" charset="0"/>
                <a:ea typeface="楷体" panose="02010609060101010101" charset="-122"/>
                <a:cs typeface="楷体" panose="02010609060101010101" charset="-122"/>
              </a:rPr>
              <a:t>ARX block cipher parser</a:t>
            </a: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marL="1257300" lvl="2" indent="-342900">
              <a:lnSpc>
                <a:spcPct val="50000"/>
              </a:lnSpc>
              <a:buFont typeface="Arial" panose="020B0604020202020204" pitchFamily="34" charset="0"/>
              <a:buChar char="•"/>
            </a:pP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marL="1257300" lvl="2" indent="-342900">
              <a:lnSpc>
                <a:spcPct val="50000"/>
              </a:lnSpc>
              <a:buFont typeface="Arial" panose="020B0604020202020204" pitchFamily="34" charset="0"/>
              <a:buChar char="•"/>
            </a:pPr>
            <a:r>
              <a:rPr lang="en-US" altLang="zh-CN" sz="2400">
                <a:solidFill>
                  <a:schemeClr val="tx1"/>
                </a:solidFill>
                <a:uFillTx/>
                <a:latin typeface="Times New Roman" panose="02020603050405020304" charset="0"/>
                <a:ea typeface="楷体" panose="02010609060101010101" charset="-122"/>
                <a:cs typeface="楷体" panose="02010609060101010101" charset="-122"/>
              </a:rPr>
              <a:t>SMT writer</a:t>
            </a: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marL="1257300" lvl="2" indent="-342900">
              <a:lnSpc>
                <a:spcPct val="50000"/>
              </a:lnSpc>
              <a:buFont typeface="Arial" panose="020B0604020202020204" pitchFamily="34" charset="0"/>
              <a:buChar char="•"/>
            </a:pPr>
            <a:endParaRPr lang="en-US" altLang="zh-CN" sz="2400">
              <a:solidFill>
                <a:schemeClr val="tx1"/>
              </a:solidFill>
              <a:uFillTx/>
              <a:latin typeface="Times New Roman" panose="02020603050405020304" charset="0"/>
              <a:ea typeface="楷体" panose="02010609060101010101" charset="-122"/>
              <a:cs typeface="楷体" panose="02010609060101010101" charset="-122"/>
            </a:endParaRPr>
          </a:p>
          <a:p>
            <a:pPr marL="1257300" lvl="2" indent="-342900">
              <a:lnSpc>
                <a:spcPct val="50000"/>
              </a:lnSpc>
              <a:buFont typeface="Arial" panose="020B0604020202020204" pitchFamily="34" charset="0"/>
              <a:buChar char="•"/>
            </a:pPr>
            <a:r>
              <a:rPr lang="en-US" altLang="zh-CN" sz="2400">
                <a:solidFill>
                  <a:schemeClr val="tx1"/>
                </a:solidFill>
                <a:uFillTx/>
                <a:latin typeface="Times New Roman" panose="02020603050405020304" charset="0"/>
                <a:ea typeface="楷体" panose="02010609060101010101" charset="-122"/>
                <a:cs typeface="楷体" panose="02010609060101010101" charset="-122"/>
              </a:rPr>
              <a:t>Characteristic finder</a:t>
            </a:r>
            <a:endParaRPr lang="en-US" altLang="zh-CN" sz="2400">
              <a:latin typeface="楷体" panose="02010609060101010101" charset="-122"/>
              <a:ea typeface="楷体" panose="02010609060101010101" charset="-122"/>
              <a:cs typeface="楷体" panose="02010609060101010101" charset="-122"/>
            </a:endParaRPr>
          </a:p>
          <a:p>
            <a:pPr>
              <a:lnSpc>
                <a:spcPct val="50000"/>
              </a:lnSpc>
            </a:pPr>
            <a:endParaRPr lang="zh-CN" altLang="en-US" sz="2400">
              <a:latin typeface="楷体" panose="02010609060101010101" charset="-122"/>
              <a:ea typeface="楷体" panose="02010609060101010101" charset="-122"/>
              <a:cs typeface="楷体" panose="02010609060101010101" charset="-122"/>
            </a:endParaRPr>
          </a:p>
          <a:p>
            <a:pPr>
              <a:lnSpc>
                <a:spcPct val="50000"/>
              </a:lnSpc>
            </a:pPr>
            <a:endParaRPr lang="en-US" altLang="zh-CN"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2.</a:t>
            </a:r>
            <a:r>
              <a:rPr lang="en-US" altLang="zh-CN" sz="2800">
                <a:uFillTx/>
                <a:latin typeface="Times New Roman" panose="02020603050405020304" charset="0"/>
                <a:ea typeface="楷体" panose="02010609060101010101" charset="-122"/>
              </a:rPr>
              <a:t> </a:t>
            </a:r>
            <a:r>
              <a:rPr lang="en-US" altLang="zh-CN" sz="2800">
                <a:uFillTx/>
                <a:latin typeface="Times New Roman" panose="02020603050405020304" charset="0"/>
                <a:ea typeface="楷体" panose="02010609060101010101" charset="-122"/>
                <a:sym typeface="+mn-ea"/>
              </a:rPr>
              <a:t>parser module</a:t>
            </a:r>
            <a:endParaRPr lang="en-US" altLang="zh-CN" sz="2800">
              <a:uFillTx/>
              <a:latin typeface="Times New Roman" panose="02020603050405020304" charset="0"/>
              <a:ea typeface="楷体" panose="02010609060101010101" charset="-122"/>
              <a:sym typeface="+mn-ea"/>
            </a:endParaRPr>
          </a:p>
        </p:txBody>
      </p:sp>
      <p:sp>
        <p:nvSpPr>
          <p:cNvPr id="5" name="文本框 4"/>
          <p:cNvSpPr txBox="1"/>
          <p:nvPr/>
        </p:nvSpPr>
        <p:spPr>
          <a:xfrm>
            <a:off x="414020" y="1808480"/>
            <a:ext cx="11799570" cy="3415030"/>
          </a:xfrm>
          <a:prstGeom prst="rect">
            <a:avLst/>
          </a:prstGeom>
          <a:noFill/>
        </p:spPr>
        <p:txBody>
          <a:bodyPr wrap="none" rtlCol="0">
            <a:spAutoFit/>
          </a:bodyPr>
          <a:p>
            <a:pPr algn="l"/>
            <a:r>
              <a:rPr lang="en-US" altLang="zh-CN" sz="2400">
                <a:latin typeface="Times New Roman" panose="02020603050405020304" charset="0"/>
                <a:ea typeface="楷体" panose="02010609060101010101" charset="-122"/>
                <a:cs typeface="楷体" panose="02010609060101010101" charset="-122"/>
              </a:rPr>
              <a:t>解析器模块接收一个ARX实现</a:t>
            </a:r>
            <a:r>
              <a:rPr lang="zh-CN" altLang="en-US" sz="2400">
                <a:latin typeface="Times New Roman" panose="02020603050405020304" charset="0"/>
                <a:ea typeface="楷体" panose="02010609060101010101" charset="-122"/>
                <a:cs typeface="楷体" panose="02010609060101010101" charset="-122"/>
              </a:rPr>
              <a:t>（</a:t>
            </a:r>
            <a:r>
              <a:rPr lang="zh-CN" altLang="en-US" sz="2400">
                <a:solidFill>
                  <a:schemeClr val="tx1"/>
                </a:solidFill>
                <a:latin typeface="Times New Roman" panose="02020603050405020304" charset="0"/>
                <a:ea typeface="楷体" panose="02010609060101010101" charset="-122"/>
                <a:cs typeface="楷体" panose="02010609060101010101" charset="-122"/>
              </a:rPr>
              <a:t>an ARX implementation</a:t>
            </a:r>
            <a:r>
              <a:rPr lang="zh-CN" altLang="en-US" sz="2400">
                <a:latin typeface="Times New Roman" panose="02020603050405020304" charset="0"/>
                <a:ea typeface="楷体" panose="02010609060101010101" charset="-122"/>
                <a:cs typeface="楷体" panose="02010609060101010101" charset="-122"/>
              </a:rPr>
              <a:t>）</a:t>
            </a:r>
            <a:r>
              <a:rPr lang="en-US" altLang="zh-CN" sz="2400">
                <a:latin typeface="Times New Roman" panose="02020603050405020304" charset="0"/>
                <a:ea typeface="楷体" panose="02010609060101010101" charset="-122"/>
                <a:cs typeface="楷体" panose="02010609060101010101" charset="-122"/>
              </a:rPr>
              <a:t>，并且生成</a:t>
            </a:r>
            <a:r>
              <a:rPr lang="en-US" altLang="zh-CN" sz="2400" b="1">
                <a:latin typeface="Times New Roman" panose="02020603050405020304" charset="0"/>
                <a:ea typeface="楷体" panose="02010609060101010101" charset="-122"/>
                <a:cs typeface="楷体" panose="02010609060101010101" charset="-122"/>
              </a:rPr>
              <a:t>每一轮的输出</a:t>
            </a:r>
            <a:r>
              <a:rPr lang="en-US" altLang="zh-CN" sz="2400">
                <a:latin typeface="Times New Roman" panose="02020603050405020304" charset="0"/>
                <a:ea typeface="楷体" panose="02010609060101010101" charset="-122"/>
                <a:cs typeface="楷体" panose="02010609060101010101" charset="-122"/>
              </a:rPr>
              <a:t>的</a:t>
            </a:r>
            <a:endParaRPr lang="en-US" altLang="zh-CN" sz="2400">
              <a:latin typeface="Times New Roman" panose="02020603050405020304" charset="0"/>
              <a:ea typeface="楷体" panose="02010609060101010101" charset="-122"/>
              <a:cs typeface="楷体" panose="02010609060101010101" charset="-122"/>
            </a:endParaRPr>
          </a:p>
          <a:p>
            <a:pPr algn="l"/>
            <a:r>
              <a:rPr lang="en-US" altLang="zh-CN" sz="2400">
                <a:latin typeface="Times New Roman" panose="02020603050405020304" charset="0"/>
                <a:ea typeface="楷体" panose="02010609060101010101" charset="-122"/>
                <a:cs typeface="楷体" panose="02010609060101010101" charset="-122"/>
              </a:rPr>
              <a:t>符号表达式</a:t>
            </a:r>
            <a:r>
              <a:rPr lang="zh-CN" altLang="en-US" sz="2400">
                <a:latin typeface="Times New Roman" panose="02020603050405020304" charset="0"/>
                <a:ea typeface="楷体" panose="02010609060101010101" charset="-122"/>
                <a:cs typeface="楷体" panose="02010609060101010101" charset="-122"/>
              </a:rPr>
              <a:t>和</a:t>
            </a:r>
            <a:r>
              <a:rPr lang="en-US" altLang="zh-CN" sz="2400" b="1">
                <a:latin typeface="Times New Roman" panose="02020603050405020304" charset="0"/>
                <a:ea typeface="楷体" panose="02010609060101010101" charset="-122"/>
                <a:cs typeface="楷体" panose="02010609060101010101" charset="-122"/>
              </a:rPr>
              <a:t>轮密钥</a:t>
            </a:r>
            <a:r>
              <a:rPr lang="en-US" altLang="zh-CN" sz="2400">
                <a:latin typeface="Times New Roman" panose="02020603050405020304" charset="0"/>
                <a:ea typeface="楷体" panose="02010609060101010101" charset="-122"/>
                <a:cs typeface="楷体" panose="02010609060101010101" charset="-122"/>
              </a:rPr>
              <a:t>的符号表达式</a:t>
            </a:r>
            <a:r>
              <a:rPr lang="zh-CN" altLang="en-US" sz="2400">
                <a:latin typeface="Times New Roman" panose="02020603050405020304" charset="0"/>
                <a:ea typeface="楷体" panose="02010609060101010101" charset="-122"/>
                <a:cs typeface="楷体" panose="02010609060101010101" charset="-122"/>
              </a:rPr>
              <a:t>。</a:t>
            </a:r>
            <a:endParaRPr lang="zh-CN" altLang="en-US" sz="2400">
              <a:latin typeface="Times New Roman" panose="02020603050405020304" charset="0"/>
              <a:ea typeface="楷体" panose="02010609060101010101" charset="-122"/>
              <a:cs typeface="楷体" panose="02010609060101010101" charset="-122"/>
            </a:endParaRPr>
          </a:p>
          <a:p>
            <a:pPr algn="l"/>
            <a:endParaRPr lang="zh-CN" altLang="en-US" sz="2400">
              <a:latin typeface="Times New Roman" panose="02020603050405020304" charset="0"/>
              <a:ea typeface="楷体" panose="02010609060101010101" charset="-122"/>
              <a:cs typeface="楷体" panose="02010609060101010101" charset="-122"/>
            </a:endParaRPr>
          </a:p>
          <a:p>
            <a:pPr algn="l"/>
            <a:r>
              <a:rPr lang="zh-CN" altLang="en-US" sz="2400">
                <a:solidFill>
                  <a:srgbClr val="FF0000"/>
                </a:solidFill>
                <a:latin typeface="Times New Roman" panose="02020603050405020304" charset="0"/>
                <a:ea typeface="楷体" panose="02010609060101010101" charset="-122"/>
                <a:cs typeface="楷体" panose="02010609060101010101" charset="-122"/>
                <a:sym typeface="+mn-ea"/>
              </a:rPr>
              <a:t>an ARX implementation</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遵循ArxPy所需</a:t>
            </a:r>
            <a:r>
              <a:rPr lang="en-US" altLang="zh-CN" sz="2400">
                <a:solidFill>
                  <a:srgbClr val="FF0000"/>
                </a:solidFill>
                <a:latin typeface="Times New Roman" panose="02020603050405020304" charset="0"/>
                <a:ea typeface="楷体" panose="02010609060101010101" charset="-122"/>
                <a:cs typeface="楷体" panose="02010609060101010101" charset="-122"/>
                <a:sym typeface="+mn-ea"/>
              </a:rPr>
              <a:t>结构</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的ARX块密码的Python实现被称为ARX实</a:t>
            </a:r>
            <a:endParaRPr lang="en-US" altLang="zh-CN" sz="2400">
              <a:solidFill>
                <a:schemeClr val="tx1"/>
              </a:solidFill>
              <a:latin typeface="Times New Roman" panose="02020603050405020304" charset="0"/>
              <a:ea typeface="楷体" panose="02010609060101010101" charset="-122"/>
              <a:cs typeface="楷体" panose="02010609060101010101" charset="-122"/>
              <a:sym typeface="+mn-ea"/>
            </a:endParaRPr>
          </a:p>
          <a:p>
            <a:pPr algn="l"/>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现。任何迭代ARX块密码都可以</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被</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考虑，只要它的所有操作都在相同大小的字上执行</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a:t>
            </a:r>
            <a:endParaRPr lang="zh-CN" altLang="en-US" sz="2400">
              <a:solidFill>
                <a:schemeClr val="tx1"/>
              </a:solidFill>
              <a:latin typeface="Times New Roman" panose="02020603050405020304" charset="0"/>
              <a:ea typeface="楷体" panose="02010609060101010101" charset="-122"/>
              <a:cs typeface="楷体" panose="02010609060101010101" charset="-122"/>
              <a:sym typeface="+mn-ea"/>
            </a:endParaRPr>
          </a:p>
          <a:p>
            <a:pPr algn="l"/>
            <a:endParaRPr lang="zh-CN" altLang="en-US" sz="2400">
              <a:solidFill>
                <a:schemeClr val="tx1"/>
              </a:solidFill>
              <a:latin typeface="Times New Roman" panose="02020603050405020304" charset="0"/>
              <a:ea typeface="楷体" panose="02010609060101010101" charset="-122"/>
              <a:cs typeface="楷体" panose="02010609060101010101" charset="-122"/>
              <a:sym typeface="+mn-ea"/>
            </a:endParaRPr>
          </a:p>
          <a:p>
            <a:pPr algn="l"/>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ARX implementation的抽象语法树（</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AST</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用于动态修改</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ARX implementation</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的源码</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a:t>
            </a:r>
            <a:endParaRPr lang="zh-CN" altLang="en-US" sz="2400">
              <a:solidFill>
                <a:schemeClr val="tx1"/>
              </a:solidFill>
              <a:latin typeface="Times New Roman" panose="02020603050405020304" charset="0"/>
              <a:ea typeface="楷体" panose="02010609060101010101" charset="-122"/>
              <a:cs typeface="楷体" panose="02010609060101010101" charset="-122"/>
              <a:sym typeface="+mn-ea"/>
            </a:endParaRPr>
          </a:p>
          <a:p>
            <a:pPr algn="l"/>
            <a:endParaRPr lang="zh-CN" altLang="en-US" sz="2400">
              <a:solidFill>
                <a:schemeClr val="tx1"/>
              </a:solidFill>
              <a:latin typeface="Times New Roman" panose="02020603050405020304" charset="0"/>
              <a:ea typeface="楷体" panose="02010609060101010101" charset="-122"/>
              <a:cs typeface="楷体" panose="02010609060101010101" charset="-122"/>
              <a:sym typeface="+mn-ea"/>
            </a:endParaRPr>
          </a:p>
          <a:p>
            <a:pPr algn="l"/>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Python库SymPy</a:t>
            </a:r>
            <a:r>
              <a:rPr lang="zh-CN" altLang="en-US" sz="2400">
                <a:solidFill>
                  <a:schemeClr val="tx1"/>
                </a:solidFill>
                <a:latin typeface="Times New Roman" panose="02020603050405020304" charset="0"/>
                <a:ea typeface="楷体" panose="02010609060101010101" charset="-122"/>
                <a:cs typeface="楷体" panose="02010609060101010101" charset="-122"/>
                <a:sym typeface="+mn-ea"/>
              </a:rPr>
              <a:t>用于生成和处理符号表达式</a:t>
            </a:r>
            <a:r>
              <a:rPr lang="en-US" altLang="zh-CN" sz="2400">
                <a:solidFill>
                  <a:schemeClr val="tx1"/>
                </a:solidFill>
                <a:latin typeface="Times New Roman" panose="02020603050405020304" charset="0"/>
                <a:ea typeface="楷体" panose="02010609060101010101" charset="-122"/>
                <a:cs typeface="楷体" panose="02010609060101010101" charset="-122"/>
                <a:sym typeface="+mn-ea"/>
              </a:rPr>
              <a:t>.</a:t>
            </a:r>
            <a:endParaRPr lang="en-US" altLang="zh-CN" sz="2400">
              <a:solidFill>
                <a:schemeClr val="tx1"/>
              </a:solidFill>
              <a:latin typeface="Times New Roman" panose="02020603050405020304" charset="0"/>
              <a:ea typeface="楷体" panose="02010609060101010101" charset="-122"/>
              <a:cs typeface="楷体" panose="02010609060101010101"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16865" y="1170940"/>
            <a:ext cx="11506835" cy="4954270"/>
          </a:xfrm>
          <a:prstGeom prst="rect">
            <a:avLst/>
          </a:prstGeom>
          <a:noFill/>
        </p:spPr>
        <p:txBody>
          <a:bodyPr wrap="square" rtlCol="0" anchor="t">
            <a:spAutoFit/>
          </a:bodyPr>
          <a:p>
            <a:pPr algn="l">
              <a:buClrTx/>
              <a:buSzTx/>
              <a:buFontTx/>
            </a:pPr>
            <a:r>
              <a:rPr lang="zh-CN" altLang="en-US">
                <a:solidFill>
                  <a:srgbClr val="FF0000"/>
                </a:solidFill>
              </a:rPr>
              <a:t> </a:t>
            </a:r>
            <a:r>
              <a:rPr lang="en-US" altLang="zh-CN" sz="2800" b="1">
                <a:solidFill>
                  <a:srgbClr val="FF0000"/>
                </a:solidFill>
                <a:uFillTx/>
                <a:latin typeface="Times New Roman" panose="02020603050405020304" charset="0"/>
                <a:ea typeface="楷体" panose="02010609060101010101" charset="-122"/>
              </a:rPr>
              <a:t>Structure</a:t>
            </a:r>
            <a:r>
              <a:rPr lang="en-US" altLang="zh-CN" sz="2800" b="1">
                <a:uFillTx/>
                <a:latin typeface="Times New Roman" panose="02020603050405020304" charset="0"/>
                <a:ea typeface="楷体" panose="02010609060101010101" charset="-122"/>
              </a:rPr>
              <a:t> </a:t>
            </a:r>
            <a:r>
              <a:rPr lang="en-US" altLang="zh-CN" sz="2800">
                <a:uFillTx/>
                <a:latin typeface="Times New Roman" panose="02020603050405020304" charset="0"/>
                <a:ea typeface="楷体" panose="02010609060101010101" charset="-122"/>
              </a:rPr>
              <a:t>of Python Implementations</a:t>
            </a:r>
            <a:endParaRPr lang="en-US" altLang="zh-CN" sz="2800">
              <a:uFillTx/>
              <a:latin typeface="Times New Roman" panose="02020603050405020304" charset="0"/>
              <a:ea typeface="楷体" panose="02010609060101010101" charset="-122"/>
            </a:endParaRPr>
          </a:p>
          <a:p>
            <a:pPr algn="l">
              <a:buClrTx/>
              <a:buSzTx/>
              <a:buFontTx/>
              <a:buNone/>
            </a:pPr>
            <a:r>
              <a:rPr lang="en-US" altLang="zh-CN" sz="2400">
                <a:latin typeface="Times New Roman" panose="02020603050405020304" charset="0"/>
                <a:ea typeface="楷体" panose="02010609060101010101" charset="-122"/>
                <a:cs typeface="楷体" panose="02010609060101010101" charset="-122"/>
              </a:rPr>
              <a:t>     A minimal ARX implementation contains：</a:t>
            </a:r>
            <a:endParaRPr lang="en-US" altLang="zh-CN" sz="2400">
              <a:latin typeface="Times New Roman" panose="02020603050405020304" charset="0"/>
              <a:ea typeface="楷体" panose="02010609060101010101" charset="-122"/>
              <a:cs typeface="楷体" panose="02010609060101010101" charset="-122"/>
            </a:endParaRPr>
          </a:p>
          <a:p>
            <a:pPr marL="1257300" lvl="2" indent="-342900" algn="l">
              <a:buClrTx/>
              <a:buSzTx/>
              <a:buFont typeface="Arial" panose="020B0604020202020204" pitchFamily="34" charset="0"/>
              <a:buChar char="•"/>
            </a:pPr>
            <a:r>
              <a:rPr lang="en-US" altLang="zh-CN" sz="2400">
                <a:latin typeface="Times New Roman" panose="02020603050405020304" charset="0"/>
                <a:ea typeface="楷体" panose="02010609060101010101" charset="-122"/>
                <a:cs typeface="楷体" panose="02010609060101010101" charset="-122"/>
              </a:rPr>
              <a:t>wordsize：</a:t>
            </a:r>
            <a:r>
              <a:rPr lang="en-US" altLang="zh-CN" sz="2400">
                <a:latin typeface="Times New Roman" panose="02020603050405020304" charset="0"/>
                <a:ea typeface="楷体" panose="02010609060101010101" charset="-122"/>
                <a:cs typeface="楷体" panose="02010609060101010101" charset="-122"/>
                <a:sym typeface="+mn-ea"/>
              </a:rPr>
              <a:t>contains the word size (in bits) of the ARX block cipher.</a:t>
            </a:r>
            <a:endParaRPr lang="en-US" altLang="zh-CN" sz="2400">
              <a:latin typeface="Times New Roman" panose="02020603050405020304" charset="0"/>
              <a:ea typeface="楷体" panose="02010609060101010101" charset="-122"/>
              <a:cs typeface="楷体" panose="02010609060101010101" charset="-122"/>
              <a:sym typeface="+mn-ea"/>
            </a:endParaRPr>
          </a:p>
          <a:p>
            <a:pPr marL="1257300" lvl="2" indent="-342900" algn="l">
              <a:buClrTx/>
              <a:buSzTx/>
              <a:buFont typeface="Arial" panose="020B0604020202020204" pitchFamily="34" charset="0"/>
              <a:buChar char="•"/>
            </a:pPr>
            <a:r>
              <a:rPr lang="en-US" altLang="zh-CN" sz="2400">
                <a:latin typeface="Times New Roman" panose="02020603050405020304" charset="0"/>
                <a:ea typeface="楷体" panose="02010609060101010101" charset="-122"/>
                <a:cs typeface="楷体" panose="02010609060101010101" charset="-122"/>
              </a:rPr>
              <a:t>key schedule：实现密钥调度算法，m</a:t>
            </a:r>
            <a:r>
              <a:rPr lang="zh-CN" altLang="en-US" sz="2400">
                <a:latin typeface="Times New Roman" panose="02020603050405020304" charset="0"/>
                <a:ea typeface="楷体" panose="02010609060101010101" charset="-122"/>
                <a:cs typeface="楷体" panose="02010609060101010101" charset="-122"/>
              </a:rPr>
              <a:t>个</a:t>
            </a:r>
            <a:r>
              <a:rPr lang="en-US" altLang="zh-CN" sz="2400">
                <a:latin typeface="Times New Roman" panose="02020603050405020304" charset="0"/>
                <a:ea typeface="楷体" panose="02010609060101010101" charset="-122"/>
                <a:cs typeface="楷体" panose="02010609060101010101" charset="-122"/>
              </a:rPr>
              <a:t>参数为m个密钥，轮密钥被存储在      round_keys</a:t>
            </a:r>
            <a:r>
              <a:rPr lang="zh-CN" altLang="en-US" sz="2400">
                <a:latin typeface="Times New Roman" panose="02020603050405020304" charset="0"/>
                <a:ea typeface="楷体" panose="02010609060101010101" charset="-122"/>
                <a:cs typeface="楷体" panose="02010609060101010101" charset="-122"/>
              </a:rPr>
              <a:t>变量</a:t>
            </a:r>
            <a:r>
              <a:rPr lang="en-US" altLang="zh-CN" sz="2400">
                <a:latin typeface="Times New Roman" panose="02020603050405020304" charset="0"/>
                <a:ea typeface="楷体" panose="02010609060101010101" charset="-122"/>
                <a:cs typeface="楷体" panose="02010609060101010101" charset="-122"/>
              </a:rPr>
              <a:t>中</a:t>
            </a:r>
            <a:endParaRPr lang="en-US" altLang="zh-CN" sz="2400">
              <a:latin typeface="Times New Roman" panose="02020603050405020304" charset="0"/>
              <a:ea typeface="楷体" panose="02010609060101010101" charset="-122"/>
              <a:cs typeface="楷体" panose="02010609060101010101" charset="-122"/>
            </a:endParaRPr>
          </a:p>
          <a:p>
            <a:pPr marL="1257300" lvl="2" indent="-342900" algn="l">
              <a:buClrTx/>
              <a:buSzTx/>
              <a:buFont typeface="Arial" panose="020B0604020202020204" pitchFamily="34" charset="0"/>
              <a:buChar char="•"/>
            </a:pPr>
            <a:r>
              <a:rPr lang="en-US" altLang="zh-CN" sz="2400">
                <a:latin typeface="Times New Roman" panose="02020603050405020304" charset="0"/>
                <a:ea typeface="楷体" panose="02010609060101010101" charset="-122"/>
                <a:cs typeface="楷体" panose="02010609060101010101" charset="-122"/>
              </a:rPr>
              <a:t>encryption：实现加密算法，参数为明文，每一轮的输出（除了最后一轮）存储在rounds变量中，最后一轮输出为该函数的返回值</a:t>
            </a:r>
            <a:r>
              <a:rPr lang="zh-CN" altLang="en-US" sz="2400">
                <a:latin typeface="Times New Roman" panose="02020603050405020304" charset="0"/>
                <a:ea typeface="楷体" panose="02010609060101010101" charset="-122"/>
                <a:cs typeface="楷体" panose="02010609060101010101" charset="-122"/>
              </a:rPr>
              <a:t>。</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buNone/>
            </a:pPr>
            <a:r>
              <a:rPr lang="en-US" altLang="zh-CN" sz="2400">
                <a:uFillTx/>
                <a:latin typeface="Times New Roman" panose="02020603050405020304" charset="0"/>
                <a:ea typeface="楷体" panose="02010609060101010101" charset="-122"/>
                <a:cs typeface="楷体" panose="02010609060101010101" charset="-122"/>
              </a:rPr>
              <a:t>Tips:</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Tx/>
              <a:buNone/>
            </a:pPr>
            <a:r>
              <a:rPr lang="en-US" altLang="zh-CN" sz="2400">
                <a:uFillTx/>
                <a:latin typeface="Times New Roman" panose="02020603050405020304" charset="0"/>
                <a:ea typeface="楷体" panose="02010609060101010101" charset="-122"/>
                <a:cs typeface="楷体" panose="02010609060101010101" charset="-122"/>
              </a:rPr>
              <a:t>    1</a:t>
            </a:r>
            <a:r>
              <a:rPr lang="zh-CN" altLang="en-US"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在这个</a:t>
            </a:r>
            <a:r>
              <a:rPr lang="en-US" altLang="zh-CN" sz="2400">
                <a:uFillTx/>
                <a:latin typeface="Times New Roman" panose="02020603050405020304" charset="0"/>
                <a:ea typeface="楷体" panose="02010609060101010101" charset="-122"/>
                <a:cs typeface="楷体" panose="02010609060101010101" charset="-122"/>
              </a:rPr>
              <a:t>pyhton</a:t>
            </a:r>
            <a:r>
              <a:rPr lang="zh-CN" altLang="en-US" sz="2400">
                <a:uFillTx/>
                <a:latin typeface="Times New Roman" panose="02020603050405020304" charset="0"/>
                <a:ea typeface="楷体" panose="02010609060101010101" charset="-122"/>
                <a:cs typeface="楷体" panose="02010609060101010101" charset="-122"/>
              </a:rPr>
              <a:t>实现的模板中，不允许出现类似于</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的扩展赋值语句；</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buNone/>
            </a:pPr>
            <a:r>
              <a:rPr lang="en-US" altLang="zh-CN" sz="2400">
                <a:uFillTx/>
                <a:latin typeface="Times New Roman" panose="02020603050405020304" charset="0"/>
                <a:ea typeface="楷体" panose="02010609060101010101" charset="-122"/>
                <a:cs typeface="楷体" panose="02010609060101010101" charset="-122"/>
              </a:rPr>
              <a:t>    2</a:t>
            </a:r>
            <a:r>
              <a:rPr lang="zh-CN" altLang="en-US" sz="2400">
                <a:uFillTx/>
                <a:latin typeface="Times New Roman" panose="02020603050405020304" charset="0"/>
                <a:ea typeface="楷体" panose="02010609060101010101" charset="-122"/>
                <a:cs typeface="楷体" panose="02010609060101010101" charset="-122"/>
              </a:rPr>
              <a:t>）变量</a:t>
            </a:r>
            <a:r>
              <a:rPr lang="en-US" altLang="zh-CN" sz="2400">
                <a:uFillTx/>
                <a:latin typeface="Times New Roman" panose="02020603050405020304" charset="0"/>
                <a:ea typeface="楷体" panose="02010609060101010101" charset="-122"/>
                <a:cs typeface="楷体" panose="02010609060101010101" charset="-122"/>
              </a:rPr>
              <a:t>round_keys</a:t>
            </a:r>
            <a:r>
              <a:rPr lang="zh-CN" altLang="en-US" sz="2400">
                <a:uFillTx/>
                <a:latin typeface="Times New Roman" panose="02020603050405020304" charset="0"/>
                <a:ea typeface="楷体" panose="02010609060101010101" charset="-122"/>
                <a:cs typeface="楷体" panose="02010609060101010101" charset="-122"/>
              </a:rPr>
              <a:t>和</a:t>
            </a:r>
            <a:r>
              <a:rPr lang="en-US" altLang="zh-CN" sz="2400">
                <a:uFillTx/>
                <a:latin typeface="Times New Roman" panose="02020603050405020304" charset="0"/>
                <a:ea typeface="楷体" panose="02010609060101010101" charset="-122"/>
                <a:cs typeface="楷体" panose="02010609060101010101" charset="-122"/>
              </a:rPr>
              <a:t>rounds</a:t>
            </a:r>
            <a:r>
              <a:rPr lang="zh-CN" altLang="en-US" sz="2400">
                <a:uFillTx/>
                <a:latin typeface="Times New Roman" panose="02020603050405020304" charset="0"/>
                <a:ea typeface="楷体" panose="02010609060101010101" charset="-122"/>
                <a:cs typeface="楷体" panose="02010609060101010101" charset="-122"/>
              </a:rPr>
              <a:t>是由</a:t>
            </a:r>
            <a:r>
              <a:rPr lang="en-US" altLang="zh-CN" sz="2400">
                <a:uFillTx/>
                <a:latin typeface="Times New Roman" panose="02020603050405020304" charset="0"/>
                <a:ea typeface="楷体" panose="02010609060101010101" charset="-122"/>
                <a:cs typeface="楷体" panose="02010609060101010101" charset="-122"/>
              </a:rPr>
              <a:t>arxpy</a:t>
            </a:r>
            <a:r>
              <a:rPr lang="zh-CN" altLang="en-US" sz="2400">
                <a:uFillTx/>
                <a:latin typeface="Times New Roman" panose="02020603050405020304" charset="0"/>
                <a:ea typeface="楷体" panose="02010609060101010101" charset="-122"/>
                <a:cs typeface="楷体" panose="02010609060101010101" charset="-122"/>
              </a:rPr>
              <a:t>的解析器创建的，只支持</a:t>
            </a:r>
            <a:r>
              <a:rPr lang="en-US" altLang="zh-CN" sz="2400">
                <a:uFillTx/>
                <a:latin typeface="Times New Roman" panose="02020603050405020304" charset="0"/>
                <a:ea typeface="楷体" panose="02010609060101010101" charset="-122"/>
                <a:cs typeface="楷体" panose="02010609060101010101" charset="-122"/>
              </a:rPr>
              <a:t>[]</a:t>
            </a:r>
            <a:r>
              <a:rPr lang="zh-CN" altLang="en-US" sz="2400">
                <a:uFillTx/>
                <a:latin typeface="Times New Roman" panose="02020603050405020304" charset="0"/>
                <a:ea typeface="楷体" panose="02010609060101010101" charset="-122"/>
                <a:cs typeface="楷体" panose="02010609060101010101" charset="-122"/>
              </a:rPr>
              <a:t>来获取当中的元素，此外，它们既可以存储单个值，也可以存储值列表，但是每个位置只能分配一次。此外，存储一个值列表必须用一次赋值来完成，而不是按元素来存储；</a:t>
            </a:r>
            <a:endParaRPr lang="zh-CN" altLang="en-US" sz="2400">
              <a:uFillTx/>
              <a:latin typeface="Times New Roman" panose="02020603050405020304" charset="0"/>
              <a:ea typeface="楷体" panose="02010609060101010101" charset="-122"/>
              <a:cs typeface="楷体" panose="02010609060101010101" charset="-122"/>
            </a:endParaRPr>
          </a:p>
          <a:p>
            <a:pPr algn="l">
              <a:buClrTx/>
              <a:buSzTx/>
              <a:buFontTx/>
              <a:buNone/>
            </a:pPr>
            <a:r>
              <a:rPr lang="en-US" altLang="zh-CN" sz="2400">
                <a:uFillTx/>
                <a:latin typeface="Times New Roman" panose="02020603050405020304" charset="0"/>
                <a:ea typeface="楷体" panose="02010609060101010101" charset="-122"/>
                <a:cs typeface="楷体" panose="02010609060101010101" charset="-122"/>
              </a:rPr>
              <a:t>     3</a:t>
            </a:r>
            <a:r>
              <a:rPr lang="zh-CN" altLang="en-US" sz="2400">
                <a:uFillTx/>
                <a:latin typeface="Times New Roman" panose="02020603050405020304" charset="0"/>
                <a:ea typeface="楷体" panose="02010609060101010101" charset="-122"/>
                <a:cs typeface="楷体" panose="02010609060101010101" charset="-122"/>
              </a:rPr>
              <a:t>）可以定义其他变量和函数来提高实现的可读性和模块化。</a:t>
            </a:r>
            <a:endParaRPr lang="zh-CN" altLang="en-US" sz="2400">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p:cNvPicPr>
            <a:picLocks noChangeAspect="1"/>
          </p:cNvPicPr>
          <p:nvPr/>
        </p:nvPicPr>
        <p:blipFill>
          <a:blip r:embed="rId1"/>
          <a:stretch>
            <a:fillRect/>
          </a:stretch>
        </p:blipFill>
        <p:spPr>
          <a:xfrm>
            <a:off x="224790" y="81280"/>
            <a:ext cx="5530215" cy="6600190"/>
          </a:xfrm>
          <a:prstGeom prst="rect">
            <a:avLst/>
          </a:prstGeom>
        </p:spPr>
      </p:pic>
      <p:pic>
        <p:nvPicPr>
          <p:cNvPr id="7" name="图片 6"/>
          <p:cNvPicPr>
            <a:picLocks noChangeAspect="1"/>
          </p:cNvPicPr>
          <p:nvPr/>
        </p:nvPicPr>
        <p:blipFill>
          <a:blip r:embed="rId2"/>
          <a:stretch>
            <a:fillRect/>
          </a:stretch>
        </p:blipFill>
        <p:spPr>
          <a:xfrm>
            <a:off x="6311900" y="158115"/>
            <a:ext cx="5614035" cy="3028950"/>
          </a:xfrm>
          <a:prstGeom prst="rect">
            <a:avLst/>
          </a:prstGeom>
        </p:spPr>
      </p:pic>
      <p:cxnSp>
        <p:nvCxnSpPr>
          <p:cNvPr id="8" name="直接连接符 7"/>
          <p:cNvCxnSpPr/>
          <p:nvPr/>
        </p:nvCxnSpPr>
        <p:spPr>
          <a:xfrm>
            <a:off x="5989955" y="158115"/>
            <a:ext cx="11430" cy="6435725"/>
          </a:xfrm>
          <a:prstGeom prst="line">
            <a:avLst/>
          </a:prstGeom>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6311900" y="5810250"/>
            <a:ext cx="5175250"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SPECK32</a:t>
            </a:r>
            <a:r>
              <a:rPr lang="en-US" altLang="zh-CN">
                <a:solidFill>
                  <a:srgbClr val="FF0000"/>
                </a:solidFill>
                <a:latin typeface="Times New Roman" panose="02020603050405020304" charset="0"/>
                <a:cs typeface="Times New Roman" panose="02020603050405020304" charset="0"/>
              </a:rPr>
              <a:t> ARX implemantation</a:t>
            </a:r>
            <a:r>
              <a:rPr lang="en-US" altLang="zh-CN">
                <a:latin typeface="Times New Roman" panose="02020603050405020304" charset="0"/>
                <a:cs typeface="Times New Roman" panose="02020603050405020304" charset="0"/>
              </a:rPr>
              <a:t> &amp; test function &amp; fix differences function </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5662295" cy="521970"/>
          </a:xfrm>
          <a:prstGeom prst="rect">
            <a:avLst/>
          </a:prstGeom>
          <a:noFill/>
        </p:spPr>
        <p:txBody>
          <a:bodyPr wrap="square" rtlCol="0">
            <a:spAutoFit/>
          </a:bodyPr>
          <a:p>
            <a:r>
              <a:rPr lang="en-US" altLang="zh-CN" sz="2800"/>
              <a:t>3. </a:t>
            </a:r>
            <a:r>
              <a:rPr lang="en-US" altLang="zh-CN" sz="2800">
                <a:uFillTx/>
                <a:latin typeface="Times New Roman" panose="02020603050405020304" charset="0"/>
                <a:ea typeface="楷体" panose="02010609060101010101" charset="-122"/>
                <a:sym typeface="+mn-ea"/>
              </a:rPr>
              <a:t>writer module</a:t>
            </a:r>
            <a:endParaRPr lang="en-US" altLang="zh-CN" sz="2800">
              <a:latin typeface="楷体" panose="02010609060101010101" charset="-122"/>
              <a:ea typeface="楷体" panose="02010609060101010101" charset="-122"/>
              <a:cs typeface="楷体" panose="02010609060101010101" charset="-122"/>
              <a:sym typeface="+mn-ea"/>
            </a:endParaRPr>
          </a:p>
        </p:txBody>
      </p:sp>
      <p:sp>
        <p:nvSpPr>
          <p:cNvPr id="5" name="文本框 4"/>
          <p:cNvSpPr txBox="1"/>
          <p:nvPr/>
        </p:nvSpPr>
        <p:spPr>
          <a:xfrm>
            <a:off x="413385" y="1782445"/>
            <a:ext cx="11529060" cy="1568450"/>
          </a:xfrm>
          <a:prstGeom prst="rect">
            <a:avLst/>
          </a:prstGeom>
          <a:noFill/>
        </p:spPr>
        <p:txBody>
          <a:bodyPr wrap="none" rtlCol="0">
            <a:spAutoFit/>
          </a:bodyPr>
          <a:p>
            <a:pPr algn="l"/>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ArxPy</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采用</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STP</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为</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SAT</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求解器，提取加密和密钥调度环节的</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ARX</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操作序列，将这些操作</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pPr algn="l"/>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转换为方程。</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pPr algn="l"/>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这些操作序列是由解析器生成的符号表达式中得到的，将符号表达式看称一棵树，</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pPr algn="l"/>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使用Sympy提取他们的结点，可以得到</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ARX</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操作序列。</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p:txBody>
      </p:sp>
      <p:sp>
        <p:nvSpPr>
          <p:cNvPr id="3" name="文本框 2"/>
          <p:cNvSpPr txBox="1"/>
          <p:nvPr/>
        </p:nvSpPr>
        <p:spPr>
          <a:xfrm>
            <a:off x="272415" y="3785235"/>
            <a:ext cx="5662295" cy="521970"/>
          </a:xfrm>
          <a:prstGeom prst="rect">
            <a:avLst/>
          </a:prstGeom>
          <a:noFill/>
        </p:spPr>
        <p:txBody>
          <a:bodyPr wrap="square" rtlCol="0">
            <a:spAutoFit/>
          </a:bodyPr>
          <a:p>
            <a:pPr algn="l">
              <a:buClrTx/>
              <a:buSzTx/>
              <a:buFontTx/>
            </a:pPr>
            <a:r>
              <a:rPr lang="en-US" altLang="zh-CN" sz="2800"/>
              <a:t>4. </a:t>
            </a:r>
            <a:r>
              <a:rPr lang="en-US" altLang="zh-CN" sz="2800">
                <a:uFillTx/>
                <a:latin typeface="Times New Roman" panose="02020603050405020304" charset="0"/>
                <a:ea typeface="楷体" panose="02010609060101010101" charset="-122"/>
              </a:rPr>
              <a:t>finder module</a:t>
            </a:r>
            <a:endParaRPr lang="en-US" altLang="zh-CN" sz="2800">
              <a:uFillTx/>
              <a:latin typeface="Times New Roman" panose="02020603050405020304" charset="0"/>
              <a:ea typeface="楷体" panose="02010609060101010101" charset="-122"/>
              <a:sym typeface="+mn-ea"/>
            </a:endParaRPr>
          </a:p>
        </p:txBody>
      </p:sp>
      <p:sp>
        <p:nvSpPr>
          <p:cNvPr id="4" name="文本框 3"/>
          <p:cNvSpPr txBox="1"/>
          <p:nvPr/>
        </p:nvSpPr>
        <p:spPr>
          <a:xfrm>
            <a:off x="414020" y="4455160"/>
            <a:ext cx="11155045" cy="829945"/>
          </a:xfrm>
          <a:prstGeom prst="rect">
            <a:avLst/>
          </a:prstGeom>
          <a:noFill/>
        </p:spPr>
        <p:txBody>
          <a:bodyPr wrap="square" rtlCol="0" anchor="t">
            <a:spAutoFit/>
          </a:bodyPr>
          <a:p>
            <a:pPr algn="l">
              <a:buClrTx/>
              <a:buSzTx/>
              <a:buNone/>
            </a:pPr>
            <a:r>
              <a:rPr lang="en-US" altLang="zh-CN" sz="2400">
                <a:latin typeface="Times New Roman" panose="02020603050405020304" charset="0"/>
                <a:ea typeface="楷体" panose="02010609060101010101" charset="-122"/>
                <a:cs typeface="楷体" panose="02010609060101010101" charset="-122"/>
              </a:rPr>
              <a:t>finder模块实现搜索策略，找最优的RX</a:t>
            </a:r>
            <a:r>
              <a:rPr lang="zh-CN" altLang="en-US" sz="2400">
                <a:latin typeface="Times New Roman" panose="02020603050405020304" charset="0"/>
                <a:ea typeface="楷体" panose="02010609060101010101" charset="-122"/>
                <a:cs typeface="楷体" panose="02010609060101010101" charset="-122"/>
              </a:rPr>
              <a:t>差分路径</a:t>
            </a:r>
            <a:r>
              <a:rPr lang="en-US" altLang="zh-CN" sz="2400">
                <a:latin typeface="Times New Roman" panose="02020603050405020304" charset="0"/>
                <a:ea typeface="楷体" panose="02010609060101010101" charset="-122"/>
                <a:cs typeface="楷体" panose="02010609060101010101" charset="-122"/>
              </a:rPr>
              <a:t>。采用</a:t>
            </a:r>
            <a:r>
              <a:rPr lang="en-US" altLang="zh-CN" sz="2400">
                <a:solidFill>
                  <a:srgbClr val="FF0000"/>
                </a:solidFill>
                <a:latin typeface="Times New Roman" panose="02020603050405020304" charset="0"/>
                <a:ea typeface="楷体" panose="02010609060101010101" charset="-122"/>
                <a:cs typeface="楷体" panose="02010609060101010101" charset="-122"/>
              </a:rPr>
              <a:t>二分搜索策略</a:t>
            </a:r>
            <a:r>
              <a:rPr lang="en-US" altLang="zh-CN" sz="2400">
                <a:latin typeface="Times New Roman" panose="02020603050405020304" charset="0"/>
                <a:ea typeface="楷体" panose="02010609060101010101" charset="-122"/>
                <a:cs typeface="楷体" panose="02010609060101010101" charset="-122"/>
              </a:rPr>
              <a:t>来最小化</a:t>
            </a:r>
            <a:r>
              <a:rPr lang="zh-CN" altLang="en-US" sz="2400">
                <a:latin typeface="Times New Roman" panose="02020603050405020304" charset="0"/>
                <a:ea typeface="楷体" panose="02010609060101010101" charset="-122"/>
                <a:cs typeface="楷体" panose="02010609060101010101" charset="-122"/>
              </a:rPr>
              <a:t>差分路径的权重。</a:t>
            </a:r>
            <a:endParaRPr lang="zh-CN" altLang="en-US" sz="2400">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2415" y="1095375"/>
            <a:ext cx="11340465" cy="5692775"/>
          </a:xfrm>
          <a:prstGeom prst="rect">
            <a:avLst/>
          </a:prstGeom>
          <a:noFill/>
        </p:spPr>
        <p:txBody>
          <a:bodyPr wrap="square" rtlCol="0">
            <a:spAutoFit/>
          </a:bodyPr>
          <a:p>
            <a:pPr algn="l">
              <a:buClrTx/>
              <a:buSzTx/>
              <a:buFontTx/>
            </a:pPr>
            <a:r>
              <a:rPr lang="en-US" altLang="zh-CN" sz="2800"/>
              <a:t>5. </a:t>
            </a:r>
            <a:r>
              <a:rPr lang="en-US" altLang="zh-CN" sz="2800">
                <a:uFillTx/>
                <a:latin typeface="Times New Roman" panose="02020603050405020304" charset="0"/>
                <a:ea typeface="楷体" panose="02010609060101010101" charset="-122"/>
                <a:sym typeface="+mn-ea"/>
              </a:rPr>
              <a:t>Running The Program</a:t>
            </a:r>
            <a:endParaRPr lang="en-US" altLang="zh-CN" sz="2800">
              <a:uFillTx/>
              <a:latin typeface="Times New Roman" panose="02020603050405020304" charset="0"/>
              <a:ea typeface="楷体" panose="02010609060101010101" charset="-122"/>
              <a:sym typeface="+mn-ea"/>
            </a:endParaRPr>
          </a:p>
          <a:p>
            <a:endParaRPr lang="en-US" altLang="zh-CN" sz="2400">
              <a:latin typeface="楷体" panose="02010609060101010101" charset="-122"/>
              <a:ea typeface="楷体" panose="02010609060101010101" charset="-122"/>
              <a:cs typeface="楷体" panose="02010609060101010101" charset="-122"/>
              <a:sym typeface="+mn-ea"/>
            </a:endParaRPr>
          </a:p>
          <a:p>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为了执行ArxPy，需要安装SymPy、</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STP</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a:t>
            </a:r>
            <a:r>
              <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rPr>
              <a:t>Python3</a:t>
            </a:r>
            <a:endParaRPr lang="en-US" altLang="zh-CN" sz="2400">
              <a:solidFill>
                <a:schemeClr val="tx1"/>
              </a:solidFill>
              <a:uFillTx/>
              <a:latin typeface="Times New Roman" panose="02020603050405020304" charset="0"/>
              <a:ea typeface="楷体" panose="02010609060101010101" charset="-122"/>
              <a:cs typeface="楷体" panose="02010609060101010101" charset="-122"/>
              <a:sym typeface="+mn-ea"/>
            </a:endParaRPr>
          </a:p>
          <a:p>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运行的命令行：</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python3 arxpy.py &lt;ARX_implementation&gt; &lt;output&gt;</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ArxPy实际上搜索一对特征:加密特征(包含每一轮输出的RX差异)和密钥调度特征(包含round密钥的RX差异)。当ArxPy发现一对特征时，它们的RX差异将打印在输出文件中，以及关于它们的概率的信息。</a:t>
            </a:r>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endPar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为了找到最优的RX特征，ArxPy搜索多个权重的特征。在执行ArxPy的过程中，这些中间特征被写入输出文件。执行完成后，输出文件中的最后一个特征是</a:t>
            </a:r>
            <a:r>
              <a:rPr lang="zh-CN" altLang="en-US" sz="2400">
                <a:solidFill>
                  <a:srgbClr val="FF0000"/>
                </a:solidFill>
                <a:uFillTx/>
                <a:latin typeface="Times New Roman" panose="02020603050405020304" charset="0"/>
                <a:ea typeface="楷体" panose="02010609060101010101" charset="-122"/>
                <a:cs typeface="楷体" panose="02010609060101010101" charset="-122"/>
                <a:sym typeface="+mn-ea"/>
              </a:rPr>
              <a:t>最优特征</a:t>
            </a:r>
            <a:r>
              <a:rPr lang="zh-CN" altLang="en-US" sz="2400">
                <a:solidFill>
                  <a:schemeClr val="tx1"/>
                </a:solidFill>
                <a:uFillTx/>
                <a:latin typeface="Times New Roman" panose="02020603050405020304" charset="0"/>
                <a:ea typeface="楷体" panose="02010609060101010101" charset="-122"/>
                <a:cs typeface="楷体" panose="02010609060101010101" charset="-122"/>
                <a:sym typeface="+mn-ea"/>
              </a:rPr>
              <a:t>。</a:t>
            </a:r>
            <a:endParaRPr lang="zh-CN" altLang="en-US" sz="2400">
              <a:latin typeface="楷体" panose="02010609060101010101" charset="-122"/>
              <a:ea typeface="楷体" panose="02010609060101010101" charset="-122"/>
              <a:cs typeface="楷体" panose="02010609060101010101" charset="-122"/>
              <a:sym typeface="+mn-ea"/>
            </a:endParaRPr>
          </a:p>
          <a:p>
            <a:endParaRPr lang="zh-CN" altLang="en-US" sz="2400">
              <a:latin typeface="楷体" panose="02010609060101010101" charset="-122"/>
              <a:ea typeface="楷体" panose="02010609060101010101" charset="-122"/>
              <a:cs typeface="楷体" panose="02010609060101010101" charset="-122"/>
              <a:sym typeface="+mn-ea"/>
            </a:endParaRPr>
          </a:p>
          <a:p>
            <a:endParaRPr lang="zh-CN" altLang="en-US" sz="2400">
              <a:latin typeface="楷体" panose="02010609060101010101" charset="-122"/>
              <a:ea typeface="楷体" panose="02010609060101010101" charset="-122"/>
              <a:cs typeface="楷体" panose="02010609060101010101"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90220" y="2240915"/>
            <a:ext cx="10719435" cy="1938020"/>
          </a:xfrm>
          <a:prstGeom prst="rect">
            <a:avLst/>
          </a:prstGeom>
          <a:noFill/>
        </p:spPr>
        <p:txBody>
          <a:bodyPr wrap="square" rtlCol="0">
            <a:spAutoFit/>
          </a:bodyPr>
          <a:p>
            <a:pPr algn="l">
              <a:buClrTx/>
              <a:buSzTx/>
              <a:buNone/>
            </a:pPr>
            <a:r>
              <a:rPr lang="en-US" altLang="zh-CN" sz="2400">
                <a:uFillTx/>
                <a:latin typeface="Times New Roman" panose="02020603050405020304" charset="0"/>
                <a:ea typeface="楷体" panose="02010609060101010101" charset="-122"/>
                <a:cs typeface="楷体" panose="02010609060101010101" charset="-122"/>
              </a:rPr>
              <a:t>1. 将arxpy技术应用于其他密码分析技术</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None/>
            </a:pPr>
            <a:r>
              <a:rPr lang="en-US" altLang="zh-CN" sz="2400">
                <a:uFillTx/>
                <a:latin typeface="Times New Roman" panose="02020603050405020304" charset="0"/>
                <a:ea typeface="楷体" panose="02010609060101010101" charset="-122"/>
                <a:cs typeface="楷体" panose="02010609060101010101" charset="-122"/>
              </a:rPr>
              <a:t>2. 用其他语言来实现arxpy</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None/>
            </a:pPr>
            <a:r>
              <a:rPr lang="en-US" altLang="zh-CN" sz="2400">
                <a:uFillTx/>
                <a:latin typeface="Times New Roman" panose="02020603050405020304" charset="0"/>
                <a:ea typeface="楷体" panose="02010609060101010101" charset="-122"/>
                <a:cs typeface="楷体" panose="02010609060101010101" charset="-122"/>
              </a:rPr>
              <a:t>3. 使用数据流图作为输入</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None/>
            </a:pPr>
            <a:r>
              <a:rPr lang="en-US" altLang="zh-CN" sz="2400">
                <a:uFillTx/>
                <a:latin typeface="Times New Roman" panose="02020603050405020304" charset="0"/>
                <a:ea typeface="楷体" panose="02010609060101010101" charset="-122"/>
                <a:cs typeface="楷体" panose="02010609060101010101" charset="-122"/>
              </a:rPr>
              <a:t>4. 通过找到所有与最优差分迹具有同样的输入差分和输出查分的差分路径来改进arxpy</a:t>
            </a:r>
            <a:endParaRPr lang="en-US" altLang="zh-CN" sz="2400">
              <a:uFillTx/>
              <a:latin typeface="Times New Roman" panose="02020603050405020304" charset="0"/>
              <a:ea typeface="楷体" panose="02010609060101010101" charset="-122"/>
              <a:cs typeface="楷体" panose="02010609060101010101" charset="-122"/>
            </a:endParaRPr>
          </a:p>
        </p:txBody>
      </p:sp>
      <p:sp>
        <p:nvSpPr>
          <p:cNvPr id="5" name="文本框 4"/>
          <p:cNvSpPr txBox="1"/>
          <p:nvPr/>
        </p:nvSpPr>
        <p:spPr>
          <a:xfrm>
            <a:off x="490220" y="1268095"/>
            <a:ext cx="4260850" cy="521970"/>
          </a:xfrm>
          <a:prstGeom prst="rect">
            <a:avLst/>
          </a:prstGeom>
          <a:noFill/>
        </p:spPr>
        <p:txBody>
          <a:bodyPr wrap="square" rtlCol="0" anchor="t">
            <a:spAutoFit/>
          </a:bodyPr>
          <a:p>
            <a:r>
              <a:rPr lang="zh-CN" altLang="en-US" sz="2800" b="1">
                <a:solidFill>
                  <a:schemeClr val="tx2"/>
                </a:solidFill>
                <a:latin typeface="+mj-lt"/>
                <a:ea typeface="+mj-ea"/>
                <a:cs typeface="+mj-cs"/>
                <a:sym typeface="+mn-ea"/>
              </a:rPr>
              <a:t>Future Work</a:t>
            </a:r>
            <a:endParaRPr lang="zh-CN" altLang="en-US" sz="2800" b="1">
              <a:solidFill>
                <a:schemeClr val="tx2"/>
              </a:solidFill>
              <a:latin typeface="+mj-lt"/>
              <a:ea typeface="+mj-ea"/>
              <a:cs typeface="+mj-cs"/>
            </a:endParaRPr>
          </a:p>
        </p:txBody>
      </p:sp>
      <p:sp>
        <p:nvSpPr>
          <p:cNvPr id="2" name="文本框 1"/>
          <p:cNvSpPr txBox="1"/>
          <p:nvPr/>
        </p:nvSpPr>
        <p:spPr>
          <a:xfrm>
            <a:off x="564515" y="4799330"/>
            <a:ext cx="6236970" cy="368300"/>
          </a:xfrm>
          <a:prstGeom prst="rect">
            <a:avLst/>
          </a:prstGeom>
          <a:noFill/>
        </p:spPr>
        <p:txBody>
          <a:bodyPr wrap="square" rtlCol="0" anchor="t">
            <a:spAutoFit/>
          </a:bodyPr>
          <a:p>
            <a:r>
              <a:rPr lang="zh-CN" altLang="en-US"/>
              <a:t>https://ranea.github.io/ArxPy/index.html</a:t>
            </a:r>
            <a:endParaRPr lang="zh-CN" altLang="en-US"/>
          </a:p>
        </p:txBody>
      </p:sp>
    </p:spTree>
  </p:cSld>
  <p:clrMapOvr>
    <a:masterClrMapping/>
  </p:clrMapOvr>
</p:sld>
</file>

<file path=ppt/tags/tag1.xml><?xml version="1.0" encoding="utf-8"?>
<p:tagLst xmlns:p="http://schemas.openxmlformats.org/presentationml/2006/main">
  <p:tag name="KSO_WM_UNIT_PLACING_PICTURE_USER_VIEWPORT" val="{&quot;height&quot;:6624,&quot;width&quot;:8892}"/>
</p:tagLst>
</file>

<file path=ppt/tags/tag2.xml><?xml version="1.0" encoding="utf-8"?>
<p:tagLst xmlns:p="http://schemas.openxmlformats.org/presentationml/2006/main">
  <p:tag name="KSO_WM_UNIT_PLACING_PICTURE_USER_VIEWPORT" val="{&quot;height&quot;:5232,&quot;width&quot;:10932}"/>
</p:tagLst>
</file>

<file path=ppt/theme/theme1.xml><?xml version="1.0" encoding="utf-8"?>
<a:theme xmlns:a="http://schemas.openxmlformats.org/drawingml/2006/main" name="主题1">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3304</Words>
  <Application>WPS 演示</Application>
  <PresentationFormat>宽屏</PresentationFormat>
  <Paragraphs>164</Paragraphs>
  <Slides>20</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11</vt:i4>
      </vt:variant>
      <vt:variant>
        <vt:lpstr>幻灯片标题</vt:lpstr>
      </vt:variant>
      <vt:variant>
        <vt:i4>20</vt:i4>
      </vt:variant>
    </vt:vector>
  </HeadingPairs>
  <TitlesOfParts>
    <vt:vector size="40" baseType="lpstr">
      <vt:lpstr>Arial</vt:lpstr>
      <vt:lpstr>宋体</vt:lpstr>
      <vt:lpstr>Wingdings</vt:lpstr>
      <vt:lpstr>Times New Roman</vt:lpstr>
      <vt:lpstr>微软雅黑</vt:lpstr>
      <vt:lpstr>楷体</vt:lpstr>
      <vt:lpstr>Arial Unicode MS</vt:lpstr>
      <vt:lpstr>Calibri</vt:lpstr>
      <vt:lpstr>主题1</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 Preliminaries</vt:lpstr>
      <vt:lpstr>PowerPoint 演示文稿</vt:lpstr>
      <vt:lpstr>PowerPoint 演示文稿</vt:lpstr>
      <vt:lpstr>PowerPoint 演示文稿</vt:lpstr>
      <vt:lpstr>PowerPoint 演示文稿</vt:lpstr>
      <vt:lpstr>PowerPoint 演示文稿</vt:lpstr>
      <vt:lpstr>PowerPoint 演示文稿</vt:lpstr>
      <vt:lpstr> A SAT-based Method for Searching Optimal Rotational-XOR Characteristics</vt:lpstr>
      <vt:lpstr>PowerPoint 演示文稿</vt:lpstr>
      <vt:lpstr>PowerPoint 演示文稿</vt:lpstr>
      <vt:lpstr>PowerPoint 演示文稿</vt:lpstr>
      <vt:lpstr> The ArxPy Tool</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Tangerine</cp:lastModifiedBy>
  <cp:revision>174</cp:revision>
  <dcterms:created xsi:type="dcterms:W3CDTF">2019-06-19T02:08:00Z</dcterms:created>
  <dcterms:modified xsi:type="dcterms:W3CDTF">2020-12-21T08:35:48Z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