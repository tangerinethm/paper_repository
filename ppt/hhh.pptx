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4" r:id="rId3"/>
    <p:sldId id="333" r:id="rId5"/>
    <p:sldId id="330" r:id="rId6"/>
    <p:sldId id="265" r:id="rId7"/>
    <p:sldId id="331" r:id="rId8"/>
    <p:sldId id="332" r:id="rId9"/>
    <p:sldId id="334" r:id="rId10"/>
    <p:sldId id="33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027" autoAdjust="0"/>
  </p:normalViewPr>
  <p:slideViewPr>
    <p:cSldViewPr snapToGrid="0">
      <p:cViewPr varScale="1">
        <p:scale>
          <a:sx n="96" d="100"/>
          <a:sy n="96" d="100"/>
        </p:scale>
        <p:origin x="109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3359-DA18-4BD7-B4BE-4B13AAC976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案例研究：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新型机载防撞规避系统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ACAS 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的无人驾驶型，即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ACAS Xu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，开发重点是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使用一个大型查找表，该表将传感器测量值映射到告示牌上，但内存要求过高，于是探索了一种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表示，为了减少查找时间，对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方法进行了进一步改进，将单个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替换为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45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的数组。之前的认证方法不足以证明连续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中不存在故障行为。因此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ACAS Xu DNNs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成为应用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的首选。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Arial" panose="020B0604020202020204" pitchFamily="34" charset="0"/>
              </a:rPr>
              <a:t>ACAS Xu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系统将输入变量映射为行动提示，每个提示都有一个分数，最低的分数对应最佳行动。输入状态由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7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个维度组成，这些维度表示根据传感器测量值所确定的信息。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ffectLst/>
                <a:latin typeface="Arial" panose="020B0604020202020204" pitchFamily="34" charset="0"/>
              </a:rPr>
              <a:t>ρ: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自己到入侵者的距离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ffectLst/>
                <a:latin typeface="Arial" panose="020B0604020202020204" pitchFamily="34" charset="0"/>
              </a:rPr>
              <a:t>θ: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相对于自己方向的入侵者的角度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ffectLst/>
                <a:latin typeface="Arial" panose="020B0604020202020204" pitchFamily="34" charset="0"/>
              </a:rPr>
              <a:t>ψ: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入侵者相对于我们方向的航向角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>
                <a:effectLst/>
                <a:latin typeface="Arial" panose="020B0604020202020204" pitchFamily="34" charset="0"/>
              </a:rPr>
              <a:t>vown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本身的速度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>
                <a:effectLst/>
                <a:latin typeface="Arial" panose="020B0604020202020204" pitchFamily="34" charset="0"/>
              </a:rPr>
              <a:t>vint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入侵者的速度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ffectLst/>
                <a:latin typeface="Arial" panose="020B0604020202020204" pitchFamily="34" charset="0"/>
              </a:rPr>
              <a:t>τ: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垂直分离消失之前的时间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>
                <a:effectLst/>
                <a:latin typeface="Arial" panose="020B0604020202020204" pitchFamily="34" charset="0"/>
              </a:rPr>
              <a:t>aprev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之前的提示</a:t>
            </a:r>
            <a:endParaRPr lang="en-US" altLang="zh-CN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  <a:latin typeface="Arial" panose="020B0604020202020204" pitchFamily="34" charset="0"/>
              </a:rPr>
              <a:t>有五种输出，代表了不同的横向建议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明确冲突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(COC)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，弱右，强右，弱左，或强左。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  <a:latin typeface="Arial" panose="020B0604020202020204" pitchFamily="34" charset="0"/>
              </a:rPr>
              <a:t>需要验证的是，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ACAS Xu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网络在不同的输入域为输出提示分配正确的分数。该图通过显示一个正面遭遇场景的自顶向下视图来说明这种属性，其中每个像素都是彩色的，以表示入侵者在那个位置上的最佳行动。然而，该图是由有限的输入样本集生成的，可能存在对其他输入产生错误提示的情况，可能导致碰撞。因此，我们使用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来证明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上以下类别的属性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:(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i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系统不会给出不必要的转向建议。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(ii)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警报区域是统一的，不包含不一致的警报。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(iii)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当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τ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值很高时不会出现强警报。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  <a:latin typeface="Arial" panose="020B0604020202020204" pitchFamily="34" charset="0"/>
              </a:rPr>
              <a:t>我们使用了一个概念验证实现来评估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检查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45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ACAS Xu 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dnn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上真实属性的能力。我们的实现由三个主要的逻辑组件组成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:(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i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一个提供核心功能的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simplex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引擎，如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tableau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表示和高效的枢轴和更新操作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;(ii)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一个用于驱动搜索和执行边界推导、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枢轴和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更新的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引擎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;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以及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(iii)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提供按需拆分服务的简单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SMT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核心。我们首先比较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与最先进的求解器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:CVC4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、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Z3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、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Yices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和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MathSat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 SMT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求解器以及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Gurobi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 LP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求解器。我们试着解决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8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个简单的可满足的性质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ϕ1-ϕ8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。如图所示，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SMT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求解器的性能通常很差，只有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Yices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和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MathSat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各自成功地解决了两个实例。我们将结果归因于这些求解器缺乏对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ReLUs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编码的直接支持，以及它们使用了精确的算法。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Gurobi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确实很快解决了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3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个问题，但其余的都超时了。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Reluplex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能够解决所有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8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个实例。</a:t>
            </a:r>
            <a:endParaRPr lang="zh-CN" altLang="en-US" dirty="0"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接下来，我们用</a:t>
                </a:r>
                <a:r>
                  <a:rPr lang="en-US" altLang="zh-CN" dirty="0" err="1">
                    <a:effectLst/>
                    <a:latin typeface="Arial" panose="020B0604020202020204" pitchFamily="34" charset="0"/>
                  </a:rPr>
                  <a:t>Reluplex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测试了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组定量性质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φ1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…,φ10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。该表为每个属性描述了测试网络的数量、测试结果和测试持续时间。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Stack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Splits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分别列出了嵌套剖分的最大深度和执行剖分的总次数。对于每个属性，我们都寻找一个违反它的输入，因此，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UNSAT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结果表明属性存在，而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结果表明属性不存在。在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的例子中，满足的赋值是一个违反性质的输入的例子。</a:t>
                </a:r>
                <a:endParaRPr lang="en-US" altLang="zh-CN" dirty="0"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1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如果入侵者很远，并且比自己慢得多，那么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的分数将总是低于一个固定的阈值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在类似的情况下，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的分数永远不会是最大值，这意味着它永远不会是最糟糕的行动。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入侵者在前面，或者正在向自己移动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4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入侵者正以更低的速度远离自己，并声明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DNN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永远不会发布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提示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属性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φ5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到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都包含一个单一的网络，并检查特定输入区域的一致性行为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如果入侵者在附近且正在从左边靠近，网络建议“强右”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7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当垂直间距很大时，网络将永远不会建议一个强大的转弯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8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对于一个较大的垂直距离和先前的“弱左”提示，网络将输出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COC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或继续提示“弱左”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effectLst/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</a:rPr>
                      <m:t>9</m:t>
                    </m:r>
                    <m:r>
                      <a:rPr lang="zh-CN" altLang="en-US" b="0" i="1" smtClean="0">
                        <a:effectLst/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即使先前的提示是“弱右”，附近的入侵者的存在将导致网络输出一个“强左”提示代替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en-US" dirty="0">
                  <a:effectLst/>
                  <a:latin typeface="Arial" panose="020B0604020202020204" pitchFamily="34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接下来，我们用</a:t>
                </a:r>
                <a:r>
                  <a:rPr lang="en-US" altLang="zh-CN" dirty="0" err="1">
                    <a:effectLst/>
                    <a:latin typeface="Arial" panose="020B0604020202020204" pitchFamily="34" charset="0"/>
                  </a:rPr>
                  <a:t>Reluplex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测试了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组定量性质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φ1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…,φ10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所示。上表为每个属性描述了测试网络的数量、测试结果和测试持续时间。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Stack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Splits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分别列出了嵌套剖分的最大深度和执行剖分的总次数。对于每个属性，我们都寻找一个违反它的输入，因此，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UNSAT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结果表明属性存在，而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结果表明属性不存在。在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SAT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的例子中，满足的赋值是一个违反性质的输入的例子。</a:t>
                </a:r>
                <a:endParaRPr lang="en-US" altLang="zh-CN" dirty="0"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1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如果入侵者很遥远，并且比自己慢得多，那么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的分数将总是低于一个固定的阈值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2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在类似的情况下，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的分数永远不会是最大值，这意味着它永远不会是最糟糕的行动。</a:t>
                </a:r>
                <a:endParaRPr lang="zh-CN" alt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3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入侵者在前面，或者正在向自己移动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4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入侵者正以更低的速度远离自己，并声明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DNN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永远不会发布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COC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提示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属性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φ5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到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φ10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都包含一个单一的网络，并检查特定输入区域的一致性行为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5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如果入侵者在附近且正在从左边靠近，网络建议“强右”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7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当垂直间距很大时，网络将永远不会建议一个强大的转弯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8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对于一个较大的垂直距离和先前的“弱左”提示，网络将输出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COC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或继续提示“弱左”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0">
                    <a:effectLst/>
                    <a:latin typeface="Cambria Math" panose="02040503050406030204" pitchFamily="18" charset="0"/>
                  </a:rPr>
                  <a:t>𝜑</a:t>
                </a:r>
                <a:r>
                  <a:rPr lang="en-US" altLang="zh-CN" b="0" i="0">
                    <a:effectLst/>
                    <a:latin typeface="Cambria Math" panose="02040503050406030204" pitchFamily="18" charset="0"/>
                  </a:rPr>
                  <a:t>9</a:t>
                </a:r>
                <a:r>
                  <a:rPr lang="zh-CN" altLang="en-US" b="0" i="0">
                    <a:effectLst/>
                    <a:latin typeface="Cambria Math" panose="02040503050406030204" pitchFamily="18" charset="0"/>
                  </a:rPr>
                  <a:t>：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即使先前的提示是“弱右”，附近的入侵者的存在将导致网络输出一个“强左”提示代替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>
                  <a:effectLst/>
                  <a:latin typeface="Arial" panose="020B0604020202020204" pitchFamily="34" charset="0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我们测试的另一类属性是局部对抗鲁棒性</a:t>
                </a:r>
                <a:endParaRPr lang="en-US" altLang="zh-CN" dirty="0">
                  <a:effectLst/>
                  <a:latin typeface="Arial" panose="020B0604020202020204" pitchFamily="34" charset="0"/>
                </a:endParaRPr>
              </a:p>
              <a:p>
                <a:r>
                  <a:rPr lang="zh-CN" altLang="en-US" dirty="0"/>
                  <a:t>若对于任意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‘，</a:t>
                </a:r>
                <a:r>
                  <a:rPr lang="en-US" altLang="zh-CN" dirty="0"/>
                  <a:t>||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US" altLang="zh-CN" dirty="0"/>
                  <a:t>||</a:t>
                </a:r>
                <a:r>
                  <a:rPr lang="zh-CN" altLang="en-US" baseline="-25000" dirty="0"/>
                  <a:t>∞</a:t>
                </a:r>
                <a:r>
                  <a:rPr lang="zh-CN" altLang="en-US" dirty="0"/>
                  <a:t>≤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，我们说一个网络在输入点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是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δ-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局部鲁棒的，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网络给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‘分配相同的标号。在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ACAS Xu DNNs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的情况下，这意味着相同的输出在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’上得分最低。</a:t>
                </a:r>
                <a:r>
                  <a:rPr lang="en-US" altLang="zh-CN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Reluplex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可以用来证明对于给定的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和给定的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没有对抗性输入。该表描述了在一个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ACAS Xu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网络上进行的局部对抗鲁棒性检查的结果。我们测试了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个任意点和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值的组合，使用对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值的二分搜索，</a:t>
                </a:r>
                <a:r>
                  <a:rPr lang="en-US" altLang="zh-CN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Reluplex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可以用来逼近最佳的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值，达到所需的精度。预计不同的输入点具有不同的局部鲁棒性，因此需要分别设置可接受的阈值。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最后，我们提到了对抗鲁棒性的另一种变体，称之为全局对抗鲁棒性，它也可以通过</a:t>
                </a:r>
                <a:r>
                  <a:rPr lang="en-US" altLang="zh-CN" dirty="0" err="1">
                    <a:effectLst/>
                    <a:latin typeface="Arial" panose="020B0604020202020204" pitchFamily="34" charset="0"/>
                  </a:rPr>
                  <a:t>Reluplex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来解决。局部对抗鲁棒性是针对特定的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测量的，全局对抗鲁棒性同时适用于所有输入。与局部变量相比，全局对抗鲁棒性更难证明，我们只能在小网络上证明全局对抗的鲁棒性，提高这种技术的可伸缩性有待于将来的工作。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我们测试的另一类属性是局部对抗鲁棒性</a:t>
                </a:r>
                <a:endParaRPr lang="en-US" altLang="zh-CN" dirty="0">
                  <a:effectLst/>
                  <a:latin typeface="Arial" panose="020B0604020202020204" pitchFamily="34" charset="0"/>
                </a:endParaRPr>
              </a:p>
              <a:p>
                <a:r>
                  <a:rPr lang="zh-CN" altLang="en-US" dirty="0"/>
                  <a:t>对于任意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‘，</a:t>
                </a:r>
                <a:r>
                  <a:rPr lang="en-US" altLang="zh-CN" dirty="0"/>
                  <a:t>||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𝑥</a:t>
                </a:r>
                <a:r>
                  <a:rPr lang="zh-CN" altLang="en-US" dirty="0"/>
                  <a:t>−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𝑥^</a:t>
                </a:r>
                <a:r>
                  <a:rPr lang="zh-CN" altLang="en-US" i="0">
                    <a:latin typeface="Cambria Math" panose="02040503050406030204" pitchFamily="18" charset="0"/>
                  </a:rPr>
                  <a:t>’</a:t>
                </a:r>
                <a:r>
                  <a:rPr lang="en-US" altLang="zh-CN" dirty="0"/>
                  <a:t>||</a:t>
                </a:r>
                <a:r>
                  <a:rPr lang="zh-CN" altLang="en-US" baseline="-25000" dirty="0"/>
                  <a:t>∞</a:t>
                </a:r>
                <a:r>
                  <a:rPr lang="zh-CN" altLang="en-US" dirty="0"/>
                  <a:t>≤ </a:t>
                </a:r>
                <a:r>
                  <a:rPr lang="zh-CN" altLang="en-US" i="0">
                    <a:latin typeface="Cambria Math" panose="02040503050406030204" pitchFamily="18" charset="0"/>
                  </a:rPr>
                  <a:t>𝛿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，我们说一个网络在输入点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是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δ-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局部鲁棒的，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网络给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‘分配相同的标号。在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ACAS Xu DNNs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的情况下，这意味着相同的输出在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’上得分最低。</a:t>
                </a:r>
                <a:r>
                  <a:rPr lang="en-US" altLang="zh-CN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Reluplex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可以用来证明对于给定的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和给定的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没有对抗性输入。上表描述了在一个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ACAS Xu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网络上进行的局部对抗鲁棒性检查的结果。我们测试了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个任意点和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值的组合，使用对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值的二分搜索，</a:t>
                </a:r>
                <a:r>
                  <a:rPr lang="en-US" altLang="zh-CN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Reluplex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可以用来逼近最佳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值，达到所需的精度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例如，对于点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，最佳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值在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0.025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</a:t>
                </a:r>
                <a:r>
                  <a:rPr lang="en-US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0.05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之间。预计不同的输入点具有不同的局部鲁棒性，因此需要分别设置可接受的阈值。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最后，我们提到了对抗鲁棒性的另一种变体，称之为全局对抗鲁棒性，它也可以通过</a:t>
                </a:r>
                <a:r>
                  <a:rPr lang="en-US" altLang="zh-CN" dirty="0" err="1">
                    <a:effectLst/>
                    <a:latin typeface="Arial" panose="020B0604020202020204" pitchFamily="34" charset="0"/>
                  </a:rPr>
                  <a:t>Reluplex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来解决。局部对抗鲁棒性是针对特定的</a:t>
                </a:r>
                <a:r>
                  <a:rPr lang="en-US" altLang="zh-CN" dirty="0">
                    <a:effectLst/>
                    <a:latin typeface="Arial" panose="020B0604020202020204" pitchFamily="34" charset="0"/>
                  </a:rPr>
                  <a:t>x</a:t>
                </a:r>
                <a:r>
                  <a:rPr lang="zh-CN" altLang="en-US" dirty="0">
                    <a:effectLst/>
                    <a:latin typeface="Arial" panose="020B0604020202020204" pitchFamily="34" charset="0"/>
                  </a:rPr>
                  <a:t>测量的，全局对抗鲁棒性同时适用于所有输入。与局部变量相比，全局对抗鲁棒性更难证明，我们只能在小网络上证明全局对抗的鲁棒性，提高这种技术的可伸缩性有待于将来的工作。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  <a:latin typeface="Arial" panose="020B0604020202020204" pitchFamily="34" charset="0"/>
              </a:rPr>
              <a:t>最后是结论和下一阶段的工作。提出了一种新的基于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激活函数的深度神经网络查询决策算法。该技术基于对单纯形算法的扩展，以支持非凸</a:t>
            </a:r>
            <a:r>
              <a:rPr lang="en-US" altLang="zh-CN" dirty="0" err="1">
                <a:effectLst/>
                <a:latin typeface="Arial" panose="020B0604020202020204" pitchFamily="34" charset="0"/>
              </a:rPr>
              <a:t>ReLU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函数，允许它们的输入和输出暂时不一致，然后随着算法的进展固定。我们在验证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ACAS Xu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网络属性方面的成功表明，该技术在验证真实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DNNs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方面具有很大的潜力。未来计划追求的主要方向是提高技术的可扩展性。除了对概念证明工具进行工程改进外，计划探索更好的策略和启发式，并应用更高级的冲突分析技术，以减少所需的案件分割数量。另一个方向就是在不损害性能的情况下提供更好的可靠性保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25EF-BA9C-49A4-852D-CC03B479F8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07B6-8036-4032-A19B-032CB2E407F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685800" indent="-228600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143000" indent="-228600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6148D-0A33-440F-91B1-C6EF236805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://old.ecnu.edu.cn/site/identity/images/a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/>
          <p:cNvCxnSpPr/>
          <p:nvPr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567CA-6782-445A-B9B7-E71D5E69716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520B-0A88-47C4-8883-CC695AAE5B2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546F-490E-47B7-8B9F-705B614150C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F2CE-B482-42E4-B57C-135E3DEB405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16DEA-65AD-4D19-9FDA-E243A978244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B23C8-D80B-427A-8F41-BE118EE7648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157B-8FCD-4E7C-8CA7-A72A1501E8B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04A17-06E3-47B7-8F6D-7385FFB67B2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E3DF-3831-4EDC-BAE2-20A47E581E3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9134F-DE2A-4C0A-BC3F-AE2C3F2117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Data Models &amp; Architecture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Case Study: The ACAS Xu System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5617" y="2902214"/>
            <a:ext cx="10600765" cy="522091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 Network Functionality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r>
              <a:rPr lang="en-US" altLang="zh-CN" dirty="0"/>
              <a:t> Network Properties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Functionality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679299"/>
            <a:ext cx="5521893" cy="3161820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85800" y="4943359"/>
            <a:ext cx="10668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ele attr="{936B1470-917C-4E20-8B71-BC1836F333D2}"/>
                  </a:ext>
                </a:extLst>
              </p:cNvPr>
              <p:cNvSpPr txBox="1"/>
              <p:nvPr/>
            </p:nvSpPr>
            <p:spPr>
              <a:xfrm>
                <a:off x="1026090" y="5035602"/>
                <a:ext cx="6093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d</a:t>
                </a:r>
                <a:r>
                  <a:rPr lang="zh-CN" altLang="en-US" sz="1600" dirty="0"/>
                  <a:t>istance from ownship to intruder</a:t>
                </a: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90" y="5035602"/>
                <a:ext cx="6093912" cy="338554"/>
              </a:xfrm>
              <a:prstGeom prst="rect">
                <a:avLst/>
              </a:prstGeom>
              <a:blipFill rotWithShape="1">
                <a:blip r:embed="rId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ele attr="{685D3DAF-9B7A-458E-99E5-EF5ACC55D1E7}"/>
                  </a:ext>
                </a:extLst>
              </p:cNvPr>
              <p:cNvSpPr txBox="1"/>
              <p:nvPr/>
            </p:nvSpPr>
            <p:spPr>
              <a:xfrm>
                <a:off x="1026090" y="5393409"/>
                <a:ext cx="831415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ngle to intruder relative to ownship heading direction</a:t>
                </a: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90" y="5393409"/>
                <a:ext cx="8314151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ele attr="{8F4DF2C2-BE8B-4C93-8B22-805652D40629}"/>
                  </a:ext>
                </a:extLst>
              </p:cNvPr>
              <p:cNvSpPr txBox="1"/>
              <p:nvPr/>
            </p:nvSpPr>
            <p:spPr>
              <a:xfrm>
                <a:off x="1026090" y="5718429"/>
                <a:ext cx="758033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h</a:t>
                </a:r>
                <a:r>
                  <a:rPr lang="zh-CN" altLang="en-US" sz="1600" dirty="0"/>
                  <a:t>eading angle of intruder relative to ownship heading direction</a:t>
                </a: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90" y="5718429"/>
                <a:ext cx="7580335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ele attr="{1AFE5518-1EAA-4638-BCF7-76869A114E2A}"/>
                  </a:ext>
                </a:extLst>
              </p:cNvPr>
              <p:cNvSpPr txBox="1"/>
              <p:nvPr/>
            </p:nvSpPr>
            <p:spPr>
              <a:xfrm>
                <a:off x="1026090" y="6082189"/>
                <a:ext cx="6093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  <m:t>𝑜𝑤𝑛</m:t>
                        </m:r>
                      </m:sub>
                    </m:sSub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s</a:t>
                </a:r>
                <a:r>
                  <a:rPr lang="zh-CN" altLang="en-US" sz="1600" dirty="0"/>
                  <a:t>peed of ownship</a:t>
                </a: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90" y="6082189"/>
                <a:ext cx="6093912" cy="338554"/>
              </a:xfrm>
              <a:prstGeom prst="rect">
                <a:avLst/>
              </a:prstGeom>
              <a:blipFill rotWithShape="1">
                <a:blip r:embed="rId5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ele attr="{C94377AA-7F99-49DF-97E4-EA68705CF6F3}"/>
                  </a:ext>
                </a:extLst>
              </p:cNvPr>
              <p:cNvSpPr txBox="1"/>
              <p:nvPr/>
            </p:nvSpPr>
            <p:spPr>
              <a:xfrm>
                <a:off x="938408" y="6445949"/>
                <a:ext cx="6093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ⅈ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𝑛𝑡</m:t>
                        </m:r>
                      </m:sub>
                    </m:sSub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s</a:t>
                </a:r>
                <a:r>
                  <a:rPr lang="zh-CN" altLang="en-US" sz="1600" dirty="0"/>
                  <a:t>peed of intruder</a:t>
                </a: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08" y="6445949"/>
                <a:ext cx="6093912" cy="338554"/>
              </a:xfrm>
              <a:prstGeom prst="rect">
                <a:avLst/>
              </a:prstGeom>
              <a:blipFill rotWithShape="1"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ele attr="{197A2CEE-F5F2-4C3E-9CBA-058E2A99EE76}"/>
                  </a:ext>
                </a:extLst>
              </p:cNvPr>
              <p:cNvSpPr txBox="1"/>
              <p:nvPr/>
            </p:nvSpPr>
            <p:spPr>
              <a:xfrm>
                <a:off x="7120002" y="5028835"/>
                <a:ext cx="6093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t</a:t>
                </a:r>
                <a:r>
                  <a:rPr lang="zh-CN" altLang="en-US" sz="1600" dirty="0"/>
                  <a:t>ime until loss of vertical separation</a:t>
                </a: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002" y="5028835"/>
                <a:ext cx="6093912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ele attr="{8D8123C3-9D0F-421A-A17E-1AAA7E2B800C}"/>
                  </a:ext>
                </a:extLst>
              </p:cNvPr>
              <p:cNvSpPr txBox="1"/>
              <p:nvPr/>
            </p:nvSpPr>
            <p:spPr>
              <a:xfrm>
                <a:off x="7158624" y="5329610"/>
                <a:ext cx="6607478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𝑝𝑟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ⅇ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sz="1600" dirty="0"/>
                  <a:t>: </a:t>
                </a:r>
                <a:r>
                  <a:rPr lang="en-US" altLang="zh-CN" sz="1600" dirty="0"/>
                  <a:t>p</a:t>
                </a:r>
                <a:r>
                  <a:rPr lang="zh-CN" altLang="en-US" sz="1600" dirty="0"/>
                  <a:t>revious advisory</a:t>
                </a: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24" y="5329610"/>
                <a:ext cx="6607478" cy="357534"/>
              </a:xfrm>
              <a:prstGeom prst="rect">
                <a:avLst/>
              </a:prstGeom>
              <a:blipFill rotWithShape="1">
                <a:blip r:embed="rId8"/>
                <a:stretch>
                  <a:fillRect t="-3390" b="-16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6207693" y="2108632"/>
            <a:ext cx="6883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endParaRPr lang="en-US" altLang="zh-CN" sz="1800" dirty="0">
              <a:latin typeface="+mn-ea"/>
            </a:endParaRPr>
          </a:p>
          <a:p>
            <a:pPr>
              <a:buClr>
                <a:srgbClr val="C00000"/>
              </a:buClr>
            </a:pPr>
            <a:endParaRPr lang="en-US" altLang="zh-CN" sz="1800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+mn-ea"/>
              </a:rPr>
              <a:t>Clear-of-Conflict(COC)</a:t>
            </a:r>
            <a:endParaRPr lang="en-US" altLang="zh-CN" sz="1800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sz="1800" dirty="0">
                <a:latin typeface="+mn-ea"/>
              </a:rPr>
              <a:t>weak</a:t>
            </a:r>
            <a:endParaRPr lang="en-US" altLang="zh-CN" sz="1800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+mn-ea"/>
              </a:rPr>
              <a:t>s</a:t>
            </a:r>
            <a:r>
              <a:rPr lang="en-US" altLang="zh-CN" sz="1800" dirty="0">
                <a:latin typeface="+mn-ea"/>
              </a:rPr>
              <a:t>trong right</a:t>
            </a:r>
            <a:endParaRPr lang="en-US" altLang="zh-CN" sz="1800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+mn-ea"/>
              </a:rPr>
              <a:t>weak left</a:t>
            </a:r>
            <a:endParaRPr lang="en-US" altLang="zh-CN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dirty="0">
                <a:latin typeface="+mn-ea"/>
              </a:rPr>
              <a:t>s</a:t>
            </a:r>
            <a:r>
              <a:rPr lang="en-US" altLang="zh-CN" sz="1800" dirty="0">
                <a:latin typeface="+mn-ea"/>
              </a:rPr>
              <a:t>trong left</a:t>
            </a:r>
            <a:endParaRPr lang="en-US" altLang="zh-CN" sz="1800" dirty="0">
              <a:latin typeface="+mn-ea"/>
            </a:endParaRP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en-US" altLang="zh-CN" sz="1800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41741" y="4611214"/>
            <a:ext cx="68828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Geometry for ACAS Xu Horizontal Logic Table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Properties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0672" y="2030766"/>
            <a:ext cx="6509199" cy="3892501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45863" y="3515351"/>
            <a:ext cx="3798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</a:t>
            </a:r>
            <a:r>
              <a:rPr lang="zh-CN" altLang="en-US" dirty="0"/>
              <a:t>ach pixel is colored to represent the best action if the intruder were at that location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810289" y="5796308"/>
            <a:ext cx="6097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Advisories for a head-on encounter with aprev= COC, τ = 0 s.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77620" y="1690688"/>
            <a:ext cx="6836758" cy="3135426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ele attr="{FA73F32D-EC79-4E30-96EC-845A3546FD29}"/>
                  </a:ext>
                </a:extLst>
              </p:cNvPr>
              <p:cNvSpPr txBox="1"/>
              <p:nvPr/>
            </p:nvSpPr>
            <p:spPr>
              <a:xfrm>
                <a:off x="825703" y="5461907"/>
                <a:ext cx="1054059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/>
                  <a:t>w</a:t>
                </a:r>
                <a:r>
                  <a:rPr lang="zh-CN" altLang="en-US" sz="1600" dirty="0"/>
                  <a:t>e began by comparing our implementation of Reluplex to state-of-the-art solvers: the CVC4, Z3, Yices and MathSat SMT solvers and the Gurobi LP solver. </a:t>
                </a:r>
                <a:endParaRPr lang="en-US" altLang="zh-CN" sz="1600" dirty="0"/>
              </a:p>
              <a:p>
                <a:r>
                  <a:rPr lang="zh-CN" altLang="en-US" sz="1600" dirty="0"/>
                  <a:t>We ran all solvers with a 4 hour timeout on 2 of the ACAS Xu networks</a:t>
                </a:r>
                <a:r>
                  <a:rPr lang="en-US" altLang="zh-CN" sz="1600" dirty="0"/>
                  <a:t>, </a:t>
                </a:r>
                <a:r>
                  <a:rPr lang="zh-CN" altLang="en-US" sz="1600" dirty="0"/>
                  <a:t>trying to solve for 8 simple satisfiable properties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" y="5461907"/>
                <a:ext cx="10540593" cy="1077218"/>
              </a:xfrm>
              <a:prstGeom prst="rect">
                <a:avLst/>
              </a:prstGeom>
              <a:blipFill rotWithShape="1">
                <a:blip r:embed="rId2"/>
                <a:stretch>
                  <a:fillRect l="-289" t="-1695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762000" y="5352546"/>
            <a:ext cx="10668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25909" y="4935474"/>
            <a:ext cx="60976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Comparison to SMT and LP solvers. Entries indicate solution time (in seconds)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612" y="2137160"/>
            <a:ext cx="5186486" cy="3579245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ele attr="{24FDA142-FB23-4AD1-AB98-F4A7879C7A45}"/>
                  </a:ext>
                </a:extLst>
              </p:cNvPr>
              <p:cNvSpPr txBox="1"/>
              <p:nvPr/>
            </p:nvSpPr>
            <p:spPr>
              <a:xfrm>
                <a:off x="5328898" y="1769179"/>
                <a:ext cx="6950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if the intruder is distant and is significantly slower than the ownship, the score of a COC advisory will always be below a certain fixed threshold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1769179"/>
                <a:ext cx="6950188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439" t="-31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ele attr="{6C029A07-F2CC-4451-B9FE-49FA5FF22D8B}"/>
                  </a:ext>
                </a:extLst>
              </p:cNvPr>
              <p:cNvSpPr txBox="1"/>
              <p:nvPr/>
            </p:nvSpPr>
            <p:spPr>
              <a:xfrm>
                <a:off x="5328898" y="2425622"/>
                <a:ext cx="6950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under similar conditions, the score for COC can never be maximal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2425622"/>
                <a:ext cx="6950188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ele attr="{FF71910A-7843-4345-9AA1-8451DD813413}"/>
                  </a:ext>
                </a:extLst>
              </p:cNvPr>
              <p:cNvSpPr txBox="1"/>
              <p:nvPr/>
            </p:nvSpPr>
            <p:spPr>
              <a:xfrm>
                <a:off x="5328898" y="2877520"/>
                <a:ext cx="6950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the intruder is directly ahead and is either moving towards the ownship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2877520"/>
                <a:ext cx="6950188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ele attr="{CF5C639F-D468-40E4-97DA-A93E1E79F8F7}"/>
                  </a:ext>
                </a:extLst>
              </p:cNvPr>
              <p:cNvSpPr txBox="1"/>
              <p:nvPr/>
            </p:nvSpPr>
            <p:spPr>
              <a:xfrm>
                <a:off x="5328898" y="3333829"/>
                <a:ext cx="6950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the intruder is </a:t>
                </a:r>
                <a:r>
                  <a:rPr lang="zh-CN" altLang="en-US" sz="1600" dirty="0"/>
                  <a:t>away from the ownship but at a lower speed , and state that the DNN will never issue a COC advisory</a:t>
                </a:r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3333829"/>
                <a:ext cx="6950188" cy="830997"/>
              </a:xfrm>
              <a:prstGeom prst="rect">
                <a:avLst/>
              </a:prstGeom>
              <a:blipFill rotWithShape="1">
                <a:blip r:embed="rId5"/>
                <a:stretch>
                  <a:fillRect l="-439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ele attr="{0911A8AC-CE97-4E34-BA79-629C4F9817ED}"/>
                  </a:ext>
                </a:extLst>
              </p:cNvPr>
              <p:cNvSpPr txBox="1"/>
              <p:nvPr/>
            </p:nvSpPr>
            <p:spPr>
              <a:xfrm>
                <a:off x="5328898" y="3924749"/>
                <a:ext cx="6950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if the intruder is near and approaching from the left, the network advises “strong right”</a:t>
                </a:r>
                <a:endParaRPr lang="zh-CN" altLang="en-US" sz="1600" dirty="0"/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3924749"/>
                <a:ext cx="6950188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439" t="-2206" r="-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ele attr="{9A03C5B0-3483-481C-89A0-82837ABEF749}"/>
                  </a:ext>
                </a:extLst>
              </p:cNvPr>
              <p:cNvSpPr txBox="1"/>
              <p:nvPr/>
            </p:nvSpPr>
            <p:spPr>
              <a:xfrm>
                <a:off x="5328898" y="5715676"/>
                <a:ext cx="69501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even if the previous advisory was “weak right”, the presence of a nearby intrude will cause the network to output a “strong left” advisory instead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5715676"/>
                <a:ext cx="6950188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439" t="-31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ele attr="{DA28CC62-E888-4151-AF2B-9C547EBEE9F2}"/>
                  </a:ext>
                </a:extLst>
              </p:cNvPr>
              <p:cNvSpPr txBox="1"/>
              <p:nvPr/>
            </p:nvSpPr>
            <p:spPr>
              <a:xfrm>
                <a:off x="5328898" y="4508794"/>
                <a:ext cx="6950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zh-CN" altLang="en-US" sz="1600" dirty="0"/>
                  <a:t>when the vertical separation is large the network will never advise a strong turn</a:t>
                </a:r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4508794"/>
                <a:ext cx="6950188" cy="830997"/>
              </a:xfrm>
              <a:prstGeom prst="rect">
                <a:avLst/>
              </a:prstGeom>
              <a:blipFill rotWithShape="1">
                <a:blip r:embed="rId8"/>
                <a:stretch>
                  <a:fillRect l="-439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ele attr="{B800720F-866A-43CB-82EB-B133CAB86DEA}"/>
                  </a:ext>
                </a:extLst>
              </p:cNvPr>
              <p:cNvSpPr txBox="1"/>
              <p:nvPr/>
            </p:nvSpPr>
            <p:spPr>
              <a:xfrm>
                <a:off x="5328898" y="5112600"/>
                <a:ext cx="69501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：</m:t>
                        </m:r>
                      </m:sub>
                    </m:sSub>
                  </m:oMath>
                </a14:m>
                <a:r>
                  <a:rPr lang="en-US" altLang="zh-CN" sz="1600" dirty="0"/>
                  <a:t>for a large vertical separation and a previous “weak left” advisory, the network will either output COC or continue advising “weak left”</a:t>
                </a:r>
                <a:endParaRPr lang="zh-CN" altLang="en-US" sz="1600" dirty="0"/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898" y="5112600"/>
                <a:ext cx="6950188" cy="830997"/>
              </a:xfrm>
              <a:prstGeom prst="rect">
                <a:avLst/>
              </a:prstGeom>
              <a:blipFill rotWithShape="1">
                <a:blip r:embed="rId9"/>
                <a:stretch>
                  <a:fillRect l="-439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5257800" y="1750570"/>
            <a:ext cx="0" cy="5030787"/>
          </a:xfrm>
          <a:prstGeom prst="line">
            <a:avLst/>
          </a:prstGeom>
          <a:ln>
            <a:solidFill>
              <a:srgbClr val="A10303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279663" y="5776570"/>
            <a:ext cx="61771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Verifying properties of the ACAS Xu networks.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5853" y="2194196"/>
            <a:ext cx="7861236" cy="2081829"/>
          </a:xfr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ele attr="{C0D05993-3D13-4DAF-897C-E822B64C3B38}"/>
                  </a:ext>
                </a:extLst>
              </p:cNvPr>
              <p:cNvSpPr txBox="1"/>
              <p:nvPr/>
            </p:nvSpPr>
            <p:spPr>
              <a:xfrm>
                <a:off x="8417089" y="2685542"/>
                <a:ext cx="3874302" cy="1104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 </a:t>
                </a:r>
                <a:r>
                  <a:rPr lang="en-US" altLang="zh-CN" sz="1600" dirty="0"/>
                  <a:t>w</a:t>
                </a:r>
                <a:r>
                  <a:rPr lang="zh-CN" altLang="en-US" sz="1600" dirty="0"/>
                  <a:t>e say that a network is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1600" dirty="0"/>
                  <a:t>-locally-robust at input point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600" dirty="0"/>
                  <a:t> if 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zh-CN" alt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/>
                  <a:t>such that </a:t>
                </a:r>
                <a:r>
                  <a:rPr lang="en-US" altLang="zh-CN" sz="1600" dirty="0"/>
                  <a:t>||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600" dirty="0"/>
                  <a:t>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US" altLang="zh-CN" sz="1600" dirty="0"/>
                  <a:t>||</a:t>
                </a:r>
                <a:r>
                  <a:rPr lang="zh-CN" altLang="en-US" sz="1600" baseline="-25000" dirty="0"/>
                  <a:t>∞</a:t>
                </a:r>
                <a:r>
                  <a:rPr lang="zh-CN" altLang="en-US" sz="1600" dirty="0"/>
                  <a:t>≤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1600" dirty="0"/>
                  <a:t>, the network assigns the same label to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6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089" y="2685542"/>
                <a:ext cx="3874302" cy="1104918"/>
              </a:xfrm>
              <a:prstGeom prst="rect">
                <a:avLst/>
              </a:prstGeom>
              <a:blipFill rotWithShape="1">
                <a:blip r:embed="rId2"/>
                <a:stretch>
                  <a:fillRect l="-945" t="-1657" r="-315" b="-6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11" name="直接连接符 10"/>
          <p:cNvCxnSpPr/>
          <p:nvPr/>
        </p:nvCxnSpPr>
        <p:spPr>
          <a:xfrm>
            <a:off x="685800" y="4785292"/>
            <a:ext cx="1066800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8457" y="5053886"/>
            <a:ext cx="107550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t</a:t>
            </a:r>
            <a:r>
              <a:rPr lang="zh-CN" altLang="en-US" sz="1600" dirty="0"/>
              <a:t>able depicts the results of local adversarial robustness checks on one of the ACAS Xu networks. We tested combinations of 5 arbitrary points and 5 values of δ. SAT results show that Reluplex found an adversarial </a:t>
            </a:r>
            <a:r>
              <a:rPr lang="en-US" altLang="zh-CN" sz="1600" dirty="0"/>
              <a:t>input within the prescribed neighborhood, and UNSAT results indicate that no such inputs exist.</a:t>
            </a:r>
            <a:endParaRPr lang="zh-CN" altLang="en-US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2453310" y="4313825"/>
            <a:ext cx="61572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Local adversarial robustness tests. All times are in seconds.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 and Next Steps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 Conclusion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dirty="0"/>
              <a:t>We presented a novel decision algorithm for solving queries on deep neural networks with </a:t>
            </a:r>
            <a:r>
              <a:rPr lang="en-US" altLang="zh-CN" dirty="0" err="1"/>
              <a:t>ReLU</a:t>
            </a:r>
            <a:r>
              <a:rPr lang="en-US" altLang="zh-CN" dirty="0"/>
              <a:t> activation functions.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sz="3200" dirty="0"/>
              <a:t> Next Steps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dirty="0"/>
              <a:t>increase the technique’s scalability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provide better soundness guarantees without harming performance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01888" y="3429000"/>
            <a:ext cx="5920409" cy="2480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200" b="1" dirty="0">
                <a:solidFill>
                  <a:srgbClr val="A10303"/>
                </a:solidFill>
              </a:rPr>
              <a:t>Thank You</a:t>
            </a:r>
            <a:endParaRPr lang="zh-CN" altLang="en-US" sz="7200" b="1" dirty="0">
              <a:solidFill>
                <a:srgbClr val="A1030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CA875-76FA-4283-B5BE-070B4D16A2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base System Implementation - lecture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Database System Implementation - lecture 1</Template>
  <TotalTime>0</TotalTime>
  <Words>1179</Words>
  <Application>WPS 演示</Application>
  <PresentationFormat>宽屏</PresentationFormat>
  <Paragraphs>102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Cambria Math</vt:lpstr>
      <vt:lpstr>等线 Light</vt:lpstr>
      <vt:lpstr>等线</vt:lpstr>
      <vt:lpstr>微软雅黑</vt:lpstr>
      <vt:lpstr>Arial Unicode MS</vt:lpstr>
      <vt:lpstr>Database System Implementation - lecture 1</vt:lpstr>
      <vt:lpstr> Case Study: The ACAS Xu System</vt:lpstr>
      <vt:lpstr>Network Functionality</vt:lpstr>
      <vt:lpstr>Network Properties</vt:lpstr>
      <vt:lpstr>Evaluation</vt:lpstr>
      <vt:lpstr>Evaluation</vt:lpstr>
      <vt:lpstr>Evaluation</vt:lpstr>
      <vt:lpstr>Conclusion and 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宫 学庆</dc:creator>
  <cp:lastModifiedBy>Tangerine</cp:lastModifiedBy>
  <cp:revision>158</cp:revision>
  <dcterms:created xsi:type="dcterms:W3CDTF">2018-07-06T04:25:00Z</dcterms:created>
  <dcterms:modified xsi:type="dcterms:W3CDTF">2020-12-30T12:56:29Z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