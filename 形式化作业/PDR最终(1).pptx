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xml" ContentType="application/vnd.openxmlformats-officedocument.presentationml.notesSlide+xml"/>
  <Override PartName="/ppt/tags/tag68.xml" ContentType="application/vnd.openxmlformats-officedocument.presentationml.tags+xml"/>
  <Override PartName="/ppt/notesSlides/notesSlide2.xml" ContentType="application/vnd.openxmlformats-officedocument.presentationml.notesSlide+xml"/>
  <Override PartName="/ppt/tags/tag69.xml" ContentType="application/vnd.openxmlformats-officedocument.presentationml.tags+xml"/>
  <Override PartName="/ppt/notesSlides/notesSlide3.xml" ContentType="application/vnd.openxmlformats-officedocument.presentationml.notesSlide+xml"/>
  <Override PartName="/ppt/tags/tag70.xml" ContentType="application/vnd.openxmlformats-officedocument.presentationml.tags+xml"/>
  <Override PartName="/ppt/notesSlides/notesSlide4.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5.xml" ContentType="application/vnd.openxmlformats-officedocument.presentationml.notesSlide+xml"/>
  <Override PartName="/ppt/tags/tag74.xml" ContentType="application/vnd.openxmlformats-officedocument.presentationml.tags+xml"/>
  <Override PartName="/ppt/notesSlides/notesSlide6.xml" ContentType="application/vnd.openxmlformats-officedocument.presentationml.notesSlide+xml"/>
  <Override PartName="/ppt/tags/tag75.xml" ContentType="application/vnd.openxmlformats-officedocument.presentationml.tags+xml"/>
  <Override PartName="/ppt/notesSlides/notesSlide7.xml" ContentType="application/vnd.openxmlformats-officedocument.presentationml.notesSlide+xml"/>
  <Override PartName="/ppt/tags/tag76.xml" ContentType="application/vnd.openxmlformats-officedocument.presentationml.tags+xml"/>
  <Override PartName="/ppt/notesSlides/notesSlide8.xml" ContentType="application/vnd.openxmlformats-officedocument.presentationml.notesSlide+xml"/>
  <Override PartName="/ppt/tags/tag77.xml" ContentType="application/vnd.openxmlformats-officedocument.presentationml.tags+xml"/>
  <Override PartName="/ppt/notesSlides/notesSlide9.xml" ContentType="application/vnd.openxmlformats-officedocument.presentationml.notesSlide+xml"/>
  <Override PartName="/ppt/tags/tag78.xml" ContentType="application/vnd.openxmlformats-officedocument.presentationml.tags+xml"/>
  <Override PartName="/ppt/notesSlides/notesSlide10.xml" ContentType="application/vnd.openxmlformats-officedocument.presentationml.notesSlide+xml"/>
  <Override PartName="/ppt/tags/tag79.xml" ContentType="application/vnd.openxmlformats-officedocument.presentationml.tags+xml"/>
  <Override PartName="/ppt/notesSlides/notesSlide11.xml" ContentType="application/vnd.openxmlformats-officedocument.presentationml.notesSlide+xml"/>
  <Override PartName="/ppt/tags/tag80.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notesSlides/notesSlide13.xml" ContentType="application/vnd.openxmlformats-officedocument.presentationml.notesSlide+xml"/>
  <Override PartName="/ppt/tags/tag82.xml" ContentType="application/vnd.openxmlformats-officedocument.presentationml.tags+xml"/>
  <Override PartName="/ppt/notesSlides/notesSlide14.xml" ContentType="application/vnd.openxmlformats-officedocument.presentationml.notesSlide+xml"/>
  <Override PartName="/ppt/tags/tag83.xml" ContentType="application/vnd.openxmlformats-officedocument.presentationml.tags+xml"/>
  <Override PartName="/ppt/notesSlides/notesSlide15.xml" ContentType="application/vnd.openxmlformats-officedocument.presentationml.notesSlide+xml"/>
  <Override PartName="/ppt/tags/tag84.xml" ContentType="application/vnd.openxmlformats-officedocument.presentationml.tags+xml"/>
  <Override PartName="/ppt/notesSlides/notesSlide16.xml" ContentType="application/vnd.openxmlformats-officedocument.presentationml.notesSlide+xml"/>
  <Override PartName="/ppt/tags/tag85.xml" ContentType="application/vnd.openxmlformats-officedocument.presentationml.tags+xml"/>
  <Override PartName="/ppt/notesSlides/notesSlide17.xml" ContentType="application/vnd.openxmlformats-officedocument.presentationml.notesSlide+xml"/>
  <Override PartName="/ppt/tags/tag86.xml" ContentType="application/vnd.openxmlformats-officedocument.presentationml.tags+xml"/>
  <Override PartName="/ppt/notesSlides/notesSlide18.xml" ContentType="application/vnd.openxmlformats-officedocument.presentationml.notesSlide+xml"/>
  <Override PartName="/ppt/tags/tag87.xml" ContentType="application/vnd.openxmlformats-officedocument.presentationml.tags+xml"/>
  <Override PartName="/ppt/notesSlides/notesSlide19.xml" ContentType="application/vnd.openxmlformats-officedocument.presentationml.notesSlide+xml"/>
  <Override PartName="/ppt/tags/tag88.xml" ContentType="application/vnd.openxmlformats-officedocument.presentationml.tags+xml"/>
  <Override PartName="/ppt/notesSlides/notesSlide20.xml" ContentType="application/vnd.openxmlformats-officedocument.presentationml.notesSlide+xml"/>
  <Override PartName="/ppt/tags/tag89.xml" ContentType="application/vnd.openxmlformats-officedocument.presentationml.tags+xml"/>
  <Override PartName="/ppt/notesSlides/notesSlide21.xml" ContentType="application/vnd.openxmlformats-officedocument.presentationml.notesSlide+xml"/>
  <Override PartName="/ppt/tags/tag90.xml" ContentType="application/vnd.openxmlformats-officedocument.presentationml.tags+xml"/>
  <Override PartName="/ppt/notesSlides/notesSlide22.xml" ContentType="application/vnd.openxmlformats-officedocument.presentationml.notesSlide+xml"/>
  <Override PartName="/ppt/tags/tag9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9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Lst>
  <p:notesMasterIdLst>
    <p:notesMasterId r:id="rId40"/>
  </p:notesMasterIdLst>
  <p:sldIdLst>
    <p:sldId id="334" r:id="rId2"/>
    <p:sldId id="335" r:id="rId3"/>
    <p:sldId id="336" r:id="rId4"/>
    <p:sldId id="337" r:id="rId5"/>
    <p:sldId id="338" r:id="rId6"/>
    <p:sldId id="339" r:id="rId7"/>
    <p:sldId id="340"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36"/>
    <p:sldId id="369" r:id="rId37"/>
    <p:sldId id="370" r:id="rId38"/>
    <p:sldId id="371"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gl002" initials="w" lastIdx="2" clrIdx="0"/>
  <p:cmAuthor id="2" name="雷 人" initials="雷"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72327" autoAdjust="0"/>
  </p:normalViewPr>
  <p:slideViewPr>
    <p:cSldViewPr snapToGrid="0">
      <p:cViewPr varScale="1">
        <p:scale>
          <a:sx n="61" d="100"/>
          <a:sy n="61" d="100"/>
        </p:scale>
        <p:origin x="1152" y="78"/>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3"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14"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2020/12/11</a:t>
            </a:fld>
            <a:endParaRPr lang="zh-CN" altLang="en-US"/>
          </a:p>
        </p:txBody>
      </p:sp>
      <p:sp>
        <p:nvSpPr>
          <p:cNvPr id="1048815"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16"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17"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18"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幻灯片图像占位符 1"/>
          <p:cNvSpPr>
            <a:spLocks noGrp="1" noRot="1" noChangeAspect="1"/>
          </p:cNvSpPr>
          <p:nvPr>
            <p:ph type="sldImg" idx="2"/>
          </p:nvPr>
        </p:nvSpPr>
        <p:spPr/>
      </p:sp>
      <p:sp>
        <p:nvSpPr>
          <p:cNvPr id="1048606" name="文本占位符 2"/>
          <p:cNvSpPr>
            <a:spLocks noGrp="1"/>
          </p:cNvSpPr>
          <p:nvPr>
            <p:ph type="body" idx="3"/>
          </p:nvPr>
        </p:nvSpPr>
        <p:spPr/>
        <p:txBody>
          <a:bodyPr/>
          <a:lstStyle/>
          <a:p>
            <a:r>
              <a:rPr lang="zh-CN" altLang="en-US" dirty="0"/>
              <a:t>首先介绍一下这篇文章的背景</a:t>
            </a:r>
          </a:p>
          <a:p>
            <a:r>
              <a:rPr lang="zh-CN" altLang="en-US" dirty="0"/>
              <a:t>这篇文章是对</a:t>
            </a:r>
            <a:r>
              <a:rPr lang="en-US" altLang="zh-CN" dirty="0"/>
              <a:t>IC3</a:t>
            </a:r>
            <a:r>
              <a:rPr lang="zh-CN" altLang="en-US" dirty="0"/>
              <a:t>提出了更加简单高效的实现方法</a:t>
            </a:r>
          </a:p>
          <a:p>
            <a:r>
              <a:rPr lang="zh-CN" altLang="en-US" dirty="0"/>
              <a:t>首先我们简单讲一下</a:t>
            </a:r>
            <a:r>
              <a:rPr lang="en-US" altLang="zh-CN" dirty="0"/>
              <a:t>IC3</a:t>
            </a:r>
            <a:endParaRPr lang="zh-CN" altLang="en-US" dirty="0"/>
          </a:p>
          <a:p>
            <a:r>
              <a:rPr lang="en-US" altLang="zh-CN" dirty="0"/>
              <a:t>IC3</a:t>
            </a:r>
            <a:r>
              <a:rPr lang="zh-CN" altLang="en-US" dirty="0"/>
              <a:t>最初是由一个叫</a:t>
            </a:r>
            <a:r>
              <a:rPr lang="zh-CN" altLang="en-US" b="1" dirty="0">
                <a:sym typeface="+mn-ea"/>
              </a:rPr>
              <a:t>Aaron  Bradley</a:t>
            </a:r>
            <a:r>
              <a:rPr lang="zh-CN" altLang="en-US" dirty="0">
                <a:sym typeface="+mn-ea"/>
              </a:rPr>
              <a:t>的学者提出，它是第一个位级符号模型检查算法。</a:t>
            </a:r>
            <a:r>
              <a:rPr lang="zh-CN" altLang="en-US" dirty="0"/>
              <a:t>它不展开转换关系，而是生成与逼近可达性信息归纳相对的一些子句。通过这种方法，算法逐步改进所要验证的性质，最终生成一个归纳强化性质或反例轨迹。</a:t>
            </a:r>
          </a:p>
          <a:p>
            <a:endParaRPr lang="zh-CN" altLang="en-US" dirty="0"/>
          </a:p>
          <a:p>
            <a:r>
              <a:rPr lang="zh-CN" altLang="en-US" dirty="0"/>
              <a:t>由于</a:t>
            </a:r>
            <a:r>
              <a:rPr lang="en-US" altLang="zh-CN" dirty="0"/>
              <a:t>IC3</a:t>
            </a:r>
            <a:r>
              <a:rPr lang="zh-CN" altLang="en-US" dirty="0"/>
              <a:t>的概念很难理解，这个作者后来又写了一篇</a:t>
            </a:r>
            <a:r>
              <a:rPr lang="en-US" altLang="zh-CN" dirty="0"/>
              <a:t>understanding IC3</a:t>
            </a:r>
            <a:r>
              <a:rPr lang="zh-CN" altLang="en-US" dirty="0"/>
              <a:t>。</a:t>
            </a:r>
          </a:p>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幻灯片图像占位符 1"/>
          <p:cNvSpPr>
            <a:spLocks noGrp="1" noRot="1" noChangeAspect="1"/>
          </p:cNvSpPr>
          <p:nvPr>
            <p:ph type="sldImg" idx="2"/>
          </p:nvPr>
        </p:nvSpPr>
        <p:spPr/>
      </p:sp>
      <p:sp>
        <p:nvSpPr>
          <p:cNvPr id="1048613" name="文本占位符 2"/>
          <p:cNvSpPr>
            <a:spLocks noGrp="1"/>
          </p:cNvSpPr>
          <p:nvPr>
            <p:ph type="body" idx="3"/>
          </p:nvPr>
        </p:nvSpPr>
        <p:spPr/>
        <p:txBody>
          <a:bodyPr/>
          <a:lstStyle/>
          <a:p>
            <a:r>
              <a:rPr lang="zh-CN" altLang="en-US" dirty="0"/>
              <a:t>下面我们介绍一些关于</a:t>
            </a:r>
            <a:r>
              <a:rPr lang="en-US" altLang="zh-CN" dirty="0"/>
              <a:t>IC3</a:t>
            </a:r>
            <a:r>
              <a:rPr lang="zh-CN" altLang="en-US" dirty="0"/>
              <a:t>的相关概念。</a:t>
            </a:r>
          </a:p>
          <a:p>
            <a:r>
              <a:rPr lang="zh-CN" altLang="en-US" dirty="0"/>
              <a:t>我们假设有一个有限状态迁移系统，用一个三元组来表示。其中，</a:t>
            </a:r>
            <a:r>
              <a:rPr lang="en-US" altLang="zh-CN" dirty="0"/>
              <a:t>X</a:t>
            </a:r>
            <a:r>
              <a:rPr lang="zh-CN" altLang="en-US" dirty="0"/>
              <a:t>表示状态变量的集合，逻辑公式</a:t>
            </a:r>
            <a:r>
              <a:rPr lang="en-US" altLang="zh-CN" dirty="0"/>
              <a:t>I(x)</a:t>
            </a:r>
            <a:r>
              <a:rPr lang="zh-CN" altLang="en-US" dirty="0"/>
              <a:t>表示初始状态的集合，逻辑公式</a:t>
            </a:r>
            <a:r>
              <a:rPr lang="en-US" altLang="zh-CN" dirty="0"/>
              <a:t>T(X,X')</a:t>
            </a:r>
            <a:r>
              <a:rPr lang="zh-CN" altLang="en-US" dirty="0"/>
              <a:t>表示迁移关系。</a:t>
            </a:r>
          </a:p>
          <a:p>
            <a:r>
              <a:rPr lang="zh-CN" altLang="en-US" dirty="0"/>
              <a:t>系统中的一个状态是对</a:t>
            </a:r>
            <a:r>
              <a:rPr lang="en-US" altLang="zh-CN" dirty="0"/>
              <a:t>X</a:t>
            </a:r>
            <a:r>
              <a:rPr lang="zh-CN" altLang="en-US" dirty="0"/>
              <a:t>中的所有变量的一个赋值，</a:t>
            </a:r>
            <a:r>
              <a:rPr lang="zh-CN" altLang="en-US" dirty="0">
                <a:sym typeface="+mn-ea"/>
              </a:rPr>
              <a:t>每个变量的赋值可以用一个字来表示，然后整个赋值其实就是这些字的合取。</a:t>
            </a:r>
            <a:endParaRPr lang="zh-CN" altLang="en-US" dirty="0"/>
          </a:p>
          <a:p>
            <a:r>
              <a:rPr lang="zh-CN" altLang="en-US" dirty="0"/>
              <a:t>下面给出一个例子</a:t>
            </a:r>
          </a:p>
          <a:p>
            <a:r>
              <a:rPr lang="en-US" altLang="zh-CN" dirty="0"/>
              <a:t>s</a:t>
            </a:r>
            <a:r>
              <a:rPr lang="zh-CN" altLang="en-US" dirty="0"/>
              <a:t>等于</a:t>
            </a:r>
            <a:r>
              <a:rPr lang="en-US" altLang="zh-CN" dirty="0"/>
              <a:t>a</a:t>
            </a:r>
            <a:r>
              <a:rPr lang="zh-CN" altLang="en-US" dirty="0"/>
              <a:t>合取非</a:t>
            </a:r>
            <a:r>
              <a:rPr lang="en-US" altLang="zh-CN" dirty="0"/>
              <a:t>b</a:t>
            </a:r>
            <a:r>
              <a:rPr lang="zh-CN" altLang="en-US" dirty="0"/>
              <a:t>，对s取反得到的非s等于非</a:t>
            </a:r>
            <a:r>
              <a:rPr lang="en-US" altLang="zh-CN" dirty="0"/>
              <a:t>a</a:t>
            </a:r>
            <a:r>
              <a:rPr lang="zh-CN" altLang="en-US" dirty="0"/>
              <a:t>析取</a:t>
            </a:r>
            <a:r>
              <a:rPr lang="en-US" altLang="zh-CN" dirty="0"/>
              <a:t>b</a:t>
            </a:r>
            <a:r>
              <a:rPr lang="zh-CN" altLang="en-US" dirty="0"/>
              <a:t>，非</a:t>
            </a:r>
            <a:r>
              <a:rPr lang="en-US" altLang="zh-CN" dirty="0"/>
              <a:t>s</a:t>
            </a:r>
            <a:r>
              <a:rPr lang="zh-CN" altLang="en-US" dirty="0"/>
              <a:t>是一个子句</a:t>
            </a:r>
          </a:p>
          <a:p>
            <a:r>
              <a:rPr lang="zh-CN" altLang="en-US" dirty="0"/>
              <a:t>如果</a:t>
            </a:r>
            <a:r>
              <a:rPr lang="en-US" altLang="zh-CN" dirty="0"/>
              <a:t>s</a:t>
            </a:r>
            <a:r>
              <a:rPr lang="zh-CN" altLang="en-US" dirty="0"/>
              <a:t>满足逻辑公式</a:t>
            </a:r>
            <a:r>
              <a:rPr lang="en-US" altLang="zh-CN" dirty="0"/>
              <a:t>F</a:t>
            </a:r>
            <a:r>
              <a:rPr lang="zh-CN" altLang="en-US" dirty="0"/>
              <a:t>，称</a:t>
            </a:r>
            <a:r>
              <a:rPr lang="en-US" altLang="zh-CN" dirty="0"/>
              <a:t>s</a:t>
            </a:r>
            <a:r>
              <a:rPr lang="zh-CN" altLang="en-US" dirty="0"/>
              <a:t>是一个</a:t>
            </a:r>
            <a:r>
              <a:rPr lang="en-US" altLang="zh-CN" dirty="0"/>
              <a:t>F</a:t>
            </a:r>
            <a:r>
              <a:rPr lang="zh-CN" altLang="en-US" dirty="0"/>
              <a:t>状态</a:t>
            </a:r>
          </a:p>
          <a:p>
            <a:endParaRPr lang="en-US" altLang="zh-CN" dirty="0"/>
          </a:p>
          <a:p>
            <a:r>
              <a:rPr lang="zh-CN" altLang="en-US" dirty="0"/>
              <a:t>如果子句</a:t>
            </a:r>
            <a:r>
              <a:rPr lang="en-US" altLang="zh-CN" dirty="0"/>
              <a:t>c</a:t>
            </a:r>
            <a:r>
              <a:rPr lang="zh-CN" altLang="en-US" dirty="0"/>
              <a:t>满足下面这个公式，那么</a:t>
            </a:r>
            <a:r>
              <a:rPr lang="en-US" altLang="zh-CN" dirty="0"/>
              <a:t>c</a:t>
            </a:r>
            <a:r>
              <a:rPr lang="zh-CN" altLang="en-US" dirty="0"/>
              <a:t>是</a:t>
            </a:r>
            <a:r>
              <a:rPr lang="en-US" altLang="zh-CN" dirty="0"/>
              <a:t>s</a:t>
            </a:r>
            <a:r>
              <a:rPr lang="zh-CN" altLang="en-US" dirty="0"/>
              <a:t>的一个归纳推广</a:t>
            </a:r>
          </a:p>
          <a:p>
            <a:endParaRPr lang="zh-CN" altLang="en-US" dirty="0"/>
          </a:p>
          <a:p>
            <a:r>
              <a:rPr lang="zh-CN" altLang="en-US" dirty="0"/>
              <a:t>在给定的有限状态系统上，如果给出一条逻辑公式，这个逻辑公式在所有的可达状态上都满足，则称这个逻辑公式是一个安全属性。</a:t>
            </a:r>
            <a:r>
              <a:rPr lang="en-US" altLang="zh-CN" dirty="0" err="1"/>
              <a:t>如果对于给定的</a:t>
            </a:r>
            <a:r>
              <a:rPr lang="zh-CN" altLang="en-US" dirty="0"/>
              <a:t>安全属性</a:t>
            </a:r>
            <a:r>
              <a:rPr lang="en-US" altLang="zh-CN" dirty="0"/>
              <a:t>，</a:t>
            </a:r>
            <a:r>
              <a:rPr lang="en-US" altLang="zh-CN" dirty="0" err="1"/>
              <a:t>存在一个可达状态不满足这条公式，那么称这个状态是一个坏状态（bad</a:t>
            </a:r>
            <a:r>
              <a:rPr lang="en-US" altLang="zh-CN" dirty="0"/>
              <a:t> state）。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幻灯片图像占位符 1"/>
          <p:cNvSpPr>
            <a:spLocks noGrp="1" noRot="1" noChangeAspect="1"/>
          </p:cNvSpPr>
          <p:nvPr>
            <p:ph type="sldImg" idx="2"/>
          </p:nvPr>
        </p:nvSpPr>
        <p:spPr/>
      </p:sp>
      <p:sp>
        <p:nvSpPr>
          <p:cNvPr id="1048617" name="文本占位符 2"/>
          <p:cNvSpPr>
            <a:spLocks noGrp="1"/>
          </p:cNvSpPr>
          <p:nvPr>
            <p:ph type="body" idx="3"/>
          </p:nvPr>
        </p:nvSpPr>
        <p:spPr/>
        <p:txBody>
          <a:bodyPr/>
          <a:lstStyle/>
          <a:p>
            <a:r>
              <a:rPr lang="zh-CN" altLang="en-US" dirty="0"/>
              <a:t>迁移系统上的一个归纳断言是一个逻辑公式F</a:t>
            </a:r>
            <a:r>
              <a:rPr lang="en-US" altLang="zh-CN" dirty="0"/>
              <a:t>,</a:t>
            </a:r>
            <a:r>
              <a:rPr lang="zh-CN" altLang="en-US" dirty="0"/>
              <a:t>满足下面两个公式，前面一条称为初始步，确保所有的初始状态都满足F；后面一条称为归纳步，确保F对于状态迁移是封闭的，当所有可达状态都满足这两个条件，称</a:t>
            </a:r>
            <a:r>
              <a:rPr lang="en-US" altLang="zh-CN" dirty="0"/>
              <a:t>F</a:t>
            </a:r>
            <a:r>
              <a:rPr lang="zh-CN" altLang="en-US" dirty="0"/>
              <a:t>是归纳的，如果在归纳的过程中发现反例，也就是出现了坏状态，则称这个坏状态为归纳的反例。</a:t>
            </a:r>
          </a:p>
          <a:p>
            <a:endParaRPr lang="zh-CN" altLang="en-US" dirty="0"/>
          </a:p>
          <a:p>
            <a:r>
              <a:rPr lang="zh-CN" altLang="en-US" dirty="0"/>
              <a:t>设P是一个安全属性，F是一个逻辑公式，如果F合取P是归纳的（也就是满足上面讲的那两个条件，那么称F是P的一个归纳强化。</a:t>
            </a:r>
          </a:p>
          <a:p>
            <a:endParaRPr lang="zh-CN" altLang="en-US" dirty="0"/>
          </a:p>
          <a:p>
            <a:r>
              <a:rPr lang="zh-CN" altLang="en-US" dirty="0"/>
              <a:t>结合上面提出的概念，简单地说，IC3就是生成一个P的强化归纳公式F，它能够覆盖掉所有的初始状态。只要</a:t>
            </a:r>
            <a:r>
              <a:rPr lang="zh-CN" altLang="en-US" dirty="0">
                <a:sym typeface="+mn-ea"/>
              </a:rPr>
              <a:t>P的强化归纳公式F存在</a:t>
            </a:r>
            <a:r>
              <a:rPr lang="zh-CN" altLang="en-US" dirty="0"/>
              <a:t>，就能够证明</a:t>
            </a:r>
            <a:r>
              <a:rPr lang="en-US" altLang="zh-CN" dirty="0"/>
              <a:t>P</a:t>
            </a:r>
            <a:r>
              <a:rPr lang="zh-CN" altLang="en-US" dirty="0"/>
              <a:t>是一个安全属性。</a:t>
            </a:r>
          </a:p>
          <a:p>
            <a:endParaRPr lang="zh-CN" altLang="en-US" dirty="0"/>
          </a:p>
          <a:p>
            <a:r>
              <a:rPr lang="en-US" altLang="zh-CN" dirty="0"/>
              <a:t>IC3</a:t>
            </a:r>
            <a:r>
              <a:rPr lang="zh-CN" altLang="en-US" dirty="0"/>
              <a:t>是艾伦提出的实现技术，而</a:t>
            </a:r>
            <a:r>
              <a:rPr lang="en-US" altLang="zh-CN" dirty="0"/>
              <a:t>IC3</a:t>
            </a:r>
            <a:r>
              <a:rPr lang="zh-CN" altLang="en-US" dirty="0"/>
              <a:t>中所使用的方法并没有命名，我们在本文中称之为</a:t>
            </a:r>
            <a:r>
              <a:rPr lang="en-US" altLang="zh-CN" dirty="0"/>
              <a:t>PDR</a:t>
            </a:r>
            <a:endParaRPr lang="zh-CN" altLang="en-US" dirty="0"/>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幻灯片图像占位符 1"/>
          <p:cNvSpPr>
            <a:spLocks noGrp="1" noRot="1" noChangeAspect="1"/>
          </p:cNvSpPr>
          <p:nvPr>
            <p:ph type="sldImg" idx="2"/>
          </p:nvPr>
        </p:nvSpPr>
        <p:spPr/>
      </p:sp>
      <p:sp>
        <p:nvSpPr>
          <p:cNvPr id="1048621" name="文本占位符 2"/>
          <p:cNvSpPr>
            <a:spLocks noGrp="1"/>
          </p:cNvSpPr>
          <p:nvPr>
            <p:ph type="body" idx="3"/>
          </p:nvPr>
        </p:nvSpPr>
        <p:spPr/>
        <p:txBody>
          <a:bodyPr/>
          <a:lstStyle/>
          <a:p>
            <a:r>
              <a:rPr lang="zh-CN" altLang="en-US" dirty="0"/>
              <a:t>本文的主要贡献是</a:t>
            </a:r>
          </a:p>
          <a:p>
            <a:endParaRPr lang="zh-CN" altLang="en-US" dirty="0"/>
          </a:p>
          <a:p>
            <a:r>
              <a:rPr lang="zh-CN" altLang="en-US" dirty="0"/>
              <a:t>作者不进对</a:t>
            </a:r>
            <a:r>
              <a:rPr lang="en-US" altLang="zh-CN" dirty="0"/>
              <a:t>PDR</a:t>
            </a:r>
            <a:r>
              <a:rPr lang="zh-CN" altLang="en-US" dirty="0"/>
              <a:t>进行了研究学习，还对该算法提出了一系列的改进去简化它的实现，提升它的性能。</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幻灯片图像占位符 1"/>
          <p:cNvSpPr>
            <a:spLocks noGrp="1" noRot="1" noChangeAspect="1"/>
          </p:cNvSpPr>
          <p:nvPr>
            <p:ph type="sldImg" idx="2"/>
          </p:nvPr>
        </p:nvSpPr>
        <p:spPr/>
      </p:sp>
      <p:sp>
        <p:nvSpPr>
          <p:cNvPr id="1048630" name="文本占位符 2"/>
          <p:cNvSpPr>
            <a:spLocks noGrp="1"/>
          </p:cNvSpPr>
          <p:nvPr>
            <p:ph type="body" idx="3"/>
          </p:nvPr>
        </p:nvSpPr>
        <p:spPr/>
        <p:txBody>
          <a:bodyPr/>
          <a:lstStyle/>
          <a:p>
            <a:r>
              <a:rPr lang="zh-CN" altLang="en-US" dirty="0"/>
              <a:t>本文研究了用有限状态机建模的系统的验证问题。FSM定义了一组初始状态和一组属性状态。所提出的算法验证不存在从初始状态到坏状态的转换序列。</a:t>
            </a:r>
          </a:p>
          <a:p>
            <a:endParaRPr lang="zh-CN" altLang="en-US" dirty="0"/>
          </a:p>
          <a:p>
            <a:r>
              <a:rPr lang="zh-CN" altLang="en-US" dirty="0"/>
              <a:t>在本文中，我们将每一个状态变量和它的否看成一个字，在下面的例子中，</a:t>
            </a:r>
            <a:r>
              <a:rPr lang="en-US" altLang="zh-CN" dirty="0"/>
              <a:t>a</a:t>
            </a:r>
            <a:r>
              <a:rPr lang="zh-CN" altLang="en-US" dirty="0"/>
              <a:t>和</a:t>
            </a:r>
            <a:r>
              <a:rPr lang="en-US" altLang="zh-CN" dirty="0"/>
              <a:t>b</a:t>
            </a:r>
            <a:r>
              <a:rPr lang="zh-CN" altLang="en-US" dirty="0"/>
              <a:t>否都是一个字</a:t>
            </a:r>
          </a:p>
          <a:p>
            <a:endParaRPr lang="zh-CN" altLang="en-US" dirty="0"/>
          </a:p>
          <a:p>
            <a:r>
              <a:rPr lang="zh-CN" altLang="en-US" dirty="0"/>
              <a:t>我们称字的合取为一个立方体</a:t>
            </a:r>
            <a:r>
              <a:rPr lang="en-US" altLang="zh-CN" dirty="0"/>
              <a:t>cube</a:t>
            </a:r>
          </a:p>
          <a:p>
            <a:r>
              <a:rPr lang="zh-CN" altLang="en-US" dirty="0"/>
              <a:t>字的析取为一个子句</a:t>
            </a:r>
            <a:r>
              <a:rPr lang="en-US" altLang="zh-CN" dirty="0"/>
              <a:t>clause</a:t>
            </a:r>
            <a:r>
              <a:rPr lang="zh-CN" altLang="en-US" dirty="0"/>
              <a:t>，一个子句等于相应的立方体取否</a:t>
            </a:r>
          </a:p>
          <a:p>
            <a:endParaRPr lang="zh-CN" altLang="en-US" dirty="0"/>
          </a:p>
          <a:p>
            <a:r>
              <a:rPr lang="zh-CN" altLang="en-US" dirty="0"/>
              <a:t>如果一条</a:t>
            </a:r>
            <a:r>
              <a:rPr lang="en-US" altLang="zh-CN" dirty="0"/>
              <a:t>cube</a:t>
            </a:r>
            <a:r>
              <a:rPr lang="zh-CN" altLang="en-US" dirty="0"/>
              <a:t>里包含有限状态机中定义的所有状态变量，我们称这条</a:t>
            </a:r>
            <a:r>
              <a:rPr lang="en-US" altLang="zh-CN" dirty="0"/>
              <a:t>cube</a:t>
            </a:r>
            <a:r>
              <a:rPr lang="zh-CN" altLang="en-US" dirty="0"/>
              <a:t>为最小项</a:t>
            </a:r>
            <a:r>
              <a:rPr lang="en-US" altLang="zh-CN" dirty="0" err="1"/>
              <a:t>minterm</a:t>
            </a:r>
            <a:endParaRPr lang="zh-CN" altLang="en-US" dirty="0"/>
          </a:p>
          <a:p>
            <a:endParaRPr lang="zh-CN" altLang="en-US" dirty="0"/>
          </a:p>
          <a:p>
            <a:r>
              <a:rPr lang="zh-CN" altLang="en-US" dirty="0"/>
              <a:t>本文假设系统状态模型以符号化的方式表示，并可以将其转换为命题逻辑进行求解。</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幻灯片图像占位符 1"/>
          <p:cNvSpPr>
            <a:spLocks noGrp="1" noRot="1" noChangeAspect="1"/>
          </p:cNvSpPr>
          <p:nvPr>
            <p:ph type="sldImg"/>
          </p:nvPr>
        </p:nvSpPr>
        <p:spPr/>
      </p:sp>
      <p:sp>
        <p:nvSpPr>
          <p:cNvPr id="1048634" name="备注占位符 2"/>
          <p:cNvSpPr>
            <a:spLocks noGrp="1"/>
          </p:cNvSpPr>
          <p:nvPr>
            <p:ph type="body" idx="1"/>
          </p:nvPr>
        </p:nvSpPr>
        <p:spPr/>
        <p:txBody>
          <a:bodyPr/>
          <a:lstStyle/>
          <a:p>
            <a:r>
              <a:rPr lang="zh-CN" altLang="en-US" dirty="0"/>
              <a:t>接下来介绍</a:t>
            </a:r>
            <a:r>
              <a:rPr lang="en-US" altLang="zh-CN" dirty="0"/>
              <a:t>PDR</a:t>
            </a:r>
            <a:r>
              <a:rPr lang="zh-CN" altLang="en-US" dirty="0"/>
              <a:t>（属性定向可达性</a:t>
            </a:r>
            <a:r>
              <a:rPr lang="en-US" altLang="zh-CN" dirty="0"/>
              <a:t>)</a:t>
            </a:r>
            <a:r>
              <a:rPr lang="zh-CN" altLang="en-US" dirty="0"/>
              <a:t>的具体内容。</a:t>
            </a:r>
            <a:r>
              <a:rPr lang="zh-CN" altLang="en-US"/>
              <a:t>主要从四个</a:t>
            </a:r>
            <a:r>
              <a:rPr lang="zh-CN" altLang="en-US" dirty="0"/>
              <a:t>方面去介绍。</a:t>
            </a:r>
          </a:p>
        </p:txBody>
      </p:sp>
      <p:sp>
        <p:nvSpPr>
          <p:cNvPr id="1048635"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幻灯片图像占位符 1"/>
          <p:cNvSpPr>
            <a:spLocks noGrp="1" noRot="1" noChangeAspect="1"/>
          </p:cNvSpPr>
          <p:nvPr>
            <p:ph type="sldImg" idx="2"/>
          </p:nvPr>
        </p:nvSpPr>
        <p:spPr/>
      </p:sp>
      <p:sp>
        <p:nvSpPr>
          <p:cNvPr id="1048639" name="文本占位符 2"/>
          <p:cNvSpPr>
            <a:spLocks noGrp="1"/>
          </p:cNvSpPr>
          <p:nvPr>
            <p:ph type="body" idx="3"/>
          </p:nvPr>
        </p:nvSpPr>
        <p:spPr/>
        <p:txBody>
          <a:bodyPr/>
          <a:lstStyle/>
          <a:p>
            <a:r>
              <a:rPr lang="en-US" altLang="zh-CN" dirty="0"/>
              <a:t>I</a:t>
            </a:r>
            <a:r>
              <a:rPr lang="zh-CN" altLang="en-US" dirty="0"/>
              <a:t>表示初始的状态，</a:t>
            </a:r>
            <a:r>
              <a:rPr lang="en-US" altLang="zh-CN" dirty="0"/>
              <a:t>P</a:t>
            </a:r>
            <a:r>
              <a:rPr lang="zh-CN" altLang="en-US" dirty="0"/>
              <a:t>表示为性质，</a:t>
            </a:r>
            <a:r>
              <a:rPr lang="en-US" altLang="zh-CN" dirty="0"/>
              <a:t>T</a:t>
            </a:r>
            <a:r>
              <a:rPr lang="zh-CN" altLang="en-US" dirty="0"/>
              <a:t>表示现有状态到下一状态的迁移。最后是</a:t>
            </a:r>
            <a:r>
              <a:rPr lang="en-US" altLang="zh-CN" dirty="0"/>
              <a:t>k</a:t>
            </a:r>
            <a:r>
              <a:rPr lang="zh-CN" altLang="en-US" dirty="0"/>
              <a:t>帧</a:t>
            </a:r>
            <a:r>
              <a:rPr lang="en-US" altLang="zh-CN" dirty="0"/>
              <a:t>blocked cubes</a:t>
            </a:r>
            <a:r>
              <a:rPr lang="zh-CN" altLang="en-US" dirty="0"/>
              <a:t>（阻塞块），表示从最初状态经过</a:t>
            </a:r>
            <a:r>
              <a:rPr lang="en-US" altLang="zh-CN" dirty="0"/>
              <a:t>k</a:t>
            </a:r>
            <a:r>
              <a:rPr lang="zh-CN" altLang="en-US" dirty="0"/>
              <a:t>步不可达的立方体。</a:t>
            </a:r>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幻灯片图像占位符 1"/>
          <p:cNvSpPr>
            <a:spLocks noGrp="1" noRot="1" noChangeAspect="1"/>
          </p:cNvSpPr>
          <p:nvPr>
            <p:ph type="sldImg" idx="2"/>
          </p:nvPr>
        </p:nvSpPr>
        <p:spPr/>
      </p:sp>
      <p:sp>
        <p:nvSpPr>
          <p:cNvPr id="1048643" name="文本占位符 2"/>
          <p:cNvSpPr>
            <a:spLocks noGrp="1"/>
          </p:cNvSpPr>
          <p:nvPr>
            <p:ph type="body" idx="3"/>
          </p:nvPr>
        </p:nvSpPr>
        <p:spPr/>
        <p:txBody>
          <a:bodyPr/>
          <a:lstStyle/>
          <a:p>
            <a:r>
              <a:rPr lang="zh-CN" altLang="en-US" dirty="0"/>
              <a:t>这个</a:t>
            </a:r>
            <a:r>
              <a:rPr lang="en-US" altLang="zh-CN" dirty="0"/>
              <a:t>sat</a:t>
            </a:r>
            <a:r>
              <a:rPr lang="zh-CN" altLang="en-US" dirty="0"/>
              <a:t>公式表示的是在给定一个</a:t>
            </a:r>
            <a:r>
              <a:rPr lang="en-US" altLang="zh-CN" dirty="0"/>
              <a:t>cube s</a:t>
            </a:r>
            <a:r>
              <a:rPr lang="zh-CN" altLang="en-US" dirty="0"/>
              <a:t>（字的合取）之后，底层的</a:t>
            </a:r>
            <a:r>
              <a:rPr lang="en-US" altLang="zh-CN" dirty="0"/>
              <a:t>sat</a:t>
            </a:r>
            <a:r>
              <a:rPr lang="zh-CN" altLang="en-US" dirty="0"/>
              <a:t>求解器的调用。它表示的是：最开始的状态能维持性质</a:t>
            </a:r>
            <a:r>
              <a:rPr lang="en-US" altLang="zh-CN" dirty="0"/>
              <a:t>P</a:t>
            </a:r>
            <a:r>
              <a:rPr lang="zh-CN" altLang="en-US" dirty="0"/>
              <a:t>，但是它在</a:t>
            </a:r>
            <a:r>
              <a:rPr lang="en-US" altLang="zh-CN" dirty="0"/>
              <a:t>cube s </a:t>
            </a:r>
            <a:r>
              <a:rPr lang="zh-CN" altLang="en-US" dirty="0"/>
              <a:t>之外，是否能够通过一次迁移到</a:t>
            </a:r>
            <a:r>
              <a:rPr lang="en-US" altLang="zh-CN" dirty="0"/>
              <a:t>cube s </a:t>
            </a:r>
            <a:r>
              <a:rPr lang="zh-CN" altLang="en-US" dirty="0"/>
              <a:t>之中。如果结果是</a:t>
            </a:r>
            <a:r>
              <a:rPr lang="en-US" altLang="zh-CN" dirty="0" err="1"/>
              <a:t>unsat</a:t>
            </a:r>
            <a:r>
              <a:rPr lang="zh-CN" altLang="en-US" dirty="0"/>
              <a:t>，则证明</a:t>
            </a:r>
            <a:r>
              <a:rPr lang="en-US" altLang="zh-CN" sz="1200" dirty="0"/>
              <a:t>¬s </a:t>
            </a:r>
            <a:r>
              <a:rPr lang="zh-CN" altLang="en-US" sz="1200" dirty="0"/>
              <a:t>（非</a:t>
            </a:r>
            <a:r>
              <a:rPr lang="en-US" altLang="zh-CN" sz="1200" dirty="0"/>
              <a:t>s</a:t>
            </a:r>
            <a:r>
              <a:rPr lang="zh-CN" altLang="en-US" sz="1200" dirty="0"/>
              <a:t>）归纳相对于</a:t>
            </a:r>
            <a:r>
              <a:rPr lang="en-US" altLang="zh-CN" sz="1200" dirty="0"/>
              <a:t>P</a:t>
            </a:r>
            <a:r>
              <a:rPr lang="zh-CN" altLang="en-US" sz="1200" dirty="0"/>
              <a:t>。</a:t>
            </a:r>
            <a:r>
              <a:rPr lang="en-US" altLang="zh-CN" sz="1200" dirty="0"/>
              <a:t>¬s </a:t>
            </a:r>
            <a:r>
              <a:rPr lang="zh-CN" altLang="en-US" sz="1200" dirty="0"/>
              <a:t>不能通过一次迁移到</a:t>
            </a:r>
            <a:r>
              <a:rPr lang="en-US" altLang="zh-CN" sz="1200" dirty="0"/>
              <a:t>s</a:t>
            </a:r>
            <a:r>
              <a:rPr lang="zh-CN" altLang="en-US" sz="1200" dirty="0"/>
              <a:t>。</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幻灯片图像占位符 1"/>
          <p:cNvSpPr>
            <a:spLocks noGrp="1" noRot="1" noChangeAspect="1"/>
          </p:cNvSpPr>
          <p:nvPr>
            <p:ph type="sldImg" idx="2"/>
          </p:nvPr>
        </p:nvSpPr>
        <p:spPr/>
      </p:sp>
      <p:sp>
        <p:nvSpPr>
          <p:cNvPr id="1048647" name="文本占位符 2"/>
          <p:cNvSpPr>
            <a:spLocks noGrp="1"/>
          </p:cNvSpPr>
          <p:nvPr>
            <p:ph type="body" idx="3"/>
          </p:nvPr>
        </p:nvSpPr>
        <p:spPr/>
        <p:txBody>
          <a:bodyPr/>
          <a:lstStyle/>
          <a:p>
            <a:r>
              <a:rPr lang="en-US" altLang="zh-CN" dirty="0"/>
              <a:t>PDR</a:t>
            </a:r>
            <a:r>
              <a:rPr lang="zh-CN" altLang="en-US" dirty="0"/>
              <a:t>维护了一个事实序列，从</a:t>
            </a:r>
            <a:r>
              <a:rPr lang="en-US" altLang="zh-CN" dirty="0"/>
              <a:t>R0</a:t>
            </a:r>
            <a:r>
              <a:rPr lang="zh-CN" altLang="en-US" dirty="0"/>
              <a:t>到</a:t>
            </a:r>
            <a:r>
              <a:rPr lang="en-US" altLang="zh-CN" dirty="0"/>
              <a:t>RN</a:t>
            </a:r>
            <a:r>
              <a:rPr lang="zh-CN" altLang="en-US" dirty="0"/>
              <a:t>，</a:t>
            </a:r>
            <a:r>
              <a:rPr lang="en-US" altLang="zh-CN" dirty="0"/>
              <a:t>R0</a:t>
            </a:r>
            <a:r>
              <a:rPr lang="zh-CN" altLang="en-US" dirty="0"/>
              <a:t>简单定义为最初的状态，对于</a:t>
            </a:r>
            <a:r>
              <a:rPr lang="en-US" altLang="zh-CN" dirty="0"/>
              <a:t>k&gt;0,RK</a:t>
            </a:r>
            <a:r>
              <a:rPr lang="zh-CN" altLang="en-US" dirty="0"/>
              <a:t>是一系列子句的集合，表示从</a:t>
            </a:r>
            <a:r>
              <a:rPr lang="en-US" altLang="zh-CN" dirty="0"/>
              <a:t>I</a:t>
            </a:r>
            <a:r>
              <a:rPr lang="zh-CN" altLang="en-US" dirty="0"/>
              <a:t>开始</a:t>
            </a:r>
            <a:r>
              <a:rPr lang="en-US" altLang="zh-CN" dirty="0"/>
              <a:t>k</a:t>
            </a:r>
            <a:r>
              <a:rPr lang="zh-CN" altLang="en-US" dirty="0"/>
              <a:t>步可达空间的一个上逼近。第三点是说</a:t>
            </a:r>
            <a:r>
              <a:rPr lang="en-US" altLang="zh-CN" dirty="0"/>
              <a:t>Ri</a:t>
            </a:r>
            <a:r>
              <a:rPr lang="zh-CN" altLang="en-US" dirty="0"/>
              <a:t>包含在</a:t>
            </a:r>
            <a:r>
              <a:rPr lang="en-US" altLang="zh-CN" dirty="0"/>
              <a:t>Ri+1</a:t>
            </a:r>
            <a:r>
              <a:rPr lang="zh-CN" altLang="en-US" dirty="0"/>
              <a:t>中，且</a:t>
            </a:r>
            <a:r>
              <a:rPr lang="en-US" altLang="zh-CN" dirty="0"/>
              <a:t>Ri+1</a:t>
            </a:r>
            <a:r>
              <a:rPr lang="zh-CN" altLang="en-US" dirty="0"/>
              <a:t>的每个子句又存在于</a:t>
            </a:r>
            <a:r>
              <a:rPr lang="en-US" altLang="zh-CN" dirty="0"/>
              <a:t>Ri</a:t>
            </a:r>
            <a:r>
              <a:rPr lang="zh-CN" altLang="en-US" dirty="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幻灯片图像占位符 1"/>
          <p:cNvSpPr>
            <a:spLocks noGrp="1" noRot="1" noChangeAspect="1"/>
          </p:cNvSpPr>
          <p:nvPr>
            <p:ph type="sldImg" idx="2"/>
          </p:nvPr>
        </p:nvSpPr>
        <p:spPr/>
      </p:sp>
      <p:sp>
        <p:nvSpPr>
          <p:cNvPr id="1048651" name="文本占位符 2"/>
          <p:cNvSpPr>
            <a:spLocks noGrp="1"/>
          </p:cNvSpPr>
          <p:nvPr>
            <p:ph type="body" idx="3"/>
          </p:nvPr>
        </p:nvSpPr>
        <p:spPr/>
        <p:txBody>
          <a:bodyPr/>
          <a:lstStyle/>
          <a:p>
            <a:r>
              <a:rPr lang="en-US" altLang="zh-CN" dirty="0"/>
              <a:t>PDR</a:t>
            </a:r>
            <a:r>
              <a:rPr lang="zh-CN" altLang="en-US" dirty="0"/>
              <a:t>同时维护了一个证明义务的集合。每个证明义务包含一个立方体</a:t>
            </a:r>
            <a:r>
              <a:rPr lang="en-US" altLang="zh-CN" dirty="0"/>
              <a:t>s</a:t>
            </a:r>
            <a:r>
              <a:rPr lang="zh-CN" altLang="en-US" dirty="0"/>
              <a:t>和帧数</a:t>
            </a:r>
            <a:r>
              <a:rPr lang="en-US" altLang="zh-CN" dirty="0"/>
              <a:t>k</a:t>
            </a:r>
            <a:r>
              <a:rPr lang="zh-CN" altLang="en-US" dirty="0"/>
              <a:t>。</a:t>
            </a:r>
            <a:r>
              <a:rPr lang="en-US" altLang="zh-CN" dirty="0"/>
              <a:t>S</a:t>
            </a:r>
            <a:r>
              <a:rPr lang="zh-CN" altLang="en-US" dirty="0"/>
              <a:t>表示坏状态的集合或者是一次或多次迁移能到达坏状态的状态集合。</a:t>
            </a:r>
            <a:r>
              <a:rPr lang="en-US" altLang="zh-CN" dirty="0"/>
              <a:t>K</a:t>
            </a:r>
            <a:r>
              <a:rPr lang="zh-CN" altLang="en-US" dirty="0"/>
              <a:t>表示的是在</a:t>
            </a:r>
            <a:r>
              <a:rPr lang="en-US" altLang="zh-CN" dirty="0"/>
              <a:t>trace</a:t>
            </a:r>
            <a:r>
              <a:rPr lang="zh-CN" altLang="en-US" dirty="0"/>
              <a:t>序列中</a:t>
            </a:r>
            <a:r>
              <a:rPr lang="en-US" altLang="zh-CN" dirty="0"/>
              <a:t>s</a:t>
            </a:r>
            <a:r>
              <a:rPr lang="zh-CN" altLang="en-US" dirty="0"/>
              <a:t>一定被证明不可达或者性质失效的一个位置。</a:t>
            </a:r>
            <a:r>
              <a:rPr lang="en-US" altLang="zh-CN" dirty="0"/>
              <a:t>PDR</a:t>
            </a:r>
            <a:r>
              <a:rPr lang="zh-CN" altLang="en-US" dirty="0"/>
              <a:t>的核心在于处理证明义务并从中获取新的事实。</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pPr>
            <a:r>
              <a:rPr lang="zh-CN" altLang="en-US" dirty="0"/>
              <a:t>看第二个式子，如果答案是</a:t>
            </a:r>
            <a:r>
              <a:rPr lang="en-US" altLang="zh-CN" dirty="0" err="1"/>
              <a:t>unsat</a:t>
            </a:r>
            <a:r>
              <a:rPr lang="zh-CN" altLang="en-US" dirty="0"/>
              <a:t>，说明</a:t>
            </a:r>
            <a:r>
              <a:rPr lang="en-US" altLang="zh-CN" dirty="0"/>
              <a:t>Rk-1</a:t>
            </a:r>
            <a:r>
              <a:rPr lang="zh-CN" altLang="en-US" dirty="0"/>
              <a:t>的事实能在</a:t>
            </a:r>
            <a:r>
              <a:rPr lang="en-US" altLang="zh-CN" dirty="0"/>
              <a:t>k</a:t>
            </a:r>
            <a:r>
              <a:rPr lang="zh-CN" altLang="en-US" dirty="0"/>
              <a:t>位置阻止</a:t>
            </a:r>
            <a:r>
              <a:rPr lang="en-US" altLang="zh-CN" dirty="0"/>
              <a:t>s</a:t>
            </a:r>
            <a:r>
              <a:rPr lang="zh-CN" altLang="en-US" dirty="0"/>
              <a:t>，所以此时可以把子句</a:t>
            </a:r>
            <a:r>
              <a:rPr lang="en-US" altLang="zh-CN" sz="1200" dirty="0"/>
              <a:t>¬s </a:t>
            </a:r>
            <a:r>
              <a:rPr lang="zh-CN" altLang="en-US" sz="1200" dirty="0"/>
              <a:t>添加到</a:t>
            </a:r>
            <a:r>
              <a:rPr lang="en-US" altLang="zh-CN" sz="1200" dirty="0"/>
              <a:t>RK</a:t>
            </a:r>
            <a:r>
              <a:rPr lang="zh-CN" altLang="en-US" sz="1200" dirty="0"/>
              <a:t>。然而，由于前面所提到的</a:t>
            </a:r>
            <a:r>
              <a:rPr lang="en-US" altLang="zh-CN" sz="1200" dirty="0"/>
              <a:t>trace</a:t>
            </a:r>
            <a:r>
              <a:rPr lang="zh-CN" altLang="en-US" sz="1200" dirty="0"/>
              <a:t>的包含关系，对于</a:t>
            </a:r>
            <a:r>
              <a:rPr lang="en-US" altLang="zh-CN" sz="1200" dirty="0" err="1"/>
              <a:t>i</a:t>
            </a:r>
            <a:r>
              <a:rPr lang="en-US" altLang="zh-CN" sz="1200" dirty="0"/>
              <a:t>&lt;k,</a:t>
            </a:r>
            <a:r>
              <a:rPr lang="zh-CN" altLang="en-US" sz="1200" dirty="0"/>
              <a:t>要把相同的子句添加到前面的事实</a:t>
            </a:r>
            <a:r>
              <a:rPr lang="en-US" altLang="zh-CN" sz="1200" dirty="0"/>
              <a:t>Ri</a:t>
            </a:r>
            <a:r>
              <a:rPr lang="zh-CN" altLang="en-US" sz="1200" dirty="0"/>
              <a:t>中去。但这样是否合理呢？将</a:t>
            </a:r>
            <a:r>
              <a:rPr lang="en-US" altLang="zh-CN" sz="1200" dirty="0"/>
              <a:t>Rk-2</a:t>
            </a:r>
            <a:r>
              <a:rPr lang="zh-CN" altLang="en-US" sz="1200" dirty="0"/>
              <a:t>去替换</a:t>
            </a:r>
            <a:r>
              <a:rPr lang="en-US" altLang="zh-CN" sz="1200" dirty="0"/>
              <a:t>Rk-1,</a:t>
            </a:r>
            <a:r>
              <a:rPr lang="zh-CN" altLang="en-US" sz="1200" dirty="0"/>
              <a:t>答案依然</a:t>
            </a:r>
            <a:r>
              <a:rPr lang="en-US" altLang="zh-CN" sz="1200" dirty="0" err="1"/>
              <a:t>unsat</a:t>
            </a:r>
            <a:r>
              <a:rPr lang="zh-CN" altLang="en-US" sz="1200" dirty="0"/>
              <a:t>，同理最终返回到初始状态，最后</a:t>
            </a:r>
            <a:r>
              <a:rPr lang="zh-CN" altLang="en-US" dirty="0">
                <a:effectLst/>
                <a:latin typeface="Arial" panose="020B0604020202020204" pitchFamily="34" charset="0"/>
              </a:rPr>
              <a:t>唯一要检查的是</a:t>
            </a:r>
            <a:r>
              <a:rPr lang="en-US" altLang="zh-CN" dirty="0">
                <a:effectLst/>
                <a:latin typeface="Arial" panose="020B0604020202020204" pitchFamily="34" charset="0"/>
              </a:rPr>
              <a:t>s</a:t>
            </a:r>
            <a:r>
              <a:rPr lang="zh-CN" altLang="en-US" dirty="0">
                <a:effectLst/>
                <a:latin typeface="Arial" panose="020B0604020202020204" pitchFamily="34" charset="0"/>
              </a:rPr>
              <a:t>是否与初始状态相交。如果</a:t>
            </a:r>
            <a:r>
              <a:rPr lang="en-US" altLang="zh-CN" dirty="0">
                <a:effectLst/>
                <a:latin typeface="Arial" panose="020B0604020202020204" pitchFamily="34" charset="0"/>
              </a:rPr>
              <a:t>s</a:t>
            </a:r>
            <a:r>
              <a:rPr lang="zh-CN" altLang="en-US" dirty="0">
                <a:effectLst/>
                <a:latin typeface="Arial" panose="020B0604020202020204" pitchFamily="34" charset="0"/>
              </a:rPr>
              <a:t>不被</a:t>
            </a:r>
            <a:r>
              <a:rPr lang="en-US" altLang="zh-CN" dirty="0">
                <a:effectLst/>
                <a:latin typeface="Arial" panose="020B0604020202020204" pitchFamily="34" charset="0"/>
              </a:rPr>
              <a:t>R0</a:t>
            </a:r>
            <a:r>
              <a:rPr lang="zh-CN" altLang="en-US" dirty="0">
                <a:effectLst/>
                <a:latin typeface="Arial" panose="020B0604020202020204" pitchFamily="34" charset="0"/>
              </a:rPr>
              <a:t>阻断，则无法通过</a:t>
            </a:r>
            <a:r>
              <a:rPr lang="en-US" altLang="zh-CN" dirty="0">
                <a:effectLst/>
                <a:latin typeface="Arial" panose="020B0604020202020204" pitchFamily="34" charset="0"/>
              </a:rPr>
              <a:t>¬s</a:t>
            </a:r>
            <a:r>
              <a:rPr lang="zh-CN" altLang="en-US" dirty="0">
                <a:effectLst/>
                <a:latin typeface="Arial" panose="020B0604020202020204" pitchFamily="34" charset="0"/>
              </a:rPr>
              <a:t>强化</a:t>
            </a:r>
            <a:r>
              <a:rPr lang="en-US" altLang="zh-CN" dirty="0">
                <a:effectLst/>
                <a:latin typeface="Arial" panose="020B0604020202020204" pitchFamily="34" charset="0"/>
              </a:rPr>
              <a:t>TRACE</a:t>
            </a:r>
            <a:r>
              <a:rPr lang="zh-CN" altLang="en-US" dirty="0">
                <a:effectLst/>
                <a:latin typeface="Arial" panose="020B0604020202020204" pitchFamily="34" charset="0"/>
              </a:rPr>
              <a:t>。使用这种方法，学习子句的质量取决于义务证明中的立方体的大小。实际上，这些立方体往往有许多文字，而</a:t>
            </a:r>
            <a:r>
              <a:rPr lang="en-US" altLang="zh-CN" dirty="0">
                <a:effectLst/>
                <a:latin typeface="Arial" panose="020B0604020202020204" pitchFamily="34" charset="0"/>
              </a:rPr>
              <a:t>¬s</a:t>
            </a:r>
            <a:r>
              <a:rPr lang="zh-CN" altLang="en-US" dirty="0">
                <a:effectLst/>
                <a:latin typeface="Arial" panose="020B0604020202020204" pitchFamily="34" charset="0"/>
              </a:rPr>
              <a:t>是一个弱事实。对于</a:t>
            </a:r>
            <a:r>
              <a:rPr lang="en-US" altLang="zh-CN" dirty="0">
                <a:effectLst/>
                <a:latin typeface="Arial" panose="020B0604020202020204" pitchFamily="34" charset="0"/>
              </a:rPr>
              <a:t>PDR</a:t>
            </a:r>
            <a:r>
              <a:rPr lang="zh-CN" altLang="en-US" dirty="0">
                <a:effectLst/>
                <a:latin typeface="Arial" panose="020B0604020202020204" pitchFamily="34" charset="0"/>
              </a:rPr>
              <a:t>的性能来说，尝试学习更强的事实</a:t>
            </a:r>
            <a:r>
              <a:rPr lang="en-US" altLang="zh-CN" dirty="0">
                <a:effectLst/>
                <a:latin typeface="Arial" panose="020B0604020202020204" pitchFamily="34" charset="0"/>
              </a:rPr>
              <a:t>(</a:t>
            </a:r>
            <a:r>
              <a:rPr lang="zh-CN" altLang="en-US" dirty="0">
                <a:effectLst/>
                <a:latin typeface="Arial" panose="020B0604020202020204" pitchFamily="34" charset="0"/>
              </a:rPr>
              <a:t>即具有更少文字的立方体</a:t>
            </a:r>
            <a:r>
              <a:rPr lang="en-US" altLang="zh-CN" dirty="0">
                <a:effectLst/>
                <a:latin typeface="Arial" panose="020B0604020202020204" pitchFamily="34" charset="0"/>
              </a:rPr>
              <a:t>)</a:t>
            </a:r>
            <a:r>
              <a:rPr lang="zh-CN" altLang="en-US" dirty="0">
                <a:effectLst/>
                <a:latin typeface="Arial" panose="020B0604020202020204" pitchFamily="34" charset="0"/>
              </a:rPr>
              <a:t>是至关重要的。</a:t>
            </a:r>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幻灯片图像占位符 1"/>
          <p:cNvSpPr>
            <a:spLocks noGrp="1" noRot="1" noChangeAspect="1"/>
          </p:cNvSpPr>
          <p:nvPr>
            <p:ph type="sldImg" idx="2"/>
          </p:nvPr>
        </p:nvSpPr>
        <p:spPr/>
      </p:sp>
      <p:sp>
        <p:nvSpPr>
          <p:cNvPr id="1048655" name="文本占位符 2"/>
          <p:cNvSpPr>
            <a:spLocks noGrp="1"/>
          </p:cNvSpPr>
          <p:nvPr>
            <p:ph type="body" idx="3"/>
          </p:nvPr>
        </p:nvSpPr>
        <p:spPr/>
        <p:txBody>
          <a:bodyPr/>
          <a:lstStyle/>
          <a:p>
            <a:r>
              <a:rPr lang="en-US" altLang="zh-CN" dirty="0">
                <a:effectLst/>
                <a:latin typeface="Arial" panose="020B0604020202020204" pitchFamily="34" charset="0"/>
              </a:rPr>
              <a:t>PDR</a:t>
            </a:r>
            <a:r>
              <a:rPr lang="zh-CN" altLang="en-US" dirty="0">
                <a:effectLst/>
                <a:latin typeface="Arial" panose="020B0604020202020204" pitchFamily="34" charset="0"/>
              </a:rPr>
              <a:t>就是通过操纵</a:t>
            </a:r>
            <a:r>
              <a:rPr lang="en-US" altLang="zh-CN" dirty="0">
                <a:effectLst/>
                <a:latin typeface="Arial" panose="020B0604020202020204" pitchFamily="34" charset="0"/>
              </a:rPr>
              <a:t>trace</a:t>
            </a:r>
            <a:r>
              <a:rPr lang="zh-CN" altLang="en-US" dirty="0">
                <a:effectLst/>
                <a:latin typeface="Arial" panose="020B0604020202020204" pitchFamily="34" charset="0"/>
              </a:rPr>
              <a:t>和证明义务的集合，</a:t>
            </a:r>
            <a:r>
              <a:rPr lang="en-US" altLang="zh-CN" dirty="0">
                <a:effectLst/>
                <a:latin typeface="Arial" panose="020B0604020202020204" pitchFamily="34" charset="0"/>
              </a:rPr>
              <a:t>PDR</a:t>
            </a:r>
            <a:r>
              <a:rPr lang="zh-CN" altLang="en-US" dirty="0">
                <a:effectLst/>
                <a:latin typeface="Arial" panose="020B0604020202020204" pitchFamily="34" charset="0"/>
              </a:rPr>
              <a:t>派生新的事实并将它们添加到</a:t>
            </a:r>
            <a:r>
              <a:rPr lang="en-US" altLang="zh-CN" dirty="0">
                <a:effectLst/>
                <a:latin typeface="Arial" panose="020B0604020202020204" pitchFamily="34" charset="0"/>
              </a:rPr>
              <a:t>trace</a:t>
            </a:r>
            <a:r>
              <a:rPr lang="zh-CN" altLang="en-US" dirty="0">
                <a:effectLst/>
                <a:latin typeface="Arial" panose="020B0604020202020204" pitchFamily="34" charset="0"/>
              </a:rPr>
              <a:t>，一直到达到以下条件之一就结束：要么产生一个证明性质</a:t>
            </a:r>
            <a:r>
              <a:rPr lang="en-US" altLang="zh-CN" dirty="0">
                <a:effectLst/>
                <a:latin typeface="Arial" panose="020B0604020202020204" pitchFamily="34" charset="0"/>
              </a:rPr>
              <a:t>P</a:t>
            </a:r>
            <a:r>
              <a:rPr lang="zh-CN" altLang="en-US" dirty="0">
                <a:effectLst/>
                <a:latin typeface="Arial" panose="020B0604020202020204" pitchFamily="34" charset="0"/>
              </a:rPr>
              <a:t>的归纳不变式</a:t>
            </a:r>
            <a:r>
              <a:rPr lang="en-US" altLang="zh-CN" dirty="0">
                <a:effectLst/>
                <a:latin typeface="Arial" panose="020B0604020202020204" pitchFamily="34" charset="0"/>
              </a:rPr>
              <a:t>,</a:t>
            </a:r>
            <a:r>
              <a:rPr lang="zh-CN" altLang="en-US" dirty="0">
                <a:effectLst/>
                <a:latin typeface="Arial" panose="020B0604020202020204" pitchFamily="34" charset="0"/>
              </a:rPr>
              <a:t>要么在步数为</a:t>
            </a:r>
            <a:r>
              <a:rPr lang="en-US" altLang="zh-CN" dirty="0">
                <a:effectLst/>
                <a:latin typeface="Arial" panose="020B0604020202020204" pitchFamily="34" charset="0"/>
              </a:rPr>
              <a:t>0</a:t>
            </a:r>
            <a:r>
              <a:rPr lang="zh-CN" altLang="en-US" dirty="0">
                <a:effectLst/>
                <a:latin typeface="Arial" panose="020B0604020202020204" pitchFamily="34" charset="0"/>
              </a:rPr>
              <a:t>时添加了一个证明义务，其立方体与初始状态相交，可以理解为出现反例。</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幻灯片图像占位符 1"/>
          <p:cNvSpPr>
            <a:spLocks noGrp="1" noRot="1" noChangeAspect="1"/>
          </p:cNvSpPr>
          <p:nvPr>
            <p:ph type="sldImg" idx="2"/>
          </p:nvPr>
        </p:nvSpPr>
        <p:spPr/>
      </p:sp>
      <p:sp>
        <p:nvSpPr>
          <p:cNvPr id="2" name="备注占位符 1">
            <a:extLst>
              <a:ext uri="{FF2B5EF4-FFF2-40B4-BE49-F238E27FC236}">
                <a16:creationId xmlns:a16="http://schemas.microsoft.com/office/drawing/2014/main" id="{EC378465-59F2-4A39-A727-4CC65661DF59}"/>
              </a:ext>
            </a:extLst>
          </p:cNvPr>
          <p:cNvSpPr>
            <a:spLocks noGrp="1"/>
          </p:cNvSpPr>
          <p:nvPr>
            <p:ph type="body" idx="1"/>
          </p:nvPr>
        </p:nvSpPr>
        <p:spPr/>
        <p:txBody>
          <a:bodyPr/>
          <a:lstStyle/>
          <a:p>
            <a:r>
              <a:rPr lang="zh-CN" altLang="en-US" dirty="0"/>
              <a:t>为了</a:t>
            </a:r>
            <a:r>
              <a:rPr lang="en-US" altLang="zh-CN" dirty="0"/>
              <a:t>PDR</a:t>
            </a:r>
            <a:r>
              <a:rPr lang="zh-CN" altLang="en-US" dirty="0"/>
              <a:t>学习更强的事实（即具有更少文字的立方体），本文提出了两种提高的方式。</a:t>
            </a:r>
          </a:p>
          <a:p>
            <a:r>
              <a:rPr lang="zh-CN" altLang="en-US" dirty="0"/>
              <a:t>第一种是概括推广</a:t>
            </a:r>
            <a:r>
              <a:rPr lang="en-US" altLang="zh-CN" dirty="0"/>
              <a:t>s</a:t>
            </a:r>
            <a:r>
              <a:rPr lang="zh-CN" altLang="en-US" dirty="0"/>
              <a:t>。</a:t>
            </a:r>
            <a:r>
              <a:rPr lang="en-US" altLang="zh-CN" dirty="0"/>
              <a:t>S</a:t>
            </a:r>
            <a:r>
              <a:rPr lang="zh-CN" altLang="en-US" dirty="0"/>
              <a:t>是文字的合取，可以转化为单位的子句，实际上在证明</a:t>
            </a:r>
            <a:r>
              <a:rPr lang="en-US" altLang="zh-CN" dirty="0"/>
              <a:t>UNSAT</a:t>
            </a:r>
            <a:r>
              <a:rPr lang="zh-CN" altLang="en-US" dirty="0"/>
              <a:t>时不是所有的子句都是必要的。任意的与未使用的子句相关的文字都可以删除，并且不会影响</a:t>
            </a:r>
            <a:r>
              <a:rPr lang="en-US" altLang="zh-CN" dirty="0"/>
              <a:t>UNSAT</a:t>
            </a:r>
            <a:r>
              <a:rPr lang="zh-CN" altLang="en-US" dirty="0"/>
              <a:t>的结果。还有一种方法是逐个删除文字。如果查询在删除一个文字的情况下仍然</a:t>
            </a:r>
            <a:r>
              <a:rPr lang="en-US" altLang="zh-CN" dirty="0"/>
              <a:t>UNSAT</a:t>
            </a:r>
            <a:r>
              <a:rPr lang="zh-CN" altLang="en-US" dirty="0"/>
              <a:t>，则很好。如果不是，就把文字放回去。有一点要注意，如果删除一个字后</a:t>
            </a:r>
            <a:r>
              <a:rPr lang="en-US" altLang="zh-CN" dirty="0"/>
              <a:t>s</a:t>
            </a:r>
            <a:r>
              <a:rPr lang="zh-CN" altLang="en-US" dirty="0"/>
              <a:t>与初始状态相交，就我们不能删除它，即便结果是</a:t>
            </a:r>
            <a:r>
              <a:rPr lang="en-US" altLang="zh-CN" dirty="0"/>
              <a:t>UNSAT</a:t>
            </a:r>
            <a:r>
              <a:rPr lang="zh-CN" altLang="en-US" dirty="0"/>
              <a:t>。</a:t>
            </a:r>
          </a:p>
          <a:p>
            <a:r>
              <a:rPr lang="zh-CN" altLang="en-US" dirty="0"/>
              <a:t>第二种是添加</a:t>
            </a:r>
            <a:r>
              <a:rPr lang="en-US" altLang="zh-CN" dirty="0"/>
              <a:t>¬</a:t>
            </a:r>
            <a:r>
              <a:rPr lang="zh-CN" altLang="en-US" dirty="0"/>
              <a:t>𝑠 到</a:t>
            </a:r>
            <a:r>
              <a:rPr lang="en-US" altLang="zh-CN" dirty="0"/>
              <a:t>query</a:t>
            </a:r>
            <a:r>
              <a:rPr lang="zh-CN" altLang="en-US" dirty="0"/>
              <a:t>中。添加一个额外的连接意味着</a:t>
            </a:r>
            <a:r>
              <a:rPr lang="en-US" altLang="zh-CN" dirty="0"/>
              <a:t>query</a:t>
            </a:r>
            <a:r>
              <a:rPr lang="zh-CN" altLang="en-US" dirty="0"/>
              <a:t>更有可能是</a:t>
            </a:r>
            <a:r>
              <a:rPr lang="en-US" altLang="zh-CN" dirty="0"/>
              <a:t>UNSAT</a:t>
            </a:r>
            <a:r>
              <a:rPr lang="zh-CN" altLang="en-US" dirty="0"/>
              <a:t>，这提高了删除文字或是学习子句的机会。这样的扩展如图所示，从图中可以看到，文章尝试找到一个最小项</a:t>
            </a:r>
            <a:r>
              <a:rPr lang="en-US" altLang="zh-CN" dirty="0"/>
              <a:t>m</a:t>
            </a:r>
            <a:r>
              <a:rPr lang="zh-CN" altLang="en-US" dirty="0"/>
              <a:t>经过一次迁移到</a:t>
            </a:r>
            <a:r>
              <a:rPr lang="en-US" altLang="zh-CN" dirty="0"/>
              <a:t>s</a:t>
            </a:r>
            <a:r>
              <a:rPr lang="zh-CN" altLang="en-US" dirty="0"/>
              <a:t>中。如果</a:t>
            </a:r>
            <a:r>
              <a:rPr lang="en-US" altLang="zh-CN" dirty="0"/>
              <a:t>query</a:t>
            </a:r>
            <a:r>
              <a:rPr lang="zh-CN" altLang="en-US" dirty="0"/>
              <a:t>回答是</a:t>
            </a:r>
            <a:r>
              <a:rPr lang="en-US" altLang="zh-CN" dirty="0" err="1"/>
              <a:t>unsat</a:t>
            </a:r>
            <a:r>
              <a:rPr lang="zh-CN" altLang="en-US" dirty="0"/>
              <a:t>，那么一个在</a:t>
            </a:r>
            <a:r>
              <a:rPr lang="en-US" altLang="zh-CN" dirty="0"/>
              <a:t>s</a:t>
            </a:r>
            <a:r>
              <a:rPr lang="zh-CN" altLang="en-US" dirty="0"/>
              <a:t>外的点经过</a:t>
            </a:r>
            <a:r>
              <a:rPr lang="en-US" altLang="zh-CN" dirty="0"/>
              <a:t>k</a:t>
            </a:r>
            <a:r>
              <a:rPr lang="zh-CN" altLang="en-US" dirty="0"/>
              <a:t>次迁移依然在</a:t>
            </a:r>
            <a:r>
              <a:rPr lang="en-US" altLang="zh-CN" dirty="0"/>
              <a:t>s</a:t>
            </a:r>
            <a:r>
              <a:rPr lang="zh-CN" altLang="en-US" dirty="0"/>
              <a:t>外面。而在概括</a:t>
            </a:r>
            <a:r>
              <a:rPr lang="en-US" altLang="zh-CN" dirty="0"/>
              <a:t>s</a:t>
            </a:r>
            <a:r>
              <a:rPr lang="zh-CN" altLang="en-US" dirty="0"/>
              <a:t>时，我们必须确保</a:t>
            </a:r>
            <a:r>
              <a:rPr lang="en-US" altLang="zh-CN" dirty="0"/>
              <a:t>cube</a:t>
            </a:r>
            <a:r>
              <a:rPr lang="zh-CN" altLang="en-US" dirty="0"/>
              <a:t>不与初始状态相交。这两条就共同证明了</a:t>
            </a:r>
            <a:r>
              <a:rPr lang="en-US" altLang="zh-CN" dirty="0"/>
              <a:t>s</a:t>
            </a:r>
            <a:r>
              <a:rPr lang="zh-CN" altLang="en-US" dirty="0"/>
              <a:t>在</a:t>
            </a:r>
            <a:r>
              <a:rPr lang="en-US" altLang="zh-CN" dirty="0"/>
              <a:t>k</a:t>
            </a:r>
            <a:r>
              <a:rPr lang="zh-CN" altLang="en-US" dirty="0"/>
              <a:t>步内不可达。</a:t>
            </a:r>
          </a:p>
          <a:p>
            <a:r>
              <a:rPr lang="zh-CN" altLang="en-US" dirty="0"/>
              <a:t>接下来考虑</a:t>
            </a:r>
            <a:r>
              <a:rPr lang="en-US" altLang="zh-CN" dirty="0"/>
              <a:t>query</a:t>
            </a:r>
            <a:r>
              <a:rPr lang="zh-CN" altLang="en-US" dirty="0"/>
              <a:t>是</a:t>
            </a:r>
            <a:r>
              <a:rPr lang="en-US" altLang="zh-CN" dirty="0"/>
              <a:t>sat</a:t>
            </a:r>
            <a:r>
              <a:rPr lang="zh-CN" altLang="en-US" dirty="0"/>
              <a:t>的情况。如果是</a:t>
            </a:r>
            <a:r>
              <a:rPr lang="en-US" altLang="zh-CN" dirty="0"/>
              <a:t>sat</a:t>
            </a:r>
            <a:r>
              <a:rPr lang="zh-CN" altLang="en-US" dirty="0"/>
              <a:t>，则</a:t>
            </a:r>
            <a:r>
              <a:rPr lang="en-US" altLang="zh-CN" dirty="0"/>
              <a:t>Rk-1</a:t>
            </a:r>
            <a:r>
              <a:rPr lang="zh-CN" altLang="en-US" dirty="0"/>
              <a:t>不能在</a:t>
            </a:r>
            <a:r>
              <a:rPr lang="en-US" altLang="zh-CN" dirty="0"/>
              <a:t>k</a:t>
            </a:r>
            <a:r>
              <a:rPr lang="zh-CN" altLang="en-US" dirty="0"/>
              <a:t>步时阻止</a:t>
            </a:r>
            <a:r>
              <a:rPr lang="en-US" altLang="zh-CN" dirty="0"/>
              <a:t>s</a:t>
            </a:r>
            <a:r>
              <a:rPr lang="zh-CN" altLang="en-US" dirty="0"/>
              <a:t>，在第</a:t>
            </a:r>
            <a:r>
              <a:rPr lang="en-US" altLang="zh-CN" dirty="0"/>
              <a:t>k-1</a:t>
            </a:r>
            <a:r>
              <a:rPr lang="zh-CN" altLang="en-US" dirty="0"/>
              <a:t>步一定学习了新的事物。于是可以在</a:t>
            </a:r>
            <a:r>
              <a:rPr lang="en-US" altLang="zh-CN" dirty="0"/>
              <a:t>s</a:t>
            </a:r>
            <a:r>
              <a:rPr lang="zh-CN" altLang="en-US" dirty="0"/>
              <a:t>的原象中提取最小项</a:t>
            </a:r>
            <a:r>
              <a:rPr lang="en-US" altLang="zh-CN" dirty="0"/>
              <a:t>m</a:t>
            </a:r>
            <a:r>
              <a:rPr lang="zh-CN" altLang="en-US" dirty="0"/>
              <a:t>，于是有新的证明义务（</a:t>
            </a:r>
            <a:r>
              <a:rPr lang="en-US" altLang="zh-CN" dirty="0"/>
              <a:t>m</a:t>
            </a:r>
            <a:r>
              <a:rPr lang="zh-CN" altLang="en-US" dirty="0"/>
              <a:t>，</a:t>
            </a:r>
            <a:r>
              <a:rPr lang="en-US" altLang="zh-CN" dirty="0"/>
              <a:t>k-1</a:t>
            </a:r>
            <a:r>
              <a:rPr lang="zh-CN" altLang="en-US" dirty="0"/>
              <a:t>）。</a:t>
            </a:r>
          </a:p>
          <a:p>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幻灯片图像占位符 1"/>
          <p:cNvSpPr>
            <a:spLocks noGrp="1" noRot="1" noChangeAspect="1"/>
          </p:cNvSpPr>
          <p:nvPr>
            <p:ph type="sldImg" idx="2"/>
          </p:nvPr>
        </p:nvSpPr>
        <p:spPr/>
      </p:sp>
      <p:sp>
        <p:nvSpPr>
          <p:cNvPr id="1048664" name="文本占位符 2"/>
          <p:cNvSpPr>
            <a:spLocks noGrp="1"/>
          </p:cNvSpPr>
          <p:nvPr>
            <p:ph type="body" idx="3"/>
          </p:nvPr>
        </p:nvSpPr>
        <p:spPr/>
        <p:txBody>
          <a:bodyPr/>
          <a:lstStyle/>
          <a:p>
            <a:r>
              <a:rPr lang="en-US" altLang="zh-CN" dirty="0"/>
              <a:t>PDR</a:t>
            </a:r>
            <a:r>
              <a:rPr lang="zh-CN" altLang="en-US" dirty="0"/>
              <a:t>的运行时间大部分花在了 删除文字来概括</a:t>
            </a:r>
            <a:r>
              <a:rPr lang="en-US" altLang="zh-CN" dirty="0"/>
              <a:t>cubes</a:t>
            </a:r>
            <a:r>
              <a:rPr lang="zh-CN" altLang="en-US" dirty="0"/>
              <a:t>上。由于最小项</a:t>
            </a:r>
            <a:r>
              <a:rPr lang="en-US" altLang="zh-CN" dirty="0"/>
              <a:t>m</a:t>
            </a:r>
            <a:r>
              <a:rPr lang="zh-CN" altLang="en-US" dirty="0"/>
              <a:t>最长，作为进程起点是不理想的，为了缓解这种情况，作者通过使用三元模拟来缩小证明义务。对满意的查询，提取最小项</a:t>
            </a:r>
            <a:r>
              <a:rPr lang="en-US" altLang="zh-CN" dirty="0"/>
              <a:t>m</a:t>
            </a:r>
            <a:r>
              <a:rPr lang="zh-CN" altLang="en-US" dirty="0"/>
              <a:t>，为触发器的输入输出提供数值。依次探索每个触发器并将其值改为</a:t>
            </a:r>
            <a:r>
              <a:rPr lang="en-US" altLang="zh-CN" dirty="0"/>
              <a:t>X</a:t>
            </a:r>
            <a:r>
              <a:rPr lang="zh-CN" altLang="en-US" dirty="0"/>
              <a:t>，并传播使用三元模拟的效果。如果</a:t>
            </a:r>
            <a:r>
              <a:rPr lang="en-US" altLang="zh-CN" dirty="0"/>
              <a:t>X</a:t>
            </a:r>
            <a:r>
              <a:rPr lang="zh-CN" altLang="en-US" dirty="0"/>
              <a:t>没有出现在任一个触发器的输入中，则被探索的触发器（状态变量）可以在证明义务中删除。要是</a:t>
            </a:r>
            <a:r>
              <a:rPr lang="en-US" altLang="zh-CN" dirty="0"/>
              <a:t>X</a:t>
            </a:r>
            <a:r>
              <a:rPr lang="zh-CN" altLang="en-US" dirty="0"/>
              <a:t>到达了</a:t>
            </a:r>
            <a:r>
              <a:rPr lang="en-US" altLang="zh-CN" dirty="0"/>
              <a:t>s</a:t>
            </a:r>
            <a:r>
              <a:rPr lang="zh-CN" altLang="en-US" dirty="0"/>
              <a:t>中的一个触发器，则取消该传播和探索，转向下一个触发器。</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幻灯片图像占位符 1"/>
          <p:cNvSpPr>
            <a:spLocks noGrp="1" noRot="1" noChangeAspect="1"/>
          </p:cNvSpPr>
          <p:nvPr>
            <p:ph type="sldImg" idx="2"/>
          </p:nvPr>
        </p:nvSpPr>
        <p:spPr/>
      </p:sp>
      <p:sp>
        <p:nvSpPr>
          <p:cNvPr id="1048669" name="文本占位符 2"/>
          <p:cNvSpPr>
            <a:spLocks noGrp="1"/>
          </p:cNvSpPr>
          <p:nvPr>
            <p:ph type="body" idx="3"/>
          </p:nvPr>
        </p:nvSpPr>
        <p:spPr/>
        <p:txBody>
          <a:bodyPr/>
          <a:lstStyle/>
          <a:p>
            <a:r>
              <a:rPr lang="zh-CN" altLang="en-US" dirty="0"/>
              <a:t>讲</a:t>
            </a:r>
            <a:r>
              <a:rPr lang="en-US" altLang="zh-CN" dirty="0"/>
              <a:t>PDR</a:t>
            </a:r>
            <a:r>
              <a:rPr lang="zh-CN" altLang="en-US" dirty="0"/>
              <a:t>的算法之前先说</a:t>
            </a:r>
            <a:r>
              <a:rPr lang="en-US" altLang="zh-CN" dirty="0"/>
              <a:t>trace</a:t>
            </a:r>
            <a:r>
              <a:rPr lang="zh-CN" altLang="en-US" dirty="0"/>
              <a:t>的五条特性的。</a:t>
            </a:r>
            <a:r>
              <a:rPr lang="en-US" altLang="zh-CN" dirty="0"/>
              <a:t>R0</a:t>
            </a:r>
            <a:r>
              <a:rPr lang="zh-CN" altLang="en-US" dirty="0"/>
              <a:t>代表了初始状态，所有的</a:t>
            </a:r>
            <a:r>
              <a:rPr lang="en-US" altLang="zh-CN" dirty="0"/>
              <a:t>Ri</a:t>
            </a:r>
            <a:r>
              <a:rPr lang="zh-CN" altLang="en-US" dirty="0"/>
              <a:t>都是子句的集合。</a:t>
            </a:r>
            <a:r>
              <a:rPr lang="en-US" altLang="zh-CN" dirty="0"/>
              <a:t>Ri</a:t>
            </a:r>
            <a:r>
              <a:rPr lang="zh-CN" altLang="en-US" dirty="0"/>
              <a:t>包含</a:t>
            </a:r>
            <a:r>
              <a:rPr lang="en-US" altLang="zh-CN" dirty="0"/>
              <a:t>Ri+1</a:t>
            </a:r>
            <a:r>
              <a:rPr lang="zh-CN" altLang="en-US" dirty="0"/>
              <a:t>，并且</a:t>
            </a:r>
            <a:r>
              <a:rPr lang="en-US" altLang="zh-CN" dirty="0"/>
              <a:t>Ri+1</a:t>
            </a:r>
            <a:r>
              <a:rPr lang="zh-CN" altLang="en-US" dirty="0"/>
              <a:t>的子句是</a:t>
            </a:r>
            <a:r>
              <a:rPr lang="en-US" altLang="zh-CN" dirty="0"/>
              <a:t>Ri</a:t>
            </a:r>
            <a:r>
              <a:rPr lang="zh-CN" altLang="en-US" dirty="0"/>
              <a:t>子句集的子集。</a:t>
            </a:r>
            <a:r>
              <a:rPr lang="en-US" altLang="zh-CN" dirty="0"/>
              <a:t>Ri+1</a:t>
            </a:r>
            <a:r>
              <a:rPr lang="zh-CN" altLang="en-US" dirty="0"/>
              <a:t>是</a:t>
            </a:r>
            <a:r>
              <a:rPr lang="en-US" altLang="zh-CN" dirty="0"/>
              <a:t>Ri</a:t>
            </a:r>
            <a:r>
              <a:rPr lang="zh-CN" altLang="en-US" dirty="0"/>
              <a:t>象的一个上逼近。第五条表示了</a:t>
            </a:r>
            <a:r>
              <a:rPr lang="en-US" altLang="zh-CN" dirty="0"/>
              <a:t>Ri</a:t>
            </a:r>
            <a:r>
              <a:rPr lang="zh-CN" altLang="en-US" dirty="0"/>
              <a:t>中除了最后的</a:t>
            </a:r>
            <a:r>
              <a:rPr lang="en-US" altLang="zh-CN" dirty="0"/>
              <a:t>RN</a:t>
            </a:r>
            <a:r>
              <a:rPr lang="zh-CN" altLang="en-US" dirty="0"/>
              <a:t>都包含性质</a:t>
            </a:r>
            <a:r>
              <a:rPr lang="en-US" altLang="zh-CN" dirty="0"/>
              <a:t>P. </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幻灯片图像占位符 1"/>
          <p:cNvSpPr>
            <a:spLocks noGrp="1" noRot="1" noChangeAspect="1"/>
          </p:cNvSpPr>
          <p:nvPr>
            <p:ph type="sldImg" idx="2"/>
          </p:nvPr>
        </p:nvSpPr>
        <p:spPr/>
      </p:sp>
      <p:sp>
        <p:nvSpPr>
          <p:cNvPr id="1048674" name="文本占位符 2"/>
          <p:cNvSpPr>
            <a:spLocks noGrp="1"/>
          </p:cNvSpPr>
          <p:nvPr>
            <p:ph type="body" idx="3"/>
          </p:nvPr>
        </p:nvSpPr>
        <p:spPr/>
        <p:txBody>
          <a:bodyPr/>
          <a:lstStyle/>
          <a:p>
            <a:r>
              <a:rPr lang="zh-CN" altLang="en-US" dirty="0"/>
              <a:t>算法开始，</a:t>
            </a:r>
            <a:r>
              <a:rPr lang="en-US" altLang="zh-CN" dirty="0"/>
              <a:t>trace</a:t>
            </a:r>
            <a:r>
              <a:rPr lang="zh-CN" altLang="en-US" dirty="0"/>
              <a:t>中只有</a:t>
            </a:r>
            <a:r>
              <a:rPr lang="en-US" altLang="zh-CN" dirty="0"/>
              <a:t>R0</a:t>
            </a:r>
            <a:r>
              <a:rPr lang="zh-CN" altLang="en-US" dirty="0"/>
              <a:t>，主循环如上所示。循环内部的步骤为：先从</a:t>
            </a:r>
            <a:r>
              <a:rPr lang="en-US" altLang="zh-CN" dirty="0"/>
              <a:t>sat</a:t>
            </a:r>
            <a:r>
              <a:rPr lang="zh-CN" altLang="en-US" dirty="0"/>
              <a:t>模型中提取一个坏状态</a:t>
            </a:r>
            <a:r>
              <a:rPr lang="en-US" altLang="zh-CN" dirty="0"/>
              <a:t>m</a:t>
            </a:r>
            <a:r>
              <a:rPr lang="zh-CN" altLang="en-US" dirty="0"/>
              <a:t>，然后使用前面所说的三元模拟将</a:t>
            </a:r>
            <a:r>
              <a:rPr lang="en-US" altLang="zh-CN" dirty="0"/>
              <a:t>m</a:t>
            </a:r>
            <a:r>
              <a:rPr lang="zh-CN" altLang="en-US" dirty="0"/>
              <a:t>概括为一个立方体</a:t>
            </a:r>
            <a:r>
              <a:rPr lang="en-US" altLang="zh-CN" dirty="0"/>
              <a:t>s</a:t>
            </a:r>
            <a:r>
              <a:rPr lang="zh-CN" altLang="en-US" dirty="0"/>
              <a:t>，递归地阻塞证明义务（</a:t>
            </a:r>
            <a:r>
              <a:rPr lang="en-US" altLang="zh-CN" dirty="0"/>
              <a:t>s</a:t>
            </a:r>
            <a:r>
              <a:rPr lang="zh-CN" altLang="en-US" dirty="0"/>
              <a:t>，</a:t>
            </a:r>
            <a:r>
              <a:rPr lang="en-US" altLang="zh-CN" dirty="0"/>
              <a:t>k</a:t>
            </a:r>
            <a:r>
              <a:rPr lang="zh-CN" altLang="en-US" dirty="0"/>
              <a:t>）。当循环结束，该性质</a:t>
            </a:r>
            <a:r>
              <a:rPr lang="en-US" altLang="zh-CN" dirty="0"/>
              <a:t>P</a:t>
            </a:r>
            <a:r>
              <a:rPr lang="zh-CN" altLang="en-US" dirty="0"/>
              <a:t>使用于</a:t>
            </a:r>
            <a:r>
              <a:rPr lang="en-US" altLang="zh-CN" dirty="0"/>
              <a:t>Rn</a:t>
            </a:r>
            <a:r>
              <a:rPr lang="zh-CN" altLang="en-US" dirty="0"/>
              <a:t>，并且一个空的步数会添加到</a:t>
            </a:r>
            <a:r>
              <a:rPr lang="en-US" altLang="zh-CN" dirty="0"/>
              <a:t>trace</a:t>
            </a:r>
            <a:r>
              <a:rPr lang="zh-CN" altLang="en-US" dirty="0"/>
              <a:t>中。算法根据新的步数将会重复上面过程</a:t>
            </a:r>
            <a:r>
              <a:rPr lang="en-US" altLang="zh-CN" dirty="0"/>
              <a:t>,</a:t>
            </a:r>
            <a:r>
              <a:rPr lang="zh-CN" altLang="en-US" dirty="0"/>
              <a:t>但首先执行一个传播阶段</a:t>
            </a:r>
            <a:r>
              <a:rPr lang="en-US" altLang="zh-CN" dirty="0"/>
              <a:t>:c</a:t>
            </a:r>
            <a:r>
              <a:rPr lang="zh-CN" altLang="en-US" dirty="0"/>
              <a:t>属于</a:t>
            </a:r>
            <a:r>
              <a:rPr lang="en-US" altLang="zh-CN" dirty="0"/>
              <a:t>RK</a:t>
            </a:r>
            <a:r>
              <a:rPr lang="zh-CN" altLang="en-US" dirty="0"/>
              <a:t>，如果</a:t>
            </a:r>
            <a:r>
              <a:rPr lang="en-US" altLang="zh-CN" dirty="0"/>
              <a:t>c</a:t>
            </a:r>
            <a:r>
              <a:rPr lang="zh-CN" altLang="en-US" dirty="0"/>
              <a:t>在步数</a:t>
            </a:r>
            <a:r>
              <a:rPr lang="en-US" altLang="zh-CN" dirty="0"/>
              <a:t>k+1</a:t>
            </a:r>
            <a:r>
              <a:rPr lang="zh-CN" altLang="en-US" dirty="0"/>
              <a:t>时保持不变，就添加到</a:t>
            </a:r>
            <a:r>
              <a:rPr lang="en-US" altLang="zh-CN" dirty="0"/>
              <a:t>Rk+1</a:t>
            </a:r>
            <a:r>
              <a:rPr lang="zh-CN" altLang="en-US" dirty="0"/>
              <a:t>中。</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幻灯片图像占位符 1"/>
          <p:cNvSpPr>
            <a:spLocks noGrp="1" noRot="1" noChangeAspect="1"/>
          </p:cNvSpPr>
          <p:nvPr>
            <p:ph type="sldImg" idx="2"/>
          </p:nvPr>
        </p:nvSpPr>
        <p:spPr/>
      </p:sp>
      <p:sp>
        <p:nvSpPr>
          <p:cNvPr id="1048679" name="文本占位符 2"/>
          <p:cNvSpPr>
            <a:spLocks noGrp="1"/>
          </p:cNvSpPr>
          <p:nvPr>
            <p:ph type="body" idx="3"/>
          </p:nvPr>
        </p:nvSpPr>
        <p:spPr/>
        <p:txBody>
          <a:bodyPr/>
          <a:lstStyle/>
          <a:p>
            <a:r>
              <a:rPr lang="zh-CN" altLang="en-US" dirty="0"/>
              <a:t>执行</a:t>
            </a:r>
            <a:r>
              <a:rPr lang="en-US" altLang="zh-CN" dirty="0" err="1"/>
              <a:t>pdr</a:t>
            </a:r>
            <a:r>
              <a:rPr lang="zh-CN" altLang="en-US" dirty="0"/>
              <a:t>算法，最终有两种算法的终止方式。一种是在步数</a:t>
            </a:r>
            <a:r>
              <a:rPr lang="en-US" altLang="zh-CN" dirty="0"/>
              <a:t>0</a:t>
            </a:r>
            <a:r>
              <a:rPr lang="zh-CN" altLang="en-US" dirty="0"/>
              <a:t>的证明义务与初始状态相交，这种可以理解为在证明某一个性质的过程中找到了反例，最终使该性质失效。第二种就是找到了一个归纳不变式能够证明该性质。</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幻灯片图像占位符 1"/>
          <p:cNvSpPr>
            <a:spLocks noGrp="1" noRot="1" noChangeAspect="1"/>
          </p:cNvSpPr>
          <p:nvPr>
            <p:ph type="sldImg" idx="2"/>
          </p:nvPr>
        </p:nvSpPr>
        <p:spPr/>
      </p:sp>
      <p:sp>
        <p:nvSpPr>
          <p:cNvPr id="1048683" name="文本占位符 2"/>
          <p:cNvSpPr>
            <a:spLocks noGrp="1"/>
          </p:cNvSpPr>
          <p:nvPr>
            <p:ph type="body" idx="3"/>
          </p:nvPr>
        </p:nvSpPr>
        <p:spPr/>
        <p:txBody>
          <a:bodyPr/>
          <a:lstStyle/>
          <a:p>
            <a:r>
              <a:rPr lang="zh-CN" altLang="en-US" dirty="0"/>
              <a:t>为什么</a:t>
            </a:r>
            <a:r>
              <a:rPr lang="en-US" altLang="zh-CN" dirty="0"/>
              <a:t>PDR</a:t>
            </a:r>
            <a:r>
              <a:rPr lang="zh-CN" altLang="en-US" dirty="0"/>
              <a:t>效果这么好？可以从以下</a:t>
            </a:r>
            <a:r>
              <a:rPr lang="en-US" altLang="zh-CN" dirty="0"/>
              <a:t>3</a:t>
            </a:r>
            <a:r>
              <a:rPr lang="zh-CN" altLang="en-US" dirty="0"/>
              <a:t>点去说明：一是</a:t>
            </a:r>
            <a:r>
              <a:rPr lang="en-US" altLang="zh-CN" dirty="0" err="1"/>
              <a:t>pdr</a:t>
            </a:r>
            <a:r>
              <a:rPr lang="zh-CN" altLang="en-US" dirty="0"/>
              <a:t>会尽可能长时间地坚持它学习到的事实。二是如果</a:t>
            </a:r>
            <a:r>
              <a:rPr lang="en-US" altLang="zh-CN" dirty="0"/>
              <a:t>PDR</a:t>
            </a:r>
            <a:r>
              <a:rPr lang="zh-CN" altLang="en-US" dirty="0"/>
              <a:t>在某一步学的东西太弱，它可以通过学习新的子句去修补这种状态，而同样条件下</a:t>
            </a:r>
            <a:r>
              <a:rPr lang="en-US" altLang="zh-CN" dirty="0"/>
              <a:t>IMC</a:t>
            </a:r>
            <a:r>
              <a:rPr lang="zh-CN" altLang="en-US" dirty="0"/>
              <a:t>只会放弃所有的工作重启。第三点是</a:t>
            </a:r>
            <a:r>
              <a:rPr lang="en-US" altLang="zh-CN" dirty="0"/>
              <a:t>PDR</a:t>
            </a:r>
            <a:r>
              <a:rPr lang="zh-CN" altLang="en-US" dirty="0"/>
              <a:t>能通过文字消除方案针对性地产生小的事实。</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6" name="幻灯片图像占位符 1"/>
          <p:cNvSpPr>
            <a:spLocks noGrp="1" noRot="1" noChangeAspect="1"/>
          </p:cNvSpPr>
          <p:nvPr>
            <p:ph type="sldImg"/>
          </p:nvPr>
        </p:nvSpPr>
        <p:spPr/>
      </p:sp>
      <p:sp>
        <p:nvSpPr>
          <p:cNvPr id="1048687" name="备注占位符 2"/>
          <p:cNvSpPr>
            <a:spLocks noGrp="1"/>
          </p:cNvSpPr>
          <p:nvPr>
            <p:ph type="body" idx="1"/>
          </p:nvPr>
        </p:nvSpPr>
        <p:spPr/>
        <p:txBody>
          <a:bodyPr/>
          <a:lstStyle/>
          <a:p>
            <a:r>
              <a:rPr lang="zh-CN" altLang="en-US" dirty="0"/>
              <a:t>这一节我们讲解</a:t>
            </a:r>
            <a:r>
              <a:rPr lang="en-US" altLang="zh-CN" dirty="0"/>
              <a:t>PDR</a:t>
            </a:r>
            <a:r>
              <a:rPr lang="zh-CN" altLang="en-US" dirty="0"/>
              <a:t>的实现。</a:t>
            </a:r>
          </a:p>
        </p:txBody>
      </p:sp>
      <p:sp>
        <p:nvSpPr>
          <p:cNvPr id="1048688"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幻灯片图像占位符 1"/>
          <p:cNvSpPr>
            <a:spLocks noGrp="1" noRot="1" noChangeAspect="1"/>
          </p:cNvSpPr>
          <p:nvPr>
            <p:ph type="sldImg" idx="2"/>
          </p:nvPr>
        </p:nvSpPr>
        <p:spPr/>
      </p:sp>
      <p:sp>
        <p:nvSpPr>
          <p:cNvPr id="1048691" name="文本占位符 2"/>
          <p:cNvSpPr>
            <a:spLocks noGrp="1"/>
          </p:cNvSpPr>
          <p:nvPr>
            <p:ph type="body" idx="3"/>
          </p:nvPr>
        </p:nvSpPr>
        <p:spPr/>
        <p:txBody>
          <a:bodyPr/>
          <a:lstStyle/>
          <a:p>
            <a:r>
              <a:rPr lang="zh-CN" altLang="en-US" dirty="0"/>
              <a:t>这样一个伪代码的执行过程大概是，</a:t>
            </a:r>
            <a:r>
              <a:rPr lang="en-US" altLang="zh-CN" dirty="0" err="1">
                <a:effectLst/>
                <a:latin typeface="Arial" panose="020B0604020202020204" pitchFamily="34" charset="0"/>
              </a:rPr>
              <a:t>pdrMain</a:t>
            </a:r>
            <a:r>
              <a:rPr lang="en-US" altLang="zh-CN" dirty="0">
                <a:effectLst/>
                <a:latin typeface="Arial" panose="020B0604020202020204" pitchFamily="34" charset="0"/>
              </a:rPr>
              <a:t>()</a:t>
            </a:r>
            <a:r>
              <a:rPr lang="zh-CN" altLang="en-US" dirty="0">
                <a:effectLst/>
                <a:latin typeface="Arial" panose="020B0604020202020204" pitchFamily="34" charset="0"/>
              </a:rPr>
              <a:t>将使用“</a:t>
            </a:r>
            <a:r>
              <a:rPr lang="en-US" altLang="zh-CN" dirty="0" err="1">
                <a:effectLst/>
                <a:latin typeface="Arial" panose="020B0604020202020204" pitchFamily="34" charset="0"/>
              </a:rPr>
              <a:t>recBlockCube</a:t>
            </a:r>
            <a:r>
              <a:rPr lang="en-US" altLang="zh-CN" dirty="0">
                <a:effectLst/>
                <a:latin typeface="Arial" panose="020B0604020202020204" pitchFamily="34" charset="0"/>
              </a:rPr>
              <a:t>()”</a:t>
            </a:r>
            <a:r>
              <a:rPr lang="zh-CN" altLang="en-US" dirty="0">
                <a:effectLst/>
                <a:latin typeface="Arial" panose="020B0604020202020204" pitchFamily="34" charset="0"/>
              </a:rPr>
              <a:t>递归地阻塞最终时间步数的坏状态，直到性质成立。然后调用“</a:t>
            </a:r>
            <a:r>
              <a:rPr lang="en-US" altLang="zh-CN" dirty="0" err="1">
                <a:effectLst/>
                <a:latin typeface="Arial" panose="020B0604020202020204" pitchFamily="34" charset="0"/>
              </a:rPr>
              <a:t>propagateBlockedCubes</a:t>
            </a:r>
            <a:r>
              <a:rPr lang="en-US" altLang="zh-CN" dirty="0">
                <a:effectLst/>
                <a:latin typeface="Arial" panose="020B0604020202020204" pitchFamily="34" charset="0"/>
              </a:rPr>
              <a:t>()</a:t>
            </a:r>
            <a:r>
              <a:rPr lang="zh-CN" altLang="en-US" dirty="0">
                <a:effectLst/>
                <a:latin typeface="Arial" panose="020B0604020202020204" pitchFamily="34" charset="0"/>
              </a:rPr>
              <a:t>将</a:t>
            </a:r>
            <a:r>
              <a:rPr lang="en-US" altLang="zh-CN" dirty="0">
                <a:effectLst/>
                <a:latin typeface="Arial" panose="020B0604020202020204" pitchFamily="34" charset="0"/>
              </a:rPr>
              <a:t>trace</a:t>
            </a:r>
            <a:r>
              <a:rPr lang="zh-CN" altLang="en-US" dirty="0">
                <a:effectLst/>
                <a:latin typeface="Arial" panose="020B0604020202020204" pitchFamily="34" charset="0"/>
              </a:rPr>
              <a:t>中所有步数中的阻塞的立方体向前推进到它们保持的最新步数。在过程中可以</a:t>
            </a:r>
            <a:r>
              <a:rPr lang="zh-CN" altLang="en-US" dirty="0"/>
              <a:t>利用</a:t>
            </a:r>
            <a:r>
              <a:rPr lang="en-US" altLang="zh-CN" dirty="0" err="1"/>
              <a:t>isblocked</a:t>
            </a:r>
            <a:r>
              <a:rPr lang="zh-CN" altLang="en-US" dirty="0"/>
              <a:t>函数检测一个证明义务是否完成，可利用</a:t>
            </a:r>
            <a:r>
              <a:rPr lang="en-US" altLang="zh-CN" dirty="0"/>
              <a:t>generalize</a:t>
            </a:r>
            <a:r>
              <a:rPr lang="zh-CN" altLang="en-US" dirty="0"/>
              <a:t>函数缩短</a:t>
            </a:r>
            <a:r>
              <a:rPr lang="en-US" altLang="zh-CN" dirty="0"/>
              <a:t>cube</a:t>
            </a:r>
            <a:r>
              <a:rPr lang="zh-CN" altLang="en-US" dirty="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4" name="幻灯片图像占位符 1"/>
          <p:cNvSpPr>
            <a:spLocks noGrp="1" noRot="1" noChangeAspect="1"/>
          </p:cNvSpPr>
          <p:nvPr>
            <p:ph type="sldImg" idx="2"/>
          </p:nvPr>
        </p:nvSpPr>
        <p:spPr/>
      </p:sp>
      <p:sp>
        <p:nvSpPr>
          <p:cNvPr id="1048695"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effectLst/>
                <a:latin typeface="Arial" panose="020B0604020202020204" pitchFamily="34" charset="0"/>
              </a:rPr>
              <a:t>这是函数</a:t>
            </a:r>
            <a:r>
              <a:rPr lang="en-US" altLang="zh-CN" dirty="0" err="1">
                <a:effectLst/>
                <a:latin typeface="Arial" panose="020B0604020202020204" pitchFamily="34" charset="0"/>
              </a:rPr>
              <a:t>pdrmain</a:t>
            </a:r>
            <a:r>
              <a:rPr lang="zh-CN" altLang="en-US" dirty="0">
                <a:effectLst/>
                <a:latin typeface="Arial" panose="020B0604020202020204" pitchFamily="34" charset="0"/>
              </a:rPr>
              <a:t>的主要过程。</a:t>
            </a:r>
            <a:r>
              <a:rPr lang="en-US" altLang="zh-CN" dirty="0">
                <a:effectLst/>
                <a:latin typeface="Arial" panose="020B0604020202020204" pitchFamily="34" charset="0"/>
              </a:rPr>
              <a:t>F</a:t>
            </a:r>
            <a:r>
              <a:rPr lang="zh-CN" altLang="en-US" dirty="0">
                <a:effectLst/>
                <a:latin typeface="Arial" panose="020B0604020202020204" pitchFamily="34" charset="0"/>
              </a:rPr>
              <a:t>的最后一个元素</a:t>
            </a:r>
            <a:r>
              <a:rPr lang="en-US" altLang="zh-CN" dirty="0">
                <a:effectLst/>
                <a:latin typeface="Arial" panose="020B0604020202020204" pitchFamily="34" charset="0"/>
              </a:rPr>
              <a:t>(</a:t>
            </a:r>
            <a:r>
              <a:rPr lang="zh-CN" altLang="en-US" dirty="0">
                <a:effectLst/>
                <a:latin typeface="Arial" panose="020B0604020202020204" pitchFamily="34" charset="0"/>
              </a:rPr>
              <a:t>称为“</a:t>
            </a:r>
            <a:r>
              <a:rPr lang="en-US" altLang="zh-CN" dirty="0">
                <a:effectLst/>
                <a:latin typeface="Arial" panose="020B0604020202020204" pitchFamily="34" charset="0"/>
              </a:rPr>
              <a:t>F∞”)</a:t>
            </a:r>
            <a:r>
              <a:rPr lang="zh-CN" altLang="en-US" dirty="0">
                <a:effectLst/>
                <a:latin typeface="Arial" panose="020B0604020202020204" pitchFamily="34" charset="0"/>
              </a:rPr>
              <a:t>包含了所有</a:t>
            </a:r>
            <a:r>
              <a:rPr lang="en-US" altLang="zh-CN" dirty="0">
                <a:effectLst/>
                <a:latin typeface="Arial" panose="020B0604020202020204" pitchFamily="34" charset="0"/>
              </a:rPr>
              <a:t>k</a:t>
            </a:r>
            <a:r>
              <a:rPr lang="zh-CN" altLang="en-US" dirty="0">
                <a:effectLst/>
                <a:latin typeface="Arial" panose="020B0604020202020204" pitchFamily="34" charset="0"/>
              </a:rPr>
              <a:t>被证明不可达的立方体，它们的否定构成了一个合适的归纳不变量。函数</a:t>
            </a:r>
            <a:r>
              <a:rPr lang="en-US" altLang="zh-CN" dirty="0" err="1">
                <a:effectLst/>
                <a:latin typeface="Arial" panose="020B0604020202020204" pitchFamily="34" charset="0"/>
              </a:rPr>
              <a:t>newFrame</a:t>
            </a:r>
            <a:r>
              <a:rPr lang="en-US" altLang="zh-CN" dirty="0">
                <a:effectLst/>
                <a:latin typeface="Arial" panose="020B0604020202020204" pitchFamily="34" charset="0"/>
              </a:rPr>
              <a:t>()</a:t>
            </a:r>
            <a:r>
              <a:rPr lang="zh-CN" altLang="en-US" dirty="0">
                <a:effectLst/>
                <a:latin typeface="Arial" panose="020B0604020202020204" pitchFamily="34" charset="0"/>
              </a:rPr>
              <a:t>会在</a:t>
            </a:r>
            <a:r>
              <a:rPr lang="en-US" altLang="zh-CN" dirty="0">
                <a:effectLst/>
                <a:latin typeface="Arial" panose="020B0604020202020204" pitchFamily="34" charset="0"/>
              </a:rPr>
              <a:t>F∞</a:t>
            </a:r>
            <a:r>
              <a:rPr lang="zh-CN" altLang="en-US" dirty="0">
                <a:effectLst/>
                <a:latin typeface="Arial" panose="020B0604020202020204" pitchFamily="34" charset="0"/>
              </a:rPr>
              <a:t>之前插入一个新的帧。</a:t>
            </a:r>
            <a:endParaRPr lang="en-US" altLang="zh-CN"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dirty="0">
                <a:effectLst/>
                <a:latin typeface="Arial" panose="020B0604020202020204" pitchFamily="34" charset="0"/>
              </a:rPr>
              <a:t>从函数的过程上理解，通过</a:t>
            </a:r>
            <a:r>
              <a:rPr lang="en-US" altLang="zh-CN" dirty="0" err="1">
                <a:effectLst/>
                <a:latin typeface="Arial" panose="020B0604020202020204" pitchFamily="34" charset="0"/>
              </a:rPr>
              <a:t>getbadcube</a:t>
            </a:r>
            <a:r>
              <a:rPr lang="zh-CN" altLang="en-US" dirty="0">
                <a:effectLst/>
                <a:latin typeface="Arial" panose="020B0604020202020204" pitchFamily="34" charset="0"/>
              </a:rPr>
              <a:t>获得一个坏立方体</a:t>
            </a:r>
            <a:r>
              <a:rPr lang="en-US" altLang="zh-CN" dirty="0">
                <a:effectLst/>
                <a:latin typeface="Arial" panose="020B0604020202020204" pitchFamily="34" charset="0"/>
              </a:rPr>
              <a:t>c</a:t>
            </a:r>
            <a:r>
              <a:rPr lang="zh-CN" altLang="en-US" dirty="0">
                <a:effectLst/>
                <a:latin typeface="Arial" panose="020B0604020202020204" pitchFamily="34" charset="0"/>
              </a:rPr>
              <a:t>，如果</a:t>
            </a:r>
            <a:r>
              <a:rPr lang="en-US" altLang="zh-CN" dirty="0">
                <a:effectLst/>
                <a:latin typeface="Arial" panose="020B0604020202020204" pitchFamily="34" charset="0"/>
              </a:rPr>
              <a:t>c</a:t>
            </a:r>
            <a:r>
              <a:rPr lang="zh-CN" altLang="en-US" dirty="0">
                <a:effectLst/>
                <a:latin typeface="Arial" panose="020B0604020202020204" pitchFamily="34" charset="0"/>
              </a:rPr>
              <a:t>不为空即</a:t>
            </a:r>
            <a:r>
              <a:rPr lang="en-US" altLang="zh-CN" dirty="0">
                <a:effectLst/>
                <a:latin typeface="Arial" panose="020B0604020202020204" pitchFamily="34" charset="0"/>
              </a:rPr>
              <a:t>c</a:t>
            </a:r>
            <a:r>
              <a:rPr lang="zh-CN" altLang="en-US" dirty="0">
                <a:effectLst/>
                <a:latin typeface="Arial" panose="020B0604020202020204" pitchFamily="34" charset="0"/>
              </a:rPr>
              <a:t>为坏立方体后在进行判断，如果</a:t>
            </a:r>
            <a:r>
              <a:rPr lang="en-US" altLang="zh-CN" dirty="0" err="1">
                <a:effectLst/>
                <a:latin typeface="Arial" panose="020B0604020202020204" pitchFamily="34" charset="0"/>
              </a:rPr>
              <a:t>recblockcode</a:t>
            </a:r>
            <a:r>
              <a:rPr lang="zh-CN" altLang="en-US" dirty="0">
                <a:effectLst/>
                <a:latin typeface="Arial" panose="020B0604020202020204" pitchFamily="34" charset="0"/>
              </a:rPr>
              <a:t>为非，即递归地限定</a:t>
            </a:r>
            <a:r>
              <a:rPr lang="en-US" altLang="zh-CN" dirty="0">
                <a:effectLst/>
                <a:latin typeface="Arial" panose="020B0604020202020204" pitchFamily="34" charset="0"/>
              </a:rPr>
              <a:t>c</a:t>
            </a:r>
            <a:r>
              <a:rPr lang="zh-CN" altLang="en-US" dirty="0">
                <a:effectLst/>
                <a:latin typeface="Arial" panose="020B0604020202020204" pitchFamily="34" charset="0"/>
              </a:rPr>
              <a:t>中的坏状态是失败的，则返回</a:t>
            </a:r>
            <a:r>
              <a:rPr lang="en-US" altLang="zh-CN" dirty="0">
                <a:effectLst/>
                <a:latin typeface="Arial" panose="020B0604020202020204" pitchFamily="34" charset="0"/>
              </a:rPr>
              <a:t>false</a:t>
            </a:r>
            <a:r>
              <a:rPr lang="zh-CN" altLang="en-US" dirty="0">
                <a:effectLst/>
                <a:latin typeface="Arial" panose="020B0604020202020204" pitchFamily="34" charset="0"/>
              </a:rPr>
              <a:t>，说明找到了反例，</a:t>
            </a:r>
            <a:r>
              <a:rPr lang="en-US" altLang="zh-CN" dirty="0" err="1">
                <a:effectLst/>
                <a:latin typeface="Arial" panose="020B0604020202020204" pitchFamily="34" charset="0"/>
              </a:rPr>
              <a:t>pdr</a:t>
            </a:r>
            <a:r>
              <a:rPr lang="zh-CN" altLang="en-US" dirty="0">
                <a:effectLst/>
                <a:latin typeface="Arial" panose="020B0604020202020204" pitchFamily="34" charset="0"/>
              </a:rPr>
              <a:t>算法结束。如果</a:t>
            </a:r>
            <a:r>
              <a:rPr lang="en-US" altLang="zh-CN" dirty="0">
                <a:effectLst/>
                <a:latin typeface="Arial" panose="020B0604020202020204" pitchFamily="34" charset="0"/>
              </a:rPr>
              <a:t>c</a:t>
            </a:r>
            <a:r>
              <a:rPr lang="zh-CN" altLang="en-US" dirty="0">
                <a:effectLst/>
                <a:latin typeface="Arial" panose="020B0604020202020204" pitchFamily="34" charset="0"/>
              </a:rPr>
              <a:t>此时为空，添加新的帧，调用</a:t>
            </a:r>
            <a:r>
              <a:rPr lang="en-US" altLang="zh-CN" dirty="0" err="1">
                <a:effectLst/>
                <a:latin typeface="Arial" panose="020B0604020202020204" pitchFamily="34" charset="0"/>
              </a:rPr>
              <a:t>propagateBlockedCubes</a:t>
            </a:r>
            <a:r>
              <a:rPr lang="en-US" altLang="zh-CN" dirty="0">
                <a:effectLst/>
                <a:latin typeface="Arial" panose="020B0604020202020204" pitchFamily="34" charset="0"/>
              </a:rPr>
              <a:t>()</a:t>
            </a:r>
            <a:r>
              <a:rPr lang="zh-CN" altLang="en-US" dirty="0">
                <a:effectLst/>
                <a:latin typeface="Arial" panose="020B0604020202020204" pitchFamily="34" charset="0"/>
              </a:rPr>
              <a:t>，如果执行成功，就返回</a:t>
            </a:r>
            <a:r>
              <a:rPr lang="en-US" altLang="zh-CN" dirty="0">
                <a:effectLst/>
                <a:latin typeface="Arial" panose="020B0604020202020204" pitchFamily="34" charset="0"/>
              </a:rPr>
              <a:t>true</a:t>
            </a:r>
            <a:r>
              <a:rPr lang="zh-CN" altLang="en-US" dirty="0">
                <a:effectLst/>
                <a:latin typeface="Arial" panose="020B0604020202020204" pitchFamily="34" charset="0"/>
              </a:rPr>
              <a:t>，说明找到了不变式。</a:t>
            </a:r>
            <a:endParaRPr lang="en-US" altLang="zh-CN"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dirty="0">
                <a:effectLst/>
                <a:latin typeface="Arial" panose="020B0604020202020204" pitchFamily="34" charset="0"/>
              </a:rPr>
              <a:t>具体总流程与右图展示的</a:t>
            </a:r>
            <a:r>
              <a:rPr lang="en-US" altLang="zh-CN" dirty="0">
                <a:effectLst/>
                <a:latin typeface="Arial" panose="020B0604020202020204" pitchFamily="34" charset="0"/>
              </a:rPr>
              <a:t>IC3</a:t>
            </a:r>
            <a:r>
              <a:rPr lang="zh-CN" altLang="en-US" dirty="0">
                <a:effectLst/>
                <a:latin typeface="Arial" panose="020B0604020202020204" pitchFamily="34" charset="0"/>
              </a:rPr>
              <a:t>算法总流程类似。</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7" name="幻灯片图像占位符 1"/>
          <p:cNvSpPr>
            <a:spLocks noGrp="1" noRot="1" noChangeAspect="1"/>
          </p:cNvSpPr>
          <p:nvPr>
            <p:ph type="sldImg" idx="2"/>
          </p:nvPr>
        </p:nvSpPr>
        <p:spPr/>
      </p:sp>
      <p:sp>
        <p:nvSpPr>
          <p:cNvPr id="1048698" name="文本占位符 2"/>
          <p:cNvSpPr>
            <a:spLocks noGrp="1"/>
          </p:cNvSpPr>
          <p:nvPr>
            <p:ph type="body" idx="3"/>
          </p:nvPr>
        </p:nvSpPr>
        <p:spPr/>
        <p:txBody>
          <a:bodyPr/>
          <a:lstStyle/>
          <a:p>
            <a:r>
              <a:rPr lang="zh-CN" altLang="en-US" dirty="0"/>
              <a:t>该函数对应的是</a:t>
            </a:r>
            <a:r>
              <a:rPr lang="en-US" altLang="zh-CN" dirty="0" err="1"/>
              <a:t>pdr</a:t>
            </a:r>
            <a:r>
              <a:rPr lang="zh-CN" altLang="en-US" dirty="0"/>
              <a:t>主要算法中的传播阶段，传播算法的本质是进一步收缩已知的逼近空间，在收缩的过程中，一旦探测到了两个相邻状态空间相等，说明算法找到不动点，算法终止。在本文的算法描述中是当</a:t>
            </a:r>
            <a:r>
              <a:rPr lang="en-US" altLang="zh-CN" dirty="0"/>
              <a:t>F</a:t>
            </a:r>
            <a:r>
              <a:rPr lang="zh-CN" altLang="en-US" dirty="0"/>
              <a:t>向量中的立方体数为</a:t>
            </a:r>
            <a:r>
              <a:rPr lang="en-US" altLang="zh-CN" dirty="0"/>
              <a:t>0</a:t>
            </a:r>
            <a:r>
              <a:rPr lang="zh-CN" altLang="en-US" dirty="0"/>
              <a:t>时说明找到不动点，返回</a:t>
            </a:r>
            <a:r>
              <a:rPr lang="en-US" altLang="zh-CN" dirty="0"/>
              <a:t>true</a:t>
            </a:r>
            <a:r>
              <a:rPr lang="zh-CN" altLang="en-US" dirty="0"/>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幻灯片图像占位符 1"/>
          <p:cNvSpPr>
            <a:spLocks noGrp="1" noRot="1" noChangeAspect="1"/>
          </p:cNvSpPr>
          <p:nvPr>
            <p:ph type="sldImg" idx="2"/>
          </p:nvPr>
        </p:nvSpPr>
        <p:spPr/>
      </p:sp>
      <p:sp>
        <p:nvSpPr>
          <p:cNvPr id="104870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该图展示的是</a:t>
            </a:r>
            <a:r>
              <a:rPr lang="en-US" altLang="zh-CN" dirty="0">
                <a:effectLst/>
                <a:latin typeface="Arial" panose="020B0604020202020204" pitchFamily="34" charset="0"/>
              </a:rPr>
              <a:t>PDR</a:t>
            </a:r>
            <a:r>
              <a:rPr lang="zh-CN" altLang="en-US" dirty="0">
                <a:effectLst/>
                <a:latin typeface="Arial" panose="020B0604020202020204" pitchFamily="34" charset="0"/>
              </a:rPr>
              <a:t>的</a:t>
            </a:r>
            <a:r>
              <a:rPr lang="en-US" altLang="zh-CN" dirty="0">
                <a:effectLst/>
                <a:latin typeface="Arial" panose="020B0604020202020204" pitchFamily="34" charset="0"/>
              </a:rPr>
              <a:t>SAT</a:t>
            </a:r>
            <a:r>
              <a:rPr lang="zh-CN" altLang="en-US" dirty="0">
                <a:effectLst/>
                <a:latin typeface="Arial" panose="020B0604020202020204" pitchFamily="34" charset="0"/>
              </a:rPr>
              <a:t>查询的抽象接口的实现。前四个函数对应于实际的</a:t>
            </a:r>
            <a:r>
              <a:rPr lang="en-US" altLang="zh-CN" dirty="0">
                <a:effectLst/>
                <a:latin typeface="Arial" panose="020B0604020202020204" pitchFamily="34" charset="0"/>
              </a:rPr>
              <a:t>SAT</a:t>
            </a:r>
            <a:r>
              <a:rPr lang="zh-CN" altLang="en-US" dirty="0">
                <a:effectLst/>
                <a:latin typeface="Arial" panose="020B0604020202020204" pitchFamily="34" charset="0"/>
              </a:rPr>
              <a:t>查询。</a:t>
            </a:r>
            <a:r>
              <a:rPr lang="en-US" altLang="zh-CN" dirty="0" err="1">
                <a:effectLst/>
                <a:latin typeface="Arial" panose="020B0604020202020204" pitchFamily="34" charset="0"/>
              </a:rPr>
              <a:t>getBadCube</a:t>
            </a:r>
            <a:r>
              <a:rPr lang="en-US" altLang="zh-CN" dirty="0">
                <a:effectLst/>
                <a:latin typeface="Arial" panose="020B0604020202020204" pitchFamily="34" charset="0"/>
              </a:rPr>
              <a:t>()</a:t>
            </a:r>
            <a:r>
              <a:rPr lang="zh-CN" altLang="en-US" dirty="0">
                <a:effectLst/>
                <a:latin typeface="Arial" panose="020B0604020202020204" pitchFamily="34" charset="0"/>
              </a:rPr>
              <a:t>方法返回在最后一帧中尚未限定的坏状态的</a:t>
            </a:r>
            <a:r>
              <a:rPr lang="en-US" altLang="zh-CN" dirty="0">
                <a:effectLst/>
                <a:latin typeface="Arial" panose="020B0604020202020204" pitchFamily="34" charset="0"/>
              </a:rPr>
              <a:t>cube</a:t>
            </a:r>
            <a:r>
              <a:rPr lang="zh-CN" altLang="en-US" dirty="0">
                <a:effectLst/>
                <a:latin typeface="Arial" panose="020B0604020202020204" pitchFamily="34" charset="0"/>
              </a:rPr>
              <a:t>。如果</a:t>
            </a:r>
            <a:r>
              <a:rPr lang="en-US" altLang="zh-CN" dirty="0">
                <a:effectLst/>
                <a:latin typeface="Arial" panose="020B0604020202020204" pitchFamily="34" charset="0"/>
              </a:rPr>
              <a:t>cube s</a:t>
            </a:r>
            <a:r>
              <a:rPr lang="zh-CN" altLang="en-US" dirty="0">
                <a:effectLst/>
                <a:latin typeface="Arial" panose="020B0604020202020204" pitchFamily="34" charset="0"/>
              </a:rPr>
              <a:t>在某一时刻被阻塞，方法</a:t>
            </a:r>
            <a:r>
              <a:rPr lang="en-US" altLang="zh-CN" dirty="0" err="1">
                <a:effectLst/>
                <a:latin typeface="Arial" panose="020B0604020202020204" pitchFamily="34" charset="0"/>
              </a:rPr>
              <a:t>isBlocked</a:t>
            </a:r>
            <a:r>
              <a:rPr lang="en-US" altLang="zh-CN" dirty="0">
                <a:effectLst/>
                <a:latin typeface="Arial" panose="020B0604020202020204" pitchFamily="34" charset="0"/>
              </a:rPr>
              <a:t>(s)</a:t>
            </a:r>
            <a:r>
              <a:rPr lang="zh-CN" altLang="en-US" dirty="0">
                <a:effectLst/>
                <a:latin typeface="Arial" panose="020B0604020202020204" pitchFamily="34" charset="0"/>
              </a:rPr>
              <a:t>返回</a:t>
            </a:r>
            <a:r>
              <a:rPr lang="en-US" altLang="zh-CN" dirty="0">
                <a:effectLst/>
                <a:latin typeface="Arial" panose="020B0604020202020204" pitchFamily="34" charset="0"/>
              </a:rPr>
              <a:t>TRUE</a:t>
            </a:r>
            <a:r>
              <a:rPr lang="zh-CN" altLang="en-US" dirty="0">
                <a:effectLst/>
                <a:latin typeface="Arial" panose="020B0604020202020204" pitchFamily="34" charset="0"/>
              </a:rPr>
              <a:t>。如果</a:t>
            </a:r>
            <a:r>
              <a:rPr lang="en-US" altLang="zh-CN" dirty="0">
                <a:effectLst/>
                <a:latin typeface="Arial" panose="020B0604020202020204" pitchFamily="34" charset="0"/>
              </a:rPr>
              <a:t>cube c</a:t>
            </a:r>
            <a:r>
              <a:rPr lang="zh-CN" altLang="en-US" dirty="0">
                <a:effectLst/>
                <a:latin typeface="Arial" panose="020B0604020202020204" pitchFamily="34" charset="0"/>
              </a:rPr>
              <a:t>与初始状态相交，方法</a:t>
            </a:r>
            <a:r>
              <a:rPr lang="en-US" altLang="zh-CN" dirty="0" err="1">
                <a:effectLst/>
                <a:latin typeface="Arial" panose="020B0604020202020204" pitchFamily="34" charset="0"/>
              </a:rPr>
              <a:t>isInitial</a:t>
            </a:r>
            <a:r>
              <a:rPr lang="en-US" altLang="zh-CN" dirty="0">
                <a:effectLst/>
                <a:latin typeface="Arial" panose="020B0604020202020204" pitchFamily="34" charset="0"/>
              </a:rPr>
              <a:t>(c)</a:t>
            </a:r>
            <a:r>
              <a:rPr lang="zh-CN" altLang="en-US" dirty="0">
                <a:effectLst/>
                <a:latin typeface="Arial" panose="020B0604020202020204" pitchFamily="34" charset="0"/>
              </a:rPr>
              <a:t>返回</a:t>
            </a:r>
            <a:r>
              <a:rPr lang="en-US" altLang="zh-CN" dirty="0">
                <a:effectLst/>
                <a:latin typeface="Arial" panose="020B0604020202020204" pitchFamily="34" charset="0"/>
              </a:rPr>
              <a:t>TRUE</a:t>
            </a:r>
            <a:r>
              <a:rPr lang="zh-CN" altLang="en-US" dirty="0">
                <a:effectLst/>
                <a:latin typeface="Arial" panose="020B0604020202020204" pitchFamily="34" charset="0"/>
              </a:rPr>
              <a:t>。方法</a:t>
            </a:r>
            <a:r>
              <a:rPr lang="en-US" altLang="zh-CN" dirty="0" err="1">
                <a:effectLst/>
                <a:latin typeface="Arial" panose="020B0604020202020204" pitchFamily="34" charset="0"/>
              </a:rPr>
              <a:t>blockCubeInSolver</a:t>
            </a:r>
            <a:r>
              <a:rPr lang="en-US" altLang="zh-CN" dirty="0">
                <a:effectLst/>
                <a:latin typeface="Arial" panose="020B0604020202020204" pitchFamily="34" charset="0"/>
              </a:rPr>
              <a:t>(s)</a:t>
            </a:r>
            <a:r>
              <a:rPr lang="zh-CN" altLang="en-US" dirty="0">
                <a:effectLst/>
                <a:latin typeface="Arial" panose="020B0604020202020204" pitchFamily="34" charset="0"/>
              </a:rPr>
              <a:t>向</a:t>
            </a:r>
            <a:r>
              <a:rPr lang="en-US" altLang="zh-CN" dirty="0" err="1">
                <a:effectLst/>
                <a:latin typeface="Arial" panose="020B0604020202020204" pitchFamily="34" charset="0"/>
              </a:rPr>
              <a:t>PdrSat</a:t>
            </a:r>
            <a:r>
              <a:rPr lang="zh-CN" altLang="en-US" dirty="0">
                <a:effectLst/>
                <a:latin typeface="Arial" panose="020B0604020202020204" pitchFamily="34" charset="0"/>
              </a:rPr>
              <a:t>报告已经在向量</a:t>
            </a:r>
            <a:r>
              <a:rPr lang="en-US" altLang="zh-CN" dirty="0">
                <a:effectLst/>
                <a:latin typeface="Arial" panose="020B0604020202020204" pitchFamily="34" charset="0"/>
              </a:rPr>
              <a:t>F</a:t>
            </a:r>
            <a:r>
              <a:rPr lang="zh-CN" altLang="en-US" dirty="0">
                <a:effectLst/>
                <a:latin typeface="Arial" panose="020B0604020202020204" pitchFamily="34" charset="0"/>
              </a:rPr>
              <a:t>（每一时刻的被限定的立方体集合）中添加了一个立方体。</a:t>
            </a:r>
            <a:endParaRPr lang="en-US" altLang="zh-CN"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dirty="0">
                <a:effectLst/>
                <a:latin typeface="Arial" panose="020B0604020202020204" pitchFamily="34" charset="0"/>
              </a:rPr>
              <a:t>最后，</a:t>
            </a:r>
            <a:r>
              <a:rPr lang="en-US" altLang="zh-CN" dirty="0" err="1">
                <a:effectLst/>
                <a:latin typeface="Arial" panose="020B0604020202020204" pitchFamily="34" charset="0"/>
              </a:rPr>
              <a:t>solverelative</a:t>
            </a:r>
            <a:r>
              <a:rPr lang="zh-CN" altLang="en-US" dirty="0">
                <a:effectLst/>
                <a:latin typeface="Arial" panose="020B0604020202020204" pitchFamily="34" charset="0"/>
              </a:rPr>
              <a:t>使用扩展查询</a:t>
            </a:r>
            <a:r>
              <a:rPr lang="en-US" altLang="zh-CN" dirty="0">
                <a:effectLst/>
                <a:latin typeface="Arial" panose="020B0604020202020204" pitchFamily="34" charset="0"/>
              </a:rPr>
              <a:t>(Q2)</a:t>
            </a:r>
            <a:r>
              <a:rPr lang="zh-CN" altLang="en-US" dirty="0">
                <a:effectLst/>
                <a:latin typeface="Arial" panose="020B0604020202020204" pitchFamily="34" charset="0"/>
              </a:rPr>
              <a:t>测试</a:t>
            </a:r>
            <a:r>
              <a:rPr lang="en-US" altLang="zh-CN" dirty="0" err="1">
                <a:effectLst/>
                <a:latin typeface="Arial" panose="020B0604020202020204" pitchFamily="34" charset="0"/>
              </a:rPr>
              <a:t>s.cube</a:t>
            </a:r>
            <a:r>
              <a:rPr lang="zh-CN" altLang="en-US" dirty="0">
                <a:effectLst/>
                <a:latin typeface="Arial" panose="020B0604020202020204" pitchFamily="34" charset="0"/>
              </a:rPr>
              <a:t>是否可以在</a:t>
            </a:r>
            <a:r>
              <a:rPr lang="en-US" altLang="zh-CN" dirty="0" err="1">
                <a:effectLst/>
                <a:latin typeface="Arial" panose="020B0604020202020204" pitchFamily="34" charset="0"/>
              </a:rPr>
              <a:t>s.frame</a:t>
            </a:r>
            <a:r>
              <a:rPr lang="zh-CN" altLang="en-US" dirty="0">
                <a:effectLst/>
                <a:latin typeface="Arial" panose="020B0604020202020204" pitchFamily="34" charset="0"/>
              </a:rPr>
              <a:t>上被限定。</a:t>
            </a:r>
            <a:endParaRPr lang="en-US" altLang="zh-CN"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dirty="0">
                <a:effectLst/>
                <a:latin typeface="Arial" panose="020B0604020202020204" pitchFamily="34" charset="0"/>
              </a:rPr>
              <a:t>如果回答是</a:t>
            </a:r>
            <a:r>
              <a:rPr lang="en-US" altLang="zh-CN" dirty="0" err="1">
                <a:effectLst/>
                <a:latin typeface="Arial" panose="020B0604020202020204" pitchFamily="34" charset="0"/>
              </a:rPr>
              <a:t>unsat</a:t>
            </a:r>
            <a:r>
              <a:rPr lang="zh-CN" altLang="en-US" dirty="0">
                <a:effectLst/>
                <a:latin typeface="Arial" panose="020B0604020202020204" pitchFamily="34" charset="0"/>
              </a:rPr>
              <a:t>，则返回一个新立方体</a:t>
            </a:r>
            <a:r>
              <a:rPr lang="en-US" altLang="zh-CN" dirty="0">
                <a:effectLst/>
                <a:latin typeface="Arial" panose="020B0604020202020204" pitchFamily="34" charset="0"/>
              </a:rPr>
              <a:t>z</a:t>
            </a:r>
            <a:r>
              <a:rPr lang="zh-CN" altLang="en-US" dirty="0">
                <a:effectLst/>
                <a:latin typeface="Arial" panose="020B0604020202020204" pitchFamily="34" charset="0"/>
              </a:rPr>
              <a:t>，该立方体是</a:t>
            </a:r>
            <a:r>
              <a:rPr lang="en-US" altLang="zh-CN" dirty="0">
                <a:effectLst/>
                <a:latin typeface="Arial" panose="020B0604020202020204" pitchFamily="34" charset="0"/>
              </a:rPr>
              <a:t>s</a:t>
            </a:r>
            <a:r>
              <a:rPr lang="zh-CN" altLang="en-US" dirty="0">
                <a:effectLst/>
                <a:latin typeface="Arial" panose="020B0604020202020204" pitchFamily="34" charset="0"/>
              </a:rPr>
              <a:t>的子集。该方法不仅保证了</a:t>
            </a:r>
            <a:r>
              <a:rPr lang="en-US" altLang="zh-CN" dirty="0" err="1">
                <a:effectLst/>
                <a:latin typeface="Arial" panose="020B0604020202020204" pitchFamily="34" charset="0"/>
              </a:rPr>
              <a:t>s.cube</a:t>
            </a:r>
            <a:r>
              <a:rPr lang="zh-CN" altLang="en-US" dirty="0">
                <a:effectLst/>
                <a:latin typeface="Arial" panose="020B0604020202020204" pitchFamily="34" charset="0"/>
              </a:rPr>
              <a:t>在</a:t>
            </a:r>
            <a:r>
              <a:rPr lang="en-US" altLang="zh-CN" dirty="0">
                <a:effectLst/>
                <a:latin typeface="Arial" panose="020B0604020202020204" pitchFamily="34" charset="0"/>
              </a:rPr>
              <a:t>frame s</a:t>
            </a:r>
            <a:r>
              <a:rPr lang="zh-CN" altLang="en-US" dirty="0">
                <a:effectLst/>
                <a:latin typeface="Arial" panose="020B0604020202020204" pitchFamily="34" charset="0"/>
              </a:rPr>
              <a:t>中被限定，而且实际上子集</a:t>
            </a:r>
            <a:r>
              <a:rPr lang="en-US" altLang="zh-CN" dirty="0" err="1">
                <a:effectLst/>
                <a:latin typeface="Arial" panose="020B0604020202020204" pitchFamily="34" charset="0"/>
              </a:rPr>
              <a:t>z.cube</a:t>
            </a:r>
            <a:r>
              <a:rPr lang="zh-CN" altLang="en-US" dirty="0">
                <a:effectLst/>
                <a:latin typeface="Arial" panose="020B0604020202020204" pitchFamily="34" charset="0"/>
              </a:rPr>
              <a:t>在后面的一个</a:t>
            </a:r>
            <a:r>
              <a:rPr lang="en-US" altLang="zh-CN" dirty="0">
                <a:effectLst/>
                <a:latin typeface="Arial" panose="020B0604020202020204" pitchFamily="34" charset="0"/>
              </a:rPr>
              <a:t>frame</a:t>
            </a:r>
            <a:r>
              <a:rPr lang="zh-CN" altLang="en-US" dirty="0">
                <a:effectLst/>
                <a:latin typeface="Arial" panose="020B0604020202020204" pitchFamily="34" charset="0"/>
              </a:rPr>
              <a:t>中被限定。</a:t>
            </a:r>
          </a:p>
          <a:p>
            <a:r>
              <a:rPr lang="zh-CN" altLang="en-US" dirty="0"/>
              <a:t>如果回答是</a:t>
            </a:r>
            <a:r>
              <a:rPr lang="en-US" altLang="zh-CN" dirty="0"/>
              <a:t>sat</a:t>
            </a:r>
            <a:r>
              <a:rPr lang="zh-CN" altLang="en-US" dirty="0"/>
              <a:t>，则返回一个对</a:t>
            </a:r>
            <a:r>
              <a:rPr lang="en-US" altLang="zh-CN" dirty="0"/>
              <a:t>cube</a:t>
            </a:r>
            <a:r>
              <a:rPr lang="zh-CN" altLang="en-US" dirty="0"/>
              <a:t> </a:t>
            </a:r>
            <a:r>
              <a:rPr lang="en-US" altLang="zh-CN" dirty="0"/>
              <a:t>s</a:t>
            </a:r>
            <a:r>
              <a:rPr lang="zh-CN" altLang="en-US" dirty="0"/>
              <a:t>原象的最小项的推广。</a:t>
            </a:r>
            <a:r>
              <a:rPr lang="zh-CN" altLang="en-US" dirty="0">
                <a:effectLst/>
                <a:latin typeface="Arial" panose="020B0604020202020204" pitchFamily="34" charset="0"/>
              </a:rPr>
              <a:t>返回的立方体</a:t>
            </a:r>
            <a:r>
              <a:rPr lang="en-US" altLang="zh-CN" dirty="0" err="1">
                <a:effectLst/>
                <a:latin typeface="Arial" panose="020B0604020202020204" pitchFamily="34" charset="0"/>
              </a:rPr>
              <a:t>z.cube</a:t>
            </a:r>
            <a:r>
              <a:rPr lang="zh-CN" altLang="en-US" dirty="0">
                <a:effectLst/>
                <a:latin typeface="Arial" panose="020B0604020202020204" pitchFamily="34" charset="0"/>
              </a:rPr>
              <a:t>的所有状态都可以在一次迁移中到达</a:t>
            </a:r>
            <a:r>
              <a:rPr lang="en-US" altLang="zh-CN" dirty="0" err="1">
                <a:effectLst/>
                <a:latin typeface="Arial" panose="020B0604020202020204" pitchFamily="34" charset="0"/>
              </a:rPr>
              <a:t>s.cube</a:t>
            </a:r>
            <a:r>
              <a:rPr lang="zh-CN" altLang="en-US" dirty="0">
                <a:effectLst/>
                <a:latin typeface="Arial" panose="020B0604020202020204" pitchFamily="34" charset="0"/>
              </a:rPr>
              <a:t>。</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6" name="幻灯片图像占位符 1"/>
          <p:cNvSpPr>
            <a:spLocks noGrp="1" noRot="1" noChangeAspect="1"/>
          </p:cNvSpPr>
          <p:nvPr>
            <p:ph type="sldImg"/>
          </p:nvPr>
        </p:nvSpPr>
        <p:spPr/>
      </p:sp>
      <p:sp>
        <p:nvSpPr>
          <p:cNvPr id="1048707" name="备注占位符 2"/>
          <p:cNvSpPr>
            <a:spLocks noGrp="1"/>
          </p:cNvSpPr>
          <p:nvPr>
            <p:ph type="body" idx="1"/>
          </p:nvPr>
        </p:nvSpPr>
        <p:spPr/>
        <p:txBody>
          <a:bodyPr/>
          <a:lstStyle/>
          <a:p>
            <a:r>
              <a:rPr lang="zh-CN" altLang="en-US" dirty="0">
                <a:effectLst/>
                <a:latin typeface="Arial" panose="020B0604020202020204" pitchFamily="34" charset="0"/>
              </a:rPr>
              <a:t>这一部分主要讲：使用</a:t>
            </a:r>
            <a:r>
              <a:rPr lang="en-US" altLang="zh-CN" dirty="0">
                <a:effectLst/>
                <a:latin typeface="Arial" panose="020B0604020202020204" pitchFamily="34" charset="0"/>
              </a:rPr>
              <a:t>MINISAT</a:t>
            </a:r>
            <a:r>
              <a:rPr lang="zh-CN" altLang="en-US" dirty="0">
                <a:effectLst/>
                <a:latin typeface="Arial" panose="020B0604020202020204" pitchFamily="34" charset="0"/>
              </a:rPr>
              <a:t>和单个</a:t>
            </a:r>
            <a:r>
              <a:rPr lang="en-US" altLang="zh-CN" dirty="0">
                <a:effectLst/>
                <a:latin typeface="Arial" panose="020B0604020202020204" pitchFamily="34" charset="0"/>
              </a:rPr>
              <a:t>SAT</a:t>
            </a:r>
            <a:r>
              <a:rPr lang="zh-CN" altLang="en-US" dirty="0">
                <a:effectLst/>
                <a:latin typeface="Arial" panose="020B0604020202020204" pitchFamily="34" charset="0"/>
              </a:rPr>
              <a:t>实例实现</a:t>
            </a:r>
            <a:r>
              <a:rPr lang="en-US" altLang="zh-CN" dirty="0" err="1">
                <a:effectLst/>
                <a:latin typeface="Arial" panose="020B0604020202020204" pitchFamily="34" charset="0"/>
              </a:rPr>
              <a:t>PdrSat</a:t>
            </a:r>
            <a:r>
              <a:rPr lang="zh-CN" altLang="en-US" dirty="0">
                <a:effectLst/>
                <a:latin typeface="Arial" panose="020B0604020202020204" pitchFamily="34" charset="0"/>
              </a:rPr>
              <a:t>接口的</a:t>
            </a:r>
            <a:r>
              <a:rPr lang="en-US" altLang="zh-CN" dirty="0" err="1">
                <a:effectLst/>
                <a:latin typeface="Arial" panose="020B0604020202020204" pitchFamily="34" charset="0"/>
              </a:rPr>
              <a:t>solveRelative</a:t>
            </a:r>
            <a:r>
              <a:rPr lang="en-US" altLang="zh-CN" dirty="0">
                <a:effectLst/>
                <a:latin typeface="Arial" panose="020B0604020202020204" pitchFamily="34" charset="0"/>
              </a:rPr>
              <a:t>()</a:t>
            </a:r>
            <a:r>
              <a:rPr lang="zh-CN" altLang="en-US" dirty="0">
                <a:effectLst/>
                <a:latin typeface="Arial" panose="020B0604020202020204" pitchFamily="34" charset="0"/>
              </a:rPr>
              <a:t>的细节。</a:t>
            </a:r>
            <a:endParaRPr lang="zh-CN" altLang="en-US" dirty="0"/>
          </a:p>
        </p:txBody>
      </p:sp>
      <p:sp>
        <p:nvSpPr>
          <p:cNvPr id="1048708" name="灯片编号占位符 3"/>
          <p:cNvSpPr>
            <a:spLocks noGrp="1"/>
          </p:cNvSpPr>
          <p:nvPr>
            <p:ph type="sldNum" sz="quarter" idx="5"/>
          </p:nvPr>
        </p:nvSpPr>
        <p:spPr/>
        <p:txBody>
          <a:bodyPr/>
          <a:lstStyle/>
          <a:p>
            <a:fld id="{A6837353-30EB-4A48-80EB-173D804AEFBD}" type="slidenum">
              <a:rPr lang="zh-CN" altLang="en-US" smtClean="0"/>
              <a:t>26</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幻灯片图像占位符 1"/>
          <p:cNvSpPr>
            <a:spLocks noGrp="1" noRot="1" noChangeAspect="1"/>
          </p:cNvSpPr>
          <p:nvPr>
            <p:ph type="sldImg"/>
          </p:nvPr>
        </p:nvSpPr>
        <p:spPr/>
      </p:sp>
      <p:sp>
        <p:nvSpPr>
          <p:cNvPr id="1048713" name="灯片编号占位符 3"/>
          <p:cNvSpPr>
            <a:spLocks noGrp="1"/>
          </p:cNvSpPr>
          <p:nvPr>
            <p:ph type="sldNum" sz="quarter" idx="5"/>
          </p:nvPr>
        </p:nvSpPr>
        <p:spPr/>
        <p:txBody>
          <a:bodyPr/>
          <a:lstStyle/>
          <a:p>
            <a:fld id="{CA298FEE-A46A-4860-84C4-CA0660BFEE76}" type="slidenum">
              <a:rPr lang="zh-CN" altLang="en-US" smtClean="0"/>
              <a:t>27</a:t>
            </a:fld>
            <a:endParaRPr lang="zh-CN" altLang="en-US"/>
          </a:p>
        </p:txBody>
      </p:sp>
      <p:sp>
        <p:nvSpPr>
          <p:cNvPr id="1048819" name="备注占位符 1048818"/>
          <p:cNvSpPr>
            <a:spLocks noGrp="1"/>
          </p:cNvSpPr>
          <p:nvPr>
            <p:ph type="body"/>
          </p:nvPr>
        </p:nvSpPr>
        <p:spPr/>
        <p:txBody>
          <a:bodyPr/>
          <a:lstStyle/>
          <a:p>
            <a:r>
              <a:rPr lang="zh-CN" altLang="en-US"/>
              <a:t>讲函数的具体步骤前先说几个重要的特征：
一是minisat允许通过假设文字来实现增量的sat（假设文字可以理解为在一个sat请求中暂时的假设子句集），在sat调用结束后，假设被消除并且新的正规的子句会在下一次sat调用前加进来。
二是对于UNSAT调用，MINISAT会返回证明中使用的假设的子集。
三是无论何时新的帧添加到trace中，一个新的激活文字acti会被保存。所有在此帧中学习的子句会通过 扩展。
该函数的具体步骤分为三步：第一步先保存一个激活文字a，然后添加以上子句；
第二步在假设条件下寻求解决方法：
结果是unsat的话，则消除所有与假设si’相关的未使用的文字，除非新立方体与初始状态重叠。然后找到使用最低的acti，返回带有时间的立方体Tcube。
如果是sat并且提取模型被指定，就从满意的任务中提取最小项m，通过三元模拟缩短m。
如果结果仅仅是sat，返回空立方体和空时间。
第三步就是永久地添加单位子句非a。</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幻灯片图像占位符 1"/>
          <p:cNvSpPr>
            <a:spLocks noGrp="1" noRot="1" noChangeAspect="1"/>
          </p:cNvSpPr>
          <p:nvPr>
            <p:ph type="sldImg"/>
          </p:nvPr>
        </p:nvSpPr>
        <p:spPr/>
      </p:sp>
      <p:sp>
        <p:nvSpPr>
          <p:cNvPr id="1048716" name="备注占位符 2"/>
          <p:cNvSpPr>
            <a:spLocks noGrp="1"/>
          </p:cNvSpPr>
          <p:nvPr>
            <p:ph type="body" idx="1"/>
          </p:nvPr>
        </p:nvSpPr>
        <p:spPr/>
        <p:txBody>
          <a:bodyPr/>
          <a:lstStyle/>
          <a:p>
            <a:r>
              <a:rPr lang="zh-CN" altLang="en-US" dirty="0"/>
              <a:t>作者进行了很多实验来评估</a:t>
            </a:r>
            <a:r>
              <a:rPr lang="en-US" altLang="zh-CN" dirty="0"/>
              <a:t>PDR</a:t>
            </a:r>
            <a:r>
              <a:rPr lang="zh-CN" altLang="en-US" dirty="0"/>
              <a:t>的实施，在接下来这一部分介绍通过实验发现的一些有趣的结果。</a:t>
            </a:r>
          </a:p>
        </p:txBody>
      </p:sp>
      <p:sp>
        <p:nvSpPr>
          <p:cNvPr id="1048717" name="灯片编号占位符 3"/>
          <p:cNvSpPr>
            <a:spLocks noGrp="1"/>
          </p:cNvSpPr>
          <p:nvPr>
            <p:ph type="sldNum" sz="quarter" idx="5"/>
          </p:nvPr>
        </p:nvSpPr>
        <p:spPr/>
        <p:txBody>
          <a:bodyPr/>
          <a:lstStyle/>
          <a:p>
            <a:fld id="{CA298FEE-A46A-4860-84C4-CA0660BFEE76}" type="slidenum">
              <a:rPr lang="zh-CN" altLang="en-US" smtClean="0"/>
              <a:t>28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幻灯片图像占位符 1"/>
          <p:cNvSpPr>
            <a:spLocks noGrp="1" noRot="1" noChangeAspect="1"/>
          </p:cNvSpPr>
          <p:nvPr>
            <p:ph type="sldImg"/>
          </p:nvPr>
        </p:nvSpPr>
        <p:spPr/>
      </p:sp>
      <p:sp>
        <p:nvSpPr>
          <p:cNvPr id="104872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在进行实验将</a:t>
            </a:r>
            <a:r>
              <a:rPr lang="en-US" altLang="zh-CN" dirty="0"/>
              <a:t>IC3</a:t>
            </a:r>
            <a:r>
              <a:rPr lang="zh-CN" altLang="en-US" dirty="0"/>
              <a:t>与</a:t>
            </a:r>
            <a:r>
              <a:rPr lang="en-US" altLang="zh-CN" dirty="0"/>
              <a:t>PDR</a:t>
            </a:r>
            <a:r>
              <a:rPr lang="zh-CN" altLang="en-US" dirty="0"/>
              <a:t>进行比较时发现了一些有趣的结果</a:t>
            </a:r>
            <a:endParaRPr lang="en-US" altLang="zh-CN" dirty="0"/>
          </a:p>
          <a:p>
            <a:endParaRPr lang="en-US" altLang="zh-CN" dirty="0"/>
          </a:p>
          <a:p>
            <a:r>
              <a:rPr lang="zh-CN" altLang="en-US" dirty="0"/>
              <a:t>这个图体现了对</a:t>
            </a:r>
            <a:r>
              <a:rPr lang="en-US" altLang="zh-CN" dirty="0"/>
              <a:t>PDR</a:t>
            </a:r>
            <a:r>
              <a:rPr lang="zh-CN" altLang="en-US" dirty="0"/>
              <a:t>、</a:t>
            </a:r>
            <a:r>
              <a:rPr lang="en-US" altLang="zh-CN" dirty="0"/>
              <a:t>IC3</a:t>
            </a:r>
            <a:r>
              <a:rPr lang="zh-CN" altLang="en-US" dirty="0"/>
              <a:t>以及另外两种修改版的</a:t>
            </a:r>
            <a:r>
              <a:rPr lang="en-US" altLang="zh-CN" dirty="0"/>
              <a:t>PDR</a:t>
            </a:r>
            <a:r>
              <a:rPr lang="zh-CN" altLang="en-US" dirty="0"/>
              <a:t>在解决工业问题上的比较。在</a:t>
            </a:r>
            <a:r>
              <a:rPr lang="en-US" altLang="zh-CN" dirty="0"/>
              <a:t>10</a:t>
            </a:r>
            <a:r>
              <a:rPr lang="zh-CN" altLang="en-US" dirty="0"/>
              <a:t>分钟的超时时间内</a:t>
            </a:r>
            <a:r>
              <a:rPr lang="en-US" altLang="zh-CN" dirty="0"/>
              <a:t>IC3</a:t>
            </a:r>
            <a:r>
              <a:rPr lang="zh-CN" altLang="en-US" dirty="0"/>
              <a:t>和</a:t>
            </a:r>
            <a:r>
              <a:rPr lang="en-US" altLang="zh-CN" dirty="0"/>
              <a:t>PDR</a:t>
            </a:r>
            <a:r>
              <a:rPr lang="zh-CN" altLang="en-US" dirty="0"/>
              <a:t>共解决了</a:t>
            </a:r>
            <a:r>
              <a:rPr lang="en-US" altLang="zh-CN" dirty="0"/>
              <a:t>42</a:t>
            </a:r>
            <a:r>
              <a:rPr lang="zh-CN" altLang="en-US" dirty="0"/>
              <a:t>个工业问题，其中</a:t>
            </a:r>
            <a:r>
              <a:rPr lang="en-US" altLang="zh-CN" dirty="0"/>
              <a:t>PDR</a:t>
            </a:r>
            <a:r>
              <a:rPr lang="zh-CN" altLang="en-US" dirty="0"/>
              <a:t>解决了</a:t>
            </a:r>
            <a:r>
              <a:rPr lang="en-US" altLang="zh-CN" dirty="0"/>
              <a:t>38</a:t>
            </a:r>
            <a:r>
              <a:rPr lang="zh-CN" altLang="en-US" dirty="0"/>
              <a:t>个，</a:t>
            </a:r>
            <a:r>
              <a:rPr lang="en-US" altLang="zh-CN" dirty="0"/>
              <a:t>IC3</a:t>
            </a:r>
            <a:r>
              <a:rPr lang="zh-CN" altLang="en-US" dirty="0"/>
              <a:t>解决了</a:t>
            </a:r>
            <a:r>
              <a:rPr lang="en-US" altLang="zh-CN" dirty="0"/>
              <a:t>21</a:t>
            </a:r>
            <a:r>
              <a:rPr lang="zh-CN" altLang="en-US" dirty="0"/>
              <a:t>个，从这可以看到</a:t>
            </a:r>
            <a:r>
              <a:rPr lang="en-US" altLang="zh-CN" dirty="0"/>
              <a:t>PDR</a:t>
            </a:r>
            <a:r>
              <a:rPr lang="zh-CN" altLang="en-US" dirty="0"/>
              <a:t>解决的问题数量几乎是</a:t>
            </a:r>
            <a:r>
              <a:rPr lang="en-US" altLang="zh-CN" dirty="0"/>
              <a:t>IC3</a:t>
            </a:r>
            <a:r>
              <a:rPr lang="zh-CN" altLang="en-US" dirty="0"/>
              <a:t>的两倍。</a:t>
            </a:r>
            <a:endParaRPr lang="en-US" altLang="zh-CN" dirty="0"/>
          </a:p>
          <a:p>
            <a:r>
              <a:rPr lang="zh-CN" altLang="en-US" dirty="0"/>
              <a:t>图中的第三列和第四列分别是没有三元模拟的</a:t>
            </a:r>
            <a:r>
              <a:rPr lang="en-US" altLang="zh-CN" dirty="0"/>
              <a:t>PDR</a:t>
            </a:r>
            <a:r>
              <a:rPr lang="zh-CN" altLang="en-US" dirty="0"/>
              <a:t>的性能情况和更强的立方体泛化的效应。</a:t>
            </a:r>
          </a:p>
        </p:txBody>
      </p:sp>
      <p:sp>
        <p:nvSpPr>
          <p:cNvPr id="1048723" name="灯片编号占位符 3"/>
          <p:cNvSpPr>
            <a:spLocks noGrp="1"/>
          </p:cNvSpPr>
          <p:nvPr>
            <p:ph type="sldNum" sz="quarter" idx="5"/>
          </p:nvPr>
        </p:nvSpPr>
        <p:spPr/>
        <p:txBody>
          <a:bodyPr/>
          <a:lstStyle/>
          <a:p>
            <a:fld id="{CA298FEE-A46A-4860-84C4-CA0660BFEE76}" type="slidenum">
              <a:rPr lang="zh-CN" altLang="en-US" smtClean="0"/>
              <a:t>29</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0" name="幻灯片图像占位符 1"/>
          <p:cNvSpPr>
            <a:spLocks noGrp="1" noRot="1" noChangeAspect="1"/>
          </p:cNvSpPr>
          <p:nvPr>
            <p:ph type="sldImg"/>
          </p:nvPr>
        </p:nvSpPr>
        <p:spPr/>
      </p:sp>
      <p:sp>
        <p:nvSpPr>
          <p:cNvPr id="104873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这个曲线图显示了</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IC3</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IMC</a:t>
            </a:r>
            <a:r>
              <a:rPr lang="zh-CN" altLang="en-US"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HWMCC10</a:t>
            </a:r>
            <a:r>
              <a:rPr lang="zh-CN" altLang="en-US" sz="1200" kern="1200" dirty="0">
                <a:solidFill>
                  <a:schemeClr val="tx1"/>
                </a:solidFill>
                <a:effectLst/>
                <a:latin typeface="+mn-lt"/>
                <a:ea typeface="+mn-ea"/>
                <a:cs typeface="+mn-cs"/>
              </a:rPr>
              <a:t>基准上的性能对比。仔细观察</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IMC</a:t>
            </a:r>
            <a:r>
              <a:rPr lang="zh-CN" altLang="en-US" sz="1200" kern="1200" dirty="0">
                <a:solidFill>
                  <a:schemeClr val="tx1"/>
                </a:solidFill>
                <a:effectLst/>
                <a:latin typeface="+mn-lt"/>
                <a:ea typeface="+mn-ea"/>
                <a:cs typeface="+mn-cs"/>
              </a:rPr>
              <a:t>（短虚线）</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发现差异主要在</a:t>
            </a:r>
            <a:r>
              <a:rPr lang="en-US" altLang="zh-CN" sz="1200" kern="1200" dirty="0">
                <a:solidFill>
                  <a:schemeClr val="tx1"/>
                </a:solidFill>
                <a:effectLst/>
                <a:latin typeface="+mn-lt"/>
                <a:ea typeface="+mn-ea"/>
                <a:cs typeface="+mn-cs"/>
              </a:rPr>
              <a:t>UNSAT</a:t>
            </a:r>
            <a:r>
              <a:rPr lang="zh-CN" altLang="en-US" sz="1200" kern="1200" dirty="0">
                <a:solidFill>
                  <a:schemeClr val="tx1"/>
                </a:solidFill>
                <a:effectLst/>
                <a:latin typeface="+mn-lt"/>
                <a:ea typeface="+mn-ea"/>
                <a:cs typeface="+mn-cs"/>
              </a:rPr>
              <a:t>问题上</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解决了</a:t>
            </a:r>
            <a:r>
              <a:rPr lang="en-US" altLang="zh-CN" sz="1200" kern="1200" dirty="0">
                <a:solidFill>
                  <a:schemeClr val="tx1"/>
                </a:solidFill>
                <a:effectLst/>
                <a:latin typeface="+mn-lt"/>
                <a:ea typeface="+mn-ea"/>
                <a:cs typeface="+mn-cs"/>
              </a:rPr>
              <a:t>420</a:t>
            </a:r>
            <a:r>
              <a:rPr lang="zh-CN" altLang="en-US" sz="1200" kern="1200" dirty="0">
                <a:solidFill>
                  <a:schemeClr val="tx1"/>
                </a:solidFill>
                <a:effectLst/>
                <a:latin typeface="+mn-lt"/>
                <a:ea typeface="+mn-ea"/>
                <a:cs typeface="+mn-cs"/>
              </a:rPr>
              <a:t>个，而</a:t>
            </a:r>
            <a:r>
              <a:rPr lang="en-US" altLang="zh-CN" sz="1200" kern="1200" dirty="0">
                <a:solidFill>
                  <a:schemeClr val="tx1"/>
                </a:solidFill>
                <a:effectLst/>
                <a:latin typeface="+mn-lt"/>
                <a:ea typeface="+mn-ea"/>
                <a:cs typeface="+mn-cs"/>
              </a:rPr>
              <a:t>IMC</a:t>
            </a:r>
            <a:r>
              <a:rPr lang="zh-CN" altLang="en-US" sz="1200" kern="1200" dirty="0">
                <a:solidFill>
                  <a:schemeClr val="tx1"/>
                </a:solidFill>
                <a:effectLst/>
                <a:latin typeface="+mn-lt"/>
                <a:ea typeface="+mn-ea"/>
                <a:cs typeface="+mn-cs"/>
              </a:rPr>
              <a:t>解决了</a:t>
            </a:r>
            <a:r>
              <a:rPr lang="en-US" altLang="zh-CN" sz="1200" kern="1200" dirty="0">
                <a:solidFill>
                  <a:schemeClr val="tx1"/>
                </a:solidFill>
                <a:effectLst/>
                <a:latin typeface="+mn-lt"/>
                <a:ea typeface="+mn-ea"/>
                <a:cs typeface="+mn-cs"/>
              </a:rPr>
              <a:t>362</a:t>
            </a:r>
            <a:r>
              <a:rPr lang="zh-CN" altLang="en-US" sz="1200" kern="1200" dirty="0">
                <a:solidFill>
                  <a:schemeClr val="tx1"/>
                </a:solidFill>
                <a:effectLst/>
                <a:latin typeface="+mn-lt"/>
                <a:ea typeface="+mn-ea"/>
                <a:cs typeface="+mn-cs"/>
              </a:rPr>
              <a:t>个，他们之间的有</a:t>
            </a:r>
            <a:r>
              <a:rPr lang="en-US" altLang="zh-CN" sz="1200" kern="1200" dirty="0">
                <a:solidFill>
                  <a:schemeClr val="tx1"/>
                </a:solidFill>
                <a:effectLst/>
                <a:latin typeface="+mn-lt"/>
                <a:ea typeface="+mn-ea"/>
                <a:cs typeface="+mn-cs"/>
              </a:rPr>
              <a:t>14%</a:t>
            </a:r>
            <a:r>
              <a:rPr lang="zh-CN" altLang="en-US" sz="1200" kern="1200" dirty="0">
                <a:solidFill>
                  <a:schemeClr val="tx1"/>
                </a:solidFill>
                <a:effectLst/>
                <a:latin typeface="+mn-lt"/>
                <a:ea typeface="+mn-ea"/>
                <a:cs typeface="+mn-cs"/>
              </a:rPr>
              <a:t>的差异。而在</a:t>
            </a:r>
            <a:r>
              <a:rPr lang="en-US" altLang="zh-CN" sz="1200" kern="1200" dirty="0">
                <a:solidFill>
                  <a:schemeClr val="tx1"/>
                </a:solidFill>
                <a:effectLst/>
                <a:latin typeface="+mn-lt"/>
                <a:ea typeface="+mn-ea"/>
                <a:cs typeface="+mn-cs"/>
              </a:rPr>
              <a:t>SAT</a:t>
            </a:r>
            <a:r>
              <a:rPr lang="zh-CN" altLang="en-US" sz="1200" kern="1200" dirty="0">
                <a:solidFill>
                  <a:schemeClr val="tx1"/>
                </a:solidFill>
                <a:effectLst/>
                <a:latin typeface="+mn-lt"/>
                <a:ea typeface="+mn-ea"/>
                <a:cs typeface="+mn-cs"/>
              </a:rPr>
              <a:t>的情况下，数字是他们解决例子的数量相差只</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zh-CN" altLang="en-US" dirty="0"/>
          </a:p>
        </p:txBody>
      </p:sp>
      <p:sp>
        <p:nvSpPr>
          <p:cNvPr id="1048732" name="灯片编号占位符 3"/>
          <p:cNvSpPr>
            <a:spLocks noGrp="1"/>
          </p:cNvSpPr>
          <p:nvPr>
            <p:ph type="sldNum" sz="quarter" idx="5"/>
          </p:nvPr>
        </p:nvSpPr>
        <p:spPr/>
        <p:txBody>
          <a:bodyPr/>
          <a:lstStyle/>
          <a:p>
            <a:fld id="{CA298FEE-A46A-4860-84C4-CA0660BFEE76}" type="slidenum">
              <a:rPr lang="zh-CN" altLang="en-US" smtClean="0"/>
              <a:t>30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6" name="幻灯片图像占位符 1"/>
          <p:cNvSpPr>
            <a:spLocks noGrp="1" noRot="1" noChangeAspect="1"/>
          </p:cNvSpPr>
          <p:nvPr>
            <p:ph type="sldImg"/>
          </p:nvPr>
        </p:nvSpPr>
        <p:spPr/>
      </p:sp>
      <p:sp>
        <p:nvSpPr>
          <p:cNvPr id="1048737" name="备注占位符 2"/>
          <p:cNvSpPr>
            <a:spLocks noGrp="1"/>
          </p:cNvSpPr>
          <p:nvPr>
            <p:ph type="body" idx="1"/>
          </p:nvPr>
        </p:nvSpPr>
        <p:spPr/>
        <p:txBody>
          <a:bodyPr/>
          <a:lstStyle/>
          <a:p>
            <a:r>
              <a:rPr lang="zh-CN" altLang="en-US" dirty="0"/>
              <a:t>对</a:t>
            </a:r>
            <a:r>
              <a:rPr lang="en-US" altLang="zh-CN" dirty="0"/>
              <a:t>PDR</a:t>
            </a:r>
            <a:r>
              <a:rPr lang="zh-CN" altLang="en-US" dirty="0"/>
              <a:t>的其中一个修改就是使</a:t>
            </a:r>
            <a:r>
              <a:rPr lang="en-US" altLang="zh-CN" dirty="0"/>
              <a:t>PDR</a:t>
            </a:r>
            <a:r>
              <a:rPr lang="zh-CN" altLang="en-US" dirty="0"/>
              <a:t>没有三元模拟，图中虚点画的这条曲线就显示了这种</a:t>
            </a:r>
            <a:r>
              <a:rPr lang="en-US" altLang="zh-CN" dirty="0"/>
              <a:t>PDR</a:t>
            </a:r>
            <a:r>
              <a:rPr lang="zh-CN" altLang="en-US" dirty="0"/>
              <a:t>的性能。</a:t>
            </a:r>
            <a:endParaRPr lang="en-US" altLang="zh-CN" dirty="0"/>
          </a:p>
          <a:p>
            <a:r>
              <a:rPr lang="zh-CN" altLang="en-US" dirty="0"/>
              <a:t>与实线所表示的</a:t>
            </a:r>
            <a:r>
              <a:rPr lang="en-US" altLang="zh-CN" dirty="0"/>
              <a:t>PDR</a:t>
            </a:r>
            <a:r>
              <a:rPr lang="zh-CN" altLang="en-US" dirty="0"/>
              <a:t>以及短虚线所示的</a:t>
            </a:r>
            <a:r>
              <a:rPr lang="en-US" altLang="zh-CN" dirty="0"/>
              <a:t>IC3</a:t>
            </a:r>
            <a:r>
              <a:rPr lang="zh-CN" altLang="en-US" dirty="0"/>
              <a:t>的性能相对比可以发现，三元模拟对性能的影响很大。如果没有它，</a:t>
            </a:r>
            <a:r>
              <a:rPr lang="en-US" altLang="zh-CN" dirty="0"/>
              <a:t>PDR</a:t>
            </a:r>
            <a:r>
              <a:rPr lang="zh-CN" altLang="en-US" dirty="0"/>
              <a:t>的执行将会远远低于</a:t>
            </a:r>
            <a:r>
              <a:rPr lang="en-US" altLang="zh-CN" dirty="0"/>
              <a:t>IC3</a:t>
            </a:r>
            <a:r>
              <a:rPr lang="zh-CN" altLang="en-US" dirty="0"/>
              <a:t>。</a:t>
            </a:r>
            <a:endParaRPr lang="en-US" altLang="zh-CN" dirty="0"/>
          </a:p>
          <a:p>
            <a:r>
              <a:rPr lang="zh-CN" altLang="en-US" sz="1200" kern="1200" dirty="0">
                <a:solidFill>
                  <a:schemeClr val="tx1"/>
                </a:solidFill>
                <a:effectLst/>
                <a:latin typeface="+mn-lt"/>
                <a:ea typeface="+mn-ea"/>
                <a:cs typeface="+mn-cs"/>
              </a:rPr>
              <a:t>其中一个原因可能是</a:t>
            </a:r>
            <a:r>
              <a:rPr lang="en-US" altLang="zh-CN" sz="1200" kern="1200" dirty="0">
                <a:solidFill>
                  <a:schemeClr val="tx1"/>
                </a:solidFill>
                <a:effectLst/>
                <a:latin typeface="+mn-lt"/>
                <a:ea typeface="+mn-ea"/>
                <a:cs typeface="+mn-cs"/>
              </a:rPr>
              <a:t>IC3</a:t>
            </a:r>
            <a:r>
              <a:rPr lang="zh-CN" altLang="en-US" sz="1200" kern="1200" dirty="0">
                <a:solidFill>
                  <a:schemeClr val="tx1"/>
                </a:solidFill>
                <a:effectLst/>
                <a:latin typeface="+mn-lt"/>
                <a:ea typeface="+mn-ea"/>
                <a:cs typeface="+mn-cs"/>
              </a:rPr>
              <a:t>从来没有三元模拟，</a:t>
            </a:r>
            <a:r>
              <a:rPr lang="en-US" altLang="zh-CN" sz="1200" kern="1200" dirty="0">
                <a:solidFill>
                  <a:schemeClr val="tx1"/>
                </a:solidFill>
                <a:effectLst/>
                <a:latin typeface="+mn-lt"/>
                <a:ea typeface="+mn-ea"/>
                <a:cs typeface="+mn-cs"/>
              </a:rPr>
              <a:t>Bradley</a:t>
            </a:r>
            <a:r>
              <a:rPr lang="zh-CN" altLang="en-US" sz="1200" kern="1200" dirty="0">
                <a:solidFill>
                  <a:schemeClr val="tx1"/>
                </a:solidFill>
                <a:effectLst/>
                <a:latin typeface="+mn-lt"/>
                <a:ea typeface="+mn-ea"/>
                <a:cs typeface="+mn-cs"/>
              </a:rPr>
              <a:t>实施了一些其他的技巧来补偿这种损失，特别是在立方体推广中删除每个</a:t>
            </a:r>
            <a:r>
              <a:rPr lang="en-US" altLang="zh-CN" sz="1200" kern="1200" dirty="0">
                <a:solidFill>
                  <a:schemeClr val="tx1"/>
                </a:solidFill>
                <a:effectLst/>
                <a:latin typeface="+mn-lt"/>
                <a:ea typeface="+mn-ea"/>
                <a:cs typeface="+mn-cs"/>
              </a:rPr>
              <a:t>SAT</a:t>
            </a:r>
            <a:r>
              <a:rPr lang="zh-CN" altLang="en-US" sz="1200" kern="1200" dirty="0">
                <a:solidFill>
                  <a:schemeClr val="tx1"/>
                </a:solidFill>
                <a:effectLst/>
                <a:latin typeface="+mn-lt"/>
                <a:ea typeface="+mn-ea"/>
                <a:cs typeface="+mn-cs"/>
              </a:rPr>
              <a:t>调用的多个字。</a:t>
            </a:r>
            <a:endParaRPr lang="en-US" altLang="zh-CN" dirty="0"/>
          </a:p>
        </p:txBody>
      </p:sp>
      <p:sp>
        <p:nvSpPr>
          <p:cNvPr id="1048738" name="灯片编号占位符 3"/>
          <p:cNvSpPr>
            <a:spLocks noGrp="1"/>
          </p:cNvSpPr>
          <p:nvPr>
            <p:ph type="sldNum" sz="quarter" idx="5"/>
          </p:nvPr>
        </p:nvSpPr>
        <p:spPr/>
        <p:txBody>
          <a:bodyPr/>
          <a:lstStyle/>
          <a:p>
            <a:fld id="{CA298FEE-A46A-4860-84C4-CA0660BFEE76}" type="slidenum">
              <a:rPr lang="zh-CN" altLang="en-US" smtClean="0"/>
              <a:t>31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2" name="幻灯片图像占位符 1"/>
          <p:cNvSpPr>
            <a:spLocks noGrp="1" noRot="1" noChangeAspect="1"/>
          </p:cNvSpPr>
          <p:nvPr>
            <p:ph type="sldImg"/>
          </p:nvPr>
        </p:nvSpPr>
        <p:spPr/>
      </p:sp>
      <p:sp>
        <p:nvSpPr>
          <p:cNvPr id="1048743" name="备注占位符 2"/>
          <p:cNvSpPr>
            <a:spLocks noGrp="1"/>
          </p:cNvSpPr>
          <p:nvPr>
            <p:ph type="body" idx="1"/>
          </p:nvPr>
        </p:nvSpPr>
        <p:spPr/>
        <p:txBody>
          <a:bodyPr/>
          <a:lstStyle/>
          <a:p>
            <a:r>
              <a:rPr lang="zh-CN" altLang="en-US" sz="2000" dirty="0"/>
              <a:t>另一个对</a:t>
            </a:r>
            <a:r>
              <a:rPr lang="en-US" altLang="zh-CN" sz="2000" dirty="0"/>
              <a:t>PDR</a:t>
            </a:r>
            <a:r>
              <a:rPr lang="zh-CN" altLang="en-US" sz="2000" dirty="0"/>
              <a:t>的修改就是使</a:t>
            </a:r>
            <a:r>
              <a:rPr lang="en-US" altLang="zh-CN" sz="2000" dirty="0"/>
              <a:t>PDR</a:t>
            </a:r>
            <a:r>
              <a:rPr lang="zh-CN" altLang="en-US" sz="2000" dirty="0"/>
              <a:t>有更强的立方概括，图中长虚线（第二条）画的这条曲线就显示了这种</a:t>
            </a:r>
            <a:r>
              <a:rPr lang="en-US" altLang="zh-CN" sz="2000" dirty="0"/>
              <a:t>PDR</a:t>
            </a:r>
            <a:r>
              <a:rPr lang="zh-CN" altLang="en-US" sz="2000" dirty="0"/>
              <a:t>的性能。</a:t>
            </a:r>
            <a:endParaRPr lang="en-US" altLang="zh-CN" sz="2000" dirty="0"/>
          </a:p>
          <a:p>
            <a:r>
              <a:rPr lang="zh-CN" altLang="en-US" sz="2000" kern="1200" dirty="0">
                <a:solidFill>
                  <a:schemeClr val="tx1"/>
                </a:solidFill>
                <a:effectLst/>
                <a:latin typeface="+mn-lt"/>
                <a:ea typeface="+mn-ea"/>
                <a:cs typeface="+mn-cs"/>
              </a:rPr>
              <a:t>通过观察对比（实现表示的）</a:t>
            </a:r>
            <a:r>
              <a:rPr lang="en-US" altLang="zh-CN" sz="2000" kern="1200" dirty="0">
                <a:solidFill>
                  <a:schemeClr val="tx1"/>
                </a:solidFill>
                <a:effectLst/>
                <a:latin typeface="+mn-lt"/>
                <a:ea typeface="+mn-ea"/>
                <a:cs typeface="+mn-cs"/>
              </a:rPr>
              <a:t>PDR</a:t>
            </a:r>
            <a:r>
              <a:rPr lang="zh-CN" altLang="en-US" sz="2000" kern="1200" dirty="0">
                <a:solidFill>
                  <a:schemeClr val="tx1"/>
                </a:solidFill>
                <a:effectLst/>
                <a:latin typeface="+mn-lt"/>
                <a:ea typeface="+mn-ea"/>
                <a:cs typeface="+mn-cs"/>
              </a:rPr>
              <a:t>与修改后的</a:t>
            </a:r>
            <a:r>
              <a:rPr lang="en-US" altLang="zh-CN" sz="2000" kern="1200" dirty="0">
                <a:solidFill>
                  <a:schemeClr val="tx1"/>
                </a:solidFill>
                <a:effectLst/>
                <a:latin typeface="+mn-lt"/>
                <a:ea typeface="+mn-ea"/>
                <a:cs typeface="+mn-cs"/>
              </a:rPr>
              <a:t>PDR</a:t>
            </a:r>
            <a:r>
              <a:rPr lang="zh-CN" altLang="en-US" sz="2000" kern="1200" dirty="0">
                <a:solidFill>
                  <a:schemeClr val="tx1"/>
                </a:solidFill>
                <a:effectLst/>
                <a:latin typeface="+mn-lt"/>
                <a:ea typeface="+mn-ea"/>
                <a:cs typeface="+mn-cs"/>
              </a:rPr>
              <a:t>的性能</a:t>
            </a:r>
            <a:r>
              <a:rPr lang="zh-CN" altLang="en-US" sz="2000" dirty="0"/>
              <a:t>可以</a:t>
            </a:r>
            <a:r>
              <a:rPr lang="zh-CN" altLang="en-US" sz="2000" kern="1200" dirty="0">
                <a:solidFill>
                  <a:schemeClr val="tx1"/>
                </a:solidFill>
                <a:effectLst/>
                <a:latin typeface="+mn-lt"/>
                <a:ea typeface="+mn-ea"/>
                <a:cs typeface="+mn-cs"/>
              </a:rPr>
              <a:t>得出的结论是，</a:t>
            </a:r>
            <a:r>
              <a:rPr lang="zh-CN" altLang="en-US" sz="2000" dirty="0"/>
              <a:t>立方概括</a:t>
            </a:r>
            <a:r>
              <a:rPr lang="zh-CN" altLang="en-US" sz="2000" kern="1200" dirty="0">
                <a:solidFill>
                  <a:schemeClr val="tx1"/>
                </a:solidFill>
                <a:effectLst/>
                <a:latin typeface="+mn-lt"/>
                <a:ea typeface="+mn-ea"/>
                <a:cs typeface="+mn-cs"/>
              </a:rPr>
              <a:t>这种技术没有帮助</a:t>
            </a:r>
            <a:r>
              <a:rPr lang="zh-CN" altLang="en-US" sz="2000" dirty="0"/>
              <a:t>。</a:t>
            </a:r>
            <a:endParaRPr lang="en-US" altLang="zh-CN" sz="2000" dirty="0"/>
          </a:p>
          <a:p>
            <a:r>
              <a:rPr lang="zh-CN" altLang="en-US" sz="2000" kern="1200" dirty="0">
                <a:solidFill>
                  <a:schemeClr val="tx1"/>
                </a:solidFill>
                <a:effectLst/>
                <a:latin typeface="+mn-lt"/>
                <a:ea typeface="+mn-ea"/>
                <a:cs typeface="+mn-cs"/>
              </a:rPr>
              <a:t>即使通过利用非单调性可以满足</a:t>
            </a:r>
            <a:r>
              <a:rPr lang="en-US" altLang="zh-CN" sz="2000" kern="1200" dirty="0">
                <a:solidFill>
                  <a:schemeClr val="tx1"/>
                </a:solidFill>
                <a:effectLst/>
                <a:latin typeface="+mn-lt"/>
                <a:ea typeface="+mn-ea"/>
                <a:cs typeface="+mn-cs"/>
              </a:rPr>
              <a:t>SAT</a:t>
            </a:r>
            <a:r>
              <a:rPr lang="zh-CN" altLang="en-US" sz="2000" kern="1200" dirty="0">
                <a:solidFill>
                  <a:schemeClr val="tx1"/>
                </a:solidFill>
                <a:effectLst/>
                <a:latin typeface="+mn-lt"/>
                <a:ea typeface="+mn-ea"/>
                <a:cs typeface="+mn-cs"/>
              </a:rPr>
              <a:t>查询，修改后的过程也会尝试移除文字。就像在</a:t>
            </a:r>
            <a:r>
              <a:rPr lang="en-US" altLang="zh-CN" sz="2000" kern="1200" dirty="0">
                <a:solidFill>
                  <a:schemeClr val="tx1"/>
                </a:solidFill>
                <a:effectLst/>
                <a:latin typeface="+mn-lt"/>
                <a:ea typeface="+mn-ea"/>
                <a:cs typeface="+mn-cs"/>
              </a:rPr>
              <a:t>IC3</a:t>
            </a:r>
            <a:r>
              <a:rPr lang="zh-CN" altLang="en-US" sz="2000" kern="1200" dirty="0">
                <a:solidFill>
                  <a:schemeClr val="tx1"/>
                </a:solidFill>
                <a:effectLst/>
                <a:latin typeface="+mn-lt"/>
                <a:ea typeface="+mn-ea"/>
                <a:cs typeface="+mn-cs"/>
              </a:rPr>
              <a:t>中一样，这是针对三个随机字面值完成的。</a:t>
            </a:r>
            <a:endParaRPr lang="en-US" altLang="zh-CN" dirty="0"/>
          </a:p>
        </p:txBody>
      </p:sp>
      <p:sp>
        <p:nvSpPr>
          <p:cNvPr id="1048744" name="灯片编号占位符 3"/>
          <p:cNvSpPr>
            <a:spLocks noGrp="1"/>
          </p:cNvSpPr>
          <p:nvPr>
            <p:ph type="sldNum" sz="quarter" idx="5"/>
          </p:nvPr>
        </p:nvSpPr>
        <p:spPr/>
        <p:txBody>
          <a:bodyPr/>
          <a:lstStyle/>
          <a:p>
            <a:fld id="{CA298FEE-A46A-4860-84C4-CA0660BFEE76}" type="slidenum">
              <a:rPr lang="zh-CN" altLang="en-US" smtClean="0"/>
              <a:t>32</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8" name="幻灯片图像占位符 1"/>
          <p:cNvSpPr>
            <a:spLocks noGrp="1" noRot="1" noChangeAspect="1"/>
          </p:cNvSpPr>
          <p:nvPr>
            <p:ph type="sldImg"/>
          </p:nvPr>
        </p:nvSpPr>
        <p:spPr/>
      </p:sp>
      <p:sp>
        <p:nvSpPr>
          <p:cNvPr id="1048749"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下面是研究改变名词短语语义的影响</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正如第三章第三节所指出的，</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IC3</a:t>
            </a:r>
            <a:r>
              <a:rPr lang="zh-CN" altLang="en-US" sz="1200" kern="1200" dirty="0">
                <a:solidFill>
                  <a:schemeClr val="tx1"/>
                </a:solidFill>
                <a:effectLst/>
                <a:latin typeface="+mn-lt"/>
                <a:ea typeface="+mn-ea"/>
                <a:cs typeface="+mn-cs"/>
              </a:rPr>
              <a:t>的不同之处在于，</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不要求轨迹的最后一帧来完成改变语义的这个性质。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的改变语义的方法相比，</a:t>
            </a:r>
            <a:r>
              <a:rPr lang="en-US" altLang="zh-CN" sz="1200" kern="1200" dirty="0">
                <a:solidFill>
                  <a:schemeClr val="tx1"/>
                </a:solidFill>
                <a:effectLst/>
                <a:latin typeface="+mn-lt"/>
                <a:ea typeface="+mn-ea"/>
                <a:cs typeface="+mn-cs"/>
              </a:rPr>
              <a:t>IC3</a:t>
            </a:r>
            <a:r>
              <a:rPr lang="zh-CN" altLang="en-US" sz="1200" kern="1200" dirty="0">
                <a:solidFill>
                  <a:schemeClr val="tx1"/>
                </a:solidFill>
                <a:effectLst/>
                <a:latin typeface="+mn-lt"/>
                <a:ea typeface="+mn-ea"/>
                <a:cs typeface="+mn-cs"/>
              </a:rPr>
              <a:t>的方法有以下两个不同的效果</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pP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当一个新的框架打开时，属性是已知的，因此可以将</a:t>
            </a:r>
            <a:r>
              <a:rPr lang="en-US" altLang="zh-CN" sz="1200" kern="1200" dirty="0">
                <a:solidFill>
                  <a:schemeClr val="tx1"/>
                </a:solidFill>
                <a:effectLst/>
                <a:latin typeface="+mn-lt"/>
                <a:ea typeface="+mn-ea"/>
                <a:cs typeface="+mn-cs"/>
              </a:rPr>
              <a:t>P</a:t>
            </a:r>
            <a:r>
              <a:rPr lang="zh-CN" altLang="en-US" sz="1200" kern="1200" dirty="0">
                <a:solidFill>
                  <a:schemeClr val="tx1"/>
                </a:solidFill>
                <a:effectLst/>
                <a:latin typeface="+mn-lt"/>
                <a:ea typeface="+mn-ea"/>
                <a:cs typeface="+mn-cs"/>
              </a:rPr>
              <a:t>添加到相对归纳</a:t>
            </a:r>
            <a:r>
              <a:rPr lang="en-US" altLang="zh-CN" sz="1200" kern="1200" dirty="0">
                <a:solidFill>
                  <a:schemeClr val="tx1"/>
                </a:solidFill>
                <a:effectLst/>
                <a:latin typeface="+mn-lt"/>
                <a:ea typeface="+mn-ea"/>
                <a:cs typeface="+mn-cs"/>
              </a:rPr>
              <a:t>SAT</a:t>
            </a:r>
            <a:r>
              <a:rPr lang="zh-CN" altLang="en-US" sz="1200" kern="1200" dirty="0">
                <a:solidFill>
                  <a:schemeClr val="tx1"/>
                </a:solidFill>
                <a:effectLst/>
                <a:latin typeface="+mn-lt"/>
                <a:ea typeface="+mn-ea"/>
                <a:cs typeface="+mn-cs"/>
              </a:rPr>
              <a:t>查询中。这意味着最终的不变量将是</a:t>
            </a:r>
            <a:r>
              <a:rPr lang="en-US" altLang="zh-CN" sz="1200" kern="1200" dirty="0" err="1">
                <a:solidFill>
                  <a:schemeClr val="tx1"/>
                </a:solidFill>
                <a:effectLst/>
                <a:latin typeface="+mn-lt"/>
                <a:ea typeface="+mn-ea"/>
                <a:cs typeface="+mn-cs"/>
              </a:rPr>
              <a:t>Ri∧P</a:t>
            </a:r>
            <a:r>
              <a:rPr lang="zh-CN" altLang="en-US" sz="1200" kern="1200" dirty="0">
                <a:solidFill>
                  <a:schemeClr val="tx1"/>
                </a:solidFill>
                <a:effectLst/>
                <a:latin typeface="+mn-lt"/>
                <a:ea typeface="+mn-ea"/>
                <a:cs typeface="+mn-cs"/>
              </a:rPr>
              <a:t>的形式，而不仅仅是</a:t>
            </a:r>
            <a:r>
              <a:rPr lang="en-US" altLang="zh-CN" sz="1200" kern="1200" dirty="0">
                <a:solidFill>
                  <a:schemeClr val="tx1"/>
                </a:solidFill>
                <a:effectLst/>
                <a:latin typeface="+mn-lt"/>
                <a:ea typeface="+mn-ea"/>
                <a:cs typeface="+mn-cs"/>
              </a:rPr>
              <a:t>Ri</a:t>
            </a:r>
            <a:r>
              <a:rPr lang="zh-CN" altLang="en-US" sz="1200" kern="1200" dirty="0">
                <a:solidFill>
                  <a:schemeClr val="tx1"/>
                </a:solidFill>
                <a:effectLst/>
                <a:latin typeface="+mn-lt"/>
                <a:ea typeface="+mn-ea"/>
                <a:cs typeface="+mn-cs"/>
              </a:rPr>
              <a:t>，并且</a:t>
            </a:r>
            <a:r>
              <a:rPr lang="en-US" altLang="zh-CN" sz="1200" kern="1200" dirty="0">
                <a:solidFill>
                  <a:schemeClr val="tx1"/>
                </a:solidFill>
                <a:effectLst/>
                <a:latin typeface="+mn-lt"/>
                <a:ea typeface="+mn-ea"/>
                <a:cs typeface="+mn-cs"/>
              </a:rPr>
              <a:t>R∞</a:t>
            </a:r>
            <a:r>
              <a:rPr lang="zh-CN" altLang="en-US" sz="1200" kern="1200" dirty="0">
                <a:solidFill>
                  <a:schemeClr val="tx1"/>
                </a:solidFill>
                <a:effectLst/>
                <a:latin typeface="+mn-lt"/>
                <a:ea typeface="+mn-ea"/>
                <a:cs typeface="+mn-cs"/>
              </a:rPr>
              <a:t>中的子句可能依赖于</a:t>
            </a:r>
            <a:r>
              <a:rPr lang="en-US" altLang="zh-CN" sz="1200" kern="1200" dirty="0">
                <a:solidFill>
                  <a:schemeClr val="tx1"/>
                </a:solidFill>
                <a:effectLst/>
                <a:latin typeface="+mn-lt"/>
                <a:ea typeface="+mn-ea"/>
                <a:cs typeface="+mn-cs"/>
              </a:rPr>
              <a:t>P</a:t>
            </a:r>
            <a:r>
              <a:rPr lang="zh-CN" altLang="en-US"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用</a:t>
            </a:r>
            <a:r>
              <a:rPr lang="en-US" altLang="zh-CN" sz="1200" kern="1200" dirty="0">
                <a:solidFill>
                  <a:schemeClr val="tx1"/>
                </a:solidFill>
                <a:effectLst/>
                <a:latin typeface="+mn-lt"/>
                <a:ea typeface="+mn-ea"/>
                <a:cs typeface="+mn-cs"/>
              </a:rPr>
              <a:t>P</a:t>
            </a:r>
            <a:r>
              <a:rPr lang="zh-CN" altLang="en-US" sz="1200" kern="1200" dirty="0">
                <a:solidFill>
                  <a:schemeClr val="tx1"/>
                </a:solidFill>
                <a:effectLst/>
                <a:latin typeface="+mn-lt"/>
                <a:ea typeface="+mn-ea"/>
                <a:cs typeface="+mn-cs"/>
              </a:rPr>
              <a:t>的预图像的最小项而不是用</a:t>
            </a:r>
            <a:r>
              <a:rPr lang="en-US" altLang="zh-CN" sz="1200" kern="1200" dirty="0">
                <a:solidFill>
                  <a:schemeClr val="tx1"/>
                </a:solidFill>
                <a:effectLst/>
                <a:latin typeface="+mn-lt"/>
                <a:ea typeface="+mn-ea"/>
                <a:cs typeface="+mn-cs"/>
              </a:rPr>
              <a:t>P</a:t>
            </a:r>
            <a:r>
              <a:rPr lang="zh-CN" altLang="en-US" sz="1200" kern="1200" dirty="0">
                <a:solidFill>
                  <a:schemeClr val="tx1"/>
                </a:solidFill>
                <a:effectLst/>
                <a:latin typeface="+mn-lt"/>
                <a:ea typeface="+mn-ea"/>
                <a:cs typeface="+mn-cs"/>
              </a:rPr>
              <a:t>的最小项来播种递归立方体分块对应于一步目标放大。</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作者研究了第一个差异是否对运行以前的</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实现有任何影响，该实现在这方面具有与</a:t>
            </a:r>
            <a:r>
              <a:rPr lang="en-US" altLang="zh-CN" sz="1200" kern="1200" dirty="0">
                <a:solidFill>
                  <a:schemeClr val="tx1"/>
                </a:solidFill>
                <a:effectLst/>
                <a:latin typeface="+mn-lt"/>
                <a:ea typeface="+mn-ea"/>
                <a:cs typeface="+mn-cs"/>
              </a:rPr>
              <a:t>IC3</a:t>
            </a:r>
            <a:r>
              <a:rPr lang="zh-CN" altLang="en-US" sz="1200" kern="1200" dirty="0">
                <a:solidFill>
                  <a:schemeClr val="tx1"/>
                </a:solidFill>
                <a:effectLst/>
                <a:latin typeface="+mn-lt"/>
                <a:ea typeface="+mn-ea"/>
                <a:cs typeface="+mn-cs"/>
              </a:rPr>
              <a:t>相同的行为</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但包括三进制模拟和其他改进</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p:txBody>
      </p:sp>
      <p:sp>
        <p:nvSpPr>
          <p:cNvPr id="1048750" name="灯片编号占位符 3"/>
          <p:cNvSpPr>
            <a:spLocks noGrp="1"/>
          </p:cNvSpPr>
          <p:nvPr>
            <p:ph type="sldNum" sz="quarter" idx="5"/>
          </p:nvPr>
        </p:nvSpPr>
        <p:spPr/>
        <p:txBody>
          <a:bodyPr/>
          <a:lstStyle/>
          <a:p>
            <a:fld id="{CA298FEE-A46A-4860-84C4-CA0660BFEE76}" type="slidenum">
              <a:rPr lang="zh-CN" altLang="en-US" smtClean="0"/>
              <a:t>33</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4" name="幻灯片图像占位符 1"/>
          <p:cNvSpPr>
            <a:spLocks noGrp="1" noRot="1" noChangeAspect="1"/>
          </p:cNvSpPr>
          <p:nvPr>
            <p:ph type="sldImg"/>
          </p:nvPr>
        </p:nvSpPr>
        <p:spPr/>
      </p:sp>
      <p:sp>
        <p:nvSpPr>
          <p:cNvPr id="1048755"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对于上面所说的第二个区别，也就是目标放大，可以通过对设计进行预处理来实现</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图中显示了目标放大对</a:t>
            </a:r>
            <a:r>
              <a:rPr lang="en-US" altLang="zh-CN" sz="1200" kern="1200" dirty="0">
                <a:solidFill>
                  <a:schemeClr val="tx1"/>
                </a:solidFill>
                <a:effectLst/>
                <a:latin typeface="+mn-lt"/>
                <a:ea typeface="+mn-ea"/>
                <a:cs typeface="+mn-cs"/>
              </a:rPr>
              <a:t>HWMCC10</a:t>
            </a:r>
            <a:r>
              <a:rPr lang="zh-CN" altLang="en-US" sz="1200" kern="1200" dirty="0">
                <a:solidFill>
                  <a:schemeClr val="tx1"/>
                </a:solidFill>
                <a:effectLst/>
                <a:latin typeface="+mn-lt"/>
                <a:ea typeface="+mn-ea"/>
                <a:cs typeface="+mn-cs"/>
              </a:rPr>
              <a:t>基准的影响，</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观察曲线可以注意到，它提高了在不到</a:t>
            </a:r>
            <a:r>
              <a:rPr lang="en-US" altLang="zh-CN" sz="1200" kern="1200" dirty="0">
                <a:solidFill>
                  <a:schemeClr val="tx1"/>
                </a:solidFill>
                <a:effectLst/>
                <a:latin typeface="+mn-lt"/>
                <a:ea typeface="+mn-ea"/>
                <a:cs typeface="+mn-cs"/>
              </a:rPr>
              <a:t>100</a:t>
            </a:r>
            <a:r>
              <a:rPr lang="zh-CN" altLang="en-US" sz="1200" kern="1200" dirty="0">
                <a:solidFill>
                  <a:schemeClr val="tx1"/>
                </a:solidFill>
                <a:effectLst/>
                <a:latin typeface="+mn-lt"/>
                <a:ea typeface="+mn-ea"/>
                <a:cs typeface="+mn-cs"/>
              </a:rPr>
              <a:t>秒内解决的简单可满足问题的性能。这种差异足以推动扩大目标的使用。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针对以上两个差异的研究，作者认为，对原始算法的修改没有造成性能的损失。它使实现更简单，并且它具有额外的好处，即</a:t>
            </a:r>
            <a:r>
              <a:rPr lang="en-US" altLang="zh-CN" sz="1200" kern="1200" dirty="0">
                <a:solidFill>
                  <a:schemeClr val="tx1"/>
                </a:solidFill>
                <a:effectLst/>
                <a:latin typeface="+mn-lt"/>
                <a:ea typeface="+mn-ea"/>
                <a:cs typeface="+mn-cs"/>
              </a:rPr>
              <a:t>R∞</a:t>
            </a:r>
            <a:r>
              <a:rPr lang="zh-CN" altLang="en-US" sz="1200" kern="1200" dirty="0">
                <a:solidFill>
                  <a:schemeClr val="tx1"/>
                </a:solidFill>
                <a:effectLst/>
                <a:latin typeface="+mn-lt"/>
                <a:ea typeface="+mn-ea"/>
                <a:cs typeface="+mn-cs"/>
              </a:rPr>
              <a:t>是一个适当的不变量，可以用来加强其他并行运行的证明引擎，或者对合成有用。</a:t>
            </a:r>
            <a:endParaRPr lang="en-US" altLang="zh-CN" dirty="0"/>
          </a:p>
          <a:p>
            <a:endParaRPr lang="en-US" altLang="zh-CN" dirty="0"/>
          </a:p>
        </p:txBody>
      </p:sp>
      <p:sp>
        <p:nvSpPr>
          <p:cNvPr id="1048756" name="灯片编号占位符 3"/>
          <p:cNvSpPr>
            <a:spLocks noGrp="1"/>
          </p:cNvSpPr>
          <p:nvPr>
            <p:ph type="sldNum" sz="quarter" idx="5"/>
          </p:nvPr>
        </p:nvSpPr>
        <p:spPr/>
        <p:txBody>
          <a:bodyPr/>
          <a:lstStyle/>
          <a:p>
            <a:fld id="{CA298FEE-A46A-4860-84C4-CA0660BFEE76}" type="slidenum">
              <a:rPr lang="zh-CN" altLang="en-US" smtClean="0"/>
              <a:t>34</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幻灯片图像占位符 1"/>
          <p:cNvSpPr>
            <a:spLocks noGrp="1" noRot="1" noChangeAspect="1"/>
          </p:cNvSpPr>
          <p:nvPr>
            <p:ph type="sldImg"/>
          </p:nvPr>
        </p:nvSpPr>
        <p:spPr/>
      </p:sp>
      <p:sp>
        <p:nvSpPr>
          <p:cNvPr id="1048762"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为了确定未来改进的方向，作者在几个例子上运行了</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的仪表化版本。</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运行结果表明，大约</a:t>
            </a:r>
            <a:r>
              <a:rPr lang="en-US" altLang="zh-CN" sz="1200" kern="1200" dirty="0">
                <a:solidFill>
                  <a:schemeClr val="tx1"/>
                </a:solidFill>
                <a:effectLst/>
                <a:latin typeface="+mn-lt"/>
                <a:ea typeface="+mn-ea"/>
                <a:cs typeface="+mn-cs"/>
              </a:rPr>
              <a:t>20%</a:t>
            </a:r>
            <a:r>
              <a:rPr lang="zh-CN" altLang="en-US" sz="1200" kern="1200" dirty="0">
                <a:solidFill>
                  <a:schemeClr val="tx1"/>
                </a:solidFill>
                <a:effectLst/>
                <a:latin typeface="+mn-lt"/>
                <a:ea typeface="+mn-ea"/>
                <a:cs typeface="+mn-cs"/>
              </a:rPr>
              <a:t>的运行时间花在了</a:t>
            </a:r>
            <a:r>
              <a:rPr lang="en-US" altLang="zh-CN" sz="1200" dirty="0" err="1"/>
              <a:t>propagateBlockedCubes</a:t>
            </a:r>
            <a:r>
              <a:rPr lang="en-US" altLang="zh-CN" sz="1200" dirty="0"/>
              <a:t>()</a:t>
            </a:r>
            <a:r>
              <a:rPr lang="zh-CN" altLang="en-US" sz="1200" kern="1200" dirty="0">
                <a:solidFill>
                  <a:schemeClr val="tx1"/>
                </a:solidFill>
                <a:effectLst/>
                <a:latin typeface="+mn-lt"/>
                <a:ea typeface="+mn-ea"/>
                <a:cs typeface="+mn-cs"/>
              </a:rPr>
              <a:t>上，</a:t>
            </a:r>
            <a:r>
              <a:rPr lang="en-US" altLang="zh-CN" sz="1200" kern="1200" dirty="0">
                <a:solidFill>
                  <a:schemeClr val="tx1"/>
                </a:solidFill>
                <a:effectLst/>
                <a:latin typeface="+mn-lt"/>
                <a:ea typeface="+mn-ea"/>
                <a:cs typeface="+mn-cs"/>
              </a:rPr>
              <a:t>80%</a:t>
            </a:r>
            <a:r>
              <a:rPr lang="zh-CN" altLang="en-US" sz="1200" kern="1200" dirty="0">
                <a:solidFill>
                  <a:schemeClr val="tx1"/>
                </a:solidFill>
                <a:effectLst/>
                <a:latin typeface="+mn-lt"/>
                <a:ea typeface="+mn-ea"/>
                <a:cs typeface="+mn-cs"/>
              </a:rPr>
              <a:t>花在了</a:t>
            </a:r>
            <a:r>
              <a:rPr lang="en-US" altLang="zh-CN" sz="1200" dirty="0" err="1"/>
              <a:t>recBlockCube</a:t>
            </a:r>
            <a:r>
              <a:rPr lang="en-US" altLang="zh-CN" sz="1200" dirty="0"/>
              <a:t>() </a:t>
            </a:r>
            <a:r>
              <a:rPr lang="zh-CN" altLang="en-US" sz="1200" kern="1200" dirty="0">
                <a:solidFill>
                  <a:schemeClr val="tx1"/>
                </a:solidFill>
                <a:effectLst/>
                <a:latin typeface="+mn-lt"/>
                <a:ea typeface="+mn-ea"/>
                <a:cs typeface="+mn-cs"/>
              </a:rPr>
              <a:t>上</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其中大部分是在</a:t>
            </a:r>
            <a:r>
              <a:rPr lang="en-US" altLang="zh-CN" sz="1200" kern="1200" dirty="0">
                <a:solidFill>
                  <a:schemeClr val="tx1"/>
                </a:solidFill>
                <a:effectLst/>
                <a:latin typeface="+mn-lt"/>
                <a:ea typeface="+mn-ea"/>
                <a:cs typeface="+mn-cs"/>
              </a:rPr>
              <a:t>generalize()</a:t>
            </a:r>
            <a:r>
              <a:rPr lang="zh-CN" altLang="en-US" sz="1200" kern="1200" dirty="0">
                <a:solidFill>
                  <a:schemeClr val="tx1"/>
                </a:solidFill>
                <a:effectLst/>
                <a:latin typeface="+mn-lt"/>
                <a:ea typeface="+mn-ea"/>
                <a:cs typeface="+mn-cs"/>
              </a:rPr>
              <a:t>中，但也有很大一部分是在第一次调用</a:t>
            </a:r>
            <a:r>
              <a:rPr lang="en-US" altLang="zh-CN" sz="1200" kern="1200" dirty="0" err="1">
                <a:solidFill>
                  <a:schemeClr val="tx1"/>
                </a:solidFill>
                <a:effectLst/>
                <a:latin typeface="+mn-lt"/>
                <a:ea typeface="+mn-ea"/>
                <a:cs typeface="+mn-cs"/>
              </a:rPr>
              <a:t>solveRelative</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时。</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a:t>
            </a:r>
            <a:r>
              <a:rPr lang="en-US" altLang="zh-CN" sz="1200" kern="1200" dirty="0" err="1">
                <a:solidFill>
                  <a:schemeClr val="tx1"/>
                </a:solidFill>
                <a:effectLst/>
                <a:latin typeface="+mn-lt"/>
                <a:ea typeface="+mn-ea"/>
                <a:cs typeface="+mn-cs"/>
              </a:rPr>
              <a:t>SATsolver</a:t>
            </a:r>
            <a:r>
              <a:rPr lang="zh-CN" altLang="en-US" sz="1200" kern="1200" dirty="0">
                <a:solidFill>
                  <a:schemeClr val="tx1"/>
                </a:solidFill>
                <a:effectLst/>
                <a:latin typeface="+mn-lt"/>
                <a:ea typeface="+mn-ea"/>
                <a:cs typeface="+mn-cs"/>
              </a:rPr>
              <a:t>的可满足调用是不可满足调用的两倍，而且昂贵</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倍</a:t>
            </a:r>
            <a:endParaRPr lang="en-US" altLang="zh-CN" sz="1200" kern="1200" dirty="0">
              <a:solidFill>
                <a:schemeClr val="tx1"/>
              </a:solidFill>
              <a:effectLst/>
              <a:latin typeface="+mn-lt"/>
              <a:ea typeface="+mn-ea"/>
              <a:cs typeface="+mn-cs"/>
            </a:endParaRPr>
          </a:p>
        </p:txBody>
      </p:sp>
      <p:sp>
        <p:nvSpPr>
          <p:cNvPr id="1048763" name="灯片编号占位符 3"/>
          <p:cNvSpPr>
            <a:spLocks noGrp="1"/>
          </p:cNvSpPr>
          <p:nvPr>
            <p:ph type="sldNum" sz="quarter" idx="5"/>
          </p:nvPr>
        </p:nvSpPr>
        <p:spPr/>
        <p:txBody>
          <a:bodyPr/>
          <a:lstStyle/>
          <a:p>
            <a:fld id="{CA298FEE-A46A-4860-84C4-CA0660BFEE76}" type="slidenum">
              <a:rPr lang="zh-CN" altLang="en-US" smtClean="0"/>
              <a:t>35</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6" name="幻灯片图像占位符 1"/>
          <p:cNvSpPr>
            <a:spLocks noGrp="1" noRot="1" noChangeAspect="1"/>
          </p:cNvSpPr>
          <p:nvPr>
            <p:ph type="sldImg"/>
          </p:nvPr>
        </p:nvSpPr>
        <p:spPr/>
      </p:sp>
      <p:sp>
        <p:nvSpPr>
          <p:cNvPr id="1048767"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作者还对以下几个方面进行了尝试</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评估了扩展查询与原始查询的效果。</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虽然扩展查询查询给出了明显的性能提升，但即使没有它，</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也能非常好地工作</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它解决了</a:t>
            </a:r>
            <a:r>
              <a:rPr lang="en-US" altLang="zh-CN" sz="1200" kern="1200" dirty="0">
                <a:solidFill>
                  <a:schemeClr val="tx1"/>
                </a:solidFill>
                <a:effectLst/>
                <a:latin typeface="+mn-lt"/>
                <a:ea typeface="+mn-ea"/>
                <a:cs typeface="+mn-cs"/>
              </a:rPr>
              <a:t>704</a:t>
            </a:r>
            <a:r>
              <a:rPr lang="zh-CN" altLang="en-US" sz="1200" kern="1200" dirty="0">
                <a:solidFill>
                  <a:schemeClr val="tx1"/>
                </a:solidFill>
                <a:effectLst/>
                <a:latin typeface="+mn-lt"/>
                <a:ea typeface="+mn-ea"/>
                <a:cs typeface="+mn-cs"/>
              </a:rPr>
              <a:t>个问题，而不是</a:t>
            </a:r>
            <a:r>
              <a:rPr lang="en-US" altLang="zh-CN" sz="1200" kern="1200" dirty="0">
                <a:solidFill>
                  <a:schemeClr val="tx1"/>
                </a:solidFill>
                <a:effectLst/>
                <a:latin typeface="+mn-lt"/>
                <a:ea typeface="+mn-ea"/>
                <a:cs typeface="+mn-cs"/>
              </a:rPr>
              <a:t>723</a:t>
            </a:r>
            <a:r>
              <a:rPr lang="zh-CN" altLang="en-US" sz="1200" kern="1200" dirty="0">
                <a:solidFill>
                  <a:schemeClr val="tx1"/>
                </a:solidFill>
                <a:effectLst/>
                <a:latin typeface="+mn-lt"/>
                <a:ea typeface="+mn-ea"/>
                <a:cs typeface="+mn-cs"/>
              </a:rPr>
              <a:t>个问题；超过插值，解决了</a:t>
            </a:r>
            <a:r>
              <a:rPr lang="en-US" altLang="zh-CN" sz="1200" kern="1200" dirty="0">
                <a:solidFill>
                  <a:schemeClr val="tx1"/>
                </a:solidFill>
                <a:effectLst/>
                <a:latin typeface="+mn-lt"/>
                <a:ea typeface="+mn-ea"/>
                <a:cs typeface="+mn-cs"/>
              </a:rPr>
              <a:t>656</a:t>
            </a:r>
            <a:r>
              <a:rPr lang="zh-CN" altLang="en-US" sz="1200" kern="1200" dirty="0">
                <a:solidFill>
                  <a:schemeClr val="tx1"/>
                </a:solidFill>
                <a:effectLst/>
                <a:latin typeface="+mn-lt"/>
                <a:ea typeface="+mn-ea"/>
                <a:cs typeface="+mn-cs"/>
              </a:rPr>
              <a:t>个问题</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评估了</a:t>
            </a:r>
            <a:r>
              <a:rPr lang="en-US" altLang="zh-CN" sz="1200" kern="1200" dirty="0">
                <a:solidFill>
                  <a:schemeClr val="tx1"/>
                </a:solidFill>
                <a:effectLst/>
                <a:latin typeface="+mn-lt"/>
                <a:ea typeface="+mn-ea"/>
                <a:cs typeface="+mn-cs"/>
              </a:rPr>
              <a:t>IC3</a:t>
            </a:r>
            <a:r>
              <a:rPr lang="zh-CN" altLang="en-US" sz="1200" kern="1200" dirty="0">
                <a:solidFill>
                  <a:schemeClr val="tx1"/>
                </a:solidFill>
                <a:effectLst/>
                <a:latin typeface="+mn-lt"/>
                <a:ea typeface="+mn-ea"/>
                <a:cs typeface="+mn-cs"/>
              </a:rPr>
              <a:t>提出的活动方案，</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该方案控制了尝试移除文字的顺序。我们以相反的活动也就是</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最差”顺序来运行它，并没有看出有什么不同</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图中的长短虚线没有什么差异</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，也看不出与静态顺序有什么不同</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实现了一种称之为影响的语义锥的技术。在每个主要回合结束时，跟踪中不需要证明最终帧属性的所有立方体都被移除。这种分析可以通过一系列与前向传播成本大致相同的</a:t>
            </a:r>
            <a:r>
              <a:rPr lang="en-US" altLang="zh-CN" sz="1200" kern="1200" dirty="0">
                <a:solidFill>
                  <a:schemeClr val="tx1"/>
                </a:solidFill>
                <a:effectLst/>
                <a:latin typeface="+mn-lt"/>
                <a:ea typeface="+mn-ea"/>
                <a:cs typeface="+mn-cs"/>
              </a:rPr>
              <a:t>SAT</a:t>
            </a:r>
            <a:r>
              <a:rPr lang="zh-CN" altLang="en-US" sz="1200" kern="1200" dirty="0">
                <a:solidFill>
                  <a:schemeClr val="tx1"/>
                </a:solidFill>
                <a:effectLst/>
                <a:latin typeface="+mn-lt"/>
                <a:ea typeface="+mn-ea"/>
                <a:cs typeface="+mn-cs"/>
              </a:rPr>
              <a:t>调用来完成。该方法移除许多多维数据集。然而，如右下角这个图中显示的，在打开这个的情况下运行</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并没有给出任何明显的加速，但是它也没有降低性能</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因此做语义</a:t>
            </a:r>
            <a:r>
              <a:rPr lang="en-US" altLang="zh-CN" sz="1200" kern="1200" dirty="0">
                <a:solidFill>
                  <a:schemeClr val="tx1"/>
                </a:solidFill>
                <a:effectLst/>
                <a:latin typeface="+mn-lt"/>
                <a:ea typeface="+mn-ea"/>
                <a:cs typeface="+mn-cs"/>
              </a:rPr>
              <a:t>COI</a:t>
            </a:r>
            <a:r>
              <a:rPr lang="zh-CN" altLang="en-US" sz="1200" kern="1200" dirty="0">
                <a:solidFill>
                  <a:schemeClr val="tx1"/>
                </a:solidFill>
                <a:effectLst/>
                <a:latin typeface="+mn-lt"/>
                <a:ea typeface="+mn-ea"/>
                <a:cs typeface="+mn-cs"/>
              </a:rPr>
              <a:t>的成本被改进所摊销</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pP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p:txBody>
      </p:sp>
      <p:sp>
        <p:nvSpPr>
          <p:cNvPr id="1048768" name="灯片编号占位符 3"/>
          <p:cNvSpPr>
            <a:spLocks noGrp="1"/>
          </p:cNvSpPr>
          <p:nvPr>
            <p:ph type="sldNum" sz="quarter" idx="5"/>
          </p:nvPr>
        </p:nvSpPr>
        <p:spPr/>
        <p:txBody>
          <a:bodyPr/>
          <a:lstStyle/>
          <a:p>
            <a:fld id="{CA298FEE-A46A-4860-84C4-CA0660BFEE76}" type="slidenum">
              <a:rPr lang="zh-CN" altLang="en-US" smtClean="0"/>
              <a:t>36</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1" name="幻灯片图像占位符 1"/>
          <p:cNvSpPr>
            <a:spLocks noGrp="1" noRot="1" noChangeAspect="1"/>
          </p:cNvSpPr>
          <p:nvPr>
            <p:ph type="sldImg"/>
          </p:nvPr>
        </p:nvSpPr>
        <p:spPr/>
      </p:sp>
      <p:sp>
        <p:nvSpPr>
          <p:cNvPr id="1048772"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因为大部分时间都花在可满足的</a:t>
            </a:r>
            <a:r>
              <a:rPr lang="en-US" altLang="zh-CN" sz="1200" kern="1200" dirty="0">
                <a:solidFill>
                  <a:schemeClr val="tx1"/>
                </a:solidFill>
                <a:effectLst/>
                <a:latin typeface="+mn-lt"/>
                <a:ea typeface="+mn-ea"/>
                <a:cs typeface="+mn-cs"/>
              </a:rPr>
              <a:t>SAT</a:t>
            </a:r>
            <a:r>
              <a:rPr lang="zh-CN" altLang="en-US" sz="1200" kern="1200" dirty="0">
                <a:solidFill>
                  <a:schemeClr val="tx1"/>
                </a:solidFill>
                <a:effectLst/>
                <a:latin typeface="+mn-lt"/>
                <a:ea typeface="+mn-ea"/>
                <a:cs typeface="+mn-cs"/>
              </a:rPr>
              <a:t>调用上，这部分是因为</a:t>
            </a:r>
            <a:r>
              <a:rPr lang="en-US" altLang="zh-CN" sz="1200" kern="1200" dirty="0">
                <a:solidFill>
                  <a:schemeClr val="tx1"/>
                </a:solidFill>
                <a:effectLst/>
                <a:latin typeface="+mn-lt"/>
                <a:ea typeface="+mn-ea"/>
                <a:cs typeface="+mn-cs"/>
              </a:rPr>
              <a:t>MINISAT</a:t>
            </a:r>
            <a:r>
              <a:rPr lang="zh-CN" altLang="en-US" sz="1200" kern="1200" dirty="0">
                <a:solidFill>
                  <a:schemeClr val="tx1"/>
                </a:solidFill>
                <a:effectLst/>
                <a:latin typeface="+mn-lt"/>
                <a:ea typeface="+mn-ea"/>
                <a:cs typeface="+mn-cs"/>
              </a:rPr>
              <a:t>总是返回完整的模型，所以我们做了一个</a:t>
            </a:r>
            <a:r>
              <a:rPr lang="en-US" altLang="zh-CN" sz="1200" kern="1200" dirty="0">
                <a:solidFill>
                  <a:schemeClr val="tx1"/>
                </a:solidFill>
                <a:effectLst/>
                <a:latin typeface="+mn-lt"/>
                <a:ea typeface="+mn-ea"/>
                <a:cs typeface="+mn-cs"/>
              </a:rPr>
              <a:t>MINISAT</a:t>
            </a:r>
            <a:r>
              <a:rPr lang="zh-CN" altLang="en-US" sz="1200" kern="1200" dirty="0">
                <a:solidFill>
                  <a:schemeClr val="tx1"/>
                </a:solidFill>
                <a:effectLst/>
                <a:latin typeface="+mn-lt"/>
                <a:ea typeface="+mn-ea"/>
                <a:cs typeface="+mn-cs"/>
              </a:rPr>
              <a:t>的修改版本，它只在查询失败的影响范围内做</a:t>
            </a:r>
            <a:r>
              <a:rPr lang="en-US" altLang="zh-CN" sz="1200" kern="1200" dirty="0">
                <a:solidFill>
                  <a:schemeClr val="tx1"/>
                </a:solidFill>
                <a:effectLst/>
                <a:latin typeface="+mn-lt"/>
                <a:ea typeface="+mn-ea"/>
                <a:cs typeface="+mn-cs"/>
              </a:rPr>
              <a:t>BCP</a:t>
            </a:r>
            <a:r>
              <a:rPr lang="zh-CN" altLang="en-US" sz="1200" kern="1200" dirty="0">
                <a:solidFill>
                  <a:schemeClr val="tx1"/>
                </a:solidFill>
                <a:effectLst/>
                <a:latin typeface="+mn-lt"/>
                <a:ea typeface="+mn-ea"/>
                <a:cs typeface="+mn-cs"/>
              </a:rPr>
              <a:t>。这个版本，解决了几个测试基准点。</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作者还实现了</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的非单片版本，这有助于更好地定位</a:t>
            </a:r>
            <a:r>
              <a:rPr lang="en-US" altLang="zh-CN" sz="1200" kern="1200" dirty="0">
                <a:solidFill>
                  <a:schemeClr val="tx1"/>
                </a:solidFill>
                <a:effectLst/>
                <a:latin typeface="+mn-lt"/>
                <a:ea typeface="+mn-ea"/>
                <a:cs typeface="+mn-cs"/>
              </a:rPr>
              <a:t>SAT</a:t>
            </a:r>
            <a:r>
              <a:rPr lang="zh-CN" altLang="en-US" sz="1200" kern="1200" dirty="0">
                <a:solidFill>
                  <a:schemeClr val="tx1"/>
                </a:solidFill>
                <a:effectLst/>
                <a:latin typeface="+mn-lt"/>
                <a:ea typeface="+mn-ea"/>
                <a:cs typeface="+mn-cs"/>
              </a:rPr>
              <a:t>求解，特别是与频繁的求解器循环一起使用。</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制作了一个版本，在向前传播立方体后，找到了</a:t>
            </a:r>
            <a:r>
              <a:rPr lang="en-US" altLang="zh-CN" sz="1200" kern="1200" dirty="0">
                <a:solidFill>
                  <a:schemeClr val="tx1"/>
                </a:solidFill>
                <a:effectLst/>
                <a:latin typeface="+mn-lt"/>
                <a:ea typeface="+mn-ea"/>
                <a:cs typeface="+mn-cs"/>
              </a:rPr>
              <a:t>RN</a:t>
            </a:r>
            <a:r>
              <a:rPr lang="zh-CN" altLang="en-US" sz="1200" kern="1200" dirty="0">
                <a:solidFill>
                  <a:schemeClr val="tx1"/>
                </a:solidFill>
                <a:effectLst/>
                <a:latin typeface="+mn-lt"/>
                <a:ea typeface="+mn-ea"/>
                <a:cs typeface="+mn-cs"/>
              </a:rPr>
              <a:t>的归纳子集。这样会发现真正的归纳不变量，可以放入</a:t>
            </a:r>
            <a:r>
              <a:rPr lang="en-US" altLang="zh-CN" sz="1200" kern="1200" dirty="0">
                <a:solidFill>
                  <a:schemeClr val="tx1"/>
                </a:solidFill>
                <a:effectLst/>
                <a:latin typeface="+mn-lt"/>
                <a:ea typeface="+mn-ea"/>
                <a:cs typeface="+mn-cs"/>
              </a:rPr>
              <a:t>F∞</a:t>
            </a:r>
            <a:r>
              <a:rPr lang="zh-CN" altLang="en-US" sz="1200" kern="1200" dirty="0">
                <a:solidFill>
                  <a:schemeClr val="tx1"/>
                </a:solidFill>
                <a:effectLst/>
                <a:latin typeface="+mn-lt"/>
                <a:ea typeface="+mn-ea"/>
                <a:cs typeface="+mn-cs"/>
              </a:rPr>
              <a:t>中。</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做了一个扩展，允许</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开发和使用一个抽象，其中一些触发器被认为是主要的输入。这个实现起来相对比较直截了当。使用本地化抽象的唯一棘手的部分是当它与基于证明的抽象结合时</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，这可以在</a:t>
            </a:r>
            <a:r>
              <a:rPr lang="en-US" altLang="zh-CN" sz="1200" kern="1200" dirty="0">
                <a:solidFill>
                  <a:schemeClr val="tx1"/>
                </a:solidFill>
                <a:effectLst/>
                <a:latin typeface="+mn-lt"/>
                <a:ea typeface="+mn-ea"/>
                <a:cs typeface="+mn-cs"/>
              </a:rPr>
              <a:t>PDR</a:t>
            </a:r>
            <a:r>
              <a:rPr lang="zh-CN" altLang="en-US" sz="1200" kern="1200" dirty="0">
                <a:solidFill>
                  <a:schemeClr val="tx1"/>
                </a:solidFill>
                <a:effectLst/>
                <a:latin typeface="+mn-lt"/>
                <a:ea typeface="+mn-ea"/>
                <a:cs typeface="+mn-cs"/>
              </a:rPr>
              <a:t>的操作过程中缩小当前的抽象。原因是，如果我们对初始状态应用一个更小的抽象，图</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中的断言将不成立。解决这个问题的方法是引入一个复位信号，在帧</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的触发器输出端给出正确的值，然后让所有触发器都不初始化。</a:t>
            </a:r>
          </a:p>
          <a:p>
            <a:endParaRPr lang="en-US" altLang="zh-CN" sz="1200" kern="1200" dirty="0">
              <a:solidFill>
                <a:schemeClr val="tx1"/>
              </a:solidFill>
              <a:effectLst/>
              <a:latin typeface="+mn-lt"/>
              <a:ea typeface="+mn-ea"/>
              <a:cs typeface="+mn-cs"/>
            </a:endParaRPr>
          </a:p>
        </p:txBody>
      </p:sp>
      <p:sp>
        <p:nvSpPr>
          <p:cNvPr id="1048773" name="灯片编号占位符 3"/>
          <p:cNvSpPr>
            <a:spLocks noGrp="1"/>
          </p:cNvSpPr>
          <p:nvPr>
            <p:ph type="sldNum" sz="quarter" idx="5"/>
          </p:nvPr>
        </p:nvSpPr>
        <p:spPr/>
        <p:txBody>
          <a:bodyPr/>
          <a:lstStyle/>
          <a:p>
            <a:fld id="{CA298FEE-A46A-4860-84C4-CA0660BFEE76}" type="slidenum">
              <a:rPr lang="zh-CN" altLang="en-US" smtClean="0"/>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1"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p>
        </p:txBody>
      </p:sp>
      <p:sp>
        <p:nvSpPr>
          <p:cNvPr id="1048582"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048583"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2020/12/11</a:t>
            </a:fld>
            <a:endParaRPr lang="zh-CN" altLang="en-US"/>
          </a:p>
        </p:txBody>
      </p:sp>
      <p:sp>
        <p:nvSpPr>
          <p:cNvPr id="1048584" name="页脚占位符 16"/>
          <p:cNvSpPr>
            <a:spLocks noGrp="1"/>
          </p:cNvSpPr>
          <p:nvPr>
            <p:ph type="ftr" sz="quarter" idx="11"/>
            <p:custDataLst>
              <p:tags r:id="rId4"/>
            </p:custDataLst>
          </p:nvPr>
        </p:nvSpPr>
        <p:spPr/>
        <p:txBody>
          <a:bodyPr/>
          <a:lstStyle/>
          <a:p>
            <a:endParaRPr lang="zh-CN" altLang="en-US" dirty="0"/>
          </a:p>
        </p:txBody>
      </p:sp>
      <p:sp>
        <p:nvSpPr>
          <p:cNvPr id="1048585"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95"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1048596"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8597" name="日期占位符 3"/>
          <p:cNvSpPr>
            <a:spLocks noGrp="1"/>
          </p:cNvSpPr>
          <p:nvPr>
            <p:ph type="dt" sz="half" idx="10"/>
            <p:custDataLst>
              <p:tags r:id="rId3"/>
            </p:custDataLst>
          </p:nvPr>
        </p:nvSpPr>
        <p:spPr/>
        <p:txBody>
          <a:bodyPr/>
          <a:lstStyle/>
          <a:p>
            <a:fld id="{760FBDFE-C587-4B4C-A407-44438C67B59E}" type="datetimeFigureOut">
              <a:rPr lang="zh-CN" altLang="en-US" smtClean="0"/>
              <a:t>2020/12/11</a:t>
            </a:fld>
            <a:endParaRPr lang="zh-CN" altLang="en-US"/>
          </a:p>
        </p:txBody>
      </p:sp>
      <p:sp>
        <p:nvSpPr>
          <p:cNvPr id="1048598" name="页脚占位符 4"/>
          <p:cNvSpPr>
            <a:spLocks noGrp="1"/>
          </p:cNvSpPr>
          <p:nvPr>
            <p:ph type="ftr" sz="quarter" idx="11"/>
            <p:custDataLst>
              <p:tags r:id="rId4"/>
            </p:custDataLst>
          </p:nvPr>
        </p:nvSpPr>
        <p:spPr/>
        <p:txBody>
          <a:bodyPr/>
          <a:lstStyle/>
          <a:p>
            <a:endParaRPr lang="zh-CN" altLang="en-US"/>
          </a:p>
        </p:txBody>
      </p:sp>
      <p:sp>
        <p:nvSpPr>
          <p:cNvPr id="1048599"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88"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defRPr>
            </a:lvl1pPr>
          </a:lstStyle>
          <a:p>
            <a:r>
              <a:rPr lang="zh-CN" altLang="en-US" dirty="0"/>
              <a:t>单击此处编辑标题</a:t>
            </a:r>
          </a:p>
        </p:txBody>
      </p:sp>
      <p:sp>
        <p:nvSpPr>
          <p:cNvPr id="1048789"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1048790" name="日期占位符 3"/>
          <p:cNvSpPr>
            <a:spLocks noGrp="1"/>
          </p:cNvSpPr>
          <p:nvPr>
            <p:ph type="dt" sz="half" idx="10"/>
            <p:custDataLst>
              <p:tags r:id="rId3"/>
            </p:custDataLst>
          </p:nvPr>
        </p:nvSpPr>
        <p:spPr/>
        <p:txBody>
          <a:bodyPr/>
          <a:lstStyle/>
          <a:p>
            <a:fld id="{760FBDFE-C587-4B4C-A407-44438C67B59E}" type="datetimeFigureOut">
              <a:rPr lang="zh-CN" altLang="en-US" smtClean="0"/>
              <a:t>2020/12/11</a:t>
            </a:fld>
            <a:endParaRPr lang="zh-CN" altLang="en-US"/>
          </a:p>
        </p:txBody>
      </p:sp>
      <p:sp>
        <p:nvSpPr>
          <p:cNvPr id="1048791" name="页脚占位符 4"/>
          <p:cNvSpPr>
            <a:spLocks noGrp="1"/>
          </p:cNvSpPr>
          <p:nvPr>
            <p:ph type="ftr" sz="quarter" idx="11"/>
            <p:custDataLst>
              <p:tags r:id="rId4"/>
            </p:custDataLst>
          </p:nvPr>
        </p:nvSpPr>
        <p:spPr/>
        <p:txBody>
          <a:bodyPr/>
          <a:lstStyle/>
          <a:p>
            <a:endParaRPr lang="zh-CN" altLang="en-US"/>
          </a:p>
        </p:txBody>
      </p:sp>
      <p:sp>
        <p:nvSpPr>
          <p:cNvPr id="1048792"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93"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1048794"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8795"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796" name="日期占位符 4"/>
          <p:cNvSpPr>
            <a:spLocks noGrp="1"/>
          </p:cNvSpPr>
          <p:nvPr>
            <p:ph type="dt" sz="half" idx="10"/>
            <p:custDataLst>
              <p:tags r:id="rId4"/>
            </p:custDataLst>
          </p:nvPr>
        </p:nvSpPr>
        <p:spPr/>
        <p:txBody>
          <a:bodyPr/>
          <a:lstStyle/>
          <a:p>
            <a:fld id="{760FBDFE-C587-4B4C-A407-44438C67B59E}" type="datetimeFigureOut">
              <a:rPr lang="zh-CN" altLang="en-US" smtClean="0"/>
              <a:t>2020/12/11</a:t>
            </a:fld>
            <a:endParaRPr lang="zh-CN" altLang="en-US"/>
          </a:p>
        </p:txBody>
      </p:sp>
      <p:sp>
        <p:nvSpPr>
          <p:cNvPr id="1048797" name="页脚占位符 5"/>
          <p:cNvSpPr>
            <a:spLocks noGrp="1"/>
          </p:cNvSpPr>
          <p:nvPr>
            <p:ph type="ftr" sz="quarter" idx="11"/>
            <p:custDataLst>
              <p:tags r:id="rId5"/>
            </p:custDataLst>
          </p:nvPr>
        </p:nvSpPr>
        <p:spPr/>
        <p:txBody>
          <a:bodyPr/>
          <a:lstStyle/>
          <a:p>
            <a:endParaRPr lang="zh-CN" altLang="en-US"/>
          </a:p>
        </p:txBody>
      </p:sp>
      <p:sp>
        <p:nvSpPr>
          <p:cNvPr id="1048798"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99"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1048800"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1048801"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8802"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1048803"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8804" name="日期占位符 6"/>
          <p:cNvSpPr>
            <a:spLocks noGrp="1"/>
          </p:cNvSpPr>
          <p:nvPr>
            <p:ph type="dt" sz="half" idx="10"/>
            <p:custDataLst>
              <p:tags r:id="rId6"/>
            </p:custDataLst>
          </p:nvPr>
        </p:nvSpPr>
        <p:spPr/>
        <p:txBody>
          <a:bodyPr/>
          <a:lstStyle/>
          <a:p>
            <a:fld id="{760FBDFE-C587-4B4C-A407-44438C67B59E}" type="datetimeFigureOut">
              <a:rPr lang="zh-CN" altLang="en-US" smtClean="0"/>
              <a:t>2020/12/11</a:t>
            </a:fld>
            <a:endParaRPr lang="zh-CN" altLang="en-US"/>
          </a:p>
        </p:txBody>
      </p:sp>
      <p:sp>
        <p:nvSpPr>
          <p:cNvPr id="1048805" name="页脚占位符 7"/>
          <p:cNvSpPr>
            <a:spLocks noGrp="1"/>
          </p:cNvSpPr>
          <p:nvPr>
            <p:ph type="ftr" sz="quarter" idx="11"/>
            <p:custDataLst>
              <p:tags r:id="rId7"/>
            </p:custDataLst>
          </p:nvPr>
        </p:nvSpPr>
        <p:spPr/>
        <p:txBody>
          <a:bodyPr/>
          <a:lstStyle/>
          <a:p>
            <a:endParaRPr lang="zh-CN" altLang="en-US"/>
          </a:p>
        </p:txBody>
      </p:sp>
      <p:sp>
        <p:nvSpPr>
          <p:cNvPr id="1048806"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75"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1048776" name="日期占位符 2"/>
          <p:cNvSpPr>
            <a:spLocks noGrp="1"/>
          </p:cNvSpPr>
          <p:nvPr>
            <p:ph type="dt" sz="half" idx="10"/>
            <p:custDataLst>
              <p:tags r:id="rId2"/>
            </p:custDataLst>
          </p:nvPr>
        </p:nvSpPr>
        <p:spPr/>
        <p:txBody>
          <a:bodyPr/>
          <a:lstStyle/>
          <a:p>
            <a:fld id="{760FBDFE-C587-4B4C-A407-44438C67B59E}" type="datetimeFigureOut">
              <a:rPr lang="zh-CN" altLang="en-US" smtClean="0"/>
              <a:t>2020/12/11</a:t>
            </a:fld>
            <a:endParaRPr lang="zh-CN" altLang="en-US"/>
          </a:p>
        </p:txBody>
      </p:sp>
      <p:sp>
        <p:nvSpPr>
          <p:cNvPr id="1048777" name="页脚占位符 3"/>
          <p:cNvSpPr>
            <a:spLocks noGrp="1"/>
          </p:cNvSpPr>
          <p:nvPr>
            <p:ph type="ftr" sz="quarter" idx="11"/>
            <p:custDataLst>
              <p:tags r:id="rId3"/>
            </p:custDataLst>
          </p:nvPr>
        </p:nvSpPr>
        <p:spPr/>
        <p:txBody>
          <a:bodyPr/>
          <a:lstStyle/>
          <a:p>
            <a:endParaRPr lang="zh-CN" altLang="en-US"/>
          </a:p>
        </p:txBody>
      </p:sp>
      <p:sp>
        <p:nvSpPr>
          <p:cNvPr id="1048778"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7" name="日期占位符 1"/>
          <p:cNvSpPr>
            <a:spLocks noGrp="1"/>
          </p:cNvSpPr>
          <p:nvPr>
            <p:ph type="dt" sz="half" idx="10"/>
            <p:custDataLst>
              <p:tags r:id="rId1"/>
            </p:custDataLst>
          </p:nvPr>
        </p:nvSpPr>
        <p:spPr/>
        <p:txBody>
          <a:bodyPr/>
          <a:lstStyle/>
          <a:p>
            <a:fld id="{760FBDFE-C587-4B4C-A407-44438C67B59E}" type="datetimeFigureOut">
              <a:rPr lang="zh-CN" altLang="en-US" smtClean="0"/>
              <a:t>2020/12/11</a:t>
            </a:fld>
            <a:endParaRPr lang="zh-CN" altLang="en-US"/>
          </a:p>
        </p:txBody>
      </p:sp>
      <p:sp>
        <p:nvSpPr>
          <p:cNvPr id="1048608" name="页脚占位符 2"/>
          <p:cNvSpPr>
            <a:spLocks noGrp="1"/>
          </p:cNvSpPr>
          <p:nvPr>
            <p:ph type="ftr" sz="quarter" idx="11"/>
            <p:custDataLst>
              <p:tags r:id="rId2"/>
            </p:custDataLst>
          </p:nvPr>
        </p:nvSpPr>
        <p:spPr/>
        <p:txBody>
          <a:bodyPr/>
          <a:lstStyle/>
          <a:p>
            <a:endParaRPr lang="zh-CN" altLang="en-US"/>
          </a:p>
        </p:txBody>
      </p:sp>
      <p:sp>
        <p:nvSpPr>
          <p:cNvPr id="1048609"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807"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5pPr>
          </a:lstStyle>
          <a:p>
            <a:pPr lvl="0"/>
            <a:endParaRPr dirty="0">
              <a:sym typeface="+mn-ea"/>
            </a:endParaRPr>
          </a:p>
        </p:txBody>
      </p:sp>
      <p:sp>
        <p:nvSpPr>
          <p:cNvPr id="1048808"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1048809" name="日期占位符 4"/>
          <p:cNvSpPr>
            <a:spLocks noGrp="1"/>
          </p:cNvSpPr>
          <p:nvPr>
            <p:ph type="dt" sz="half" idx="10"/>
            <p:custDataLst>
              <p:tags r:id="rId3"/>
            </p:custDataLst>
          </p:nvPr>
        </p:nvSpPr>
        <p:spPr/>
        <p:txBody>
          <a:bodyPr/>
          <a:lstStyle/>
          <a:p>
            <a:fld id="{9EFD9D74-47D9-4702-A33C-335B63B48DBF}" type="datetimeFigureOut">
              <a:rPr lang="zh-CN" altLang="en-US" smtClean="0"/>
              <a:t>2020/12/11</a:t>
            </a:fld>
            <a:endParaRPr lang="zh-CN" altLang="en-US" dirty="0"/>
          </a:p>
        </p:txBody>
      </p:sp>
      <p:sp>
        <p:nvSpPr>
          <p:cNvPr id="1048810" name="页脚占位符 5"/>
          <p:cNvSpPr>
            <a:spLocks noGrp="1"/>
          </p:cNvSpPr>
          <p:nvPr>
            <p:ph type="ftr" sz="quarter" idx="11"/>
            <p:custDataLst>
              <p:tags r:id="rId4"/>
            </p:custDataLst>
          </p:nvPr>
        </p:nvSpPr>
        <p:spPr/>
        <p:txBody>
          <a:bodyPr/>
          <a:lstStyle/>
          <a:p>
            <a:endParaRPr lang="zh-CN" altLang="en-US" dirty="0"/>
          </a:p>
        </p:txBody>
      </p:sp>
      <p:sp>
        <p:nvSpPr>
          <p:cNvPr id="1048811"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1048812"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79"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1048780"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781" name="日期占位符 3"/>
          <p:cNvSpPr>
            <a:spLocks noGrp="1"/>
          </p:cNvSpPr>
          <p:nvPr>
            <p:ph type="dt" sz="half" idx="10"/>
            <p:custDataLst>
              <p:tags r:id="rId3"/>
            </p:custDataLst>
          </p:nvPr>
        </p:nvSpPr>
        <p:spPr/>
        <p:txBody>
          <a:bodyPr/>
          <a:lstStyle/>
          <a:p>
            <a:fld id="{760FBDFE-C587-4B4C-A407-44438C67B59E}" type="datetimeFigureOut">
              <a:rPr lang="zh-CN" altLang="en-US" smtClean="0"/>
              <a:t>2020/12/11</a:t>
            </a:fld>
            <a:endParaRPr lang="zh-CN" altLang="en-US"/>
          </a:p>
        </p:txBody>
      </p:sp>
      <p:sp>
        <p:nvSpPr>
          <p:cNvPr id="1048782" name="页脚占位符 4"/>
          <p:cNvSpPr>
            <a:spLocks noGrp="1"/>
          </p:cNvSpPr>
          <p:nvPr>
            <p:ph type="ftr" sz="quarter" idx="11"/>
            <p:custDataLst>
              <p:tags r:id="rId4"/>
            </p:custDataLst>
          </p:nvPr>
        </p:nvSpPr>
        <p:spPr/>
        <p:txBody>
          <a:bodyPr/>
          <a:lstStyle/>
          <a:p>
            <a:endParaRPr lang="zh-CN" altLang="en-US"/>
          </a:p>
        </p:txBody>
      </p:sp>
      <p:sp>
        <p:nvSpPr>
          <p:cNvPr id="1048783"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784" name="日期占位符 2"/>
          <p:cNvSpPr>
            <a:spLocks noGrp="1"/>
          </p:cNvSpPr>
          <p:nvPr>
            <p:ph type="dt" sz="half" idx="10"/>
            <p:custDataLst>
              <p:tags r:id="rId1"/>
            </p:custDataLst>
          </p:nvPr>
        </p:nvSpPr>
        <p:spPr/>
        <p:txBody>
          <a:bodyPr/>
          <a:lstStyle/>
          <a:p>
            <a:fld id="{760FBDFE-C587-4B4C-A407-44438C67B59E}" type="datetimeFigureOut">
              <a:rPr lang="zh-CN" altLang="en-US" smtClean="0"/>
              <a:t>2020/12/11</a:t>
            </a:fld>
            <a:endParaRPr lang="zh-CN" altLang="en-US"/>
          </a:p>
        </p:txBody>
      </p:sp>
      <p:sp>
        <p:nvSpPr>
          <p:cNvPr id="1048785" name="页脚占位符 3"/>
          <p:cNvSpPr>
            <a:spLocks noGrp="1"/>
          </p:cNvSpPr>
          <p:nvPr>
            <p:ph type="ftr" sz="quarter" idx="11"/>
            <p:custDataLst>
              <p:tags r:id="rId2"/>
            </p:custDataLst>
          </p:nvPr>
        </p:nvSpPr>
        <p:spPr/>
        <p:txBody>
          <a:bodyPr/>
          <a:lstStyle/>
          <a:p>
            <a:endParaRPr lang="zh-CN" altLang="en-US"/>
          </a:p>
        </p:txBody>
      </p:sp>
      <p:sp>
        <p:nvSpPr>
          <p:cNvPr id="1048786"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04878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588" name="日期占位符 2"/>
          <p:cNvSpPr>
            <a:spLocks noGrp="1"/>
          </p:cNvSpPr>
          <p:nvPr>
            <p:ph type="dt" sz="half" idx="10"/>
            <p:custDataLst>
              <p:tags r:id="rId1"/>
            </p:custDataLst>
          </p:nvPr>
        </p:nvSpPr>
        <p:spPr/>
        <p:txBody>
          <a:bodyPr/>
          <a:lstStyle/>
          <a:p>
            <a:fld id="{760FBDFE-C587-4B4C-A407-44438C67B59E}" type="datetimeFigureOut">
              <a:rPr lang="zh-CN" altLang="en-US" smtClean="0"/>
              <a:t>2020/12/11</a:t>
            </a:fld>
            <a:endParaRPr lang="zh-CN" altLang="en-US"/>
          </a:p>
        </p:txBody>
      </p:sp>
      <p:sp>
        <p:nvSpPr>
          <p:cNvPr id="1048589" name="页脚占位符 3"/>
          <p:cNvSpPr>
            <a:spLocks noGrp="1"/>
          </p:cNvSpPr>
          <p:nvPr>
            <p:ph type="ftr" sz="quarter" idx="11"/>
            <p:custDataLst>
              <p:tags r:id="rId2"/>
            </p:custDataLst>
          </p:nvPr>
        </p:nvSpPr>
        <p:spPr/>
        <p:txBody>
          <a:bodyPr/>
          <a:lstStyle/>
          <a:p>
            <a:endParaRPr lang="zh-CN" altLang="en-US"/>
          </a:p>
        </p:txBody>
      </p:sp>
      <p:sp>
        <p:nvSpPr>
          <p:cNvPr id="1048590"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048591"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1048592"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576"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1048577"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578"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2020/12/11</a:t>
            </a:fld>
            <a:endParaRPr lang="zh-CN" altLang="en-US"/>
          </a:p>
        </p:txBody>
      </p:sp>
      <p:sp>
        <p:nvSpPr>
          <p:cNvPr id="1048579"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1048580"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7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7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7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78.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79.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80.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8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8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83.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8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8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tags" Target="../tags/tag8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87.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88.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89.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90.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xml"/><Relationship Id="rId1" Type="http://schemas.openxmlformats.org/officeDocument/2006/relationships/tags" Target="../tags/tag9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9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586" name="标题 1"/>
          <p:cNvSpPr>
            <a:spLocks noGrp="1"/>
          </p:cNvSpPr>
          <p:nvPr>
            <p:ph type="ctrTitle"/>
            <p:custDataLst>
              <p:tags r:id="rId2"/>
            </p:custDataLst>
          </p:nvPr>
        </p:nvSpPr>
        <p:spPr/>
        <p:txBody>
          <a:bodyPr>
            <a:normAutofit fontScale="90000"/>
          </a:bodyPr>
          <a:lstStyle/>
          <a:p>
            <a:r>
              <a:rPr lang="zh-CN" altLang="zh-CN"/>
              <a:t>Efficient Implementation of Property Directed</a:t>
            </a:r>
            <a:br>
              <a:rPr lang="zh-CN" altLang="zh-CN"/>
            </a:br>
            <a:r>
              <a:rPr lang="zh-CN" altLang="zh-CN"/>
              <a:t>Reachability</a:t>
            </a:r>
          </a:p>
        </p:txBody>
      </p:sp>
      <p:sp>
        <p:nvSpPr>
          <p:cNvPr id="1048587" name="副标题 2"/>
          <p:cNvSpPr>
            <a:spLocks noGrp="1"/>
          </p:cNvSpPr>
          <p:nvPr>
            <p:ph type="subTitle" idx="1"/>
            <p:custDataLst>
              <p:tags r:id="rId3"/>
            </p:custDataLst>
          </p:nvPr>
        </p:nvSpPr>
        <p:spPr/>
        <p:txBody>
          <a:bodyPr>
            <a:normAutofit fontScale="95833" lnSpcReduction="10000"/>
          </a:bodyPr>
          <a:lstStyle/>
          <a:p>
            <a:endParaRPr lang="en-US" altLang="zh-CN" dirty="0"/>
          </a:p>
          <a:p>
            <a:endParaRPr lang="en-US" altLang="zh-CN" dirty="0"/>
          </a:p>
          <a:p>
            <a:r>
              <a:rPr lang="zh-CN" altLang="en-US" dirty="0"/>
              <a:t>小组成员：唐慧敏 雷胤朝 王灿</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593" name="标题 3"/>
          <p:cNvSpPr>
            <a:spLocks noGrp="1"/>
          </p:cNvSpPr>
          <p:nvPr>
            <p:ph type="title"/>
          </p:nvPr>
        </p:nvSpPr>
        <p:spPr/>
        <p:txBody>
          <a:bodyPr>
            <a:normAutofit fontScale="90000"/>
          </a:bodyPr>
          <a:lstStyle/>
          <a:p>
            <a:r>
              <a:rPr lang="en-US" altLang="zh-CN" dirty="0">
                <a:sym typeface="+mn-ea"/>
              </a:rPr>
              <a:t>1.Introduction</a:t>
            </a:r>
            <a:br>
              <a:rPr lang="en-US" altLang="zh-CN" dirty="0"/>
            </a:br>
            <a:endParaRPr lang="zh-CN" altLang="en-US" dirty="0"/>
          </a:p>
        </p:txBody>
      </p:sp>
      <p:sp>
        <p:nvSpPr>
          <p:cNvPr id="1048594" name="文本占位符 4"/>
          <p:cNvSpPr>
            <a:spLocks noGrp="1"/>
          </p:cNvSpPr>
          <p:nvPr>
            <p:ph type="body" sz="quarter" idx="13"/>
          </p:nvPr>
        </p:nvSpPr>
        <p:spPr/>
        <p:txBody>
          <a:bodyPr>
            <a:normAutofit/>
          </a:bodyPr>
          <a:lstStyle/>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00" name="标题 1"/>
          <p:cNvSpPr>
            <a:spLocks noGrp="1"/>
          </p:cNvSpPr>
          <p:nvPr>
            <p:ph type="title"/>
          </p:nvPr>
        </p:nvSpPr>
        <p:spPr>
          <a:xfrm>
            <a:off x="611575" y="403295"/>
            <a:ext cx="10969200" cy="705600"/>
          </a:xfrm>
        </p:spPr>
        <p:txBody>
          <a:bodyPr/>
          <a:lstStyle/>
          <a:p>
            <a:r>
              <a:rPr lang="en-US" altLang="zh-CN"/>
              <a:t>IC3</a:t>
            </a:r>
          </a:p>
        </p:txBody>
      </p:sp>
      <p:sp>
        <p:nvSpPr>
          <p:cNvPr id="1048601" name="椭圆 3"/>
          <p:cNvSpPr/>
          <p:nvPr/>
        </p:nvSpPr>
        <p:spPr>
          <a:xfrm>
            <a:off x="297815" y="2604135"/>
            <a:ext cx="2293620" cy="2144395"/>
          </a:xfrm>
          <a:prstGeom prst="ellipse">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IC3</a:t>
            </a:r>
          </a:p>
        </p:txBody>
      </p:sp>
      <p:cxnSp>
        <p:nvCxnSpPr>
          <p:cNvPr id="3145728" name="直接连接符 4"/>
          <p:cNvCxnSpPr>
            <a:cxnSpLocks/>
            <a:stCxn id="1048601" idx="7"/>
          </p:cNvCxnSpPr>
          <p:nvPr/>
        </p:nvCxnSpPr>
        <p:spPr>
          <a:xfrm flipV="1">
            <a:off x="2255520" y="1900555"/>
            <a:ext cx="1074420" cy="1017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8602" name="文本框 5"/>
          <p:cNvSpPr txBox="1"/>
          <p:nvPr/>
        </p:nvSpPr>
        <p:spPr>
          <a:xfrm>
            <a:off x="3507105" y="1392555"/>
            <a:ext cx="7827645" cy="802640"/>
          </a:xfrm>
          <a:prstGeom prst="rect">
            <a:avLst/>
          </a:prstGeom>
          <a:noFill/>
        </p:spPr>
        <p:txBody>
          <a:bodyPr wrap="square" rtlCol="0">
            <a:spAutoFit/>
          </a:bodyPr>
          <a:lstStyle/>
          <a:p>
            <a:r>
              <a:rPr lang="zh-CN" altLang="en-US" sz="2400" b="1">
                <a:sym typeface="+mn-ea"/>
              </a:rPr>
              <a:t>Aaron Bradley</a:t>
            </a:r>
            <a:r>
              <a:rPr lang="zh-CN" altLang="en-US" sz="2400">
                <a:sym typeface="+mn-ea"/>
              </a:rPr>
              <a:t>, SAT-Based Model Checking without Unrolling, VMCAI 2011</a:t>
            </a:r>
          </a:p>
        </p:txBody>
      </p:sp>
      <p:sp>
        <p:nvSpPr>
          <p:cNvPr id="1048603" name="文本框 6"/>
          <p:cNvSpPr txBox="1"/>
          <p:nvPr/>
        </p:nvSpPr>
        <p:spPr>
          <a:xfrm>
            <a:off x="3609975" y="5847715"/>
            <a:ext cx="7272655" cy="460375"/>
          </a:xfrm>
          <a:prstGeom prst="rect">
            <a:avLst/>
          </a:prstGeom>
          <a:noFill/>
        </p:spPr>
        <p:txBody>
          <a:bodyPr wrap="square" rtlCol="0">
            <a:spAutoFit/>
          </a:bodyPr>
          <a:lstStyle/>
          <a:p>
            <a:r>
              <a:rPr lang="zh-CN" altLang="en-US" sz="2400" b="1">
                <a:sym typeface="+mn-ea"/>
              </a:rPr>
              <a:t>Aaron Bradley</a:t>
            </a:r>
            <a:r>
              <a:rPr lang="zh-CN" altLang="en-US" sz="2400">
                <a:sym typeface="+mn-ea"/>
              </a:rPr>
              <a:t>, </a:t>
            </a:r>
            <a:r>
              <a:rPr lang="zh-CN" altLang="en-US" sz="2400"/>
              <a:t>Understanding IC3</a:t>
            </a:r>
          </a:p>
        </p:txBody>
      </p:sp>
      <p:cxnSp>
        <p:nvCxnSpPr>
          <p:cNvPr id="3145729" name="直接连接符 7"/>
          <p:cNvCxnSpPr>
            <a:cxnSpLocks/>
            <a:stCxn id="1048601" idx="5"/>
          </p:cNvCxnSpPr>
          <p:nvPr/>
        </p:nvCxnSpPr>
        <p:spPr>
          <a:xfrm>
            <a:off x="2255520" y="4434205"/>
            <a:ext cx="1251585" cy="1671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8604" name="文本框 2"/>
          <p:cNvSpPr txBox="1"/>
          <p:nvPr/>
        </p:nvSpPr>
        <p:spPr>
          <a:xfrm>
            <a:off x="3609975" y="2329815"/>
            <a:ext cx="7724775" cy="2936241"/>
          </a:xfrm>
          <a:prstGeom prst="rect">
            <a:avLst/>
          </a:prstGeom>
          <a:noFill/>
          <a:ln>
            <a:solidFill>
              <a:schemeClr val="bg1">
                <a:lumMod val="50000"/>
              </a:schemeClr>
            </a:solidFill>
          </a:ln>
        </p:spPr>
        <p:txBody>
          <a:bodyPr wrap="square" rtlCol="0" anchor="t">
            <a:spAutoFit/>
          </a:bodyPr>
          <a:lstStyle/>
          <a:p>
            <a:r>
              <a:rPr lang="en-US" altLang="zh-CN" sz="2400"/>
              <a:t>Abstract: </a:t>
            </a:r>
            <a:r>
              <a:rPr lang="zh-CN" altLang="en-US" sz="2400"/>
              <a:t>A new form of SAT-based symbolic model checking is described. Instead of unrolling the transition relation, it incrementally generates clauses that are inductive relative to (and augment) stepwise approximate reachability information. In this way, the algorithm gradually refines the property, eventually producing either an inductive strengthening of the property or a counterexample trace.</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10" name="标题 1"/>
          <p:cNvSpPr>
            <a:spLocks noGrp="1"/>
          </p:cNvSpPr>
          <p:nvPr/>
        </p:nvSpPr>
        <p:spPr>
          <a:xfrm>
            <a:off x="611575" y="40329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a:t>IC3</a:t>
            </a:r>
          </a:p>
        </p:txBody>
      </p:sp>
      <p:sp>
        <p:nvSpPr>
          <p:cNvPr id="1048611" name="文本框 4"/>
          <p:cNvSpPr txBox="1"/>
          <p:nvPr/>
        </p:nvSpPr>
        <p:spPr>
          <a:xfrm>
            <a:off x="716280" y="1388745"/>
            <a:ext cx="10488930" cy="3952241"/>
          </a:xfrm>
          <a:prstGeom prst="rect">
            <a:avLst/>
          </a:prstGeom>
          <a:noFill/>
        </p:spPr>
        <p:txBody>
          <a:bodyPr wrap="square" rtlCol="0">
            <a:spAutoFit/>
          </a:bodyPr>
          <a:lstStyle/>
          <a:p>
            <a:r>
              <a:rPr lang="en-US" altLang="zh-CN" sz="3200" b="1">
                <a:latin typeface="Times New Roman" panose="02020603050405020304" charset="0"/>
                <a:cs typeface="Times New Roman" panose="02020603050405020304" charset="0"/>
              </a:rPr>
              <a:t>1. F</a:t>
            </a:r>
            <a:r>
              <a:rPr lang="zh-CN" altLang="en-US" sz="3200" b="1">
                <a:latin typeface="Times New Roman" panose="02020603050405020304" charset="0"/>
                <a:cs typeface="Times New Roman" panose="02020603050405020304" charset="0"/>
              </a:rPr>
              <a:t>inite state transition system：</a:t>
            </a:r>
            <a:r>
              <a:rPr lang="zh-CN" altLang="en-US" sz="3200">
                <a:latin typeface="Times New Roman" panose="02020603050405020304" charset="0"/>
                <a:cs typeface="Times New Roman" panose="02020603050405020304" charset="0"/>
              </a:rPr>
              <a:t>S = ( X, I</a:t>
            </a:r>
            <a:r>
              <a:rPr lang="en-US" altLang="zh-CN" sz="3200">
                <a:latin typeface="Times New Roman" panose="02020603050405020304" charset="0"/>
                <a:cs typeface="Times New Roman" panose="02020603050405020304" charset="0"/>
              </a:rPr>
              <a:t>(x) </a:t>
            </a:r>
            <a:r>
              <a:rPr lang="zh-CN" altLang="en-US" sz="3200">
                <a:latin typeface="Times New Roman" panose="02020603050405020304" charset="0"/>
                <a:cs typeface="Times New Roman" panose="02020603050405020304" charset="0"/>
              </a:rPr>
              <a:t>,T</a:t>
            </a:r>
            <a:r>
              <a:rPr lang="en-US" altLang="zh-CN" sz="3200">
                <a:latin typeface="Times New Roman" panose="02020603050405020304" charset="0"/>
                <a:cs typeface="Times New Roman" panose="02020603050405020304" charset="0"/>
              </a:rPr>
              <a:t>(X,X')</a:t>
            </a:r>
            <a:r>
              <a:rPr lang="zh-CN" altLang="en-US" sz="3200">
                <a:latin typeface="Times New Roman" panose="02020603050405020304" charset="0"/>
                <a:cs typeface="Times New Roman" panose="02020603050405020304" charset="0"/>
              </a:rPr>
              <a:t> )</a:t>
            </a:r>
          </a:p>
          <a:p>
            <a:r>
              <a:rPr lang="en-US" altLang="zh-CN" sz="3200">
                <a:latin typeface="Times New Roman" panose="02020603050405020304" charset="0"/>
                <a:cs typeface="Times New Roman" panose="02020603050405020304" charset="0"/>
              </a:rPr>
              <a:t>	s=a∧¬b</a:t>
            </a:r>
            <a:r>
              <a:rPr lang="zh-CN" altLang="en-US" sz="3200">
                <a:latin typeface="Times New Roman" panose="02020603050405020304" charset="0"/>
                <a:cs typeface="Times New Roman" panose="02020603050405020304" charset="0"/>
              </a:rPr>
              <a:t>     </a:t>
            </a:r>
          </a:p>
          <a:p>
            <a:r>
              <a:rPr lang="en-US" altLang="zh-CN" sz="3200">
                <a:latin typeface="Times New Roman" panose="02020603050405020304" charset="0"/>
                <a:cs typeface="Times New Roman" panose="02020603050405020304" charset="0"/>
              </a:rPr>
              <a:t>	¬s=¬a∨b</a:t>
            </a:r>
          </a:p>
          <a:p>
            <a:r>
              <a:rPr lang="en-US" altLang="zh-CN" sz="3200">
                <a:latin typeface="Times New Roman" panose="02020603050405020304" charset="0"/>
                <a:cs typeface="Times New Roman" panose="02020603050405020304" charset="0"/>
              </a:rPr>
              <a:t>	s ⊨ F ------ s is a F-state</a:t>
            </a:r>
          </a:p>
          <a:p>
            <a:endParaRPr lang="en-US" altLang="zh-CN" sz="3200">
              <a:latin typeface="Times New Roman" panose="02020603050405020304" charset="0"/>
              <a:cs typeface="Times New Roman" panose="02020603050405020304" charset="0"/>
            </a:endParaRPr>
          </a:p>
          <a:p>
            <a:r>
              <a:rPr lang="en-US" altLang="zh-CN" sz="3200" b="1">
                <a:latin typeface="Times New Roman" panose="02020603050405020304" charset="0"/>
                <a:cs typeface="Times New Roman" panose="02020603050405020304" charset="0"/>
              </a:rPr>
              <a:t>2. Inductive generalization:</a:t>
            </a:r>
          </a:p>
          <a:p>
            <a:r>
              <a:rPr lang="en-US" altLang="zh-CN" sz="3200" b="1">
                <a:latin typeface="Times New Roman" panose="02020603050405020304" charset="0"/>
                <a:cs typeface="Times New Roman" panose="02020603050405020304" charset="0"/>
              </a:rPr>
              <a:t>	c⇒s   </a:t>
            </a:r>
          </a:p>
          <a:p>
            <a:r>
              <a:rPr lang="en-US" altLang="zh-CN" sz="3200" b="1">
                <a:latin typeface="Times New Roman" panose="02020603050405020304" charset="0"/>
                <a:cs typeface="Times New Roman" panose="02020603050405020304" charset="0"/>
              </a:rPr>
              <a:t>3. Safety property &amp; bad state</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14" name="标题 1"/>
          <p:cNvSpPr>
            <a:spLocks noGrp="1"/>
          </p:cNvSpPr>
          <p:nvPr/>
        </p:nvSpPr>
        <p:spPr>
          <a:xfrm>
            <a:off x="611575" y="40329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a:t>IC3</a:t>
            </a:r>
          </a:p>
        </p:txBody>
      </p:sp>
      <p:sp>
        <p:nvSpPr>
          <p:cNvPr id="1048615" name="文本框 1"/>
          <p:cNvSpPr txBox="1"/>
          <p:nvPr/>
        </p:nvSpPr>
        <p:spPr>
          <a:xfrm>
            <a:off x="612140" y="1384935"/>
            <a:ext cx="11818620" cy="4790440"/>
          </a:xfrm>
          <a:prstGeom prst="rect">
            <a:avLst/>
          </a:prstGeom>
          <a:noFill/>
        </p:spPr>
        <p:txBody>
          <a:bodyPr wrap="square" rtlCol="0" anchor="t">
            <a:spAutoFit/>
          </a:bodyPr>
          <a:lstStyle/>
          <a:p>
            <a:r>
              <a:rPr lang="en-US" altLang="zh-CN" sz="3200" b="1">
                <a:latin typeface="Times New Roman" panose="02020603050405020304" charset="0"/>
                <a:cs typeface="Times New Roman" panose="02020603050405020304" charset="0"/>
              </a:rPr>
              <a:t>4. inductive assertion —— F</a:t>
            </a:r>
          </a:p>
          <a:p>
            <a:pPr algn="l">
              <a:buClrTx/>
              <a:buSzTx/>
              <a:buNone/>
            </a:pPr>
            <a:r>
              <a:rPr lang="en-US" altLang="zh-CN"/>
              <a:t>	</a:t>
            </a:r>
            <a:r>
              <a:rPr lang="en-US" altLang="zh-CN" sz="3200">
                <a:latin typeface="Times New Roman" panose="02020603050405020304" charset="0"/>
                <a:cs typeface="Times New Roman" panose="02020603050405020304" charset="0"/>
              </a:rPr>
              <a:t>I⇒F </a:t>
            </a:r>
          </a:p>
          <a:p>
            <a:pPr algn="l">
              <a:buClrTx/>
              <a:buSzTx/>
              <a:buNone/>
            </a:pPr>
            <a:r>
              <a:rPr lang="en-US" altLang="zh-CN" sz="3200">
                <a:latin typeface="Times New Roman" panose="02020603050405020304" charset="0"/>
                <a:cs typeface="Times New Roman" panose="02020603050405020304" charset="0"/>
              </a:rPr>
              <a:t>	F∧T⇒F′</a:t>
            </a:r>
          </a:p>
          <a:p>
            <a:pPr algn="l">
              <a:buClrTx/>
              <a:buSzTx/>
              <a:buNone/>
            </a:pPr>
            <a:endParaRPr lang="en-US" altLang="zh-CN" sz="3200">
              <a:latin typeface="Times New Roman" panose="02020603050405020304" charset="0"/>
              <a:cs typeface="Times New Roman" panose="02020603050405020304" charset="0"/>
            </a:endParaRPr>
          </a:p>
          <a:p>
            <a:pPr algn="l">
              <a:buClrTx/>
              <a:buSzTx/>
              <a:buNone/>
            </a:pPr>
            <a:r>
              <a:rPr lang="en-US" altLang="zh-CN" sz="3200" b="1">
                <a:latin typeface="Times New Roman" panose="02020603050405020304" charset="0"/>
                <a:cs typeface="Times New Roman" panose="02020603050405020304" charset="0"/>
              </a:rPr>
              <a:t>5. inductive strengthening</a:t>
            </a:r>
          </a:p>
          <a:p>
            <a:pPr algn="l">
              <a:buClrTx/>
              <a:buSzTx/>
              <a:buNone/>
            </a:pPr>
            <a:r>
              <a:rPr lang="en-US" altLang="zh-CN" sz="3200" b="1">
                <a:latin typeface="Times New Roman" panose="02020603050405020304" charset="0"/>
                <a:cs typeface="Times New Roman" panose="02020603050405020304" charset="0"/>
              </a:rPr>
              <a:t>	</a:t>
            </a:r>
            <a:r>
              <a:rPr lang="en-US" altLang="zh-CN" sz="3200">
                <a:latin typeface="Times New Roman" panose="02020603050405020304" charset="0"/>
                <a:cs typeface="Times New Roman" panose="02020603050405020304" charset="0"/>
              </a:rPr>
              <a:t>F∧P</a:t>
            </a:r>
          </a:p>
          <a:p>
            <a:pPr algn="l">
              <a:buClrTx/>
              <a:buSzTx/>
              <a:buNone/>
            </a:pPr>
            <a:endParaRPr lang="en-US" altLang="zh-CN" sz="3200">
              <a:latin typeface="Times New Roman" panose="02020603050405020304" charset="0"/>
              <a:cs typeface="Times New Roman" panose="02020603050405020304" charset="0"/>
            </a:endParaRPr>
          </a:p>
          <a:p>
            <a:pPr algn="l">
              <a:buClrTx/>
              <a:buSzTx/>
              <a:buNone/>
            </a:pPr>
            <a:r>
              <a:rPr lang="en-US" altLang="zh-CN" sz="4400" b="1">
                <a:solidFill>
                  <a:srgbClr val="FF0000"/>
                </a:solidFill>
                <a:latin typeface="Times New Roman" panose="02020603050405020304" charset="0"/>
                <a:cs typeface="Times New Roman" panose="02020603050405020304" charset="0"/>
              </a:rPr>
              <a:t>IC3?		</a:t>
            </a:r>
          </a:p>
          <a:p>
            <a:pPr algn="l">
              <a:buClrTx/>
              <a:buSzTx/>
              <a:buNone/>
            </a:pPr>
            <a:r>
              <a:rPr lang="en-US" altLang="zh-CN" sz="4400" b="1">
                <a:solidFill>
                  <a:srgbClr val="FF0000"/>
                </a:solidFill>
                <a:latin typeface="Times New Roman" panose="02020603050405020304" charset="0"/>
                <a:cs typeface="Times New Roman" panose="02020603050405020304" charset="0"/>
              </a:rPr>
              <a:t>property directed reachability (PDR)</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18"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a:t>Contribution</a:t>
            </a:r>
          </a:p>
        </p:txBody>
      </p:sp>
      <p:sp>
        <p:nvSpPr>
          <p:cNvPr id="1048619" name="文本框 2"/>
          <p:cNvSpPr txBox="1"/>
          <p:nvPr/>
        </p:nvSpPr>
        <p:spPr>
          <a:xfrm>
            <a:off x="611505" y="1981200"/>
            <a:ext cx="11111865" cy="2225041"/>
          </a:xfrm>
          <a:prstGeom prst="rect">
            <a:avLst/>
          </a:prstGeom>
          <a:noFill/>
        </p:spPr>
        <p:txBody>
          <a:bodyPr wrap="square" rtlCol="0" anchor="t">
            <a:spAutoFit/>
          </a:bodyPr>
          <a:lstStyle/>
          <a:p>
            <a:r>
              <a:rPr lang="zh-CN" altLang="en-US" sz="3600"/>
              <a:t>In this paper, we explore PDR and try to understand the reason for its effectiveness. We propose a number of changes to the algorithm to improve its performance and to simplify its implementation.</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22" name="标题 4"/>
          <p:cNvSpPr>
            <a:spLocks noGrp="1"/>
          </p:cNvSpPr>
          <p:nvPr>
            <p:ph type="title"/>
          </p:nvPr>
        </p:nvSpPr>
        <p:spPr/>
        <p:txBody>
          <a:bodyPr/>
          <a:lstStyle/>
          <a:p>
            <a:r>
              <a:rPr lang="en-US" altLang="zh-CN" dirty="0"/>
              <a:t>2.Preliminaries</a:t>
            </a:r>
          </a:p>
        </p:txBody>
      </p:sp>
      <p:sp>
        <p:nvSpPr>
          <p:cNvPr id="1048623" name="文本占位符 5"/>
          <p:cNvSpPr>
            <a:spLocks noGrp="1"/>
          </p:cNvSpPr>
          <p:nvPr>
            <p:ph type="body" sz="quarter" idx="13"/>
          </p:nvPr>
        </p:nvSpPr>
        <p:spPr/>
        <p:txBody>
          <a:bodyPr>
            <a:normAutofit/>
          </a:bodyPr>
          <a:lstStyle/>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24" name="标题 1"/>
          <p:cNvSpPr>
            <a:spLocks noGrp="1"/>
          </p:cNvSpPr>
          <p:nvPr>
            <p:ph type="title"/>
          </p:nvPr>
        </p:nvSpPr>
        <p:spPr/>
        <p:txBody>
          <a:bodyPr/>
          <a:lstStyle/>
          <a:p>
            <a:r>
              <a:rPr>
                <a:sym typeface="+mn-ea"/>
              </a:rPr>
              <a:t>PRELIMINARIES</a:t>
            </a:r>
            <a:endParaRPr lang="zh-CN" altLang="en-US" b="0"/>
          </a:p>
        </p:txBody>
      </p:sp>
      <p:sp>
        <p:nvSpPr>
          <p:cNvPr id="1048625" name="内容占位符 2"/>
          <p:cNvSpPr>
            <a:spLocks noGrp="1"/>
          </p:cNvSpPr>
          <p:nvPr>
            <p:ph idx="1"/>
          </p:nvPr>
        </p:nvSpPr>
        <p:spPr/>
        <p:txBody>
          <a:bodyPr/>
          <a:lstStyle/>
          <a:p>
            <a:pPr marL="457200" indent="-457200" algn="l">
              <a:lnSpc>
                <a:spcPct val="100000"/>
              </a:lnSpc>
              <a:buClrTx/>
              <a:buSzTx/>
              <a:buChar char="•"/>
            </a:pPr>
            <a:r>
              <a:rPr lang="en-US" altLang="zh-CN" sz="3200" spc="0">
                <a:solidFill>
                  <a:schemeClr val="tx1"/>
                </a:solidFill>
                <a:latin typeface="+mn-lt"/>
                <a:ea typeface="+mn-ea"/>
              </a:rPr>
              <a:t>FSM</a:t>
            </a:r>
          </a:p>
          <a:p>
            <a:pPr marL="457200" indent="-457200" algn="l">
              <a:lnSpc>
                <a:spcPct val="100000"/>
              </a:lnSpc>
              <a:buClrTx/>
              <a:buSzTx/>
              <a:buChar char="•"/>
            </a:pPr>
            <a:r>
              <a:rPr lang="zh-CN" altLang="en-US" sz="3200" spc="0">
                <a:solidFill>
                  <a:srgbClr val="FF0000"/>
                </a:solidFill>
                <a:latin typeface="+mn-lt"/>
                <a:ea typeface="+mn-ea"/>
              </a:rPr>
              <a:t>literal  cube  clause  minterm</a:t>
            </a:r>
          </a:p>
        </p:txBody>
      </p:sp>
      <p:sp>
        <p:nvSpPr>
          <p:cNvPr id="1048626" name="文本框 3"/>
          <p:cNvSpPr txBox="1"/>
          <p:nvPr/>
        </p:nvSpPr>
        <p:spPr>
          <a:xfrm>
            <a:off x="5666740" y="3929380"/>
            <a:ext cx="2630170" cy="706755"/>
          </a:xfrm>
          <a:prstGeom prst="rect">
            <a:avLst/>
          </a:prstGeom>
          <a:noFill/>
        </p:spPr>
        <p:txBody>
          <a:bodyPr wrap="square" rtlCol="0" anchor="t">
            <a:spAutoFit/>
          </a:bodyPr>
          <a:lstStyle/>
          <a:p>
            <a:r>
              <a:rPr lang="zh-CN" altLang="en-US" sz="4000"/>
              <a:t>¬s=¬a∨b</a:t>
            </a:r>
          </a:p>
        </p:txBody>
      </p:sp>
      <p:sp>
        <p:nvSpPr>
          <p:cNvPr id="1048627" name="文本框 5"/>
          <p:cNvSpPr txBox="1"/>
          <p:nvPr/>
        </p:nvSpPr>
        <p:spPr>
          <a:xfrm>
            <a:off x="2312035" y="3929380"/>
            <a:ext cx="2787015" cy="706755"/>
          </a:xfrm>
          <a:prstGeom prst="rect">
            <a:avLst/>
          </a:prstGeom>
          <a:noFill/>
        </p:spPr>
        <p:txBody>
          <a:bodyPr wrap="square" rtlCol="0" anchor="t">
            <a:spAutoFit/>
          </a:bodyPr>
          <a:lstStyle/>
          <a:p>
            <a:r>
              <a:rPr lang="zh-CN" altLang="en-US" sz="4000"/>
              <a:t>s=a∧¬b</a:t>
            </a:r>
          </a:p>
        </p:txBody>
      </p:sp>
      <p:cxnSp>
        <p:nvCxnSpPr>
          <p:cNvPr id="3145730" name="直接箭头连接符 6"/>
          <p:cNvCxnSpPr>
            <a:cxnSpLocks/>
          </p:cNvCxnSpPr>
          <p:nvPr>
            <p:custDataLst>
              <p:tags r:id="rId2"/>
            </p:custDataLst>
          </p:nvPr>
        </p:nvCxnSpPr>
        <p:spPr>
          <a:xfrm flipH="1">
            <a:off x="2874010" y="2611755"/>
            <a:ext cx="13335" cy="1317625"/>
          </a:xfrm>
          <a:prstGeom prst="straightConnector1">
            <a:avLst/>
          </a:prstGeom>
          <a:ln w="38100" cmpd="sng">
            <a:solidFill>
              <a:schemeClr val="tx2"/>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145731" name="直接箭头连接符 7"/>
          <p:cNvCxnSpPr>
            <a:cxnSpLocks/>
          </p:cNvCxnSpPr>
          <p:nvPr/>
        </p:nvCxnSpPr>
        <p:spPr>
          <a:xfrm>
            <a:off x="4188460" y="2612390"/>
            <a:ext cx="2266315" cy="131699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8628" name="文本框 8"/>
          <p:cNvSpPr txBox="1"/>
          <p:nvPr/>
        </p:nvSpPr>
        <p:spPr>
          <a:xfrm>
            <a:off x="608330" y="4636135"/>
            <a:ext cx="11339830" cy="1076325"/>
          </a:xfrm>
          <a:prstGeom prst="rect">
            <a:avLst/>
          </a:prstGeom>
          <a:noFill/>
        </p:spPr>
        <p:txBody>
          <a:bodyPr wrap="square" rtlCol="0" anchor="t">
            <a:spAutoFit/>
          </a:bodyPr>
          <a:lstStyle/>
          <a:p>
            <a:pPr marL="457200" indent="-457200">
              <a:buFont typeface="Arial" panose="020B0604020202020204" pitchFamily="34" charset="0"/>
              <a:buChar char="•"/>
            </a:pPr>
            <a:r>
              <a:rPr lang="zh-CN" altLang="en-US" sz="3200"/>
              <a:t>FSM is represented </a:t>
            </a:r>
            <a:r>
              <a:rPr lang="zh-CN" altLang="en-US" sz="3200">
                <a:solidFill>
                  <a:srgbClr val="FF0000"/>
                </a:solidFill>
              </a:rPr>
              <a:t>symbolically </a:t>
            </a:r>
            <a:r>
              <a:rPr lang="en-US" altLang="zh-CN" sz="3200">
                <a:solidFill>
                  <a:schemeClr val="tx1"/>
                </a:solidFill>
              </a:rPr>
              <a:t>and can be translated into propositional logic for a SAT-solver.</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145730"/>
                                        </p:tgtEl>
                                        <p:attrNameLst>
                                          <p:attrName>style.visibility</p:attrName>
                                        </p:attrNameLst>
                                      </p:cBhvr>
                                      <p:to>
                                        <p:strVal val="visible"/>
                                      </p:to>
                                    </p:set>
                                    <p:animEffect transition="in" filter="strips(downLeft)">
                                      <p:cBhvr>
                                        <p:cTn id="7" dur="500"/>
                                        <p:tgtEl>
                                          <p:spTgt spid="3145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45731"/>
                                        </p:tgtEl>
                                        <p:attrNameLst>
                                          <p:attrName>style.visibility</p:attrName>
                                        </p:attrNameLst>
                                      </p:cBhvr>
                                      <p:to>
                                        <p:strVal val="visible"/>
                                      </p:to>
                                    </p:set>
                                    <p:animEffect transition="in" filter="wipe(up)">
                                      <p:cBhvr>
                                        <p:cTn id="12" dur="500"/>
                                        <p:tgtEl>
                                          <p:spTgt spid="3145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31" name="标题 4"/>
          <p:cNvSpPr>
            <a:spLocks noGrp="1"/>
          </p:cNvSpPr>
          <p:nvPr>
            <p:ph type="title"/>
          </p:nvPr>
        </p:nvSpPr>
        <p:spPr/>
        <p:txBody>
          <a:bodyPr/>
          <a:lstStyle/>
          <a:p>
            <a:r>
              <a:rPr lang="en-US" altLang="zh-CN" dirty="0"/>
              <a:t>3.OVERVIEW OF PDR</a:t>
            </a:r>
          </a:p>
        </p:txBody>
      </p:sp>
      <p:sp>
        <p:nvSpPr>
          <p:cNvPr id="1048632" name="文本占位符 5"/>
          <p:cNvSpPr>
            <a:spLocks noGrp="1"/>
          </p:cNvSpPr>
          <p:nvPr>
            <p:ph type="body" sz="quarter" idx="13"/>
          </p:nvPr>
        </p:nvSpPr>
        <p:spPr>
          <a:xfrm>
            <a:off x="1198799" y="3560399"/>
            <a:ext cx="9906347" cy="2599769"/>
          </a:xfrm>
        </p:spPr>
        <p:txBody>
          <a:bodyPr>
            <a:normAutofit/>
          </a:bodyPr>
          <a:lstStyle/>
          <a:p>
            <a:r>
              <a:rPr lang="en-US" altLang="zh-CN" dirty="0"/>
              <a:t>(1) Notation.</a:t>
            </a:r>
          </a:p>
          <a:p>
            <a:r>
              <a:rPr lang="en-US" altLang="zh-CN" dirty="0"/>
              <a:t>(2) Mechanics.</a:t>
            </a:r>
          </a:p>
          <a:p>
            <a:r>
              <a:rPr lang="en-US" altLang="zh-CN" dirty="0"/>
              <a:t>(3) The Algorithm</a:t>
            </a:r>
          </a:p>
          <a:p>
            <a:r>
              <a:rPr lang="zh-CN" altLang="en-US" dirty="0"/>
              <a:t>（</a:t>
            </a:r>
            <a:r>
              <a:rPr lang="en-US" altLang="zh-CN" dirty="0"/>
              <a:t>4</a:t>
            </a:r>
            <a:r>
              <a:rPr lang="zh-CN" altLang="en-US" dirty="0"/>
              <a:t>）</a:t>
            </a:r>
            <a:r>
              <a:rPr lang="en-US" altLang="zh-CN" dirty="0"/>
              <a:t>What makes PDR so effective</a:t>
            </a:r>
            <a:endParaRPr lang="zh-CN" altLang="en-US"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36"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A. Notation-1</a:t>
            </a:r>
          </a:p>
        </p:txBody>
      </p:sp>
      <p:sp>
        <p:nvSpPr>
          <p:cNvPr id="1048637" name="文本框 2"/>
          <p:cNvSpPr txBox="1"/>
          <p:nvPr/>
        </p:nvSpPr>
        <p:spPr>
          <a:xfrm>
            <a:off x="394937" y="1487905"/>
            <a:ext cx="11111865" cy="4892041"/>
          </a:xfrm>
          <a:prstGeom prst="rect">
            <a:avLst/>
          </a:prstGeom>
          <a:noFill/>
        </p:spPr>
        <p:txBody>
          <a:bodyPr wrap="square" rtlCol="0" anchor="t">
            <a:spAutoFit/>
          </a:bodyPr>
          <a:lstStyle/>
          <a:p>
            <a:r>
              <a:rPr lang="en-US" altLang="zh-CN" sz="3600" dirty="0"/>
              <a:t> I </a:t>
            </a:r>
            <a:r>
              <a:rPr lang="zh-CN" altLang="en-US" sz="3600" dirty="0"/>
              <a:t>：</a:t>
            </a:r>
            <a:r>
              <a:rPr lang="en-US" altLang="zh-CN" sz="3600" dirty="0"/>
              <a:t>initial states </a:t>
            </a:r>
          </a:p>
          <a:p>
            <a:endParaRPr lang="en-US" altLang="zh-CN" sz="3600" dirty="0"/>
          </a:p>
          <a:p>
            <a:r>
              <a:rPr lang="en-US" altLang="zh-CN" sz="3600" dirty="0"/>
              <a:t> P: property states </a:t>
            </a:r>
          </a:p>
          <a:p>
            <a:endParaRPr lang="en-US" altLang="zh-CN" sz="3600" dirty="0"/>
          </a:p>
          <a:p>
            <a:r>
              <a:rPr lang="en-US" altLang="zh-CN" sz="3600" dirty="0"/>
              <a:t> T:the transition relation over the current and</a:t>
            </a:r>
          </a:p>
          <a:p>
            <a:r>
              <a:rPr lang="en-US" altLang="zh-CN" sz="3600" dirty="0"/>
              <a:t>    next state variables </a:t>
            </a:r>
          </a:p>
          <a:p>
            <a:endParaRPr lang="en-US" altLang="zh-CN" sz="3600" dirty="0"/>
          </a:p>
          <a:p>
            <a:r>
              <a:rPr lang="en-US" altLang="zh-CN" sz="3600" dirty="0"/>
              <a:t> blocked cubes of frame k:unreachable from the initial states in k steps or less</a:t>
            </a:r>
            <a:endParaRPr lang="zh-CN" altLang="en-US" sz="36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40"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A. Notation-2</a:t>
            </a:r>
          </a:p>
        </p:txBody>
      </p:sp>
      <p:sp>
        <p:nvSpPr>
          <p:cNvPr id="1048641" name="文本框 2"/>
          <p:cNvSpPr txBox="1"/>
          <p:nvPr/>
        </p:nvSpPr>
        <p:spPr>
          <a:xfrm>
            <a:off x="611505" y="1981200"/>
            <a:ext cx="11111865" cy="2758440"/>
          </a:xfrm>
          <a:prstGeom prst="rect">
            <a:avLst/>
          </a:prstGeom>
          <a:noFill/>
        </p:spPr>
        <p:txBody>
          <a:bodyPr wrap="square" rtlCol="0" anchor="t">
            <a:spAutoFit/>
          </a:bodyPr>
          <a:lstStyle/>
          <a:p>
            <a:pPr algn="ctr"/>
            <a:r>
              <a:rPr lang="en-US" altLang="zh-CN" sz="3600" dirty="0"/>
              <a:t> SAT? [ P ∧ ¬s ∧ T ∧ s′ ]</a:t>
            </a:r>
          </a:p>
          <a:p>
            <a:endParaRPr lang="en-US" altLang="zh-CN" sz="3600" dirty="0"/>
          </a:p>
          <a:p>
            <a:r>
              <a:rPr lang="en-US" altLang="zh-CN" sz="3600" dirty="0"/>
              <a:t> If the answer is UNSAT, then it has been proved that (P∧ ¬s ∧ T) → ¬</a:t>
            </a:r>
            <a:r>
              <a:rPr lang="en-US" altLang="zh-CN" sz="3600" dirty="0" err="1"/>
              <a:t>s′,and</a:t>
            </a:r>
            <a:r>
              <a:rPr lang="en-US" altLang="zh-CN" sz="3600" dirty="0"/>
              <a:t> ¬s is said to be inductive relative to P</a:t>
            </a:r>
            <a:endParaRPr lang="zh-CN" altLang="en-US" sz="3600"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44"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B. Mechanics -trace</a:t>
            </a:r>
          </a:p>
        </p:txBody>
      </p:sp>
      <p:sp>
        <p:nvSpPr>
          <p:cNvPr id="1048645" name="文本框 2"/>
          <p:cNvSpPr txBox="1">
            <a:spLocks noRot="1" noChangeAspect="1" noMove="1" noResize="1" noEditPoints="1" noAdjustHandles="1" noChangeArrowheads="1" noChangeShapeType="1" noTextEdit="1"/>
          </p:cNvSpPr>
          <p:nvPr/>
        </p:nvSpPr>
        <p:spPr>
          <a:xfrm>
            <a:off x="611505" y="1981200"/>
            <a:ext cx="11111865" cy="4034181"/>
          </a:xfrm>
          <a:prstGeom prst="rect">
            <a:avLst/>
          </a:prstGeom>
          <a:blipFill>
            <a:blip r:embed="rId4"/>
            <a:stretch>
              <a:fillRect l="-1646" t="-2266"/>
            </a:stretch>
          </a:blipFill>
        </p:spPr>
        <p:txBody>
          <a:bodyPr/>
          <a:lstStyle/>
          <a:p>
            <a:r>
              <a:rPr lang="zh-CN" altLang="en-US">
                <a:noFill/>
              </a:rPr>
              <a:t> </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48"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B. Mechanics-</a:t>
            </a:r>
            <a:r>
              <a:rPr lang="zh-CN" altLang="en-US" dirty="0"/>
              <a:t>（</a:t>
            </a:r>
            <a:r>
              <a:rPr lang="en-US" altLang="zh-CN" dirty="0"/>
              <a:t> proof-obligation</a:t>
            </a:r>
            <a:r>
              <a:rPr lang="zh-CN" altLang="en-US" dirty="0"/>
              <a:t>）</a:t>
            </a:r>
            <a:endParaRPr lang="en-US" altLang="zh-CN" dirty="0"/>
          </a:p>
        </p:txBody>
      </p:sp>
      <p:sp>
        <p:nvSpPr>
          <p:cNvPr id="1048649" name="文本框 2"/>
          <p:cNvSpPr txBox="1">
            <a:spLocks noRot="1" noChangeAspect="1" noMove="1" noResize="1" noEditPoints="1" noAdjustHandles="1" noChangeArrowheads="1" noChangeShapeType="1" noTextEdit="1"/>
          </p:cNvSpPr>
          <p:nvPr/>
        </p:nvSpPr>
        <p:spPr>
          <a:xfrm>
            <a:off x="142274" y="2165866"/>
            <a:ext cx="11111865" cy="4588179"/>
          </a:xfrm>
          <a:prstGeom prst="rect">
            <a:avLst/>
          </a:prstGeom>
          <a:blipFill>
            <a:blip r:embed="rId4"/>
            <a:stretch>
              <a:fillRect l="-1646" t="-2789"/>
            </a:stretch>
          </a:blipFill>
        </p:spPr>
        <p:txBody>
          <a:bodyPr/>
          <a:lstStyle/>
          <a:p>
            <a:r>
              <a:rPr lang="zh-CN" altLang="en-US">
                <a:noFill/>
              </a:rPr>
              <a:t> </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52"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B. Mechanics</a:t>
            </a:r>
          </a:p>
        </p:txBody>
      </p:sp>
      <p:sp>
        <p:nvSpPr>
          <p:cNvPr id="1048653" name="文本框 2"/>
          <p:cNvSpPr txBox="1">
            <a:spLocks noRot="1" noChangeAspect="1" noMove="1" noResize="1" noEditPoints="1" noAdjustHandles="1" noChangeArrowheads="1" noChangeShapeType="1" noTextEdit="1"/>
          </p:cNvSpPr>
          <p:nvPr/>
        </p:nvSpPr>
        <p:spPr>
          <a:xfrm>
            <a:off x="611505" y="1981200"/>
            <a:ext cx="11111865" cy="1328120"/>
          </a:xfrm>
          <a:prstGeom prst="rect">
            <a:avLst/>
          </a:prstGeom>
          <a:blipFill>
            <a:blip r:embed="rId4"/>
            <a:stretch>
              <a:fillRect l="-3291" t="-11468" b="-9174"/>
            </a:stretch>
          </a:blipFill>
        </p:spPr>
        <p:txBody>
          <a:bodyPr/>
          <a:lstStyle/>
          <a:p>
            <a:r>
              <a:rPr lang="zh-CN" altLang="en-US">
                <a:noFill/>
              </a:rPr>
              <a:t> </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56"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B. Mechanics</a:t>
            </a:r>
          </a:p>
        </p:txBody>
      </p:sp>
      <p:sp>
        <p:nvSpPr>
          <p:cNvPr id="1048657" name="文本框 2"/>
          <p:cNvSpPr txBox="1">
            <a:spLocks noRot="1" noChangeAspect="1" noMove="1" noResize="1" noEditPoints="1" noAdjustHandles="1" noChangeArrowheads="1" noChangeShapeType="1" noTextEdit="1"/>
          </p:cNvSpPr>
          <p:nvPr/>
        </p:nvSpPr>
        <p:spPr>
          <a:xfrm>
            <a:off x="495711" y="2100880"/>
            <a:ext cx="11111865" cy="2143728"/>
          </a:xfrm>
          <a:prstGeom prst="rect">
            <a:avLst/>
          </a:prstGeom>
          <a:blipFill>
            <a:blip r:embed="rId4"/>
            <a:stretch>
              <a:fillRect l="-1920"/>
            </a:stretch>
          </a:blipFill>
        </p:spPr>
        <p:txBody>
          <a:bodyPr/>
          <a:lstStyle/>
          <a:p>
            <a:r>
              <a:rPr lang="zh-CN" altLang="en-US">
                <a:noFill/>
              </a:rPr>
              <a:t> </a:t>
            </a:r>
          </a:p>
        </p:txBody>
      </p:sp>
      <p:pic>
        <p:nvPicPr>
          <p:cNvPr id="2097152" name="图片 4"/>
          <p:cNvPicPr>
            <a:picLocks noChangeAspect="1"/>
          </p:cNvPicPr>
          <p:nvPr/>
        </p:nvPicPr>
        <p:blipFill>
          <a:blip r:embed="rId5"/>
          <a:stretch>
            <a:fillRect/>
          </a:stretch>
        </p:blipFill>
        <p:spPr>
          <a:xfrm>
            <a:off x="4288222" y="4244608"/>
            <a:ext cx="4713889" cy="2331737"/>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60"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B. Mechanics</a:t>
            </a:r>
          </a:p>
        </p:txBody>
      </p:sp>
      <p:sp>
        <p:nvSpPr>
          <p:cNvPr id="1048661" name="文本框 4"/>
          <p:cNvSpPr txBox="1"/>
          <p:nvPr/>
        </p:nvSpPr>
        <p:spPr>
          <a:xfrm>
            <a:off x="730230" y="2251106"/>
            <a:ext cx="10731539" cy="1285240"/>
          </a:xfrm>
          <a:prstGeom prst="rect">
            <a:avLst/>
          </a:prstGeom>
          <a:noFill/>
        </p:spPr>
        <p:txBody>
          <a:bodyPr wrap="square">
            <a:spAutoFit/>
          </a:bodyPr>
          <a:lstStyle/>
          <a:p>
            <a:r>
              <a:rPr lang="zh-CN" altLang="en-US" sz="4000" dirty="0"/>
              <a:t>Reducing proof-obligations by ternary simulation</a:t>
            </a:r>
            <a:r>
              <a:rPr lang="zh-CN" altLang="en-US" dirty="0"/>
              <a:t>.</a:t>
            </a:r>
          </a:p>
        </p:txBody>
      </p:sp>
      <p:sp>
        <p:nvSpPr>
          <p:cNvPr id="1048662" name="文本框 6"/>
          <p:cNvSpPr txBox="1"/>
          <p:nvPr/>
        </p:nvSpPr>
        <p:spPr>
          <a:xfrm>
            <a:off x="730230" y="4264913"/>
            <a:ext cx="11133524" cy="2021840"/>
          </a:xfrm>
          <a:prstGeom prst="rect">
            <a:avLst/>
          </a:prstGeom>
          <a:noFill/>
        </p:spPr>
        <p:txBody>
          <a:bodyPr wrap="square">
            <a:spAutoFit/>
          </a:bodyPr>
          <a:lstStyle/>
          <a:p>
            <a:r>
              <a:rPr lang="zh-CN" altLang="en-US" sz="3200" dirty="0"/>
              <a:t>Ternary logic has three values: 0, 1, and X. </a:t>
            </a:r>
            <a:endParaRPr lang="en-US" altLang="zh-CN" sz="3200" dirty="0"/>
          </a:p>
          <a:p>
            <a:endParaRPr lang="en-US" altLang="zh-CN" sz="3200" dirty="0"/>
          </a:p>
          <a:p>
            <a:r>
              <a:rPr lang="zh-CN" altLang="en-US" sz="3200" dirty="0"/>
              <a:t>The binary semantics is extended by:</a:t>
            </a:r>
            <a:endParaRPr lang="en-US" altLang="zh-CN" sz="3200" dirty="0"/>
          </a:p>
          <a:p>
            <a:r>
              <a:rPr lang="zh-CN" altLang="en-US" sz="3200" dirty="0"/>
              <a:t> (X ∧ 0 = 0), (X ∧ 1 = X), (X ∧ X = X), (¬X = X).</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65"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C. The Algorithm</a:t>
            </a:r>
          </a:p>
        </p:txBody>
      </p:sp>
      <p:sp>
        <p:nvSpPr>
          <p:cNvPr id="1048666" name="文本框 4"/>
          <p:cNvSpPr txBox="1"/>
          <p:nvPr/>
        </p:nvSpPr>
        <p:spPr>
          <a:xfrm>
            <a:off x="730230" y="2251106"/>
            <a:ext cx="10731539" cy="707886"/>
          </a:xfrm>
          <a:prstGeom prst="rect">
            <a:avLst/>
          </a:prstGeom>
          <a:noFill/>
        </p:spPr>
        <p:txBody>
          <a:bodyPr wrap="square">
            <a:spAutoFit/>
          </a:bodyPr>
          <a:lstStyle/>
          <a:p>
            <a:r>
              <a:rPr lang="en-US" altLang="zh-CN" sz="4000" dirty="0"/>
              <a:t>properties of the trace</a:t>
            </a:r>
            <a:r>
              <a:rPr lang="zh-CN" altLang="en-US" sz="4000" dirty="0"/>
              <a:t>：</a:t>
            </a:r>
            <a:endParaRPr lang="zh-CN" altLang="en-US" dirty="0"/>
          </a:p>
        </p:txBody>
      </p:sp>
      <p:sp>
        <p:nvSpPr>
          <p:cNvPr id="1048667" name="文本框 6"/>
          <p:cNvSpPr txBox="1"/>
          <p:nvPr/>
        </p:nvSpPr>
        <p:spPr>
          <a:xfrm>
            <a:off x="730230" y="3339137"/>
            <a:ext cx="11133524" cy="2987040"/>
          </a:xfrm>
          <a:prstGeom prst="rect">
            <a:avLst/>
          </a:prstGeom>
          <a:noFill/>
        </p:spPr>
        <p:txBody>
          <a:bodyPr wrap="square">
            <a:spAutoFit/>
          </a:bodyPr>
          <a:lstStyle/>
          <a:p>
            <a:r>
              <a:rPr lang="en-US" altLang="zh-CN" sz="3200" dirty="0"/>
              <a:t>(1) R0= I.</a:t>
            </a:r>
          </a:p>
          <a:p>
            <a:r>
              <a:rPr lang="en-US" altLang="zh-CN" sz="3200" dirty="0"/>
              <a:t>(2) All Ri except R0 are sets of clauses.</a:t>
            </a:r>
          </a:p>
          <a:p>
            <a:r>
              <a:rPr lang="en-US" altLang="zh-CN" sz="3200" dirty="0"/>
              <a:t>(3a) Ri→ Ri+1.</a:t>
            </a:r>
          </a:p>
          <a:p>
            <a:r>
              <a:rPr lang="en-US" altLang="zh-CN" sz="3200" dirty="0"/>
              <a:t>(3b) The clauses Ri+1is a subset of Ri for </a:t>
            </a:r>
            <a:r>
              <a:rPr lang="en-US" altLang="zh-CN" sz="3200" dirty="0" err="1"/>
              <a:t>i</a:t>
            </a:r>
            <a:r>
              <a:rPr lang="en-US" altLang="zh-CN" sz="3200" dirty="0"/>
              <a:t> &gt; 0.</a:t>
            </a:r>
          </a:p>
          <a:p>
            <a:r>
              <a:rPr lang="en-US" altLang="zh-CN" sz="3200" dirty="0"/>
              <a:t>(4) Ri+1 is an over-approximation of the image of Ri.</a:t>
            </a:r>
          </a:p>
          <a:p>
            <a:r>
              <a:rPr lang="en-US" altLang="zh-CN" sz="3200" dirty="0"/>
              <a:t>(5) Ri→ P, except for the last element RN of the trace.</a:t>
            </a:r>
            <a:endParaRPr lang="zh-CN" altLang="en-US" sz="3200" dirty="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70"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C. The Algorithm</a:t>
            </a:r>
          </a:p>
        </p:txBody>
      </p:sp>
      <p:sp>
        <p:nvSpPr>
          <p:cNvPr id="1048671" name="文本框 4"/>
          <p:cNvSpPr txBox="1">
            <a:spLocks noRot="1" noChangeAspect="1" noMove="1" noResize="1" noEditPoints="1" noAdjustHandles="1" noChangeArrowheads="1" noChangeShapeType="1" noTextEdit="1"/>
          </p:cNvSpPr>
          <p:nvPr/>
        </p:nvSpPr>
        <p:spPr>
          <a:xfrm>
            <a:off x="518371" y="1974107"/>
            <a:ext cx="10731539" cy="3139321"/>
          </a:xfrm>
          <a:prstGeom prst="rect">
            <a:avLst/>
          </a:prstGeom>
          <a:blipFill>
            <a:blip r:embed="rId4"/>
            <a:stretch>
              <a:fillRect l="-1989" t="-3689"/>
            </a:stretch>
          </a:blipFill>
        </p:spPr>
        <p:txBody>
          <a:bodyPr/>
          <a:lstStyle/>
          <a:p>
            <a:r>
              <a:rPr lang="zh-CN" altLang="en-US">
                <a:noFill/>
              </a:rPr>
              <a:t> </a:t>
            </a:r>
          </a:p>
        </p:txBody>
      </p:sp>
      <p:sp>
        <p:nvSpPr>
          <p:cNvPr id="1048672" name="文本框 5"/>
          <p:cNvSpPr txBox="1">
            <a:spLocks noRot="1" noChangeAspect="1" noMove="1" noResize="1" noEditPoints="1" noAdjustHandles="1" noChangeArrowheads="1" noChangeShapeType="1" noTextEdit="1"/>
          </p:cNvSpPr>
          <p:nvPr/>
        </p:nvSpPr>
        <p:spPr>
          <a:xfrm>
            <a:off x="518371" y="5113428"/>
            <a:ext cx="10149428" cy="1384995"/>
          </a:xfrm>
          <a:prstGeom prst="rect">
            <a:avLst/>
          </a:prstGeom>
          <a:blipFill>
            <a:blip r:embed="rId5"/>
            <a:stretch>
              <a:fillRect l="-1201" t="-5286" b="-11454"/>
            </a:stretch>
          </a:blipFill>
        </p:spPr>
        <p:txBody>
          <a:bodyPr/>
          <a:lstStyle/>
          <a:p>
            <a:r>
              <a:rPr lang="zh-CN" altLang="en-US">
                <a:noFill/>
              </a:rPr>
              <a:t> </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75"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C. The Algorithm</a:t>
            </a:r>
          </a:p>
        </p:txBody>
      </p:sp>
      <p:sp>
        <p:nvSpPr>
          <p:cNvPr id="1048676" name="文本框 4"/>
          <p:cNvSpPr txBox="1"/>
          <p:nvPr/>
        </p:nvSpPr>
        <p:spPr>
          <a:xfrm>
            <a:off x="730230" y="2251106"/>
            <a:ext cx="10731539" cy="707886"/>
          </a:xfrm>
          <a:prstGeom prst="rect">
            <a:avLst/>
          </a:prstGeom>
          <a:noFill/>
        </p:spPr>
        <p:txBody>
          <a:bodyPr wrap="square">
            <a:spAutoFit/>
          </a:bodyPr>
          <a:lstStyle/>
          <a:p>
            <a:r>
              <a:rPr lang="en-US" altLang="zh-CN" sz="4000" dirty="0"/>
              <a:t> TERMINATATION</a:t>
            </a:r>
            <a:r>
              <a:rPr lang="zh-CN" altLang="en-US" sz="4000" dirty="0"/>
              <a:t>：</a:t>
            </a:r>
            <a:endParaRPr lang="zh-CN" altLang="en-US" dirty="0"/>
          </a:p>
        </p:txBody>
      </p:sp>
      <p:sp>
        <p:nvSpPr>
          <p:cNvPr id="1048677" name="文本框 6"/>
          <p:cNvSpPr txBox="1"/>
          <p:nvPr/>
        </p:nvSpPr>
        <p:spPr>
          <a:xfrm>
            <a:off x="730230" y="3339137"/>
            <a:ext cx="11133524" cy="2021840"/>
          </a:xfrm>
          <a:prstGeom prst="rect">
            <a:avLst/>
          </a:prstGeom>
          <a:noFill/>
        </p:spPr>
        <p:txBody>
          <a:bodyPr wrap="square">
            <a:spAutoFit/>
          </a:bodyPr>
          <a:lstStyle/>
          <a:p>
            <a:r>
              <a:rPr lang="en-US" altLang="zh-CN" sz="3200" dirty="0"/>
              <a:t>(1) a proof-obligation at frame 0 intersects with</a:t>
            </a:r>
          </a:p>
          <a:p>
            <a:r>
              <a:rPr lang="en-US" altLang="zh-CN" sz="3200" dirty="0"/>
              <a:t>the initial states</a:t>
            </a:r>
          </a:p>
          <a:p>
            <a:endParaRPr lang="en-US" altLang="zh-CN" sz="3200" dirty="0"/>
          </a:p>
          <a:p>
            <a:r>
              <a:rPr lang="en-US" altLang="zh-CN" sz="3200" dirty="0"/>
              <a:t>(2) an inductive invariant that proves the property.</a:t>
            </a:r>
            <a:endParaRPr lang="zh-CN" altLang="en-US" sz="3200" dirty="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80"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D. What makes PDR so effective</a:t>
            </a:r>
          </a:p>
        </p:txBody>
      </p:sp>
      <p:sp>
        <p:nvSpPr>
          <p:cNvPr id="1048681" name="文本框 4"/>
          <p:cNvSpPr txBox="1"/>
          <p:nvPr/>
        </p:nvSpPr>
        <p:spPr>
          <a:xfrm>
            <a:off x="682695" y="1726195"/>
            <a:ext cx="10969200" cy="4358640"/>
          </a:xfrm>
          <a:prstGeom prst="rect">
            <a:avLst/>
          </a:prstGeom>
          <a:noFill/>
        </p:spPr>
        <p:txBody>
          <a:bodyPr wrap="square">
            <a:spAutoFit/>
          </a:bodyPr>
          <a:lstStyle/>
          <a:p>
            <a:pPr marL="742950" indent="-742950">
              <a:buAutoNum type="arabicPeriod"/>
            </a:pPr>
            <a:r>
              <a:rPr lang="zh-CN" altLang="en-US" sz="3600" dirty="0"/>
              <a:t>PDR sticks to the facts it has learned</a:t>
            </a:r>
            <a:endParaRPr lang="en-US" altLang="zh-CN" sz="3600" dirty="0"/>
          </a:p>
          <a:p>
            <a:pPr marL="742950" indent="-742950">
              <a:buAutoNum type="arabicPeriod"/>
            </a:pPr>
            <a:endParaRPr lang="en-US" altLang="zh-CN" sz="3600" dirty="0"/>
          </a:p>
          <a:p>
            <a:pPr marL="742950" indent="-742950">
              <a:buAutoNum type="arabicPeriod"/>
            </a:pPr>
            <a:r>
              <a:rPr lang="zh-CN" altLang="en-US" sz="3600" dirty="0"/>
              <a:t> </a:t>
            </a:r>
            <a:r>
              <a:rPr lang="en-US" altLang="zh-CN" sz="3600" dirty="0"/>
              <a:t>If what PDR has learned at a frame is too weak, it can repair the situation by learning new clauses</a:t>
            </a:r>
          </a:p>
          <a:p>
            <a:pPr marL="742950" indent="-742950">
              <a:buAutoNum type="arabicPeriod"/>
            </a:pPr>
            <a:endParaRPr lang="en-US" altLang="zh-CN" sz="3600" dirty="0"/>
          </a:p>
          <a:p>
            <a:pPr marL="742950" indent="-742950">
              <a:buAutoNum type="arabicPeriod"/>
            </a:pPr>
            <a:r>
              <a:rPr lang="en-US" altLang="zh-CN" sz="3600" dirty="0"/>
              <a:t>has a very targeted approach to producing small facts by its literal removing scheme</a:t>
            </a:r>
            <a:endParaRPr lang="zh-CN" altLang="en-US" sz="3600" dirty="0"/>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84" name="标题 4"/>
          <p:cNvSpPr>
            <a:spLocks noGrp="1"/>
          </p:cNvSpPr>
          <p:nvPr>
            <p:ph type="title"/>
          </p:nvPr>
        </p:nvSpPr>
        <p:spPr/>
        <p:txBody>
          <a:bodyPr/>
          <a:lstStyle/>
          <a:p>
            <a:r>
              <a:rPr lang="en-US" altLang="zh-CN" dirty="0"/>
              <a:t>4. IMPLEMENTATION</a:t>
            </a:r>
          </a:p>
        </p:txBody>
      </p:sp>
      <p:sp>
        <p:nvSpPr>
          <p:cNvPr id="1048685" name="文本占位符 2"/>
          <p:cNvSpPr>
            <a:spLocks noGrp="1"/>
          </p:cNvSpPr>
          <p:nvPr>
            <p:ph type="body" sz="quarter" idx="13"/>
          </p:nvPr>
        </p:nvSpPr>
        <p:spPr/>
        <p:txBody>
          <a:bodyPr/>
          <a:lstStyle/>
          <a:p>
            <a:endParaRPr lang="zh-CN" alt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89"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a:t>the functions implementing PDR</a:t>
            </a:r>
          </a:p>
        </p:txBody>
      </p:sp>
      <p:pic>
        <p:nvPicPr>
          <p:cNvPr id="2097153" name="图片 2"/>
          <p:cNvPicPr>
            <a:picLocks noChangeAspect="1"/>
          </p:cNvPicPr>
          <p:nvPr/>
        </p:nvPicPr>
        <p:blipFill>
          <a:blip r:embed="rId4"/>
          <a:stretch>
            <a:fillRect/>
          </a:stretch>
        </p:blipFill>
        <p:spPr>
          <a:xfrm>
            <a:off x="3006000" y="1612327"/>
            <a:ext cx="5648968" cy="4794502"/>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92"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endParaRPr lang="en-US" altLang="zh-CN" dirty="0"/>
          </a:p>
        </p:txBody>
      </p:sp>
      <p:sp>
        <p:nvSpPr>
          <p:cNvPr id="1048693" name="文本框 4"/>
          <p:cNvSpPr txBox="1"/>
          <p:nvPr/>
        </p:nvSpPr>
        <p:spPr>
          <a:xfrm>
            <a:off x="4452836" y="398890"/>
            <a:ext cx="6098344" cy="646331"/>
          </a:xfrm>
          <a:prstGeom prst="rect">
            <a:avLst/>
          </a:prstGeom>
          <a:noFill/>
        </p:spPr>
        <p:txBody>
          <a:bodyPr wrap="square">
            <a:spAutoFit/>
          </a:bodyPr>
          <a:lstStyle/>
          <a:p>
            <a:r>
              <a:rPr lang="zh-CN" altLang="en-US" sz="3600" dirty="0"/>
              <a:t>pdrMain()</a:t>
            </a:r>
          </a:p>
        </p:txBody>
      </p:sp>
      <p:pic>
        <p:nvPicPr>
          <p:cNvPr id="2097154" name="图片 6"/>
          <p:cNvPicPr>
            <a:picLocks noChangeAspect="1"/>
          </p:cNvPicPr>
          <p:nvPr/>
        </p:nvPicPr>
        <p:blipFill>
          <a:blip r:embed="rId4"/>
          <a:stretch>
            <a:fillRect/>
          </a:stretch>
        </p:blipFill>
        <p:spPr>
          <a:xfrm>
            <a:off x="112540" y="1644498"/>
            <a:ext cx="6143521" cy="4925114"/>
          </a:xfrm>
          <a:prstGeom prst="rect">
            <a:avLst/>
          </a:prstGeom>
        </p:spPr>
      </p:pic>
      <p:pic>
        <p:nvPicPr>
          <p:cNvPr id="2097155" name="图片 8"/>
          <p:cNvPicPr>
            <a:picLocks noChangeAspect="1"/>
          </p:cNvPicPr>
          <p:nvPr/>
        </p:nvPicPr>
        <p:blipFill>
          <a:blip r:embed="rId5"/>
          <a:stretch>
            <a:fillRect/>
          </a:stretch>
        </p:blipFill>
        <p:spPr>
          <a:xfrm>
            <a:off x="6512833" y="1531954"/>
            <a:ext cx="5566627" cy="5037657"/>
          </a:xfrm>
          <a:prstGeom prst="rect">
            <a:avLst/>
          </a:prstGeom>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96" name="标题 1"/>
          <p:cNvSpPr>
            <a:spLocks noGrp="1"/>
          </p:cNvSpPr>
          <p:nvPr/>
        </p:nvSpPr>
        <p:spPr>
          <a:xfrm>
            <a:off x="2407586" y="533240"/>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err="1"/>
              <a:t>propagateBlockedCubes</a:t>
            </a:r>
            <a:r>
              <a:rPr lang="en-US" altLang="zh-CN" dirty="0"/>
              <a:t>()</a:t>
            </a:r>
          </a:p>
        </p:txBody>
      </p:sp>
      <p:pic>
        <p:nvPicPr>
          <p:cNvPr id="2097156" name="图片 4"/>
          <p:cNvPicPr>
            <a:picLocks noChangeAspect="1"/>
          </p:cNvPicPr>
          <p:nvPr/>
        </p:nvPicPr>
        <p:blipFill>
          <a:blip r:embed="rId4"/>
          <a:stretch>
            <a:fillRect/>
          </a:stretch>
        </p:blipFill>
        <p:spPr>
          <a:xfrm>
            <a:off x="1623290" y="1913377"/>
            <a:ext cx="8495998" cy="4411383"/>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699"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endParaRPr lang="en-US" altLang="zh-CN" dirty="0"/>
          </a:p>
        </p:txBody>
      </p:sp>
      <p:sp>
        <p:nvSpPr>
          <p:cNvPr id="1048700" name="文本框 4"/>
          <p:cNvSpPr txBox="1"/>
          <p:nvPr/>
        </p:nvSpPr>
        <p:spPr>
          <a:xfrm>
            <a:off x="865574" y="471875"/>
            <a:ext cx="9629705" cy="1158240"/>
          </a:xfrm>
          <a:prstGeom prst="rect">
            <a:avLst/>
          </a:prstGeom>
          <a:noFill/>
        </p:spPr>
        <p:txBody>
          <a:bodyPr wrap="square">
            <a:spAutoFit/>
          </a:bodyPr>
          <a:lstStyle/>
          <a:p>
            <a:r>
              <a:rPr lang="zh-CN" altLang="en-US" dirty="0"/>
              <a:t> </a:t>
            </a:r>
            <a:r>
              <a:rPr lang="zh-CN" altLang="en-US" sz="3600" dirty="0"/>
              <a:t>PDR implementation abstracts the handling of    SAT calls through the interface </a:t>
            </a:r>
          </a:p>
        </p:txBody>
      </p:sp>
      <p:pic>
        <p:nvPicPr>
          <p:cNvPr id="2097157" name="图片 6"/>
          <p:cNvPicPr>
            <a:picLocks noChangeAspect="1"/>
          </p:cNvPicPr>
          <p:nvPr/>
        </p:nvPicPr>
        <p:blipFill>
          <a:blip r:embed="rId4"/>
          <a:stretch>
            <a:fillRect/>
          </a:stretch>
        </p:blipFill>
        <p:spPr>
          <a:xfrm>
            <a:off x="1394761" y="2546421"/>
            <a:ext cx="8917638" cy="2947774"/>
          </a:xfrm>
          <a:prstGeom prst="rect">
            <a:avLst/>
          </a:prstGeom>
        </p:spPr>
      </p:pic>
      <p:sp>
        <p:nvSpPr>
          <p:cNvPr id="1048701" name="文本框 5"/>
          <p:cNvSpPr txBox="1">
            <a:spLocks noRot="1" noChangeAspect="1" noMove="1" noResize="1" noEditPoints="1" noAdjustHandles="1" noChangeArrowheads="1" noChangeShapeType="1" noTextEdit="1"/>
          </p:cNvSpPr>
          <p:nvPr/>
        </p:nvSpPr>
        <p:spPr>
          <a:xfrm>
            <a:off x="1093763" y="5787068"/>
            <a:ext cx="9218636" cy="710194"/>
          </a:xfrm>
          <a:prstGeom prst="rect">
            <a:avLst/>
          </a:prstGeom>
          <a:blipFill>
            <a:blip r:embed="rId5"/>
            <a:stretch>
              <a:fillRect/>
            </a:stretch>
          </a:blipFill>
        </p:spPr>
        <p:txBody>
          <a:bodyPr/>
          <a:lstStyle/>
          <a:p>
            <a:r>
              <a:rPr lang="zh-CN" altLang="en-US">
                <a:noFill/>
              </a:rPr>
              <a:t> </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04" name="标题 4"/>
          <p:cNvSpPr>
            <a:spLocks noGrp="1"/>
          </p:cNvSpPr>
          <p:nvPr>
            <p:ph type="title"/>
          </p:nvPr>
        </p:nvSpPr>
        <p:spPr/>
        <p:txBody>
          <a:bodyPr/>
          <a:lstStyle/>
          <a:p>
            <a:r>
              <a:rPr lang="en-US" altLang="zh-CN" dirty="0"/>
              <a:t>5. SAT SOLVING</a:t>
            </a:r>
          </a:p>
        </p:txBody>
      </p:sp>
      <p:sp>
        <p:nvSpPr>
          <p:cNvPr id="1048705" name="文本占位符 2"/>
          <p:cNvSpPr>
            <a:spLocks noGrp="1"/>
          </p:cNvSpPr>
          <p:nvPr>
            <p:ph type="body" sz="quarter" idx="13"/>
          </p:nvPr>
        </p:nvSpPr>
        <p:spPr/>
        <p:txBody>
          <a:bodyPr/>
          <a:lstStyle/>
          <a:p>
            <a:endParaRPr lang="zh-CN" altLang="en-US" dirty="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文本框 5"/>
          <p:cNvSpPr txBox="1">
            <a:spLocks noRot="1" noChangeAspect="1" noMove="1" noResize="1" noEditPoints="1" noAdjustHandles="1" noChangeArrowheads="1" noChangeShapeType="1" noTextEdit="1"/>
          </p:cNvSpPr>
          <p:nvPr/>
        </p:nvSpPr>
        <p:spPr>
          <a:xfrm>
            <a:off x="1154824" y="1260160"/>
            <a:ext cx="8761686" cy="5355825"/>
          </a:xfrm>
          <a:prstGeom prst="rect">
            <a:avLst/>
          </a:prstGeom>
          <a:blipFill>
            <a:blip r:embed="rId3"/>
            <a:stretch>
              <a:fillRect l="-556" t="-683" r="-3338" b="-1025"/>
            </a:stretch>
          </a:blipFill>
        </p:spPr>
        <p:txBody>
          <a:bodyPr/>
          <a:lstStyle/>
          <a:p>
            <a:r>
              <a:rPr lang="zh-CN" altLang="en-US">
                <a:noFill/>
              </a:rPr>
              <a:t> </a:t>
            </a:r>
          </a:p>
        </p:txBody>
      </p:sp>
      <p:sp>
        <p:nvSpPr>
          <p:cNvPr id="1048710" name="标题 1"/>
          <p:cNvSpPr>
            <a:spLocks noGrp="1"/>
          </p:cNvSpPr>
          <p:nvPr/>
        </p:nvSpPr>
        <p:spPr>
          <a:xfrm>
            <a:off x="1154824" y="24201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latin typeface="Arial" panose="020B0604020202020204" pitchFamily="34" charset="0"/>
                <a:ea typeface="微软雅黑" panose="020B0503020204020204" pitchFamily="34" charset="-122"/>
                <a:cs typeface="+mj-cs"/>
                <a:sym typeface="+mn-ea"/>
              </a:defRPr>
            </a:lvl1pPr>
          </a:lstStyle>
          <a:p>
            <a:r>
              <a:rPr lang="en-US" altLang="zh-CN" dirty="0" err="1"/>
              <a:t>solveRelative</a:t>
            </a:r>
            <a:r>
              <a:rPr lang="en-US" altLang="zh-CN"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14" name="标题 1"/>
          <p:cNvSpPr>
            <a:spLocks noGrp="1"/>
          </p:cNvSpPr>
          <p:nvPr>
            <p:ph type="ctrTitle"/>
          </p:nvPr>
        </p:nvSpPr>
        <p:spPr/>
        <p:txBody>
          <a:bodyPr>
            <a:normAutofit/>
          </a:bodyPr>
          <a:lstStyle/>
          <a:p>
            <a:r>
              <a:rPr lang="en-US" altLang="zh-CN" sz="5400" dirty="0">
                <a:latin typeface="Arial" panose="020B0604020202020204" pitchFamily="34" charset="0"/>
                <a:cs typeface="Arial" panose="020B0604020202020204" pitchFamily="34" charset="0"/>
              </a:rPr>
              <a:t>6.Experimental</a:t>
            </a:r>
            <a:r>
              <a:rPr lang="en-US" altLang="zh-CN" sz="5400" dirty="0"/>
              <a:t> </a:t>
            </a:r>
            <a:r>
              <a:rPr lang="en-US" altLang="zh-CN" sz="5400" dirty="0">
                <a:latin typeface="Arial" panose="020B0604020202020204" pitchFamily="34" charset="0"/>
                <a:cs typeface="Arial" panose="020B0604020202020204" pitchFamily="34" charset="0"/>
              </a:rPr>
              <a:t>analysis</a:t>
            </a:r>
            <a:endParaRPr lang="zh-CN" altLang="en-US" sz="5400" dirty="0">
              <a:latin typeface="Arial" panose="020B0604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18" name="标题 1"/>
          <p:cNvSpPr>
            <a:spLocks noGrp="1"/>
          </p:cNvSpPr>
          <p:nvPr>
            <p:ph type="title"/>
          </p:nvPr>
        </p:nvSpPr>
        <p:spPr>
          <a:xfrm>
            <a:off x="166370" y="365125"/>
            <a:ext cx="7979229" cy="392521"/>
          </a:xfrm>
        </p:spPr>
        <p:txBody>
          <a:bodyPr>
            <a:noAutofit/>
          </a:bodyPr>
          <a:lstStyle/>
          <a:p>
            <a:r>
              <a:rPr lang="en-US" altLang="zh-CN" sz="3600" dirty="0">
                <a:latin typeface="Arial" panose="020B0604020202020204" pitchFamily="34" charset="0"/>
                <a:cs typeface="Arial" panose="020B0604020202020204" pitchFamily="34" charset="0"/>
              </a:rPr>
              <a:t>A. Comparison of IC3 and PDR</a:t>
            </a:r>
            <a:endParaRPr lang="zh-CN" altLang="en-US" sz="3600" dirty="0">
              <a:latin typeface="Arial" panose="020B0604020202020204" pitchFamily="34" charset="0"/>
              <a:cs typeface="Arial" panose="020B0604020202020204" pitchFamily="34" charset="0"/>
            </a:endParaRPr>
          </a:p>
        </p:txBody>
      </p:sp>
      <p:pic>
        <p:nvPicPr>
          <p:cNvPr id="2097158" name="图片 11"/>
          <p:cNvPicPr>
            <a:picLocks noChangeAspect="1"/>
          </p:cNvPicPr>
          <p:nvPr/>
        </p:nvPicPr>
        <p:blipFill rotWithShape="1">
          <a:blip r:embed="rId3"/>
          <a:srcRect b="11380"/>
          <a:stretch>
            <a:fillRect/>
          </a:stretch>
        </p:blipFill>
        <p:spPr>
          <a:xfrm>
            <a:off x="399773" y="1833548"/>
            <a:ext cx="6051550" cy="4053052"/>
          </a:xfrm>
          <a:prstGeom prst="rect">
            <a:avLst/>
          </a:prstGeom>
        </p:spPr>
      </p:pic>
      <p:pic>
        <p:nvPicPr>
          <p:cNvPr id="2097159" name="图片 17"/>
          <p:cNvPicPr>
            <a:picLocks noChangeAspect="1"/>
          </p:cNvPicPr>
          <p:nvPr/>
        </p:nvPicPr>
        <p:blipFill>
          <a:blip r:embed="rId4"/>
          <a:stretch>
            <a:fillRect/>
          </a:stretch>
        </p:blipFill>
        <p:spPr>
          <a:xfrm>
            <a:off x="6548926" y="2229883"/>
            <a:ext cx="5124883" cy="525629"/>
          </a:xfrm>
          <a:prstGeom prst="rect">
            <a:avLst/>
          </a:prstGeom>
        </p:spPr>
      </p:pic>
      <p:pic>
        <p:nvPicPr>
          <p:cNvPr id="2097160" name="图片 19"/>
          <p:cNvPicPr>
            <a:picLocks noChangeAspect="1"/>
          </p:cNvPicPr>
          <p:nvPr/>
        </p:nvPicPr>
        <p:blipFill rotWithShape="1">
          <a:blip r:embed="rId5"/>
          <a:srcRect t="25962" r="-458"/>
          <a:stretch>
            <a:fillRect/>
          </a:stretch>
        </p:blipFill>
        <p:spPr>
          <a:xfrm>
            <a:off x="6528795" y="2638341"/>
            <a:ext cx="5148346" cy="392521"/>
          </a:xfrm>
          <a:prstGeom prst="rect">
            <a:avLst/>
          </a:prstGeom>
        </p:spPr>
      </p:pic>
      <p:sp>
        <p:nvSpPr>
          <p:cNvPr id="1048719" name="矩形 20"/>
          <p:cNvSpPr/>
          <p:nvPr/>
        </p:nvSpPr>
        <p:spPr>
          <a:xfrm>
            <a:off x="8353069" y="2355763"/>
            <a:ext cx="1089361" cy="608531"/>
          </a:xfrm>
          <a:prstGeom prst="rect">
            <a:avLst/>
          </a:prstGeom>
          <a:noFill/>
          <a:ln w="28575">
            <a:solidFill>
              <a:srgbClr val="FF0000"/>
            </a:solidFill>
          </a:ln>
        </p:spPr>
        <p:style>
          <a:lnRef idx="2">
            <a:schemeClr val="dk1"/>
          </a:lnRef>
          <a:fillRef idx="1001">
            <a:schemeClr val="lt1"/>
          </a:fillRef>
          <a:effectRef idx="0">
            <a:schemeClr val="dk1"/>
          </a:effectRef>
          <a:fontRef idx="minor">
            <a:schemeClr val="dk1"/>
          </a:fontRef>
        </p:style>
        <p:txBody>
          <a:bodyPr rtlCol="0" anchor="ctr"/>
          <a:lstStyle/>
          <a:p>
            <a:pPr algn="ctr"/>
            <a:endParaRPr lang="zh-CN" altLang="en-US"/>
          </a:p>
        </p:txBody>
      </p:sp>
      <p:sp>
        <p:nvSpPr>
          <p:cNvPr id="1048720" name="文本框 21"/>
          <p:cNvSpPr txBox="1"/>
          <p:nvPr/>
        </p:nvSpPr>
        <p:spPr>
          <a:xfrm>
            <a:off x="7057252" y="3513240"/>
            <a:ext cx="3872074" cy="646331"/>
          </a:xfrm>
          <a:prstGeom prst="rect">
            <a:avLst/>
          </a:prstGeom>
          <a:noFill/>
        </p:spPr>
        <p:txBody>
          <a:bodyPr wrap="square" rtlCol="0">
            <a:spAutoFit/>
          </a:bodyPr>
          <a:lstStyle/>
          <a:p>
            <a:r>
              <a:rPr lang="en-US" altLang="zh-CN" b="1" dirty="0"/>
              <a:t>PDR solves almost twice as many instances as the original IC3</a:t>
            </a:r>
            <a:endParaRPr lang="zh-CN" alt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24" name="标题 1"/>
          <p:cNvSpPr>
            <a:spLocks noGrp="1"/>
          </p:cNvSpPr>
          <p:nvPr>
            <p:ph type="title"/>
          </p:nvPr>
        </p:nvSpPr>
        <p:spPr>
          <a:xfrm>
            <a:off x="166370" y="365125"/>
            <a:ext cx="9683024" cy="684625"/>
          </a:xfrm>
        </p:spPr>
        <p:txBody>
          <a:bodyPr>
            <a:normAutofit/>
          </a:bodyPr>
          <a:lstStyle/>
          <a:p>
            <a:r>
              <a:rPr lang="en-US" altLang="zh-CN" sz="3600" dirty="0">
                <a:latin typeface="Arial" panose="020B0604020202020204" pitchFamily="34" charset="0"/>
                <a:cs typeface="Arial" panose="020B0604020202020204" pitchFamily="34" charset="0"/>
              </a:rPr>
              <a:t>A. Comparison of IC3 and PDR</a:t>
            </a:r>
            <a:endParaRPr lang="zh-CN" altLang="en-US" sz="3600" dirty="0">
              <a:latin typeface="Arial" panose="020B0604020202020204" pitchFamily="34" charset="0"/>
              <a:cs typeface="Arial" panose="020B0604020202020204" pitchFamily="34" charset="0"/>
            </a:endParaRPr>
          </a:p>
        </p:txBody>
      </p:sp>
      <p:pic>
        <p:nvPicPr>
          <p:cNvPr id="2097161" name="图片 9"/>
          <p:cNvPicPr>
            <a:picLocks noChangeAspect="1"/>
          </p:cNvPicPr>
          <p:nvPr/>
        </p:nvPicPr>
        <p:blipFill rotWithShape="1">
          <a:blip r:embed="rId3"/>
          <a:srcRect r="4128" b="10894"/>
          <a:stretch>
            <a:fillRect/>
          </a:stretch>
        </p:blipFill>
        <p:spPr>
          <a:xfrm>
            <a:off x="397577" y="1929465"/>
            <a:ext cx="6396845" cy="3291732"/>
          </a:xfrm>
          <a:prstGeom prst="rect">
            <a:avLst/>
          </a:prstGeom>
        </p:spPr>
      </p:pic>
      <p:sp>
        <p:nvSpPr>
          <p:cNvPr id="1048725" name="矩形 10"/>
          <p:cNvSpPr/>
          <p:nvPr/>
        </p:nvSpPr>
        <p:spPr>
          <a:xfrm>
            <a:off x="7160159" y="2328844"/>
            <a:ext cx="4089185" cy="624840"/>
          </a:xfrm>
          <a:prstGeom prst="rect">
            <a:avLst/>
          </a:prstGeom>
        </p:spPr>
        <p:txBody>
          <a:bodyPr wrap="square">
            <a:spAutoFit/>
          </a:bodyPr>
          <a:lstStyle/>
          <a:p>
            <a:r>
              <a:rPr lang="en-US" altLang="zh-CN" dirty="0"/>
              <a:t>solve </a:t>
            </a:r>
            <a:r>
              <a:rPr lang="en-US" altLang="zh-CN" b="1" dirty="0"/>
              <a:t>UNSAT</a:t>
            </a:r>
            <a:r>
              <a:rPr lang="en-US" altLang="zh-CN" dirty="0"/>
              <a:t> instances</a:t>
            </a:r>
            <a:r>
              <a:rPr lang="zh-CN" altLang="en-US" dirty="0"/>
              <a:t>：</a:t>
            </a:r>
            <a:r>
              <a:rPr lang="en-US" altLang="zh-CN" dirty="0"/>
              <a:t>14% difference</a:t>
            </a:r>
          </a:p>
        </p:txBody>
      </p:sp>
      <p:sp>
        <p:nvSpPr>
          <p:cNvPr id="1048726" name="文本框 11"/>
          <p:cNvSpPr txBox="1"/>
          <p:nvPr/>
        </p:nvSpPr>
        <p:spPr>
          <a:xfrm>
            <a:off x="8323957" y="2715659"/>
            <a:ext cx="2967215" cy="369332"/>
          </a:xfrm>
          <a:prstGeom prst="rect">
            <a:avLst/>
          </a:prstGeom>
          <a:noFill/>
        </p:spPr>
        <p:txBody>
          <a:bodyPr wrap="square" rtlCol="0">
            <a:spAutoFit/>
          </a:bodyPr>
          <a:lstStyle/>
          <a:p>
            <a:r>
              <a:rPr lang="en-US" altLang="zh-CN" dirty="0"/>
              <a:t>PDR vs IMC  :   420 </a:t>
            </a:r>
            <a:r>
              <a:rPr lang="en-US" altLang="zh-CN" b="1" dirty="0"/>
              <a:t>vs </a:t>
            </a:r>
            <a:r>
              <a:rPr lang="en-US" altLang="zh-CN" dirty="0"/>
              <a:t>362</a:t>
            </a:r>
            <a:endParaRPr lang="zh-CN" altLang="en-US" dirty="0"/>
          </a:p>
        </p:txBody>
      </p:sp>
      <p:sp>
        <p:nvSpPr>
          <p:cNvPr id="1048727" name="矩形 12"/>
          <p:cNvSpPr/>
          <p:nvPr/>
        </p:nvSpPr>
        <p:spPr>
          <a:xfrm>
            <a:off x="7160158" y="3397983"/>
            <a:ext cx="3953691" cy="369332"/>
          </a:xfrm>
          <a:prstGeom prst="rect">
            <a:avLst/>
          </a:prstGeom>
        </p:spPr>
        <p:txBody>
          <a:bodyPr wrap="square">
            <a:spAutoFit/>
          </a:bodyPr>
          <a:lstStyle/>
          <a:p>
            <a:r>
              <a:rPr lang="en-US" altLang="zh-CN" dirty="0"/>
              <a:t>solve </a:t>
            </a:r>
            <a:r>
              <a:rPr lang="en-US" altLang="zh-CN" b="1" dirty="0"/>
              <a:t>SAT</a:t>
            </a:r>
            <a:r>
              <a:rPr lang="en-US" altLang="zh-CN" dirty="0"/>
              <a:t> instances</a:t>
            </a:r>
            <a:r>
              <a:rPr lang="zh-CN" altLang="en-US" dirty="0"/>
              <a:t>：</a:t>
            </a:r>
            <a:r>
              <a:rPr lang="en-US" altLang="zh-CN" dirty="0"/>
              <a:t>3% difference</a:t>
            </a:r>
          </a:p>
        </p:txBody>
      </p:sp>
      <p:sp>
        <p:nvSpPr>
          <p:cNvPr id="1048728" name="矩形 15"/>
          <p:cNvSpPr/>
          <p:nvPr/>
        </p:nvSpPr>
        <p:spPr>
          <a:xfrm>
            <a:off x="7201987" y="5095072"/>
            <a:ext cx="4089185" cy="646331"/>
          </a:xfrm>
          <a:prstGeom prst="rect">
            <a:avLst/>
          </a:prstGeom>
        </p:spPr>
        <p:txBody>
          <a:bodyPr wrap="square">
            <a:spAutoFit/>
          </a:bodyPr>
          <a:lstStyle/>
          <a:p>
            <a:r>
              <a:rPr lang="en-US" altLang="zh-CN" b="1" dirty="0"/>
              <a:t>The difference between PDR and IMC is mostly on UNSAT problems</a:t>
            </a:r>
          </a:p>
        </p:txBody>
      </p:sp>
      <p:sp>
        <p:nvSpPr>
          <p:cNvPr id="1048729" name="文本框 16"/>
          <p:cNvSpPr txBox="1"/>
          <p:nvPr/>
        </p:nvSpPr>
        <p:spPr>
          <a:xfrm>
            <a:off x="8323957" y="3784798"/>
            <a:ext cx="2967215" cy="369332"/>
          </a:xfrm>
          <a:prstGeom prst="rect">
            <a:avLst/>
          </a:prstGeom>
          <a:noFill/>
        </p:spPr>
        <p:txBody>
          <a:bodyPr wrap="square" rtlCol="0">
            <a:spAutoFit/>
          </a:bodyPr>
          <a:lstStyle/>
          <a:p>
            <a:r>
              <a:rPr lang="en-US" altLang="zh-CN" dirty="0"/>
              <a:t>PDR vs IMC  :   303 </a:t>
            </a:r>
            <a:r>
              <a:rPr lang="en-US" altLang="zh-CN" b="1" dirty="0"/>
              <a:t>vs </a:t>
            </a:r>
            <a:r>
              <a:rPr lang="en-US" altLang="zh-CN" dirty="0"/>
              <a:t>294</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33" name="标题 1"/>
          <p:cNvSpPr>
            <a:spLocks noGrp="1"/>
          </p:cNvSpPr>
          <p:nvPr>
            <p:ph type="title"/>
          </p:nvPr>
        </p:nvSpPr>
        <p:spPr>
          <a:xfrm>
            <a:off x="166370" y="365125"/>
            <a:ext cx="9683024" cy="684625"/>
          </a:xfrm>
        </p:spPr>
        <p:txBody>
          <a:bodyPr>
            <a:normAutofit/>
          </a:bodyPr>
          <a:lstStyle/>
          <a:p>
            <a:r>
              <a:rPr lang="en-US" altLang="zh-CN" sz="3600" dirty="0">
                <a:latin typeface="Arial" panose="020B0604020202020204" pitchFamily="34" charset="0"/>
                <a:cs typeface="Arial" panose="020B0604020202020204" pitchFamily="34" charset="0"/>
              </a:rPr>
              <a:t>B. Ternary simulation</a:t>
            </a:r>
            <a:endParaRPr lang="zh-CN" altLang="en-US" sz="3600" dirty="0">
              <a:latin typeface="Arial" panose="020B0604020202020204" pitchFamily="34" charset="0"/>
              <a:cs typeface="Arial" panose="020B0604020202020204" pitchFamily="34" charset="0"/>
            </a:endParaRPr>
          </a:p>
        </p:txBody>
      </p:sp>
      <p:pic>
        <p:nvPicPr>
          <p:cNvPr id="2097162" name="图片 5"/>
          <p:cNvPicPr>
            <a:picLocks noChangeAspect="1"/>
          </p:cNvPicPr>
          <p:nvPr/>
        </p:nvPicPr>
        <p:blipFill rotWithShape="1">
          <a:blip r:embed="rId3"/>
          <a:srcRect b="11380"/>
          <a:stretch>
            <a:fillRect/>
          </a:stretch>
        </p:blipFill>
        <p:spPr>
          <a:xfrm>
            <a:off x="740860" y="1524365"/>
            <a:ext cx="6051550" cy="4053052"/>
          </a:xfrm>
          <a:prstGeom prst="rect">
            <a:avLst/>
          </a:prstGeom>
        </p:spPr>
      </p:pic>
      <p:sp>
        <p:nvSpPr>
          <p:cNvPr id="1048734" name="文本框 2"/>
          <p:cNvSpPr txBox="1"/>
          <p:nvPr/>
        </p:nvSpPr>
        <p:spPr>
          <a:xfrm>
            <a:off x="1528167" y="5655682"/>
            <a:ext cx="4919981" cy="447040"/>
          </a:xfrm>
          <a:prstGeom prst="rect">
            <a:avLst/>
          </a:prstGeom>
          <a:noFill/>
        </p:spPr>
        <p:txBody>
          <a:bodyPr wrap="none" rtlCol="0">
            <a:spAutoFit/>
          </a:bodyPr>
          <a:lstStyle/>
          <a:p>
            <a:r>
              <a:rPr lang="en-US" altLang="zh-CN" sz="2400" b="1" dirty="0">
                <a:solidFill>
                  <a:srgbClr val="C00000"/>
                </a:solidFill>
              </a:rPr>
              <a:t>ternary simulation has a big impact</a:t>
            </a:r>
            <a:endParaRPr lang="zh-CN" altLang="en-US" sz="2400" b="1" dirty="0">
              <a:solidFill>
                <a:srgbClr val="C00000"/>
              </a:solidFill>
            </a:endParaRPr>
          </a:p>
        </p:txBody>
      </p:sp>
      <p:sp>
        <p:nvSpPr>
          <p:cNvPr id="1048735" name="文本框 4"/>
          <p:cNvSpPr txBox="1"/>
          <p:nvPr/>
        </p:nvSpPr>
        <p:spPr>
          <a:xfrm>
            <a:off x="6988351" y="2459504"/>
            <a:ext cx="4951099" cy="1869441"/>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t>Without ternary simulation, the implementation of PDR drops way below IC3</a:t>
            </a:r>
          </a:p>
          <a:p>
            <a:pPr marL="285750" indent="-285750">
              <a:buFont typeface="Arial" panose="020B0604020202020204" pitchFamily="34" charset="0"/>
              <a:buChar char="•"/>
            </a:pPr>
            <a:r>
              <a:rPr lang="en-US" altLang="zh-CN" sz="2400" dirty="0"/>
              <a:t>Reason</a:t>
            </a:r>
            <a:r>
              <a:rPr lang="zh-CN" altLang="en-US" sz="2400" dirty="0"/>
              <a:t>：</a:t>
            </a:r>
            <a:r>
              <a:rPr lang="en-US" altLang="zh-CN" sz="2400" dirty="0"/>
              <a:t>IC3 never had ternary simulation</a:t>
            </a: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39" name="标题 1"/>
          <p:cNvSpPr>
            <a:spLocks noGrp="1"/>
          </p:cNvSpPr>
          <p:nvPr>
            <p:ph type="title"/>
          </p:nvPr>
        </p:nvSpPr>
        <p:spPr>
          <a:xfrm>
            <a:off x="166370" y="365125"/>
            <a:ext cx="9683024" cy="684625"/>
          </a:xfrm>
        </p:spPr>
        <p:txBody>
          <a:bodyPr>
            <a:normAutofit/>
          </a:bodyPr>
          <a:lstStyle/>
          <a:p>
            <a:r>
              <a:rPr lang="en-US" altLang="zh-CN" sz="3600" dirty="0">
                <a:latin typeface="Arial" panose="020B0604020202020204" pitchFamily="34" charset="0"/>
                <a:cs typeface="Arial" panose="020B0604020202020204" pitchFamily="34" charset="0"/>
              </a:rPr>
              <a:t>B. Stronger cube generalization</a:t>
            </a:r>
            <a:endParaRPr lang="zh-CN" altLang="en-US" sz="3600" dirty="0">
              <a:latin typeface="Arial" panose="020B0604020202020204" pitchFamily="34" charset="0"/>
              <a:cs typeface="Arial" panose="020B0604020202020204" pitchFamily="34" charset="0"/>
            </a:endParaRPr>
          </a:p>
        </p:txBody>
      </p:sp>
      <p:pic>
        <p:nvPicPr>
          <p:cNvPr id="2097163" name="图片 5"/>
          <p:cNvPicPr>
            <a:picLocks noChangeAspect="1"/>
          </p:cNvPicPr>
          <p:nvPr/>
        </p:nvPicPr>
        <p:blipFill rotWithShape="1">
          <a:blip r:embed="rId3"/>
          <a:srcRect b="11380"/>
          <a:stretch>
            <a:fillRect/>
          </a:stretch>
        </p:blipFill>
        <p:spPr>
          <a:xfrm>
            <a:off x="740860" y="1615805"/>
            <a:ext cx="6051550" cy="4053052"/>
          </a:xfrm>
          <a:prstGeom prst="rect">
            <a:avLst/>
          </a:prstGeom>
        </p:spPr>
      </p:pic>
      <p:sp>
        <p:nvSpPr>
          <p:cNvPr id="1048740" name="文本框 2"/>
          <p:cNvSpPr txBox="1"/>
          <p:nvPr/>
        </p:nvSpPr>
        <p:spPr>
          <a:xfrm>
            <a:off x="1529484" y="5773247"/>
            <a:ext cx="4234180" cy="447040"/>
          </a:xfrm>
          <a:prstGeom prst="rect">
            <a:avLst/>
          </a:prstGeom>
          <a:noFill/>
        </p:spPr>
        <p:txBody>
          <a:bodyPr wrap="none" rtlCol="0">
            <a:spAutoFit/>
          </a:bodyPr>
          <a:lstStyle/>
          <a:p>
            <a:r>
              <a:rPr lang="en-US" altLang="zh-CN" sz="2400" b="1" dirty="0">
                <a:solidFill>
                  <a:srgbClr val="C00000"/>
                </a:solidFill>
              </a:rPr>
              <a:t>this technique was not helpful </a:t>
            </a:r>
            <a:endParaRPr lang="zh-CN" altLang="en-US" sz="2400" b="1" dirty="0">
              <a:solidFill>
                <a:srgbClr val="C00000"/>
              </a:solidFill>
            </a:endParaRPr>
          </a:p>
        </p:txBody>
      </p:sp>
      <p:sp>
        <p:nvSpPr>
          <p:cNvPr id="1048741" name="文本框 4"/>
          <p:cNvSpPr txBox="1"/>
          <p:nvPr/>
        </p:nvSpPr>
        <p:spPr>
          <a:xfrm>
            <a:off x="6792410" y="2459504"/>
            <a:ext cx="4951099" cy="1513840"/>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t>The modified procedure will try to remove a literal even if the SAT query is satisfiable by exploiting the non-monotonicity.</a:t>
            </a:r>
            <a:endParaRPr lang="zh-CN" alt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45" name="标题 1"/>
          <p:cNvSpPr>
            <a:spLocks noGrp="1"/>
          </p:cNvSpPr>
          <p:nvPr>
            <p:ph type="title"/>
          </p:nvPr>
        </p:nvSpPr>
        <p:spPr>
          <a:xfrm>
            <a:off x="166370" y="365125"/>
            <a:ext cx="9683024" cy="684625"/>
          </a:xfrm>
        </p:spPr>
        <p:txBody>
          <a:bodyPr>
            <a:normAutofit fontScale="90000"/>
          </a:bodyPr>
          <a:lstStyle/>
          <a:p>
            <a:r>
              <a:rPr lang="en-US" altLang="zh-CN" sz="3600" dirty="0">
                <a:latin typeface="Arial" panose="020B0604020202020204" pitchFamily="34" charset="0"/>
                <a:cs typeface="Arial" panose="020B0604020202020204" pitchFamily="34" charset="0"/>
              </a:rPr>
              <a:t>C. Effect of changing the semantics of R</a:t>
            </a:r>
            <a:r>
              <a:rPr lang="en-US" altLang="zh-CN" sz="2400" dirty="0">
                <a:latin typeface="Arial" panose="020B0604020202020204" pitchFamily="34" charset="0"/>
                <a:cs typeface="Arial" panose="020B0604020202020204" pitchFamily="34" charset="0"/>
              </a:rPr>
              <a:t>N</a:t>
            </a:r>
            <a:endParaRPr lang="zh-CN" altLang="en-US" sz="2400" dirty="0">
              <a:latin typeface="Arial" panose="020B0604020202020204" pitchFamily="34" charset="0"/>
              <a:cs typeface="Arial" panose="020B0604020202020204" pitchFamily="34" charset="0"/>
            </a:endParaRPr>
          </a:p>
        </p:txBody>
      </p:sp>
      <p:sp>
        <p:nvSpPr>
          <p:cNvPr id="1048746" name="文本框 3"/>
          <p:cNvSpPr txBox="1"/>
          <p:nvPr/>
        </p:nvSpPr>
        <p:spPr>
          <a:xfrm>
            <a:off x="731520" y="1606732"/>
            <a:ext cx="7707086" cy="461665"/>
          </a:xfrm>
          <a:prstGeom prst="rect">
            <a:avLst/>
          </a:prstGeom>
          <a:noFill/>
        </p:spPr>
        <p:txBody>
          <a:bodyPr wrap="square" rtlCol="0">
            <a:spAutoFit/>
          </a:bodyPr>
          <a:lstStyle/>
          <a:p>
            <a:r>
              <a:rPr lang="en-US" altLang="zh-CN" sz="2400" dirty="0"/>
              <a:t> </a:t>
            </a:r>
            <a:r>
              <a:rPr lang="en-US" altLang="zh-CN" sz="2400" dirty="0">
                <a:latin typeface="Arial" panose="020B0604020202020204" pitchFamily="34" charset="0"/>
                <a:cs typeface="Arial" panose="020B0604020202020204" pitchFamily="34" charset="0"/>
              </a:rPr>
              <a:t>The approach of IC3 has two effects compared to PDR</a:t>
            </a:r>
            <a:endParaRPr lang="zh-CN" altLang="en-US" sz="2400" dirty="0">
              <a:latin typeface="Arial" panose="020B0604020202020204" pitchFamily="34" charset="0"/>
              <a:cs typeface="Arial" panose="020B0604020202020204" pitchFamily="34" charset="0"/>
            </a:endParaRPr>
          </a:p>
        </p:txBody>
      </p:sp>
      <p:sp>
        <p:nvSpPr>
          <p:cNvPr id="1048747" name="文本框 6"/>
          <p:cNvSpPr txBox="1"/>
          <p:nvPr/>
        </p:nvSpPr>
        <p:spPr>
          <a:xfrm>
            <a:off x="1084216" y="2347972"/>
            <a:ext cx="8934995" cy="3046988"/>
          </a:xfrm>
          <a:prstGeom prst="rect">
            <a:avLst/>
          </a:prstGeom>
          <a:noFill/>
        </p:spPr>
        <p:txBody>
          <a:bodyPr wrap="square" rtlCol="0">
            <a:spAutoFit/>
          </a:bodyPr>
          <a:lstStyle/>
          <a:p>
            <a:pPr marL="342900" indent="-342900">
              <a:buFont typeface="+mj-lt"/>
              <a:buAutoNum type="arabicPeriod"/>
            </a:pPr>
            <a:r>
              <a:rPr lang="en-US" altLang="zh-CN" sz="2800" dirty="0"/>
              <a:t>When a new frame is opened, the property is known to hold, so P can be added to the relative induction SAT query.</a:t>
            </a:r>
          </a:p>
          <a:p>
            <a:pPr algn="ctr"/>
            <a:r>
              <a:rPr lang="en-US" altLang="zh-CN" sz="2400" b="1" dirty="0">
                <a:latin typeface="+mj-lt"/>
                <a:cs typeface="Arial" panose="020B0604020202020204" pitchFamily="34" charset="0"/>
              </a:rPr>
              <a:t>the final invariant </a:t>
            </a:r>
            <a:r>
              <a:rPr lang="zh-CN" altLang="en-US" sz="2400" b="1" dirty="0">
                <a:latin typeface="+mj-lt"/>
                <a:cs typeface="Arial" panose="020B0604020202020204" pitchFamily="34" charset="0"/>
              </a:rPr>
              <a:t>：</a:t>
            </a:r>
            <a:r>
              <a:rPr lang="en-US" altLang="zh-CN" sz="2400" b="1" dirty="0" err="1">
                <a:latin typeface="+mj-lt"/>
                <a:cs typeface="Arial" panose="020B0604020202020204" pitchFamily="34" charset="0"/>
              </a:rPr>
              <a:t>Ri∧P</a:t>
            </a:r>
            <a:r>
              <a:rPr lang="en-US" altLang="zh-CN" sz="2400" b="1" dirty="0">
                <a:latin typeface="+mj-lt"/>
                <a:cs typeface="Arial" panose="020B0604020202020204" pitchFamily="34" charset="0"/>
              </a:rPr>
              <a:t> </a:t>
            </a:r>
          </a:p>
          <a:p>
            <a:pPr algn="ctr"/>
            <a:r>
              <a:rPr lang="en-US" altLang="zh-CN" sz="2400" b="1" dirty="0">
                <a:latin typeface="+mj-lt"/>
                <a:cs typeface="Arial" panose="020B0604020202020204" pitchFamily="34" charset="0"/>
              </a:rPr>
              <a:t>R∞ may depend on P</a:t>
            </a:r>
          </a:p>
          <a:p>
            <a:pPr algn="ctr"/>
            <a:r>
              <a:rPr lang="en-US" altLang="zh-CN" sz="2800" dirty="0"/>
              <a:t>2.Seeding the recursive cube-blocking with </a:t>
            </a:r>
            <a:r>
              <a:rPr lang="en-US" altLang="zh-CN" sz="2800" dirty="0" err="1"/>
              <a:t>minterms</a:t>
            </a:r>
            <a:r>
              <a:rPr lang="en-US" altLang="zh-CN" sz="2800" dirty="0"/>
              <a:t> of the pre-image of P to a one-step target-enlargement.</a:t>
            </a:r>
            <a:endParaRPr lang="zh-CN"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51" name="标题 1"/>
          <p:cNvSpPr>
            <a:spLocks noGrp="1"/>
          </p:cNvSpPr>
          <p:nvPr>
            <p:ph type="title"/>
          </p:nvPr>
        </p:nvSpPr>
        <p:spPr>
          <a:xfrm>
            <a:off x="336189" y="365125"/>
            <a:ext cx="7932601" cy="684625"/>
          </a:xfrm>
        </p:spPr>
        <p:txBody>
          <a:bodyPr>
            <a:normAutofit/>
          </a:bodyPr>
          <a:lstStyle/>
          <a:p>
            <a:r>
              <a:rPr lang="en-US" altLang="zh-CN" sz="3600" dirty="0">
                <a:latin typeface="Arial" panose="020B0604020202020204" pitchFamily="34" charset="0"/>
                <a:cs typeface="Arial" panose="020B0604020202020204" pitchFamily="34" charset="0"/>
              </a:rPr>
              <a:t>Effect of target enlargement</a:t>
            </a:r>
            <a:endParaRPr lang="zh-CN" altLang="en-US" sz="2400" dirty="0">
              <a:latin typeface="Arial" panose="020B0604020202020204" pitchFamily="34" charset="0"/>
              <a:cs typeface="Arial" panose="020B0604020202020204" pitchFamily="34" charset="0"/>
            </a:endParaRPr>
          </a:p>
        </p:txBody>
      </p:sp>
      <p:pic>
        <p:nvPicPr>
          <p:cNvPr id="2097164" name="图片 4"/>
          <p:cNvPicPr>
            <a:picLocks noChangeAspect="1"/>
          </p:cNvPicPr>
          <p:nvPr/>
        </p:nvPicPr>
        <p:blipFill rotWithShape="1">
          <a:blip r:embed="rId3"/>
          <a:srcRect r="1369" b="9380"/>
          <a:stretch>
            <a:fillRect/>
          </a:stretch>
        </p:blipFill>
        <p:spPr>
          <a:xfrm>
            <a:off x="571475" y="1733435"/>
            <a:ext cx="6769851" cy="3495636"/>
          </a:xfrm>
          <a:prstGeom prst="rect">
            <a:avLst/>
          </a:prstGeom>
        </p:spPr>
      </p:pic>
      <p:sp>
        <p:nvSpPr>
          <p:cNvPr id="1048752" name="文本框 5"/>
          <p:cNvSpPr txBox="1"/>
          <p:nvPr/>
        </p:nvSpPr>
        <p:spPr>
          <a:xfrm>
            <a:off x="7589519" y="2717075"/>
            <a:ext cx="4284617" cy="1569660"/>
          </a:xfrm>
          <a:prstGeom prst="rect">
            <a:avLst/>
          </a:prstGeom>
          <a:noFill/>
        </p:spPr>
        <p:txBody>
          <a:bodyPr wrap="square" rtlCol="0">
            <a:spAutoFit/>
          </a:bodyPr>
          <a:lstStyle/>
          <a:p>
            <a:r>
              <a:rPr lang="en-US" altLang="zh-CN" sz="2400" dirty="0">
                <a:cs typeface="Arial" panose="020B0604020202020204" pitchFamily="34" charset="0"/>
              </a:rPr>
              <a:t>target-enlargement improves the performance for simple satisfiable problems solved </a:t>
            </a:r>
            <a:r>
              <a:rPr lang="en-US" altLang="zh-CN" sz="2400" b="1" dirty="0">
                <a:cs typeface="Arial" panose="020B0604020202020204" pitchFamily="34" charset="0"/>
              </a:rPr>
              <a:t>in less than 100 seconds</a:t>
            </a:r>
            <a:endParaRPr lang="zh-CN" altLang="en-US" sz="2400" b="1" dirty="0">
              <a:cs typeface="Arial" panose="020B0604020202020204" pitchFamily="34" charset="0"/>
            </a:endParaRPr>
          </a:p>
        </p:txBody>
      </p:sp>
      <p:sp>
        <p:nvSpPr>
          <p:cNvPr id="1048753" name="矩形 7"/>
          <p:cNvSpPr/>
          <p:nvPr/>
        </p:nvSpPr>
        <p:spPr>
          <a:xfrm>
            <a:off x="1528354" y="2155372"/>
            <a:ext cx="927463" cy="22468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57" name="标题 1"/>
          <p:cNvSpPr>
            <a:spLocks noGrp="1"/>
          </p:cNvSpPr>
          <p:nvPr>
            <p:ph type="title"/>
          </p:nvPr>
        </p:nvSpPr>
        <p:spPr>
          <a:xfrm>
            <a:off x="166370" y="365125"/>
            <a:ext cx="9683024" cy="684625"/>
          </a:xfrm>
        </p:spPr>
        <p:txBody>
          <a:bodyPr>
            <a:normAutofit/>
          </a:bodyPr>
          <a:lstStyle/>
          <a:p>
            <a:r>
              <a:rPr lang="en-US" altLang="zh-CN" sz="3600" dirty="0">
                <a:latin typeface="Arial" panose="020B0604020202020204" pitchFamily="34" charset="0"/>
                <a:cs typeface="Arial" panose="020B0604020202020204" pitchFamily="34" charset="0"/>
              </a:rPr>
              <a:t>D. Runtime breakdown</a:t>
            </a:r>
            <a:endParaRPr lang="zh-CN" altLang="en-US" sz="2400" dirty="0">
              <a:latin typeface="Arial" panose="020B0604020202020204" pitchFamily="34" charset="0"/>
              <a:cs typeface="Arial" panose="020B0604020202020204" pitchFamily="34" charset="0"/>
            </a:endParaRPr>
          </a:p>
        </p:txBody>
      </p:sp>
      <p:sp>
        <p:nvSpPr>
          <p:cNvPr id="1048758" name="文本框 3"/>
          <p:cNvSpPr txBox="1"/>
          <p:nvPr/>
        </p:nvSpPr>
        <p:spPr>
          <a:xfrm>
            <a:off x="1025808" y="1617242"/>
            <a:ext cx="7707086" cy="1077218"/>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t> </a:t>
            </a:r>
            <a:r>
              <a:rPr lang="en-US" altLang="zh-CN" sz="3200" b="1" dirty="0"/>
              <a:t>20% </a:t>
            </a:r>
            <a:r>
              <a:rPr lang="en-US" altLang="zh-CN" sz="3200" dirty="0"/>
              <a:t>in </a:t>
            </a:r>
            <a:r>
              <a:rPr lang="en-US" altLang="zh-CN" sz="3200" dirty="0" err="1"/>
              <a:t>propagateBlockedCubes</a:t>
            </a:r>
            <a:r>
              <a:rPr lang="en-US" altLang="zh-CN" sz="3200" dirty="0"/>
              <a:t>() </a:t>
            </a:r>
          </a:p>
          <a:p>
            <a:pPr marL="342900" indent="-342900">
              <a:buFont typeface="Arial" panose="020B0604020202020204" pitchFamily="34" charset="0"/>
              <a:buChar char="•"/>
            </a:pPr>
            <a:r>
              <a:rPr lang="en-US" altLang="zh-CN" sz="3200" b="1" dirty="0"/>
              <a:t> 80%</a:t>
            </a:r>
            <a:r>
              <a:rPr lang="en-US" altLang="zh-CN" sz="3200" dirty="0"/>
              <a:t> in </a:t>
            </a:r>
            <a:r>
              <a:rPr lang="en-US" altLang="zh-CN" sz="3200" dirty="0" err="1"/>
              <a:t>recBlockCube</a:t>
            </a:r>
            <a:r>
              <a:rPr lang="en-US" altLang="zh-CN" sz="3200" dirty="0"/>
              <a:t>() </a:t>
            </a:r>
          </a:p>
        </p:txBody>
      </p:sp>
      <p:sp>
        <p:nvSpPr>
          <p:cNvPr id="1048759" name="文本框 2"/>
          <p:cNvSpPr txBox="1"/>
          <p:nvPr/>
        </p:nvSpPr>
        <p:spPr>
          <a:xfrm>
            <a:off x="2235849" y="2694460"/>
            <a:ext cx="4853953"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generalize()  and </a:t>
            </a:r>
            <a:r>
              <a:rPr lang="en-US" altLang="zh-CN" sz="2400" dirty="0" err="1">
                <a:latin typeface="Arial" panose="020B0604020202020204" pitchFamily="34" charset="0"/>
                <a:cs typeface="Arial" panose="020B0604020202020204" pitchFamily="34" charset="0"/>
              </a:rPr>
              <a:t>solveRelative</a:t>
            </a:r>
            <a:r>
              <a:rPr lang="en-US" altLang="zh-CN" sz="2400" dirty="0">
                <a:latin typeface="Arial" panose="020B0604020202020204" pitchFamily="34" charset="0"/>
                <a:cs typeface="Arial" panose="020B0604020202020204" pitchFamily="34" charset="0"/>
              </a:rPr>
              <a:t>().</a:t>
            </a:r>
          </a:p>
        </p:txBody>
      </p:sp>
      <p:sp>
        <p:nvSpPr>
          <p:cNvPr id="1048760" name="文本框 5"/>
          <p:cNvSpPr txBox="1"/>
          <p:nvPr/>
        </p:nvSpPr>
        <p:spPr>
          <a:xfrm>
            <a:off x="1025808" y="3325402"/>
            <a:ext cx="7550633" cy="138499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cs typeface="Arial" panose="020B0604020202020204" pitchFamily="34" charset="0"/>
              </a:rPr>
              <a:t>Satisfiable calls to the SAT-solver are about twice as common as unsatisfiable ones, and 5x more expensive.</a:t>
            </a:r>
            <a:endParaRPr lang="zh-CN" altLang="en-US" sz="2800" dirty="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64" name="标题 1"/>
          <p:cNvSpPr>
            <a:spLocks noGrp="1"/>
          </p:cNvSpPr>
          <p:nvPr>
            <p:ph type="title"/>
          </p:nvPr>
        </p:nvSpPr>
        <p:spPr>
          <a:xfrm>
            <a:off x="166370" y="365125"/>
            <a:ext cx="4363589" cy="684625"/>
          </a:xfrm>
        </p:spPr>
        <p:txBody>
          <a:bodyPr>
            <a:normAutofit/>
          </a:bodyPr>
          <a:lstStyle/>
          <a:p>
            <a:r>
              <a:rPr lang="en-US" altLang="zh-CN" sz="3600" dirty="0">
                <a:latin typeface="Arial" panose="020B0604020202020204" pitchFamily="34" charset="0"/>
                <a:cs typeface="Arial" panose="020B0604020202020204" pitchFamily="34" charset="0"/>
              </a:rPr>
              <a:t>E. Other things</a:t>
            </a:r>
            <a:endParaRPr lang="zh-CN" altLang="en-US" sz="2400" dirty="0">
              <a:latin typeface="Arial" panose="020B0604020202020204" pitchFamily="34" charset="0"/>
              <a:cs typeface="Arial" panose="020B0604020202020204" pitchFamily="34" charset="0"/>
            </a:endParaRPr>
          </a:p>
        </p:txBody>
      </p:sp>
      <p:sp>
        <p:nvSpPr>
          <p:cNvPr id="1048765" name="文本框 3"/>
          <p:cNvSpPr txBox="1"/>
          <p:nvPr/>
        </p:nvSpPr>
        <p:spPr>
          <a:xfrm>
            <a:off x="663200" y="1490008"/>
            <a:ext cx="8133959" cy="193899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t>the effect of the extended query vs. the original</a:t>
            </a:r>
          </a:p>
          <a:p>
            <a:pPr marL="342900" indent="-342900">
              <a:buFont typeface="Arial" panose="020B0604020202020204" pitchFamily="34" charset="0"/>
              <a:buChar char="•"/>
            </a:pPr>
            <a:r>
              <a:rPr lang="en-US" altLang="zh-CN" sz="2400" dirty="0"/>
              <a:t>evaluated the proposed activity scheme of IC3, which controls the order in which literals are tried for removal.</a:t>
            </a:r>
          </a:p>
          <a:p>
            <a:pPr marL="342900" indent="-342900">
              <a:buFont typeface="Arial" panose="020B0604020202020204" pitchFamily="34" charset="0"/>
              <a:buChar char="•"/>
            </a:pPr>
            <a:r>
              <a:rPr lang="en-US" altLang="zh-CN" sz="2400" dirty="0"/>
              <a:t>implemented a technique called</a:t>
            </a:r>
          </a:p>
          <a:p>
            <a:r>
              <a:rPr lang="en-US" altLang="zh-CN" sz="2400" dirty="0"/>
              <a:t>    semantic cone-of-influence.</a:t>
            </a:r>
          </a:p>
        </p:txBody>
      </p:sp>
      <p:pic>
        <p:nvPicPr>
          <p:cNvPr id="2097165" name="图片 6"/>
          <p:cNvPicPr>
            <a:picLocks noChangeAspect="1"/>
          </p:cNvPicPr>
          <p:nvPr/>
        </p:nvPicPr>
        <p:blipFill rotWithShape="1">
          <a:blip r:embed="rId3"/>
          <a:srcRect r="2191" b="11953"/>
          <a:stretch>
            <a:fillRect/>
          </a:stretch>
        </p:blipFill>
        <p:spPr>
          <a:xfrm>
            <a:off x="5406086" y="3153103"/>
            <a:ext cx="6466835" cy="331342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1048769" name="标题 1"/>
          <p:cNvSpPr>
            <a:spLocks noGrp="1"/>
          </p:cNvSpPr>
          <p:nvPr>
            <p:ph type="title"/>
          </p:nvPr>
        </p:nvSpPr>
        <p:spPr>
          <a:xfrm>
            <a:off x="166370" y="365125"/>
            <a:ext cx="4363589" cy="684625"/>
          </a:xfrm>
        </p:spPr>
        <p:txBody>
          <a:bodyPr>
            <a:normAutofit/>
          </a:bodyPr>
          <a:lstStyle/>
          <a:p>
            <a:r>
              <a:rPr lang="en-US" altLang="zh-CN" sz="3600" dirty="0">
                <a:latin typeface="Arial" panose="020B0604020202020204" pitchFamily="34" charset="0"/>
                <a:cs typeface="Arial" panose="020B0604020202020204" pitchFamily="34" charset="0"/>
              </a:rPr>
              <a:t>E. Other things</a:t>
            </a:r>
            <a:endParaRPr lang="zh-CN" altLang="en-US" sz="2400" dirty="0">
              <a:latin typeface="Arial" panose="020B0604020202020204" pitchFamily="34" charset="0"/>
              <a:cs typeface="Arial" panose="020B0604020202020204" pitchFamily="34" charset="0"/>
            </a:endParaRPr>
          </a:p>
        </p:txBody>
      </p:sp>
      <p:sp>
        <p:nvSpPr>
          <p:cNvPr id="1048770" name="文本框 3"/>
          <p:cNvSpPr txBox="1"/>
          <p:nvPr/>
        </p:nvSpPr>
        <p:spPr>
          <a:xfrm>
            <a:off x="1025807" y="1617242"/>
            <a:ext cx="10041586" cy="3539430"/>
          </a:xfrm>
          <a:prstGeom prst="rect">
            <a:avLst/>
          </a:prstGeom>
          <a:noFill/>
        </p:spPr>
        <p:txBody>
          <a:bodyPr wrap="square" rtlCol="0">
            <a:spAutoFit/>
          </a:bodyPr>
          <a:lstStyle/>
          <a:p>
            <a:pPr marL="342900" indent="-342900">
              <a:buFont typeface="Arial" panose="020B0604020202020204" pitchFamily="34" charset="0"/>
              <a:buChar char="•"/>
            </a:pPr>
            <a:r>
              <a:rPr lang="en-US" altLang="zh-CN" sz="2800" dirty="0"/>
              <a:t>modify MINISAT that only does BCP in the cone-of-influence of the flops in the query.</a:t>
            </a:r>
          </a:p>
          <a:p>
            <a:pPr marL="342900" indent="-342900">
              <a:buFont typeface="Arial" panose="020B0604020202020204" pitchFamily="34" charset="0"/>
              <a:buChar char="•"/>
            </a:pPr>
            <a:r>
              <a:rPr lang="en-US" altLang="zh-CN" sz="2800" dirty="0"/>
              <a:t>implemented a non-</a:t>
            </a:r>
            <a:r>
              <a:rPr lang="en-US" altLang="zh-CN" sz="2800" dirty="0" err="1"/>
              <a:t>monolithicversion</a:t>
            </a:r>
            <a:r>
              <a:rPr lang="en-US" altLang="zh-CN" sz="2800" dirty="0"/>
              <a:t> of PDR that helps to localizing the SAT solving better</a:t>
            </a:r>
          </a:p>
          <a:p>
            <a:pPr marL="342900" indent="-342900">
              <a:buFont typeface="Arial" panose="020B0604020202020204" pitchFamily="34" charset="0"/>
              <a:buChar char="•"/>
            </a:pPr>
            <a:r>
              <a:rPr lang="en-US" altLang="zh-CN" sz="2800" dirty="0"/>
              <a:t>finds an inductive subset of RN after propagating the cubes forward</a:t>
            </a:r>
          </a:p>
          <a:p>
            <a:pPr marL="342900" indent="-342900">
              <a:buFont typeface="Arial" panose="020B0604020202020204" pitchFamily="34" charset="0"/>
              <a:buChar char="•"/>
            </a:pPr>
            <a:r>
              <a:rPr lang="en-US" altLang="zh-CN" sz="2800" dirty="0"/>
              <a:t>made an extension that allows PDR to develop and use an abstraction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标题 3"/>
          <p:cNvSpPr>
            <a:spLocks noGrp="1"/>
          </p:cNvSpPr>
          <p:nvPr>
            <p:ph type="title"/>
          </p:nvPr>
        </p:nvSpPr>
        <p:spPr/>
        <p:txBody>
          <a:bodyPr>
            <a:normAutofit fontScale="90000"/>
          </a:bodyPr>
          <a:lstStyle/>
          <a:p>
            <a:r>
              <a:rPr lang="en-US" altLang="zh-CN" dirty="0">
                <a:sym typeface="+mn-ea"/>
              </a:rPr>
              <a:t>Thank you</a:t>
            </a:r>
            <a:r>
              <a:rPr lang="zh-CN" altLang="en-US" dirty="0">
                <a:sym typeface="+mn-ea"/>
              </a:rPr>
              <a:t>！</a:t>
            </a:r>
            <a:br>
              <a:rPr lang="en-US" altLang="zh-CN" dirty="0"/>
            </a:br>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607334252861_1_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5253</Words>
  <Application>Microsoft Office PowerPoint</Application>
  <PresentationFormat>宽屏</PresentationFormat>
  <Paragraphs>257</Paragraphs>
  <Slides>38</Slides>
  <Notes>34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38</vt:i4>
      </vt:variant>
    </vt:vector>
  </HeadingPairs>
  <TitlesOfParts>
    <vt:vector size="43" baseType="lpstr">
      <vt:lpstr>Arial</vt:lpstr>
      <vt:lpstr>Calibri</vt:lpstr>
      <vt:lpstr>Times New Roman</vt:lpstr>
      <vt:lpstr>Wingdings</vt:lpstr>
      <vt:lpstr>Office 主题​​</vt:lpstr>
      <vt:lpstr>Efficient Implementation of Property Directed Reachability</vt:lpstr>
      <vt:lpstr>1.Introduction </vt:lpstr>
      <vt:lpstr>IC3</vt:lpstr>
      <vt:lpstr>PowerPoint 演示文稿</vt:lpstr>
      <vt:lpstr>PowerPoint 演示文稿</vt:lpstr>
      <vt:lpstr>PowerPoint 演示文稿</vt:lpstr>
      <vt:lpstr>2.Preliminaries</vt:lpstr>
      <vt:lpstr>PRELIMINARIES</vt:lpstr>
      <vt:lpstr>3.OVERVIEW OF PDR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IMPLEMENTATION</vt:lpstr>
      <vt:lpstr>PowerPoint 演示文稿</vt:lpstr>
      <vt:lpstr>PowerPoint 演示文稿</vt:lpstr>
      <vt:lpstr>PowerPoint 演示文稿</vt:lpstr>
      <vt:lpstr>PowerPoint 演示文稿</vt:lpstr>
      <vt:lpstr>5. SAT SOLVING</vt:lpstr>
      <vt:lpstr>PowerPoint 演示文稿</vt:lpstr>
      <vt:lpstr>6.Experimental analysis</vt:lpstr>
      <vt:lpstr>A. Comparison of IC3 and PDR</vt:lpstr>
      <vt:lpstr>A. Comparison of IC3 and PDR</vt:lpstr>
      <vt:lpstr>B. Ternary simulation</vt:lpstr>
      <vt:lpstr>B. Stronger cube generalization</vt:lpstr>
      <vt:lpstr>C. Effect of changing the semantics of RN</vt:lpstr>
      <vt:lpstr>Effect of target enlargement</vt:lpstr>
      <vt:lpstr>D. Runtime breakdown</vt:lpstr>
      <vt:lpstr>E. Other things</vt:lpstr>
      <vt:lpstr>E. Other things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Implementation of Property Directed Reachability</dc:title>
  <dc:creator>雷人</dc:creator>
  <cp:lastModifiedBy>雷 人</cp:lastModifiedBy>
  <cp:revision>2</cp:revision>
  <dcterms:created xsi:type="dcterms:W3CDTF">2019-06-18T10:08:00Z</dcterms:created>
  <dcterms:modified xsi:type="dcterms:W3CDTF">2020-12-11T01:57:19Z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