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29" r:id="rId2"/>
    <p:sldId id="285" r:id="rId3"/>
    <p:sldId id="286" r:id="rId4"/>
    <p:sldId id="330" r:id="rId5"/>
    <p:sldId id="331" r:id="rId6"/>
    <p:sldId id="332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7" r:id="rId18"/>
    <p:sldId id="345" r:id="rId19"/>
    <p:sldId id="348" r:id="rId20"/>
    <p:sldId id="350" r:id="rId21"/>
    <p:sldId id="349" r:id="rId22"/>
    <p:sldId id="351" r:id="rId23"/>
    <p:sldId id="352" r:id="rId24"/>
    <p:sldId id="353" r:id="rId25"/>
    <p:sldId id="354" r:id="rId26"/>
    <p:sldId id="355" r:id="rId27"/>
    <p:sldId id="357" r:id="rId28"/>
    <p:sldId id="358" r:id="rId29"/>
    <p:sldId id="359" r:id="rId30"/>
    <p:sldId id="356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6" r:id="rId47"/>
    <p:sldId id="378" r:id="rId48"/>
    <p:sldId id="377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7" r:id="rId57"/>
    <p:sldId id="386" r:id="rId58"/>
    <p:sldId id="388" r:id="rId59"/>
    <p:sldId id="389" r:id="rId60"/>
    <p:sldId id="390" r:id="rId61"/>
    <p:sldId id="392" r:id="rId62"/>
    <p:sldId id="393" r:id="rId63"/>
    <p:sldId id="398" r:id="rId64"/>
    <p:sldId id="399" r:id="rId65"/>
    <p:sldId id="400" r:id="rId66"/>
    <p:sldId id="402" r:id="rId67"/>
    <p:sldId id="404" r:id="rId68"/>
    <p:sldId id="403" r:id="rId69"/>
    <p:sldId id="394" r:id="rId70"/>
    <p:sldId id="396" r:id="rId71"/>
    <p:sldId id="395" r:id="rId72"/>
    <p:sldId id="397" r:id="rId73"/>
    <p:sldId id="405" r:id="rId74"/>
    <p:sldId id="406" r:id="rId75"/>
    <p:sldId id="407" r:id="rId76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>
      <p:cViewPr varScale="1">
        <p:scale>
          <a:sx n="115" d="100"/>
          <a:sy n="115" d="100"/>
        </p:scale>
        <p:origin x="12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2017/3/21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</a:t>
            </a:r>
            <a:r>
              <a:rPr lang="zh-CN" altLang="en-US" sz="2400" dirty="0" smtClean="0"/>
              <a:t>辰</a:t>
            </a:r>
            <a:endParaRPr lang="en-US" altLang="zh-CN" sz="2400" dirty="0" smtClean="0"/>
          </a:p>
          <a:p>
            <a:r>
              <a:rPr lang="en-US" altLang="zh-CN" sz="2400" dirty="0" smtClean="0"/>
              <a:t>jcshen@sei.ecnu.edu.cn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485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</a:t>
            </a:r>
            <a:r>
              <a:rPr lang="zh-CN" altLang="en-US" dirty="0"/>
              <a:t>三</a:t>
            </a:r>
            <a:r>
              <a:rPr lang="zh-CN" altLang="en-US" dirty="0" smtClean="0"/>
              <a:t>章 二次同余式与</a:t>
            </a:r>
            <a:r>
              <a:rPr lang="zh-CN" altLang="en-US" dirty="0"/>
              <a:t>二次</a:t>
            </a:r>
            <a:r>
              <a:rPr lang="zh-CN" altLang="en-US" dirty="0" smtClean="0"/>
              <a:t>剩余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4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§3.1 </a:t>
            </a:r>
            <a:r>
              <a:rPr lang="zh-CN" altLang="en-US" dirty="0" smtClean="0"/>
              <a:t>二次同余式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次同余式的一般形式为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≡0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(3.1)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6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的标准分解式为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2.4.2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(3.1)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式有解等价于同余式组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≡0 (</m:t>
                                        </m:r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𝑚𝑜𝑑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 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zh-CN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sup>
                                        </m:sSubSup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)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𝑏𝑥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≡0 (</m:t>
                                        </m:r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𝑚𝑜𝑑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 </m:t>
                                        </m:r>
                                        <m:sSubSup>
                                          <m:sSubSupPr>
                                            <m:ctrlPr>
                                              <a:rPr lang="zh-CN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zh-CN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p>
                                        </m:sSubSup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)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𝑏𝑥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≡0 (</m:t>
                                  </m:r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𝑚𝑜𝑑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(3.2)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解。因此只需讨论模数为素数幂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时的二次同余式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≡0 (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>
                                <a:ea typeface="Cambria Math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(3.3)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的求解问题，其中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266" r="-2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53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435280" cy="38496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对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配方可得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(3.4)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≢0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，易知当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为奇素数时，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(3.4)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的解相同，此时令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(3.4)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(3.5)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相同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(3.3)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有解当且仅当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(3.5)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435280" cy="3849688"/>
              </a:xfrm>
              <a:blipFill>
                <a:blip r:embed="rId2"/>
                <a:stretch>
                  <a:fillRect l="-108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79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199" y="2276475"/>
                <a:ext cx="8240713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如果同余式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(3.6)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的二次剩余（平方剩余）；否则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叫做模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平方非剩余）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</a:t>
                </a:r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199" y="2276475"/>
                <a:ext cx="8240713" cy="3849688"/>
              </a:xfrm>
              <a:blipFill>
                <a:blip r:embed="rId2"/>
                <a:stretch>
                  <a:fillRect l="-1109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48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5496" y="1052736"/>
                <a:ext cx="9036496" cy="5688632"/>
              </a:xfrm>
            </p:spPr>
            <p:txBody>
              <a:bodyPr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的平方非剩余。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</a:t>
                </a: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例：求满足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  <m:r>
                      <a:rPr lang="zh-CN" altLang="en-US" sz="24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所有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点。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=0,1,2,3,4,5,6,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分别求出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由此可知共有四个满足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的点，为别为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1,6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,(4,5)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496" y="1052736"/>
                <a:ext cx="9036496" cy="5688632"/>
              </a:xfrm>
              <a:blipFill>
                <a:blip r:embed="rId2"/>
                <a:stretch>
                  <a:fillRect l="-1080" t="-1179" r="-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789040"/>
            <a:ext cx="5663675" cy="19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8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§3.2 </a:t>
            </a:r>
            <a:r>
              <a:rPr lang="zh-CN" altLang="en-US" dirty="0" smtClean="0"/>
              <a:t>模数为奇素数的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二次剩余和二次非剩余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43528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本节讨论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奇素数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(3.6)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是否有解的问题。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（欧拉判别法）设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恰有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435280" cy="3849688"/>
              </a:xfrm>
              <a:blipFill>
                <a:blip r:embed="rId2"/>
                <a:stretch>
                  <a:fillRect l="-108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26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的解，显然有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解，且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恰有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𝑥𝑞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为整系数多项式。由费马小定理知所有整数都是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的解，因此也是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𝑥𝑞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 kern="1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。即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1185" t="-1370" r="-3407" b="-1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70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再来证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ea typeface="Cambria Math" panose="02040503050406030204" pitchFamily="18" charset="0"/>
                      </a:rPr>
                      <m:t>因为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ea typeface="Cambria Math" panose="02040503050406030204" pitchFamily="18" charset="0"/>
                  </a:rPr>
                  <a:t>，由欧拉定理知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−1=(</m:t>
                    </m:r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kern="1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1)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，又由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kern="1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1185" t="-1370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66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 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是奇素数，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二次剩余，那么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二次剩余；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一个是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，一个是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  <a:blipFill>
                <a:blip r:embed="rId2"/>
                <a:stretch>
                  <a:fillRect l="-1111" t="-1692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02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0" indent="0" defTabSz="68580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判断</a:t>
            </a:r>
            <a:r>
              <a:rPr lang="en-US" altLang="zh-CN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是否为模</a:t>
            </a:r>
            <a:r>
              <a:rPr lang="en-US" altLang="zh-CN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r>
              <a:rPr lang="zh-CN" altLang="en-US" sz="2400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的平方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剩余</a:t>
            </a:r>
            <a:endParaRPr lang="en-US" altLang="zh-CN" sz="2400" kern="1200" dirty="0" smtClean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defTabSz="685800" fontAlgn="auto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kern="1200" dirty="0" smtClean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5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判断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</a:t>
                </a: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endParaRPr lang="en-US" altLang="zh-CN" sz="2400" kern="12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2400" kern="1200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kern="12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0" kern="12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b="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≡−1(</m:t>
                    </m:r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:r>
                  <a:rPr lang="en-US" altLang="zh-CN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kern="1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</a:t>
                </a:r>
                <a:r>
                  <a:rPr lang="zh-CN" altLang="en-US" sz="2400" kern="1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zh-CN" altLang="en-US" sz="2400" kern="12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54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是奇素数，则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的简化剩余系中，二次剩余和二次非剩余的个数都是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个，且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个平方剩余和序列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中的一个数且仅和其中一个数同余。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  <a:blipFill>
                <a:blip r:embed="rId2"/>
                <a:stretch>
                  <a:fillRect l="-1084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3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证明：先证第一部分。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的二次剩余的个数和同余式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的解数相同，又因为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共有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个解，即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。又因为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的缩系中共有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个数，因此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个数也是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229600" cy="4896544"/>
              </a:xfrm>
              <a:blipFill>
                <a:blip r:embed="rId2"/>
                <a:stretch>
                  <a:fillRect l="-3630" t="-1370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40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证明：再证第二部分。只需证明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kern="1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两两不同余即可。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用反证法，设存在整数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是素数，因此有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kern="1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  <a:blipFill>
                <a:blip r:embed="rId2"/>
                <a:stretch>
                  <a:fillRect l="-1148" r="-4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61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</p:spPr>
            <p:txBody>
              <a:bodyPr/>
              <a:lstStyle/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en-US" altLang="zh-CN" sz="2400" dirty="0" smtClean="0"/>
                  <a:t>§ 3.1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中例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的平方非剩余。</a:t>
                </a:r>
                <a:endParaRPr lang="zh-CN" altLang="en-US" sz="2400" dirty="0"/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435280" cy="3960837"/>
              </a:xfrm>
              <a:blipFill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11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§3.3 </a:t>
            </a:r>
            <a:r>
              <a:rPr lang="zh-CN" altLang="en-US" dirty="0" smtClean="0"/>
              <a:t>勒让德符号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（勒让德符号）设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勒让德符号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是模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的二次剩余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是模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的二次</m:t>
                                </m:r>
                                <m:r>
                                  <a:rPr lang="zh-CN" alt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非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剩余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78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有非零解当且仅当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21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有非零解当且仅当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的平方剩余，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r="-1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2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此时我们可将欧拉判别法重写为：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3.3.1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（欧拉判别法）设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，则对任意整数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t="-1692" r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9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91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00323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或者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≡1 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4)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4)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003232" cy="3960837"/>
              </a:xfrm>
              <a:blipFill>
                <a:blip r:embed="rId2"/>
                <a:stretch>
                  <a:fillRect l="-1142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76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3.3.2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，进一步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7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现在证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ea typeface="Cambria Math" panose="02040503050406030204" pitchFamily="18" charset="0"/>
                  </a:rPr>
                  <a:t>。由欧拉判别法知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可直接得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484784"/>
                <a:ext cx="8496944" cy="4896544"/>
              </a:xfrm>
              <a:blipFill>
                <a:blip r:embed="rId2"/>
                <a:stretch>
                  <a:fillRect l="-1148" t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74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72816"/>
                <a:ext cx="8651304" cy="3960837"/>
              </a:xfrm>
              <a:blipFill>
                <a:blip r:embed="rId2"/>
                <a:stretch>
                  <a:fillRect l="-1057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02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9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的二次非剩余，因此二次同余式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7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例：判断下列二次同余式是否有解：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+5≡0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+11≡0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的二次非剩余，因此二次同余式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−35=5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−7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5,23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解，但我们知道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二次同余式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196752"/>
                <a:ext cx="8651304" cy="5184576"/>
              </a:xfrm>
              <a:blipFill>
                <a:blip r:embed="rId2"/>
                <a:stretch>
                  <a:fillRect l="-1057" t="-1293" r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54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（高斯引理）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44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363272" cy="3960837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计算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是不是模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的二次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非剩余。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74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是不是模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14,21,28,35≡7,3,10,6,2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11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8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是不是模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14,21,28,35≡7,3,10,6,2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11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的个数是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另一方面，我们计算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1,4,9,5,3 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，因此验证了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r="-4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3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2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中小于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数，则显然有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𝑖𝑎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，观察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个数，我们证明它们各不相同。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t="-1330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65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否则其中有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互不相同。因此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  <a:blipFill>
                <a:blip r:embed="rId2"/>
                <a:stretch>
                  <a:fillRect l="-1076" t="-1330" r="-4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75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268760"/>
                <a:ext cx="8496944" cy="5040560"/>
              </a:xfrm>
              <a:blipFill>
                <a:blip r:embed="rId2"/>
                <a:stretch>
                  <a:fillRect l="-1076" t="-1330" r="-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86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3.3.4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，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𝑎𝑘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sup>
                      </m:sSup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表示不大于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的最大整数。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73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证明：因为对所有的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，都存在整数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𝑎𝑘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𝑎𝑘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𝑎𝑘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证明中定义，则对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，都有唯一一个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相等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，因此上式可化为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r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09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  <m:mr>
                          <m:e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𝑚𝑝</m:t>
                            </m:r>
                          </m:e>
                        </m:mr>
                        <m:mr>
                          <m:e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nary>
                              <m:naryPr>
                                <m:chr m:val="∑"/>
                                <m:ctrlPr>
                                  <a:rPr lang="zh-CN" alt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num>
                                      <m:den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</m:nary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50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对所有的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𝑎𝑘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为奇数，此时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此有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𝑎𝑘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r="-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54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为奇素数，则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66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≡±3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8)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8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8)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的二次剩余，是模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r="-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5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§3.4 </a:t>
            </a:r>
            <a:r>
              <a:rPr lang="zh-CN" altLang="en-US" dirty="0" smtClean="0"/>
              <a:t>二次互反律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3.4.1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（二次互反律）设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为不同的奇素数，则</a:t>
                </a:r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5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65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标准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分解式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365=5×73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≡−1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5)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≡−1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73)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，因此上述同余式组有解，且解数为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2×2=4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365)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有解，解数为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363272" cy="3960837"/>
              </a:xfrm>
              <a:blipFill>
                <a:blip r:embed="rId2"/>
                <a:stretch>
                  <a:fillRect l="-1093" t="-1692" b="-5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76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429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7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429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是否有解，若有解，求其解数。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解：易知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3∙11∙13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429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≡429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有解，其解数为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3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证明形如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的素数有无穷多个。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34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证明形如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的素数有无穷多个。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解：用反证法，设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形如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素数有有限多个，令其为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，显然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也是一个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形的数，且对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为合数，故必有素因子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(2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也是形如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素数，因此存在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定义显然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28800"/>
                <a:ext cx="8686800" cy="4680520"/>
              </a:xfrm>
              <a:blipFill>
                <a:blip r:embed="rId2"/>
                <a:stretch>
                  <a:fillRect l="-1053" t="-1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8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3.4.1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显然只需证明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3.3.4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，因此仅需证明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，考察长为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的矩形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，如图所示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412776"/>
                <a:ext cx="8712968" cy="5040560"/>
              </a:xfrm>
              <a:blipFill>
                <a:blip r:embed="rId2"/>
                <a:stretch>
                  <a:fillRect l="-1049" t="-13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74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052736"/>
                <a:ext cx="8712968" cy="5328592"/>
              </a:xfrm>
            </p:spPr>
            <p:txBody>
              <a:bodyPr/>
              <a:lstStyle/>
              <a:p>
                <a:pPr marL="0" indent="0" defTabSz="68580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上，恰有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个正整数点，在直线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𝑁𝑀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上，恰有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𝑝𝑘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个正整数点，且因为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为不同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的素数，因此直线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矩形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内仅有一个整数点，即原点，因此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𝑝𝑘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矩形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内所有正整数点的个数，显然为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052736"/>
                <a:ext cx="8712968" cy="5328592"/>
              </a:xfrm>
              <a:blipFill>
                <a:blip r:embed="rId2"/>
                <a:stretch>
                  <a:fillRect l="-1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501008"/>
            <a:ext cx="61658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09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求所有以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为二次剩余的奇素数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  <a:blipFill>
                <a:blip r:embed="rId2"/>
                <a:stretch>
                  <a:fillRect l="-1053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7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求所有以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为二次剩余的奇素数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。显然有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二次剩余的充要条件为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4)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≡−1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3)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由孙子定理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可知，即为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12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268760"/>
                <a:ext cx="8686800" cy="5400600"/>
              </a:xfrm>
              <a:blipFill>
                <a:blip r:embed="rId2"/>
                <a:stretch>
                  <a:fillRect l="-1053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8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§3.5 </a:t>
            </a:r>
            <a:r>
              <a:rPr lang="zh-CN" altLang="en-US" dirty="0" smtClean="0"/>
              <a:t>雅可比符号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（雅可比符号）设正奇数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素数的乘积形式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，则对任意整数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，定义雅可比符号</a:t>
                </a:r>
                <a:endParaRPr lang="en-US" altLang="zh-CN" sz="24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的勒让德符号。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531640"/>
                <a:ext cx="8686800" cy="3849688"/>
              </a:xfrm>
              <a:blipFill>
                <a:blip r:embed="rId2"/>
                <a:stretch>
                  <a:fillRect l="-1053" t="-1741" r="-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53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雅可比符号是勒让德符号在一般奇数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上的推广。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  <a:blipFill>
                <a:blip r:embed="rId2"/>
                <a:stretch>
                  <a:fillRect l="-1053" t="-1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17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雅可比符号是勒让德符号在一般奇数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上的推广。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勒让德符号的值可确定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但雅可比符号的知不能完全确定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2276872"/>
                <a:ext cx="8686800" cy="4032448"/>
              </a:xfrm>
              <a:blipFill>
                <a:blip r:embed="rId2"/>
                <a:stretch>
                  <a:fillRect l="-1053" t="-1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72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9696" y="1628800"/>
                <a:ext cx="8686800" cy="417646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119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另一方面，求解同余式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119)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7)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≡3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17)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但由上式计算可知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119)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9696" y="1628800"/>
                <a:ext cx="8686800" cy="4176464"/>
              </a:xfrm>
              <a:blipFill>
                <a:blip r:embed="rId2"/>
                <a:stretch>
                  <a:fillRect l="-1053" r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8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奇数，若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r="-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65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奇数，若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等价于求解同余式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无解，即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r="-583" b="-3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4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980728"/>
                <a:ext cx="7920880" cy="5472608"/>
              </a:xfrm>
            </p:spPr>
            <p:txBody>
              <a:bodyPr/>
              <a:lstStyle/>
              <a:p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3.5.2 </a:t>
                </a:r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雅可比符号的性质，</a:t>
                </a:r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是整数，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是正奇数，则</a:t>
                </a:r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𝑖𝑖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2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980728"/>
                <a:ext cx="7920880" cy="5472608"/>
              </a:xfrm>
              <a:blipFill>
                <a:blip r:embed="rId2"/>
                <a:stretch>
                  <a:fillRect l="-1001" t="-1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11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286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  <a:blipFill>
                <a:blip r:embed="rId2"/>
                <a:stretch>
                  <a:fillRect l="-1081" t="-2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41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286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286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的雅可比符号，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286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2∙143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563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563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−9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143−1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040" y="2132856"/>
                <a:ext cx="8460432" cy="3024336"/>
              </a:xfrm>
              <a:blipFill>
                <a:blip r:embed="rId2"/>
                <a:stretch>
                  <a:fillRect l="-1081" t="-2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24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平方根算法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为奇素数，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的算法如下：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否则，任取模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二次非剩余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。同理可知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17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3924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𝑖𝑖𝑖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设已求得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,…,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，现在计算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否则有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392488"/>
              </a:xfrm>
              <a:blipFill>
                <a:blip r:embed="rId2"/>
                <a:stretch>
                  <a:fillRect l="-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84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36912"/>
                <a:ext cx="8363272" cy="23762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𝑖𝑣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特别的，当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𝑖𝑖𝑖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计算得到的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的解。此时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≡⋯≡</m:t>
                      </m:r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36912"/>
                <a:ext cx="8363272" cy="2376264"/>
              </a:xfrm>
              <a:blipFill>
                <a:blip r:embed="rId2"/>
                <a:stretch>
                  <a:fillRect l="-1093" t="-2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62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7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求解同余式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186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解：易知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401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=1∙1∙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ea typeface="Cambria Math" panose="02040503050406030204" pitchFamily="18" charset="0"/>
                  </a:rPr>
                  <a:t>    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−1=400=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取一个模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的二次非剩余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268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401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186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25+1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≡103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401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186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≡235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4744"/>
                <a:ext cx="8363272" cy="5184576"/>
              </a:xfrm>
              <a:blipFill>
                <a:blip r:embed="rId2"/>
                <a:stretch>
                  <a:fillRect l="-1093" t="-1294" r="-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04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1044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235∙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103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≡103∙268≡336 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再计算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336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=336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最后计算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186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235∙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336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336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268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04 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≡±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≡304,97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≡186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401)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的所有解。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363272" cy="4104456"/>
              </a:xfrm>
              <a:blipFill>
                <a:blip r:embed="rId2"/>
                <a:stretch>
                  <a:fillRect l="-1093" t="-446" r="-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88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用二次剩余设计的密码方案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Rabin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Williams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改进）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是形如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的大素数，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，则公钥为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，私钥为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消息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解密时，求解同余式组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得</a:t>
                </a:r>
                <a:r>
                  <a:rPr lang="en-US" altLang="zh-C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个解，其中仅有一个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  <a:blipFill>
                <a:blip r:embed="rId2"/>
                <a:stretch>
                  <a:fillRect l="-1081" t="-1792" r="-3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88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的二次剩余，因此同余式组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个解，事实上有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≡±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个解分别为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3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124744"/>
                <a:ext cx="8748464" cy="52565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，类似的有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，但是我们有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个解中仅有一个满足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，即为明文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124744"/>
                <a:ext cx="8748464" cy="5256584"/>
              </a:xfrm>
              <a:blipFill>
                <a:blip r:embed="rId2"/>
                <a:stretch>
                  <a:fillRect l="-1115" r="-1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17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00808"/>
                <a:ext cx="8496944" cy="396044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注：我们注意到𝑐是模𝑛的二次剩余，因此它既是模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的二次剩余，也是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≡3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+1,4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的解为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，再由孙子定理可求得同余式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个解，由上述证明可知其中有且仅有一个满足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，即为明文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00808"/>
                <a:ext cx="8496944" cy="3960440"/>
              </a:xfrm>
              <a:blipFill>
                <a:blip r:embed="rId2"/>
                <a:stretch>
                  <a:fillRect l="-1148" t="-1692" r="-4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7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用二次剩余设计的密码方案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Goldwasser-Micali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是大素数，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，则公钥为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，私钥为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消息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为一个比特，随机取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解密时，求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772816"/>
                <a:ext cx="8460432" cy="3744416"/>
              </a:xfrm>
              <a:blipFill>
                <a:blip r:embed="rId2"/>
                <a:stretch>
                  <a:fillRect l="-1081" t="-1792" r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9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证明：显然如果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次非剩余。因此解密时，仅需判断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，正确性得证。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54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方案的正确性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证明：显然如果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的二次剩余；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次非剩余。因此解密时，仅需判断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二次剩余，因为同余式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和同余式组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的解相同，因此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二次剩余当且仅当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，正确性得证。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/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方案的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安全性依赖于判断一个随机数是否为模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二次剩余这一问题。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8568952" cy="5256584"/>
              </a:xfrm>
              <a:blipFill>
                <a:blip r:embed="rId2"/>
                <a:stretch>
                  <a:fillRect l="-1067" t="-1276" r="-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74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</TotalTime>
  <Words>969</Words>
  <Application>Microsoft Office PowerPoint</Application>
  <PresentationFormat>全屏显示(4:3)</PresentationFormat>
  <Paragraphs>264</Paragraphs>
  <Slides>75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1" baseType="lpstr">
      <vt:lpstr>等线</vt:lpstr>
      <vt:lpstr>宋体</vt:lpstr>
      <vt:lpstr>微软雅黑</vt:lpstr>
      <vt:lpstr>Arial</vt:lpstr>
      <vt:lpstr>Cambria Math</vt:lpstr>
      <vt:lpstr>默认设计模板</vt:lpstr>
      <vt:lpstr>网络安全数学基础(一)</vt:lpstr>
      <vt:lpstr>网络安全数学基础  第三章 二次同余式与二次剩余</vt:lpstr>
      <vt:lpstr>§3.1 二次同余式</vt:lpstr>
      <vt:lpstr>PowerPoint 演示文稿</vt:lpstr>
      <vt:lpstr>PowerPoint 演示文稿</vt:lpstr>
      <vt:lpstr>PowerPoint 演示文稿</vt:lpstr>
      <vt:lpstr>PowerPoint 演示文稿</vt:lpstr>
      <vt:lpstr>§3.2 模数为奇素数的 二次剩余和二次非剩余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§3.3 勒让德符号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§3.4 二次互反律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§3.5 雅可比符号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USER-</cp:lastModifiedBy>
  <cp:revision>279</cp:revision>
  <cp:lastPrinted>2015-09-25T01:40:12Z</cp:lastPrinted>
  <dcterms:created xsi:type="dcterms:W3CDTF">2011-06-14T05:49:02Z</dcterms:created>
  <dcterms:modified xsi:type="dcterms:W3CDTF">2017-03-21T15:08:18Z</dcterms:modified>
</cp:coreProperties>
</file>