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329" r:id="rId2"/>
    <p:sldId id="285" r:id="rId3"/>
    <p:sldId id="330" r:id="rId4"/>
    <p:sldId id="359" r:id="rId5"/>
    <p:sldId id="331" r:id="rId6"/>
    <p:sldId id="340" r:id="rId7"/>
    <p:sldId id="342" r:id="rId8"/>
    <p:sldId id="338" r:id="rId9"/>
    <p:sldId id="344" r:id="rId10"/>
    <p:sldId id="347" r:id="rId11"/>
    <p:sldId id="349" r:id="rId12"/>
    <p:sldId id="355" r:id="rId13"/>
    <p:sldId id="352" r:id="rId14"/>
    <p:sldId id="358" r:id="rId15"/>
    <p:sldId id="362" r:id="rId16"/>
    <p:sldId id="366" r:id="rId17"/>
    <p:sldId id="371" r:id="rId18"/>
    <p:sldId id="374" r:id="rId19"/>
    <p:sldId id="372" r:id="rId20"/>
    <p:sldId id="378" r:id="rId21"/>
    <p:sldId id="386" r:id="rId22"/>
    <p:sldId id="380" r:id="rId23"/>
    <p:sldId id="431" r:id="rId24"/>
    <p:sldId id="376" r:id="rId25"/>
    <p:sldId id="388" r:id="rId26"/>
    <p:sldId id="397" r:id="rId27"/>
    <p:sldId id="377" r:id="rId28"/>
    <p:sldId id="382" r:id="rId29"/>
    <p:sldId id="412" r:id="rId30"/>
    <p:sldId id="383" r:id="rId31"/>
    <p:sldId id="390" r:id="rId32"/>
    <p:sldId id="392" r:id="rId33"/>
    <p:sldId id="409" r:id="rId34"/>
    <p:sldId id="407" r:id="rId35"/>
    <p:sldId id="404" r:id="rId36"/>
    <p:sldId id="413" r:id="rId37"/>
    <p:sldId id="418" r:id="rId38"/>
    <p:sldId id="419" r:id="rId39"/>
    <p:sldId id="421" r:id="rId40"/>
    <p:sldId id="422" r:id="rId41"/>
    <p:sldId id="423" r:id="rId42"/>
    <p:sldId id="425" r:id="rId43"/>
    <p:sldId id="427" r:id="rId44"/>
    <p:sldId id="428" r:id="rId45"/>
    <p:sldId id="429" r:id="rId46"/>
    <p:sldId id="430" r:id="rId47"/>
  </p:sldIdLst>
  <p:sldSz cx="9144000" cy="6858000" type="screen4x3"/>
  <p:notesSz cx="7099300" cy="10234613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58" autoAdjust="0"/>
    <p:restoredTop sz="94660"/>
  </p:normalViewPr>
  <p:slideViewPr>
    <p:cSldViewPr>
      <p:cViewPr varScale="1">
        <p:scale>
          <a:sx n="113" d="100"/>
          <a:sy n="113" d="100"/>
        </p:scale>
        <p:origin x="1308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30C13E-23FC-48F3-95A9-E525834D9428}" type="datetimeFigureOut">
              <a:rPr lang="zh-CN" altLang="en-US" smtClean="0"/>
              <a:t>2018/1/13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279525"/>
            <a:ext cx="460692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984C2A-EB87-4311-AF30-7E7E38DDB5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8798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1E7615-5A90-41BB-A3DD-B0D5F4BD14B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37038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42C865-5457-4219-A943-D19DF3DCC14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93216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BC1CDA-6130-4718-92C6-6B8BD3ECA85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35690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2276475"/>
            <a:ext cx="4038600" cy="38496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2276475"/>
            <a:ext cx="4038600" cy="38496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57F577-978C-4BA5-B5DD-275CCA3C12D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16002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392F2F-4756-4D28-B347-8AEF1074F3F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09750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9247A9-179F-4D0C-BE11-9A13F8907D2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0005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D4979A-900E-4C85-B5BE-29473930425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74280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D9FDD7-5457-4AAC-8208-15F47735F9C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09835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0744C8-7A71-4489-B44E-7B5E127F275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2127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9A919D-2C84-4083-801B-9EA35626122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55892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38925" y="981075"/>
            <a:ext cx="2058988" cy="514508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981075"/>
            <a:ext cx="6029325" cy="514508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056FEB-586A-4032-B2F0-1204A477F2A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53657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981075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2276475"/>
            <a:ext cx="8229600" cy="3849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BB17CC08-7374-4DCA-8706-3D45ED527A6D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  <a:ea typeface="微软雅黑" pitchFamily="34" charset="-122"/>
        </a:defRPr>
      </a:lvl2pPr>
      <a:lvl3pPr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  <a:ea typeface="微软雅黑" pitchFamily="34" charset="-122"/>
        </a:defRPr>
      </a:lvl3pPr>
      <a:lvl4pPr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  <a:ea typeface="微软雅黑" pitchFamily="34" charset="-122"/>
        </a:defRPr>
      </a:lvl4pPr>
      <a:lvl5pPr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  <a:ea typeface="微软雅黑" pitchFamily="34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  <a:ea typeface="微软雅黑" pitchFamily="34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  <a:ea typeface="微软雅黑" pitchFamily="34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  <a:ea typeface="微软雅黑" pitchFamily="34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  <a:ea typeface="微软雅黑" pitchFamily="34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网络安全数学基础</a:t>
            </a:r>
            <a:r>
              <a:rPr lang="en-US" altLang="zh-CN" dirty="0"/>
              <a:t>(</a:t>
            </a:r>
            <a:r>
              <a:rPr lang="zh-CN" altLang="en-US" dirty="0"/>
              <a:t>二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sz="2400" dirty="0"/>
              <a:t>沈佳辰</a:t>
            </a:r>
            <a:endParaRPr lang="en-US" altLang="zh-CN" sz="2400" dirty="0"/>
          </a:p>
          <a:p>
            <a:r>
              <a:rPr lang="en-US" altLang="zh-CN" sz="2400" dirty="0"/>
              <a:t>jcshen@sei.ecnu.edu.cn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814851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2060848"/>
            <a:ext cx="8208143" cy="2304256"/>
          </a:xfrm>
        </p:spPr>
        <p:txBody>
          <a:bodyPr/>
          <a:lstStyle/>
          <a:p>
            <a:r>
              <a:rPr lang="zh-CN" altLang="en-US" dirty="0"/>
              <a:t>网络安全数学基础</a:t>
            </a:r>
            <a:br>
              <a:rPr lang="en-US" altLang="zh-CN" dirty="0"/>
            </a:br>
            <a:br>
              <a:rPr lang="en-US" altLang="zh-CN" dirty="0"/>
            </a:br>
            <a:r>
              <a:rPr lang="zh-CN" altLang="en-US" dirty="0"/>
              <a:t>第六章 群</a:t>
            </a:r>
          </a:p>
        </p:txBody>
      </p:sp>
    </p:spTree>
    <p:extLst>
      <p:ext uri="{BB962C8B-B14F-4D97-AF65-F5344CB8AC3E}">
        <p14:creationId xmlns:p14="http://schemas.microsoft.com/office/powerpoint/2010/main" val="160942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整数集合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是一个带加法、减法、乘法、除法的集合，但它仅对加法、减法和乘法封闭。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阶方阵集合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是一个带加法和乘法的集合，且对加法和乘法都封闭。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近世代数（抽象代数）的研究对象</a:t>
                </a:r>
                <a:r>
                  <a:rPr lang="zh-CN" altLang="en-US" sz="240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为代数集合，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即带</a:t>
                </a:r>
                <a:r>
                  <a:rPr lang="zh-CN" altLang="en-US" sz="240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运算的非空集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合。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2"/>
                <a:stretch>
                  <a:fillRect l="-1037" t="-1741" r="-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5085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3" name="Group 4"/>
          <p:cNvGrpSpPr>
            <a:grpSpLocks/>
          </p:cNvGrpSpPr>
          <p:nvPr/>
        </p:nvGrpSpPr>
        <p:grpSpPr bwMode="auto">
          <a:xfrm>
            <a:off x="-558800" y="-207963"/>
            <a:ext cx="9702800" cy="6532563"/>
            <a:chOff x="2113" y="7836"/>
            <a:chExt cx="9000" cy="5868"/>
          </a:xfrm>
        </p:grpSpPr>
        <p:sp>
          <p:nvSpPr>
            <p:cNvPr id="1610757" name="Oval 5"/>
            <p:cNvSpPr>
              <a:spLocks noChangeArrowheads="1"/>
            </p:cNvSpPr>
            <p:nvPr/>
          </p:nvSpPr>
          <p:spPr bwMode="auto">
            <a:xfrm>
              <a:off x="3192" y="8304"/>
              <a:ext cx="7561" cy="540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0" hangingPunct="0">
                <a:buFontTx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</a:endParaRPr>
            </a:p>
          </p:txBody>
        </p:sp>
        <p:sp>
          <p:nvSpPr>
            <p:cNvPr id="1610758" name="Oval 6"/>
            <p:cNvSpPr>
              <a:spLocks noChangeArrowheads="1"/>
            </p:cNvSpPr>
            <p:nvPr/>
          </p:nvSpPr>
          <p:spPr bwMode="auto">
            <a:xfrm>
              <a:off x="3373" y="8616"/>
              <a:ext cx="6840" cy="468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0" hangingPunct="0">
                <a:buFontTx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</a:endParaRPr>
            </a:p>
          </p:txBody>
        </p:sp>
        <p:sp>
          <p:nvSpPr>
            <p:cNvPr id="1610759" name="Oval 7"/>
            <p:cNvSpPr>
              <a:spLocks noChangeArrowheads="1"/>
            </p:cNvSpPr>
            <p:nvPr/>
          </p:nvSpPr>
          <p:spPr bwMode="auto">
            <a:xfrm>
              <a:off x="3553" y="8928"/>
              <a:ext cx="6120" cy="4056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0" hangingPunct="0">
                <a:buFontTx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</a:endParaRPr>
            </a:p>
          </p:txBody>
        </p:sp>
        <p:sp>
          <p:nvSpPr>
            <p:cNvPr id="1610760" name="Oval 8"/>
            <p:cNvSpPr>
              <a:spLocks noChangeArrowheads="1"/>
            </p:cNvSpPr>
            <p:nvPr/>
          </p:nvSpPr>
          <p:spPr bwMode="auto">
            <a:xfrm>
              <a:off x="3733" y="9241"/>
              <a:ext cx="4680" cy="3431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0" hangingPunct="0">
                <a:buFontTx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</a:endParaRPr>
            </a:p>
          </p:txBody>
        </p:sp>
        <p:sp>
          <p:nvSpPr>
            <p:cNvPr id="1610761" name="Oval 9"/>
            <p:cNvSpPr>
              <a:spLocks noChangeArrowheads="1"/>
            </p:cNvSpPr>
            <p:nvPr/>
          </p:nvSpPr>
          <p:spPr bwMode="auto">
            <a:xfrm>
              <a:off x="4993" y="9396"/>
              <a:ext cx="2160" cy="234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0" hangingPunct="0">
                <a:buFontTx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</a:endParaRPr>
            </a:p>
          </p:txBody>
        </p:sp>
        <p:sp>
          <p:nvSpPr>
            <p:cNvPr id="1610762" name="Oval 10"/>
            <p:cNvSpPr>
              <a:spLocks noChangeArrowheads="1"/>
            </p:cNvSpPr>
            <p:nvPr/>
          </p:nvSpPr>
          <p:spPr bwMode="auto">
            <a:xfrm>
              <a:off x="5713" y="10176"/>
              <a:ext cx="2160" cy="218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0" hangingPunct="0">
                <a:buFontTx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</a:endParaRPr>
            </a:p>
          </p:txBody>
        </p:sp>
        <p:sp>
          <p:nvSpPr>
            <p:cNvPr id="1610763" name="Oval 11"/>
            <p:cNvSpPr>
              <a:spLocks noChangeArrowheads="1"/>
            </p:cNvSpPr>
            <p:nvPr/>
          </p:nvSpPr>
          <p:spPr bwMode="auto">
            <a:xfrm>
              <a:off x="4453" y="10176"/>
              <a:ext cx="2160" cy="218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0" hangingPunct="0">
                <a:buFontTx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</a:endParaRPr>
            </a:p>
          </p:txBody>
        </p:sp>
        <p:sp>
          <p:nvSpPr>
            <p:cNvPr id="1610764" name="Oval 12"/>
            <p:cNvSpPr>
              <a:spLocks noChangeArrowheads="1"/>
            </p:cNvSpPr>
            <p:nvPr/>
          </p:nvSpPr>
          <p:spPr bwMode="auto">
            <a:xfrm>
              <a:off x="5893" y="10801"/>
              <a:ext cx="540" cy="53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0" hangingPunct="0">
                <a:buFontTx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</a:endParaRPr>
            </a:p>
          </p:txBody>
        </p:sp>
        <p:sp>
          <p:nvSpPr>
            <p:cNvPr id="8202" name="Text Box 13"/>
            <p:cNvSpPr txBox="1">
              <a:spLocks noChangeArrowheads="1"/>
            </p:cNvSpPr>
            <p:nvPr/>
          </p:nvSpPr>
          <p:spPr bwMode="auto">
            <a:xfrm>
              <a:off x="2113" y="7836"/>
              <a:ext cx="9000" cy="56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lang="zh-CN" altLang="en-US" sz="2400" i="0" dirty="0">
                  <a:latin typeface="Times New Roman" pitchFamily="18" charset="0"/>
                  <a:ea typeface="宋体" pitchFamily="2" charset="-122"/>
                </a:rPr>
                <a:t> </a:t>
              </a:r>
            </a:p>
            <a:p>
              <a:pPr algn="just" eaLnBrk="0" hangingPunct="0"/>
              <a:r>
                <a:rPr lang="zh-CN" altLang="en-US" sz="2400" i="0" dirty="0">
                  <a:latin typeface="Times New Roman" pitchFamily="18" charset="0"/>
                  <a:ea typeface="宋体" pitchFamily="2" charset="-122"/>
                </a:rPr>
                <a:t> </a:t>
              </a:r>
            </a:p>
            <a:p>
              <a:pPr algn="just" eaLnBrk="0" hangingPunct="0"/>
              <a:r>
                <a:rPr lang="zh-CN" altLang="en-US" sz="2400" i="0" dirty="0">
                  <a:latin typeface="Times New Roman" pitchFamily="18" charset="0"/>
                  <a:ea typeface="宋体" pitchFamily="2" charset="-122"/>
                </a:rPr>
                <a:t> </a:t>
              </a:r>
            </a:p>
            <a:p>
              <a:pPr algn="just" eaLnBrk="0" hangingPunct="0"/>
              <a:r>
                <a:rPr lang="zh-CN" altLang="en-US" sz="2400" i="0" dirty="0">
                  <a:latin typeface="Times New Roman" pitchFamily="18" charset="0"/>
                  <a:ea typeface="宋体" pitchFamily="2" charset="-122"/>
                </a:rPr>
                <a:t> </a:t>
              </a:r>
            </a:p>
            <a:p>
              <a:pPr algn="just" eaLnBrk="0" hangingPunct="0"/>
              <a:r>
                <a:rPr lang="zh-CN" altLang="en-US" sz="2400" i="0" dirty="0">
                  <a:latin typeface="Times New Roman" pitchFamily="18" charset="0"/>
                  <a:ea typeface="宋体" pitchFamily="2" charset="-122"/>
                </a:rPr>
                <a:t> </a:t>
              </a:r>
            </a:p>
            <a:p>
              <a:pPr algn="just" eaLnBrk="0" hangingPunct="0"/>
              <a:endParaRPr lang="zh-CN" altLang="en-US" sz="2400" i="0" dirty="0">
                <a:latin typeface="Times New Roman" pitchFamily="18" charset="0"/>
                <a:ea typeface="宋体" pitchFamily="2" charset="-122"/>
              </a:endParaRPr>
            </a:p>
            <a:p>
              <a:pPr algn="just" eaLnBrk="0" hangingPunct="0"/>
              <a:r>
                <a:rPr lang="zh-CN" altLang="en-US" sz="2400" i="0" dirty="0">
                  <a:latin typeface="Times New Roman" pitchFamily="18" charset="0"/>
                  <a:ea typeface="宋体" pitchFamily="2" charset="-122"/>
                </a:rPr>
                <a:t>                                            无零因子环</a:t>
              </a:r>
            </a:p>
            <a:p>
              <a:pPr algn="ctr" eaLnBrk="0" hangingPunct="0"/>
              <a:r>
                <a:rPr lang="zh-CN" altLang="en-US" sz="2400" i="0" dirty="0">
                  <a:latin typeface="Times New Roman" pitchFamily="18" charset="0"/>
                  <a:ea typeface="宋体" pitchFamily="2" charset="-122"/>
                </a:rPr>
                <a:t>                                  环</a:t>
              </a:r>
            </a:p>
            <a:p>
              <a:pPr algn="just" eaLnBrk="0" hangingPunct="0"/>
              <a:r>
                <a:rPr lang="zh-CN" altLang="en-US" sz="1000" i="0" dirty="0">
                  <a:latin typeface="Times New Roman" pitchFamily="18" charset="0"/>
                  <a:ea typeface="宋体" pitchFamily="2" charset="-122"/>
                </a:rPr>
                <a:t> </a:t>
              </a:r>
            </a:p>
            <a:p>
              <a:pPr algn="just" eaLnBrk="0" hangingPunct="0"/>
              <a:r>
                <a:rPr lang="zh-CN" altLang="en-US" sz="2400" i="0" dirty="0">
                  <a:latin typeface="Times New Roman" pitchFamily="18" charset="0"/>
                  <a:ea typeface="宋体" pitchFamily="2" charset="-122"/>
                </a:rPr>
                <a:t> </a:t>
              </a:r>
            </a:p>
            <a:p>
              <a:pPr algn="just" eaLnBrk="0" hangingPunct="0"/>
              <a:r>
                <a:rPr lang="zh-CN" altLang="en-US" sz="2400" i="0" dirty="0">
                  <a:latin typeface="Times New Roman" pitchFamily="18" charset="0"/>
                  <a:ea typeface="宋体" pitchFamily="2" charset="-122"/>
                </a:rPr>
                <a:t>                                                      域                               阿贝尔群   群  半群</a:t>
              </a:r>
            </a:p>
            <a:p>
              <a:pPr algn="just" eaLnBrk="0" hangingPunct="0"/>
              <a:endParaRPr lang="zh-CN" altLang="en-US" sz="800" i="0" dirty="0">
                <a:latin typeface="Times New Roman" pitchFamily="18" charset="0"/>
                <a:ea typeface="宋体" pitchFamily="2" charset="-122"/>
              </a:endParaRPr>
            </a:p>
            <a:p>
              <a:pPr algn="just" eaLnBrk="0" hangingPunct="0"/>
              <a:r>
                <a:rPr lang="zh-CN" altLang="en-US" sz="2400" i="0" dirty="0">
                  <a:latin typeface="Times New Roman" pitchFamily="18" charset="0"/>
                  <a:ea typeface="宋体" pitchFamily="2" charset="-122"/>
                </a:rPr>
                <a:t>                                                     整环</a:t>
              </a:r>
            </a:p>
            <a:p>
              <a:pPr algn="just" eaLnBrk="0" hangingPunct="0"/>
              <a:r>
                <a:rPr lang="zh-CN" altLang="en-US" sz="2400" i="0" dirty="0">
                  <a:latin typeface="Times New Roman" pitchFamily="18" charset="0"/>
                  <a:ea typeface="宋体" pitchFamily="2" charset="-122"/>
                </a:rPr>
                <a:t>                                       交换环          含幺环 </a:t>
              </a:r>
            </a:p>
            <a:p>
              <a:pPr eaLnBrk="0" hangingPunct="0"/>
              <a:endParaRPr lang="zh-CN" altLang="en-US" sz="2400" i="0" dirty="0">
                <a:latin typeface="宋体" pitchFamily="2" charset="-122"/>
                <a:ea typeface="宋体" pitchFamily="2" charset="-122"/>
              </a:endParaRPr>
            </a:p>
          </p:txBody>
        </p:sp>
      </p:grpSp>
      <p:sp>
        <p:nvSpPr>
          <p:cNvPr id="82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16513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§6.1 </a:t>
            </a:r>
            <a:r>
              <a:rPr lang="zh-CN" altLang="en-US" dirty="0"/>
              <a:t>半群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定义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6.1.1 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若干个（有限或无限）事物的全体称为</a:t>
                </a:r>
                <a:r>
                  <a:rPr lang="zh-CN" altLang="en-US" sz="24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集合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；这些事物称为这个集合的</a:t>
                </a:r>
                <a:r>
                  <a:rPr lang="zh-CN" altLang="en-US" sz="24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元素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𝑍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={0,±1,±2,…}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是全体整数的集合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 </a:t>
                </a:r>
                <a14:m>
                  <m:oMath xmlns:m="http://schemas.openxmlformats.org/officeDocument/2006/math">
                    <m:r>
                      <a:rPr lang="zh-CN" altLang="en-US" sz="2400" i="1" smtClean="0">
                        <a:latin typeface="Cambria Math"/>
                        <a:ea typeface="Cambria Math" panose="02040503050406030204" pitchFamily="18" charset="0"/>
                      </a:rPr>
                      <m:t>𝜙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={}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是一个不包含任何元素的集合，称为空集。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2"/>
                <a:stretch>
                  <a:fillRect l="-1037" t="-1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5085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844824"/>
                <a:ext cx="8229600" cy="4464496"/>
              </a:xfrm>
            </p:spPr>
            <p:txBody>
              <a:bodyPr/>
              <a:lstStyle/>
              <a:p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定义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6.1.2 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是两个非空集合，如果存在一个法则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，对任意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𝐴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，都存在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中唯一元素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与之对应，那么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称为集合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/>
                      </a:rPr>
                      <m:t>𝐴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</a:t>
                </a:r>
                <a:r>
                  <a:rPr lang="zh-CN" altLang="en-US" sz="24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映射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或</a:t>
                </a:r>
                <a:r>
                  <a:rPr lang="zh-CN" altLang="en-US" sz="24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函数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，记作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: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称为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的定义域，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称为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的值域，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称为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的像，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称为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的原像。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 函数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=2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是一个从整数集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到实数集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的映射。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注意：</a:t>
                </a:r>
                <a:r>
                  <a:rPr lang="zh-CN" altLang="en-US" sz="2400" dirty="0">
                    <a:ea typeface="Cambria Math" panose="02040503050406030204" pitchFamily="18" charset="0"/>
                  </a:rPr>
                  <a:t>上例中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同时也是从整数集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到有理数集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的映射，也是从整数集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到偶数集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的映射。因为值域不一定等于像集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={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)|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𝐴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}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844824"/>
                <a:ext cx="8229600" cy="4464496"/>
              </a:xfrm>
              <a:blipFill rotWithShape="1">
                <a:blip r:embed="rId2"/>
                <a:stretch>
                  <a:fillRect l="-1037" t="-1503" r="-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4528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定义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6.1.3 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是集合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/>
                      </a:rPr>
                      <m:t>𝐴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的映射，则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是集合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/>
                      </a:rPr>
                      <m:t>𝐴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的单射，如果对任意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𝐴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，都有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≠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𝑓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(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定义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6.1.4 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是集合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/>
                      </a:rPr>
                      <m:t>𝐴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的映射，则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是集合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/>
                      </a:rPr>
                      <m:t>𝐴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的满射，如果对任意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𝐵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，都存在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𝐴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，使得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定义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6.1.5 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映射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称为双射，如果它既是单射又是满射。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2"/>
                <a:stretch>
                  <a:fillRect l="-1037" t="-1741" r="-48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4961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 上例中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是从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的单射，也是从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的双射。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2"/>
                <a:stretch>
                  <a:fillRect l="-1037" t="-1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5415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定义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6.1.6 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个集合，则集合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={(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)|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  <a:ea typeface="Cambria Math"/>
                      </a:rPr>
                      <m:t>∈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  <a:ea typeface="Cambria Math"/>
                      </a:rPr>
                      <m:t>∈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  <a:ea typeface="Cambria Math"/>
                      </a:rPr>
                      <m:t>∈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的笛卡尔积，记作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⋯×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 复数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可以看作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上的二元组，即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，因为存在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的双射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𝑏𝑖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2"/>
                <a:stretch>
                  <a:fillRect l="-1037" t="-1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22109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定义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6.1.7 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如果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是一个非空集合，那么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×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𝑆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的映射叫做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上的</a:t>
                </a:r>
                <a:r>
                  <a:rPr lang="zh-CN" altLang="en-US" sz="24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结合法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或</a:t>
                </a:r>
                <a:r>
                  <a:rPr lang="zh-CN" altLang="en-US" sz="24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运算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。一般我们将这个运算称为乘法，记作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∙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𝑏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或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𝑎𝑏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。而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,∙)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称为一个</a:t>
                </a:r>
                <a:r>
                  <a:rPr lang="zh-CN" altLang="en-US" sz="24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带运算的集合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或</a:t>
                </a:r>
                <a:r>
                  <a:rPr lang="zh-CN" altLang="en-US" sz="24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代数结构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注意：运算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/>
                      </a:rPr>
                      <m:t>∙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上是封闭的，即任意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𝑆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，都有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∙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𝑆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 算数加法是整数集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上的运算，因为它是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×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𝑆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的映射，我们仍然称其为乘法。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2"/>
                <a:stretch>
                  <a:fillRect l="-1037" t="-1741" r="-48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99142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定义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6.1.8 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如果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,∙)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是一个代数结构，那么它是一个</a:t>
                </a:r>
                <a:r>
                  <a:rPr lang="zh-CN" altLang="en-US" sz="24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半群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，如果运算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上满足结合律，即任意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𝑆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，都有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∙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∙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∙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∙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 设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={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上的运算</a:t>
                </a:r>
                <a14:m>
                  <m:oMath xmlns:m="http://schemas.openxmlformats.org/officeDocument/2006/math">
                    <m:r>
                      <a:rPr lang="zh-CN" altLang="en-US" sz="2400" i="1" smtClean="0">
                        <a:latin typeface="Cambria Math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如下表所示，那么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,∙)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是一个半群。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2"/>
                <a:stretch>
                  <a:fillRect l="-1037" t="-1741" r="-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表格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86169300"/>
                  </p:ext>
                </p:extLst>
              </p:nvPr>
            </p:nvGraphicFramePr>
            <p:xfrm>
              <a:off x="1979712" y="4653136"/>
              <a:ext cx="4608000" cy="148336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152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52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152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152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smtClean="0">
                                    <a:latin typeface="Cambria Math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smtClean="0">
                                    <a:latin typeface="Cambria Math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smtClean="0">
                                    <a:latin typeface="Cambria Math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smtClean="0">
                                    <a:latin typeface="Cambria Math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smtClean="0">
                                    <a:latin typeface="Cambria Math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smtClean="0">
                                    <a:latin typeface="Cambria Math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smtClean="0">
                                    <a:latin typeface="Cambria Math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smtClean="0">
                                    <a:latin typeface="Cambria Math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smtClean="0">
                                    <a:latin typeface="Cambria Math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smtClean="0">
                                    <a:latin typeface="Cambria Math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smtClean="0">
                                    <a:latin typeface="Cambria Math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smtClean="0">
                                    <a:latin typeface="Cambria Math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smtClean="0">
                                    <a:latin typeface="Cambria Math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smtClean="0">
                                    <a:latin typeface="Cambria Math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smtClean="0">
                                    <a:latin typeface="Cambria Math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smtClean="0">
                                    <a:latin typeface="Cambria Math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表格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86169300"/>
                  </p:ext>
                </p:extLst>
              </p:nvPr>
            </p:nvGraphicFramePr>
            <p:xfrm>
              <a:off x="1979712" y="4653136"/>
              <a:ext cx="4608000" cy="148336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152000"/>
                    <a:gridCol w="1152000"/>
                    <a:gridCol w="1152000"/>
                    <a:gridCol w="1152000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529" r="-300000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0529" r="-200000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00529" r="-100000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300529" b="-300000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 rotWithShape="1">
                          <a:blip r:embed="rId3"/>
                          <a:stretch>
                            <a:fillRect l="-529" t="-100000" r="-30000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 rotWithShape="1">
                          <a:blip r:embed="rId3"/>
                          <a:stretch>
                            <a:fillRect l="-100529" t="-100000" r="-20000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 rotWithShape="1">
                          <a:blip r:embed="rId3"/>
                          <a:stretch>
                            <a:fillRect l="-200529" t="-100000" r="-10000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 rotWithShape="1">
                          <a:blip r:embed="rId3"/>
                          <a:stretch>
                            <a:fillRect l="-300529" t="-100000" b="-200000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 rotWithShape="1">
                          <a:blip r:embed="rId3"/>
                          <a:stretch>
                            <a:fillRect l="-529" t="-200000" r="-300000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 rotWithShape="1">
                          <a:blip r:embed="rId3"/>
                          <a:stretch>
                            <a:fillRect l="-100529" t="-200000" r="-200000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200529" t="-200000" r="-100000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300529" t="-200000" b="-100000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 rotWithShape="1">
                          <a:blip r:embed="rId3"/>
                          <a:stretch>
                            <a:fillRect l="-529" t="-300000" r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 rotWithShape="1">
                          <a:blip r:embed="rId3"/>
                          <a:stretch>
                            <a:fillRect l="-100529" t="-300000" r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200529" t="-300000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300529" t="-300000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550319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定义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6.1.9 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,∙)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是一个代数结构，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𝑒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𝑆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，那么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/>
                      </a:rPr>
                      <m:t>𝑆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</a:t>
                </a:r>
                <a:r>
                  <a:rPr lang="zh-CN" altLang="en-US" sz="24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左单位元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，如果对任意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𝑆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，都有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𝑒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∙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𝑎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𝑎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定义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6.1.10 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,∙)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是一个代数结构，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𝑒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𝑆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，那么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/>
                      </a:rPr>
                      <m:t>𝑆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</a:t>
                </a:r>
                <a:r>
                  <a:rPr lang="zh-CN" altLang="en-US" sz="24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右单位元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，如果对任意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𝑆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，都有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∙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𝑒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=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𝑎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定义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6.1.11 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,∙)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是一个代数结构，称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𝑒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𝑆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是它的</a:t>
                </a:r>
                <a:r>
                  <a:rPr lang="zh-CN" altLang="en-US" sz="24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单位元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，如果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既是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/>
                      </a:rPr>
                      <m:t>𝑆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的左单位元，又是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/>
                      </a:rPr>
                      <m:t>𝑆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的右单位元。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2"/>
                <a:stretch>
                  <a:fillRect l="-1037" t="-1741" r="-4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5625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 设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𝑍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×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𝑍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，对任意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240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，定义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2400" i="1" smtClean="0">
                        <a:latin typeface="Cambria Math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latin typeface="Cambria Math"/>
                        <a:ea typeface="Cambria Math" panose="02040503050406030204" pitchFamily="18" charset="0"/>
                      </a:rPr>
                      <m:t>(0,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都是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,∙)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的左单位元 ，其中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𝑍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2"/>
                <a:stretch>
                  <a:fillRect l="-1037" t="-1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99600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276474"/>
                <a:ext cx="8229600" cy="4176861"/>
              </a:xfrm>
            </p:spPr>
            <p:txBody>
              <a:bodyPr/>
              <a:lstStyle/>
              <a:p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定理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6.1.1 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,∙)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是一个代数结构，如果它既有左单位元又有右单位元，那么两者相等。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证明：设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,∙)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的左单位元，</a:t>
                </a:r>
                <a:r>
                  <a:rPr lang="en-US" altLang="zh-CN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,∙)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的右单位元，则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推论 如果代数结构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,∙)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有单位元，则其唯一。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上例不可能有右单位元，因为它有多个左单位元。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276474"/>
                <a:ext cx="8229600" cy="4176861"/>
              </a:xfrm>
              <a:blipFill rotWithShape="1">
                <a:blip r:embed="rId2"/>
                <a:stretch>
                  <a:fillRect l="-1111" t="-1603" r="-5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95387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定义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6.1.12 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,∙)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是一个代数结构，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𝑒</m:t>
                    </m:r>
                    <m:r>
                      <m:rPr>
                        <m:nor/>
                      </m:rPr>
                      <a:rPr lang="zh-CN" altLang="en-US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为其单位元，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𝑆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，那么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/>
                      </a:rPr>
                      <m:t>𝑎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</a:t>
                </a:r>
                <a:r>
                  <a:rPr lang="zh-CN" altLang="en-US" sz="24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左逆元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，如果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′∙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𝑎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=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𝑒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定义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6.1.13 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,∙)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是一个代数结构，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𝑒</m:t>
                    </m:r>
                    <m:r>
                      <m:rPr>
                        <m:nor/>
                      </m:rPr>
                      <a:rPr lang="zh-CN" altLang="en-US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为其单位元，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𝑆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，那么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/>
                      </a:rPr>
                      <m:t>𝑎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</a:t>
                </a:r>
                <a:r>
                  <a:rPr lang="zh-CN" altLang="en-US" sz="24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右逆元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，如果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𝑎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′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=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𝑒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定义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6.1.14 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,∙)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是一个代数结构，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𝑒</m:t>
                    </m:r>
                    <m:r>
                      <m:rPr>
                        <m:nor/>
                      </m:rPr>
                      <a:rPr lang="zh-CN" altLang="en-US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为其单位元，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𝑆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，那么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/>
                      </a:rPr>
                      <m:t>𝑎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</a:t>
                </a:r>
                <a:r>
                  <a:rPr lang="zh-CN" altLang="en-US" sz="24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逆元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或</a:t>
                </a:r>
                <a:r>
                  <a:rPr lang="zh-CN" altLang="en-US" sz="24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逆（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记作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），如果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既是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/>
                      </a:rPr>
                      <m:t>𝑎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的左逆元，又是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/>
                      </a:rPr>
                      <m:t>𝑎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的右逆元。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2"/>
                <a:stretch>
                  <a:fillRect l="-1037" t="-1741" r="-48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63995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276474"/>
                <a:ext cx="8229600" cy="4176861"/>
              </a:xfrm>
            </p:spPr>
            <p:txBody>
              <a:bodyPr/>
              <a:lstStyle/>
              <a:p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定理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6.1.2 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,∙)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是一个代数结构，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𝑒</m:t>
                    </m:r>
                    <m:r>
                      <m:rPr>
                        <m:nor/>
                      </m:rPr>
                      <a:rPr lang="zh-CN" altLang="en-US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为其单位元，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𝑆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，如果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既有左逆元又有右逆元，那么两者相等。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证明：设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的左逆元，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′′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的右逆元，则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𝑒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𝑒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′′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推论 如果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有逆，则其唯一。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276474"/>
                <a:ext cx="8229600" cy="4176861"/>
              </a:xfrm>
              <a:blipFill rotWithShape="1">
                <a:blip r:embed="rId2"/>
                <a:stretch>
                  <a:fillRect l="-1111" t="-16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66939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定义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6.1.15 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称半群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,∙)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是一个</a:t>
                </a:r>
                <a:r>
                  <a:rPr lang="zh-CN" altLang="en-US" sz="24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群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，如果它有单位元，且对任意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𝐴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，都存在它的逆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−1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𝑆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。一般用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,∙)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或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表示一个群，它的元素个数称为它的阶，记为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如果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,∙)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是一个群，那么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关于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满足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(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封闭性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结合律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𝑖𝑖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含单位元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所有元素都可逆（可逆性）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2"/>
                <a:stretch>
                  <a:fillRect l="-1037" t="-1741" b="-28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45160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定义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6.1.16 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称群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,∙)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是一个</a:t>
                </a:r>
                <a:r>
                  <a:rPr lang="zh-CN" altLang="en-US" sz="24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交换群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或</a:t>
                </a:r>
                <a:r>
                  <a:rPr lang="en-US" altLang="zh-CN" sz="24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Abel</a:t>
                </a:r>
                <a:r>
                  <a:rPr lang="zh-CN" altLang="en-US" sz="24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群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，如果它满足交换律，即对任意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𝐺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，都有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∙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𝑏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=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𝑏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∙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𝑎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 设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={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𝑒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上乘法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定义为：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𝑒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∙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𝑒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𝑒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,∙)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是一个群且是一个交换群。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2"/>
                <a:stretch>
                  <a:fillRect l="-1037" t="-1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31276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276474"/>
                <a:ext cx="8229600" cy="4176861"/>
              </a:xfrm>
            </p:spPr>
            <p:txBody>
              <a:bodyPr/>
              <a:lstStyle/>
              <a:p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 整数集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关于加法，即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𝑍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是一个群，也是一个交换群，因为整数集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关于加法满足封闭性、结合律、交换律、含单位元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0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，且对每个整数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，都存在它的逆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𝑍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 但是整数集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关于乘法，即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𝑍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,×)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不是一个群，它只是一个半群（含幺半群），因为整数集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关于加法满足封闭性、结合律、含单位元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，但除了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/>
                        <a:ea typeface="Cambria Math"/>
                      </a:rPr>
                      <m:t>±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1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之外，所有元素都不可逆。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276474"/>
                <a:ext cx="8229600" cy="4176861"/>
              </a:xfrm>
              <a:blipFill rotWithShape="1">
                <a:blip r:embed="rId2"/>
                <a:stretch>
                  <a:fillRect l="-1037" t="-1603" r="-48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48675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276474"/>
                <a:ext cx="8229600" cy="4176861"/>
              </a:xfrm>
            </p:spPr>
            <p:txBody>
              <a:bodyPr/>
              <a:lstStyle/>
              <a:p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 令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𝑍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/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𝑛𝑍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0,1,2,…,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，定义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𝑍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/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𝑛𝑍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上运算</a:t>
                </a:r>
                <a14:m>
                  <m:oMath xmlns:m="http://schemas.openxmlformats.org/officeDocument/2006/math">
                    <m:r>
                      <a:rPr lang="zh-CN" altLang="en-US" sz="2400" i="1" smtClean="0">
                        <a:latin typeface="Cambria Math"/>
                        <a:ea typeface="Cambria Math" panose="02040503050406030204" pitchFamily="18" charset="0"/>
                      </a:rPr>
                      <m:t>⨁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⨁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𝑏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𝑎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+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𝑏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 (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𝑚𝑜𝑑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𝑛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𝑍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/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𝑛𝑍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⨁)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构成一个群。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 定义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𝑍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/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𝑛𝑍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\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上运算</a:t>
                </a:r>
                <a14:m>
                  <m:oMath xmlns:m="http://schemas.openxmlformats.org/officeDocument/2006/math">
                    <m:r>
                      <a:rPr lang="zh-CN" altLang="en-US" sz="2400" i="1" smtClean="0">
                        <a:latin typeface="Cambria Math"/>
                        <a:ea typeface="Cambria Math" panose="02040503050406030204" pitchFamily="18" charset="0"/>
                      </a:rPr>
                      <m:t>⨂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zh-CN" altLang="en-US" sz="2400" i="1">
                        <a:latin typeface="Cambria Math"/>
                        <a:ea typeface="Cambria Math" panose="02040503050406030204" pitchFamily="18" charset="0"/>
                      </a:rPr>
                      <m:t>⨂</m:t>
                    </m:r>
                    <m:r>
                      <a:rPr lang="en-US" altLang="zh-CN" sz="2400" i="1" dirty="0">
                        <a:latin typeface="Cambria Math"/>
                        <a:ea typeface="Cambria Math"/>
                      </a:rPr>
                      <m:t>𝑏</m:t>
                    </m:r>
                    <m:r>
                      <a:rPr lang="en-US" altLang="zh-CN" sz="2400" i="1" dirty="0">
                        <a:latin typeface="Cambria Math"/>
                        <a:ea typeface="Cambria Math"/>
                      </a:rPr>
                      <m:t>=</m:t>
                    </m:r>
                    <m:r>
                      <a:rPr lang="en-US" altLang="zh-CN" sz="2400" i="1" dirty="0">
                        <a:latin typeface="Cambria Math"/>
                        <a:ea typeface="Cambria Math"/>
                      </a:rPr>
                      <m:t>𝑎𝑏</m:t>
                    </m:r>
                    <m:r>
                      <a:rPr lang="en-US" altLang="zh-CN" sz="2400" i="1" dirty="0">
                        <a:latin typeface="Cambria Math"/>
                        <a:ea typeface="Cambria Math"/>
                      </a:rPr>
                      <m:t> (</m:t>
                    </m:r>
                    <m:r>
                      <a:rPr lang="en-US" altLang="zh-CN" sz="2400" i="1" dirty="0">
                        <a:latin typeface="Cambria Math"/>
                        <a:ea typeface="Cambria Math"/>
                      </a:rPr>
                      <m:t>𝑚𝑜𝑑</m:t>
                    </m:r>
                    <m:r>
                      <a:rPr lang="en-US" altLang="zh-CN" sz="2400" i="1" dirty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altLang="zh-CN" sz="2400" i="1" dirty="0">
                        <a:latin typeface="Cambria Math"/>
                        <a:ea typeface="Cambria Math"/>
                      </a:rPr>
                      <m:t>𝑛</m:t>
                    </m:r>
                    <m:r>
                      <a:rPr lang="en-US" altLang="zh-CN" sz="2400" i="1" dirty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，其中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，则当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为素数时，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𝑍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/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𝑛𝑍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\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zh-CN" altLang="en-US" sz="2400" i="1">
                        <a:latin typeface="Cambria Math"/>
                        <a:ea typeface="Cambria Math" panose="02040503050406030204" pitchFamily="18" charset="0"/>
                      </a:rPr>
                      <m:t>⨂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构成一个群。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276474"/>
                <a:ext cx="8229600" cy="4176861"/>
              </a:xfrm>
              <a:blipFill rotWithShape="1">
                <a:blip r:embed="rId2"/>
                <a:stretch>
                  <a:fillRect l="-1037" t="-16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11357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276474"/>
            <a:ext cx="8229600" cy="4176861"/>
          </a:xfrm>
        </p:spPr>
        <p:txBody>
          <a:bodyPr/>
          <a:lstStyle/>
          <a:p>
            <a:pPr marL="0" indent="0">
              <a:buNone/>
            </a:pPr>
            <a:endParaRPr lang="en-US" altLang="zh-CN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US" altLang="zh-CN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表格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11930543"/>
                  </p:ext>
                </p:extLst>
              </p:nvPr>
            </p:nvGraphicFramePr>
            <p:xfrm>
              <a:off x="1547664" y="2924944"/>
              <a:ext cx="6095999" cy="26822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085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7085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7085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87085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870857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870857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870857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kumimoji="0" lang="zh-CN" altLang="en-US" sz="24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Cambria Math" panose="02040503050406030204" pitchFamily="18" charset="0"/>
                                    <a:cs typeface="+mn-cs"/>
                                  </a:rPr>
                                  <m:t>⨂</m:t>
                                </m:r>
                              </m:oMath>
                            </m:oMathPara>
                          </a14:m>
                          <a:endParaRPr lang="zh-CN" altLang="en-US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CN" sz="1800" b="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  <a:endParaRPr lang="zh-CN" altLang="en-US" sz="18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CN" sz="1800" b="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</a:t>
                          </a:r>
                          <a:endParaRPr lang="zh-CN" altLang="en-US" sz="18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CN" sz="1800" b="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3</a:t>
                          </a:r>
                          <a:endParaRPr lang="zh-CN" altLang="en-US" sz="18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CN" sz="1800" b="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4</a:t>
                          </a:r>
                          <a:endParaRPr lang="zh-CN" altLang="en-US" sz="18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CN" sz="1800" b="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5</a:t>
                          </a:r>
                          <a:endParaRPr lang="zh-CN" altLang="en-US" sz="18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CN" sz="1800" b="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6</a:t>
                          </a:r>
                          <a:endParaRPr lang="zh-CN" altLang="en-US" sz="18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2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3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4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5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6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2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2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4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6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3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5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3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3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6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2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5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4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4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4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5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2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6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3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5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5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3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6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4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2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6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6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5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4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3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2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表格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11930543"/>
                  </p:ext>
                </p:extLst>
              </p:nvPr>
            </p:nvGraphicFramePr>
            <p:xfrm>
              <a:off x="1547664" y="2924944"/>
              <a:ext cx="6095999" cy="26822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0857"/>
                    <a:gridCol w="870857"/>
                    <a:gridCol w="870857"/>
                    <a:gridCol w="870857"/>
                    <a:gridCol w="870857"/>
                    <a:gridCol w="870857"/>
                    <a:gridCol w="870857"/>
                  </a:tblGrid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699" t="-1333" r="-599301" b="-5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CN" sz="1800" b="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  <a:endParaRPr lang="zh-CN" altLang="en-US" sz="18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CN" sz="1800" b="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</a:t>
                          </a:r>
                          <a:endParaRPr lang="zh-CN" altLang="en-US" sz="18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CN" sz="1800" b="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3</a:t>
                          </a:r>
                          <a:endParaRPr lang="zh-CN" altLang="en-US" sz="18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CN" sz="1800" b="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4</a:t>
                          </a:r>
                          <a:endParaRPr lang="zh-CN" altLang="en-US" sz="18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CN" sz="1800" b="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5</a:t>
                          </a:r>
                          <a:endParaRPr lang="zh-CN" altLang="en-US" sz="18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CN" sz="1800" b="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6</a:t>
                          </a:r>
                          <a:endParaRPr lang="zh-CN" altLang="en-US" sz="18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1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1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2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3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4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5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6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2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2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4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6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1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3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5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3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3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6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2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5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1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4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4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4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1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5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2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6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3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5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5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3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1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6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4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2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6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6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5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4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3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2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1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3635896" y="2276872"/>
                <a:ext cx="216770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latin typeface="Cambria Math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i="1" smtClean="0">
                          <a:latin typeface="Cambria Math"/>
                          <a:ea typeface="Cambria Math" panose="02040503050406030204" pitchFamily="18" charset="0"/>
                        </a:rPr>
                        <m:t>𝑍</m:t>
                      </m:r>
                      <m:r>
                        <a:rPr lang="en-US" altLang="zh-CN" sz="2400" i="1" smtClean="0">
                          <a:latin typeface="Cambria Math"/>
                          <a:ea typeface="Cambria Math" panose="02040503050406030204" pitchFamily="18" charset="0"/>
                        </a:rPr>
                        <m:t>/7</m:t>
                      </m:r>
                      <m:r>
                        <a:rPr lang="en-US" altLang="zh-CN" sz="2400" i="1">
                          <a:latin typeface="Cambria Math"/>
                          <a:ea typeface="Cambria Math" panose="02040503050406030204" pitchFamily="18" charset="0"/>
                        </a:rPr>
                        <m:t>𝑍</m:t>
                      </m:r>
                      <m:r>
                        <a:rPr lang="en-US" altLang="zh-CN" sz="2400" i="1">
                          <a:latin typeface="Cambria Math"/>
                          <a:ea typeface="Cambria Math" panose="02040503050406030204" pitchFamily="18" charset="0"/>
                        </a:rPr>
                        <m:t>\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2400" i="1">
                          <a:latin typeface="Cambria Math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zh-CN" altLang="en-US" sz="2400" i="1">
                          <a:latin typeface="Cambria Math"/>
                          <a:ea typeface="Cambria Math" panose="02040503050406030204" pitchFamily="18" charset="0"/>
                        </a:rPr>
                        <m:t>⨂</m:t>
                      </m:r>
                      <m:r>
                        <a:rPr lang="en-US" altLang="zh-CN" sz="2400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5896" y="2276872"/>
                <a:ext cx="2167709" cy="461665"/>
              </a:xfrm>
              <a:prstGeom prst="rect">
                <a:avLst/>
              </a:prstGeom>
              <a:blipFill rotWithShape="1">
                <a:blip r:embed="rId3"/>
                <a:stretch>
                  <a:fillRect r="-281" b="-21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70348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276474"/>
                <a:ext cx="8229600" cy="4176861"/>
              </a:xfrm>
            </p:spPr>
            <p:txBody>
              <a:bodyPr/>
              <a:lstStyle/>
              <a:p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上例中，如果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为合数，则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𝑍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/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𝑛𝑍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\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zh-CN" altLang="en-US" sz="2400" i="1">
                        <a:latin typeface="Cambria Math"/>
                        <a:ea typeface="Cambria Math" panose="02040503050406030204" pitchFamily="18" charset="0"/>
                      </a:rPr>
                      <m:t>⨂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构成一个半群（含幺半群），但不构成群。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证明：这里只证明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𝑍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/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𝑛𝑍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\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zh-CN" altLang="en-US" sz="2400" i="1">
                        <a:latin typeface="Cambria Math"/>
                        <a:ea typeface="Cambria Math" panose="02040503050406030204" pitchFamily="18" charset="0"/>
                      </a:rPr>
                      <m:t>⨂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不是群。因为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是合数，所以存在整数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,1&lt;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，使得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。显然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𝑍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/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𝑛𝑍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\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sz="2400" i="1">
                        <a:latin typeface="Cambria Math"/>
                        <a:ea typeface="Cambria Math" panose="02040503050406030204" pitchFamily="18" charset="0"/>
                      </a:rPr>
                      <m:t>⨂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关于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/>
                        <a:ea typeface="Cambria Math" panose="02040503050406030204" pitchFamily="18" charset="0"/>
                      </a:rPr>
                      <m:t>⨂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不可逆，否则设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为它的逆，在证明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𝑍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/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𝑛𝑍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\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zh-CN" altLang="en-US" sz="2400" i="1">
                        <a:latin typeface="Cambria Math"/>
                        <a:ea typeface="Cambria Math" panose="02040503050406030204" pitchFamily="18" charset="0"/>
                      </a:rPr>
                      <m:t>⨂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是含幺半群的过程中，我们可知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𝑍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/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𝑛𝑍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\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zh-CN" altLang="en-US" sz="2400" i="1">
                        <a:latin typeface="Cambria Math"/>
                        <a:ea typeface="Cambria Math" panose="02040503050406030204" pitchFamily="18" charset="0"/>
                      </a:rPr>
                      <m:t>⨂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的单位元，因此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zh-CN" altLang="en-US" sz="2400" i="1">
                        <a:latin typeface="Cambria Math"/>
                        <a:ea typeface="Cambria Math" panose="02040503050406030204" pitchFamily="18" charset="0"/>
                      </a:rPr>
                      <m:t>⨂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，两边同时右乘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可得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latin typeface="Cambria Math"/>
                        <a:ea typeface="Cambria Math" panose="02040503050406030204" pitchFamily="18" charset="0"/>
                      </a:rPr>
                      <m:t>0=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zh-CN" altLang="en-US" sz="2400" i="1">
                        <a:latin typeface="Cambria Math"/>
                        <a:ea typeface="Cambria Math" panose="02040503050406030204" pitchFamily="18" charset="0"/>
                      </a:rPr>
                      <m:t>⨂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0=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zh-CN" altLang="en-US" sz="2400" i="1">
                        <a:latin typeface="Cambria Math"/>
                        <a:ea typeface="Cambria Math" panose="02040503050406030204" pitchFamily="18" charset="0"/>
                      </a:rPr>
                      <m:t>⨂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sz="2400" i="1">
                        <a:latin typeface="Cambria Math"/>
                        <a:ea typeface="Cambria Math" panose="02040503050406030204" pitchFamily="18" charset="0"/>
                      </a:rPr>
                      <m:t>⨂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=1</m:t>
                    </m:r>
                    <m:r>
                      <a:rPr lang="zh-CN" altLang="en-US" sz="2400" i="1">
                        <a:latin typeface="Cambria Math"/>
                        <a:ea typeface="Cambria Math" panose="02040503050406030204" pitchFamily="18" charset="0"/>
                      </a:rPr>
                      <m:t>⨂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关于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/>
                        <a:ea typeface="Cambria Math" panose="02040503050406030204" pitchFamily="18" charset="0"/>
                      </a:rPr>
                      <m:t>⨂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不可逆，故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𝑍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/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𝑛𝑍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\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zh-CN" altLang="en-US" sz="2400" i="1">
                        <a:latin typeface="Cambria Math"/>
                        <a:ea typeface="Cambria Math" panose="02040503050406030204" pitchFamily="18" charset="0"/>
                      </a:rPr>
                      <m:t>⨂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不是群。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276474"/>
                <a:ext cx="8229600" cy="4176861"/>
              </a:xfrm>
              <a:blipFill rotWithShape="1">
                <a:blip r:embed="rId2"/>
                <a:stretch>
                  <a:fillRect l="-1111" t="-16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34602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276474"/>
                <a:ext cx="8229600" cy="4176861"/>
              </a:xfrm>
            </p:spPr>
            <p:txBody>
              <a:bodyPr/>
              <a:lstStyle/>
              <a:p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上例中，如果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为合数，则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𝑍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/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𝑛𝑍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\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zh-CN" altLang="en-US" sz="2400" i="1">
                        <a:latin typeface="Cambria Math"/>
                        <a:ea typeface="Cambria Math" panose="02040503050406030204" pitchFamily="18" charset="0"/>
                      </a:rPr>
                      <m:t>⨂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构成一个半群（含幺半群），但不构成群。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276474"/>
                <a:ext cx="8229600" cy="4176861"/>
              </a:xfrm>
              <a:blipFill rotWithShape="1">
                <a:blip r:embed="rId2"/>
                <a:stretch>
                  <a:fillRect l="-1037" t="-16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乘号 1"/>
          <p:cNvSpPr/>
          <p:nvPr/>
        </p:nvSpPr>
        <p:spPr>
          <a:xfrm>
            <a:off x="7466235" y="2276872"/>
            <a:ext cx="648072" cy="451318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47800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276474"/>
            <a:ext cx="8229600" cy="4176861"/>
          </a:xfrm>
        </p:spPr>
        <p:txBody>
          <a:bodyPr/>
          <a:lstStyle/>
          <a:p>
            <a:pPr marL="0" indent="0">
              <a:buNone/>
            </a:pPr>
            <a:endParaRPr lang="en-US" altLang="zh-CN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US" altLang="zh-CN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表格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93168576"/>
                  </p:ext>
                </p:extLst>
              </p:nvPr>
            </p:nvGraphicFramePr>
            <p:xfrm>
              <a:off x="1547664" y="2924944"/>
              <a:ext cx="6096000" cy="2311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16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kumimoji="0" lang="zh-CN" altLang="en-US" sz="24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Cambria Math" panose="02040503050406030204" pitchFamily="18" charset="0"/>
                                    <a:cs typeface="+mn-cs"/>
                                  </a:rPr>
                                  <m:t>⨂</m:t>
                                </m:r>
                              </m:oMath>
                            </m:oMathPara>
                          </a14:m>
                          <a:endParaRPr lang="zh-CN" altLang="en-US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CN" sz="1800" b="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  <a:endParaRPr lang="zh-CN" altLang="en-US" sz="18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CN" sz="1800" b="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</a:t>
                          </a:r>
                          <a:endParaRPr lang="zh-CN" altLang="en-US" sz="18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CN" sz="1800" b="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3</a:t>
                          </a:r>
                          <a:endParaRPr lang="zh-CN" altLang="en-US" sz="18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CN" sz="1800" b="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4</a:t>
                          </a:r>
                          <a:endParaRPr lang="zh-CN" altLang="en-US" sz="18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CN" sz="1800" b="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5</a:t>
                          </a:r>
                          <a:endParaRPr lang="zh-CN" altLang="en-US" sz="18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2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3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4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5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2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2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4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2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4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3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3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3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3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4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4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2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4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2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5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5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4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3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2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表格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93168576"/>
                  </p:ext>
                </p:extLst>
              </p:nvPr>
            </p:nvGraphicFramePr>
            <p:xfrm>
              <a:off x="1547664" y="2924944"/>
              <a:ext cx="6096000" cy="2311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16000"/>
                    <a:gridCol w="1016000"/>
                    <a:gridCol w="1016000"/>
                    <a:gridCol w="1016000"/>
                    <a:gridCol w="1016000"/>
                    <a:gridCol w="1016000"/>
                  </a:tblGrid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99" t="-1333" r="-498802" b="-4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CN" sz="1800" b="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  <a:endParaRPr lang="zh-CN" altLang="en-US" sz="18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CN" sz="1800" b="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</a:t>
                          </a:r>
                          <a:endParaRPr lang="zh-CN" altLang="en-US" sz="18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CN" sz="1800" b="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3</a:t>
                          </a:r>
                          <a:endParaRPr lang="zh-CN" altLang="en-US" sz="18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CN" sz="1800" b="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4</a:t>
                          </a:r>
                          <a:endParaRPr lang="zh-CN" altLang="en-US" sz="18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CN" sz="1800" b="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5</a:t>
                          </a:r>
                          <a:endParaRPr lang="zh-CN" altLang="en-US" sz="18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1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1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2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3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4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5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2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2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4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0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2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4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3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3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0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3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0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3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4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4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2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0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4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2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5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5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4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3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2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1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3635896" y="2276872"/>
                <a:ext cx="216770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latin typeface="Cambria Math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i="1" smtClean="0">
                          <a:latin typeface="Cambria Math"/>
                          <a:ea typeface="Cambria Math" panose="02040503050406030204" pitchFamily="18" charset="0"/>
                        </a:rPr>
                        <m:t>𝑍</m:t>
                      </m:r>
                      <m:r>
                        <a:rPr lang="en-US" altLang="zh-CN" sz="2400" i="1" smtClean="0">
                          <a:latin typeface="Cambria Math"/>
                          <a:ea typeface="Cambria Math" panose="02040503050406030204" pitchFamily="18" charset="0"/>
                        </a:rPr>
                        <m:t>/6</m:t>
                      </m:r>
                      <m:r>
                        <a:rPr lang="en-US" altLang="zh-CN" sz="2400" i="1">
                          <a:latin typeface="Cambria Math"/>
                          <a:ea typeface="Cambria Math" panose="02040503050406030204" pitchFamily="18" charset="0"/>
                        </a:rPr>
                        <m:t>𝑍</m:t>
                      </m:r>
                      <m:r>
                        <a:rPr lang="en-US" altLang="zh-CN" sz="2400" i="1">
                          <a:latin typeface="Cambria Math"/>
                          <a:ea typeface="Cambria Math" panose="02040503050406030204" pitchFamily="18" charset="0"/>
                        </a:rPr>
                        <m:t>\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2400" i="1">
                          <a:latin typeface="Cambria Math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zh-CN" altLang="en-US" sz="2400" i="1">
                          <a:latin typeface="Cambria Math"/>
                          <a:ea typeface="Cambria Math" panose="02040503050406030204" pitchFamily="18" charset="0"/>
                        </a:rPr>
                        <m:t>⨂</m:t>
                      </m:r>
                      <m:r>
                        <a:rPr lang="en-US" altLang="zh-CN" sz="2400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5896" y="2276872"/>
                <a:ext cx="2167709" cy="461665"/>
              </a:xfrm>
              <a:prstGeom prst="rect">
                <a:avLst/>
              </a:prstGeom>
              <a:blipFill rotWithShape="1">
                <a:blip r:embed="rId3"/>
                <a:stretch>
                  <a:fillRect r="-281" b="-21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90619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276474"/>
                <a:ext cx="8229600" cy="4176861"/>
              </a:xfrm>
            </p:spPr>
            <p:txBody>
              <a:bodyPr/>
              <a:lstStyle/>
              <a:p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但是，若令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𝑍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𝑛𝑍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表示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𝑍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/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𝑛𝑍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中所有与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互素的数，即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𝑍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𝑛𝑍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∈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𝑍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/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𝑛𝑍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 |</m:t>
                        </m:r>
                        <m:d>
                          <m:d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/>
                                <a:ea typeface="Cambria Math"/>
                              </a:rPr>
                              <m:t>𝑥</m:t>
                            </m:r>
                            <m:r>
                              <a:rPr lang="en-US" altLang="zh-CN" sz="2400" b="0" i="1" smtClean="0">
                                <a:latin typeface="Cambria Math"/>
                                <a:ea typeface="Cambria Math"/>
                              </a:rPr>
                              <m:t>,</m:t>
                            </m:r>
                            <m:r>
                              <a:rPr lang="en-US" altLang="zh-CN" sz="2400" b="0" i="1" smtClean="0">
                                <a:latin typeface="Cambria Math"/>
                                <a:ea typeface="Cambria Math"/>
                              </a:rPr>
                              <m:t>𝑛</m:t>
                            </m:r>
                          </m:e>
                        </m:d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=1</m:t>
                        </m:r>
                      </m:e>
                    </m:d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𝑍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𝑛𝑍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zh-CN" altLang="en-US" sz="2400" i="1">
                        <a:latin typeface="Cambria Math"/>
                        <a:ea typeface="Cambria Math" panose="02040503050406030204" pitchFamily="18" charset="0"/>
                      </a:rPr>
                      <m:t>⨂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构成群。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276474"/>
                <a:ext cx="8229600" cy="4176861"/>
              </a:xfrm>
              <a:blipFill rotWithShape="1">
                <a:blip r:embed="rId2"/>
                <a:stretch>
                  <a:fillRect l="-1037" t="-16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表格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03971587"/>
                  </p:ext>
                </p:extLst>
              </p:nvPr>
            </p:nvGraphicFramePr>
            <p:xfrm>
              <a:off x="2699792" y="4246344"/>
              <a:ext cx="3048000" cy="1198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16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kumimoji="0" lang="zh-CN" altLang="en-US" sz="24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Cambria Math" panose="02040503050406030204" pitchFamily="18" charset="0"/>
                                    <a:cs typeface="+mn-cs"/>
                                  </a:rPr>
                                  <m:t>⨂</m:t>
                                </m:r>
                              </m:oMath>
                            </m:oMathPara>
                          </a14:m>
                          <a:endParaRPr lang="zh-CN" altLang="en-US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CN" sz="1800" b="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  <a:endParaRPr lang="zh-CN" altLang="en-US" sz="18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CN" sz="1800" b="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5</a:t>
                          </a:r>
                          <a:endParaRPr lang="zh-CN" altLang="en-US" sz="18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5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5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5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表格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03971587"/>
                  </p:ext>
                </p:extLst>
              </p:nvPr>
            </p:nvGraphicFramePr>
            <p:xfrm>
              <a:off x="2699792" y="4246344"/>
              <a:ext cx="3048000" cy="1198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16000"/>
                    <a:gridCol w="1016000"/>
                    <a:gridCol w="1016000"/>
                  </a:tblGrid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599" t="-1333" r="-199401" b="-18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CN" sz="1800" b="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  <a:endParaRPr lang="zh-CN" altLang="en-US" sz="18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CN" sz="1800" b="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5</a:t>
                          </a:r>
                          <a:endParaRPr lang="zh-CN" altLang="en-US" sz="18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1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1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5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5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5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1</a:t>
                          </a:r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3347864" y="3573016"/>
                <a:ext cx="173573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latin typeface="Cambria Math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/>
                              <a:ea typeface="Cambria Math" panose="02040503050406030204" pitchFamily="18" charset="0"/>
                            </a:rPr>
                            <m:t>𝑍</m:t>
                          </m:r>
                          <m:r>
                            <a:rPr lang="en-US" altLang="zh-CN" sz="2400" i="1">
                              <a:latin typeface="Cambria Math"/>
                              <a:ea typeface="Cambria Math" panose="02040503050406030204" pitchFamily="18" charset="0"/>
                            </a:rPr>
                            <m:t>/6</m:t>
                          </m:r>
                          <m:r>
                            <a:rPr lang="en-US" altLang="zh-CN" sz="2400" i="1">
                              <a:latin typeface="Cambria Math"/>
                              <a:ea typeface="Cambria Math" panose="02040503050406030204" pitchFamily="18" charset="0"/>
                            </a:rPr>
                            <m:t>𝑍</m:t>
                          </m:r>
                        </m:e>
                        <m:sup>
                          <m:r>
                            <a:rPr lang="en-US" altLang="zh-CN" sz="2400" i="1">
                              <a:latin typeface="Cambria Math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sz="2400" i="1">
                          <a:latin typeface="Cambria Math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zh-CN" altLang="en-US" sz="2400" i="1">
                          <a:latin typeface="Cambria Math"/>
                          <a:ea typeface="Cambria Math" panose="02040503050406030204" pitchFamily="18" charset="0"/>
                        </a:rPr>
                        <m:t>⨂</m:t>
                      </m:r>
                      <m:r>
                        <a:rPr lang="en-US" altLang="zh-CN" sz="2400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7864" y="3573016"/>
                <a:ext cx="1735732" cy="461665"/>
              </a:xfrm>
              <a:prstGeom prst="rect">
                <a:avLst/>
              </a:prstGeom>
              <a:blipFill rotWithShape="1">
                <a:blip r:embed="rId4"/>
                <a:stretch>
                  <a:fillRect r="-351" b="-197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34266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40768"/>
                <a:ext cx="8229600" cy="511256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证明：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封闭性：对任意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∈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𝑍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𝑛𝑍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，有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zh-CN" altLang="en-US" sz="2400" i="1">
                        <a:latin typeface="Cambria Math"/>
                        <a:ea typeface="Cambria Math" panose="02040503050406030204" pitchFamily="18" charset="0"/>
                      </a:rPr>
                      <m:t>⨂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𝑎𝑏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也与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互素，否则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，则存在素数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|(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，故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|(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𝑎𝑏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𝑎𝑏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，因为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为素数，所以有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或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，所以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|(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或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|(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，与假设矛盾。此时有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∈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𝑍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𝑛𝑍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𝑖𝑖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结合律显然成立。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𝑖𝑖𝑖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单位元：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显然是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𝑍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𝑛𝑍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的单位元，且易知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1,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，即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∈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𝑍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𝑛𝑍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𝑖𝑣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可逆性：对任意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∈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𝑍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𝑛𝑍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，有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，由广义欧几里德除法可知存在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′,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′∈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𝑍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，使得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，令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，则存在整数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，使得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𝑘𝑛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𝑠𝑎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𝑘𝑛𝑎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=1−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𝑘𝑛𝑎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≡1 (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𝑛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，且显然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，即存在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的逆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∈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𝑍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𝑛𝑍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，得证。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zh-CN" altLang="en-US" sz="24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40768"/>
                <a:ext cx="8229600" cy="5112568"/>
              </a:xfrm>
              <a:blipFill rotWithShape="1">
                <a:blip r:embed="rId2"/>
                <a:stretch>
                  <a:fillRect l="-1111" t="-1311" r="-4815" b="-14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73205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276474"/>
                <a:ext cx="8229600" cy="4176861"/>
              </a:xfrm>
            </p:spPr>
            <p:txBody>
              <a:bodyPr/>
              <a:lstStyle/>
              <a:p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 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𝐺𝐿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b="1" i="1" smtClean="0">
                        <a:latin typeface="Cambria Math"/>
                        <a:ea typeface="Cambria Math" panose="02040503050406030204" pitchFamily="18" charset="0"/>
                      </a:rPr>
                      <m:t>𝑲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表示域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latin typeface="Cambria Math"/>
                        <a:ea typeface="Cambria Math" panose="02040503050406030204" pitchFamily="18" charset="0"/>
                      </a:rPr>
                      <m:t>𝑲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上全体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阶可逆方阵的集合，则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𝐺𝐿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b="1" i="1">
                        <a:latin typeface="Cambria Math"/>
                        <a:ea typeface="Cambria Math" panose="02040503050406030204" pitchFamily="18" charset="0"/>
                      </a:rPr>
                      <m:t>𝑲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关于矩阵乘法构成一个群，称为一般线性群。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 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b="1" i="1">
                        <a:latin typeface="Cambria Math"/>
                        <a:ea typeface="Cambria Math" panose="02040503050406030204" pitchFamily="18" charset="0"/>
                      </a:rPr>
                      <m:t>𝑲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表示域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latin typeface="Cambria Math"/>
                        <a:ea typeface="Cambria Math" panose="02040503050406030204" pitchFamily="18" charset="0"/>
                      </a:rPr>
                      <m:t>𝑲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上全体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阶行列式为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的方阵的集合，则显然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𝑆𝐿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b="1" i="1">
                        <a:latin typeface="Cambria Math"/>
                        <a:ea typeface="Cambria Math" panose="02040503050406030204" pitchFamily="18" charset="0"/>
                      </a:rPr>
                      <m:t>𝑲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zh-CN" sz="2400" i="1" smtClean="0">
                        <a:latin typeface="Cambria Math"/>
                        <a:ea typeface="Cambria Math"/>
                      </a:rPr>
                      <m:t>⊆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𝐺𝐿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b="1" i="1">
                        <a:latin typeface="Cambria Math"/>
                        <a:ea typeface="Cambria Math" panose="02040503050406030204" pitchFamily="18" charset="0"/>
                      </a:rPr>
                      <m:t>𝑲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𝑆𝐿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b="1" i="1">
                        <a:latin typeface="Cambria Math"/>
                        <a:ea typeface="Cambria Math" panose="02040503050406030204" pitchFamily="18" charset="0"/>
                      </a:rPr>
                      <m:t>𝑲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关于矩阵乘法也构成一个群，称为特殊线性群。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276474"/>
                <a:ext cx="8229600" cy="4176861"/>
              </a:xfrm>
              <a:blipFill rotWithShape="1">
                <a:blip r:embed="rId2"/>
                <a:stretch>
                  <a:fillRect l="-1037" t="-1603" r="-48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90619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276474"/>
                <a:ext cx="8229600" cy="4176861"/>
              </a:xfrm>
            </p:spPr>
            <p:txBody>
              <a:bodyPr/>
              <a:lstStyle/>
              <a:p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对群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𝐺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,⋅</m:t>
                        </m:r>
                      </m:e>
                    </m:d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中三个元素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，因为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⋅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𝑏</m:t>
                        </m:r>
                      </m:e>
                    </m:d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⋅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𝑐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𝑎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⋅(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⋅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𝑐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，定义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⋅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⋅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𝑐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=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⋅</m:t>
                        </m:r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𝑏</m:t>
                        </m:r>
                      </m:e>
                    </m:d>
                    <m:r>
                      <a:rPr lang="en-US" altLang="zh-CN" sz="2400" i="1">
                        <a:latin typeface="Cambria Math"/>
                        <a:ea typeface="Cambria Math"/>
                      </a:rPr>
                      <m:t>⋅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𝑐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=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𝑎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⋅(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𝑏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⋅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𝑐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定义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6.1.17 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𝐺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,⋅</m:t>
                        </m:r>
                      </m:e>
                    </m:d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是一个群，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𝐺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,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𝑛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≥3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，由结合律易证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⋅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⋅⋯⋅</m:t>
                        </m:r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/>
                                <a:ea typeface="Cambria Math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/>
                                <a:ea typeface="Cambria Math"/>
                              </a:rPr>
                              <m:t>𝑛</m:t>
                            </m:r>
                            <m:r>
                              <a:rPr lang="en-US" altLang="zh-CN" sz="2400" b="0" i="1" smtClean="0">
                                <a:latin typeface="Cambria Math"/>
                                <a:ea typeface="Cambria Math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en-US" altLang="zh-CN" sz="2400" i="1">
                        <a:latin typeface="Cambria Math"/>
                        <a:ea typeface="Cambria Math"/>
                      </a:rPr>
                      <m:t>⋅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  <a:ea typeface="Cambria Math"/>
                      </a:rPr>
                      <m:t>⋅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(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  <a:ea typeface="Cambria Math"/>
                      </a:rPr>
                      <m:t>⋅⋯⋅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𝑛</m:t>
                        </m:r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−1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  <a:ea typeface="Cambria Math"/>
                      </a:rPr>
                      <m:t>⋅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，定义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  <a:ea typeface="Cambria Math"/>
                      </a:rPr>
                      <m:t>⋅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  <a:ea typeface="Cambria Math"/>
                      </a:rPr>
                      <m:t>⋅⋯⋅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𝑛</m:t>
                        </m:r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−1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  <a:ea typeface="Cambria Math"/>
                      </a:rPr>
                      <m:t>⋅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⋅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⋅⋯⋅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/>
                                <a:ea typeface="Cambria Math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/>
                                <a:ea typeface="Cambria Math"/>
                              </a:rPr>
                              <m:t>𝑛</m:t>
                            </m:r>
                            <m:r>
                              <a:rPr lang="en-US" altLang="zh-CN" sz="2400" i="1">
                                <a:latin typeface="Cambria Math"/>
                                <a:ea typeface="Cambria Math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en-US" altLang="zh-CN" sz="2400" i="1">
                        <a:latin typeface="Cambria Math"/>
                        <a:ea typeface="Cambria Math"/>
                      </a:rPr>
                      <m:t>⋅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276474"/>
                <a:ext cx="8229600" cy="4176861"/>
              </a:xfrm>
              <a:blipFill rotWithShape="1">
                <a:blip r:embed="rId2"/>
                <a:stretch>
                  <a:fillRect l="-1037" t="-1603" r="-48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75972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276474"/>
                <a:ext cx="8229600" cy="4176861"/>
              </a:xfrm>
            </p:spPr>
            <p:txBody>
              <a:bodyPr/>
              <a:lstStyle/>
              <a:p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定理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6.1.3 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𝐺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,⋅</m:t>
                        </m:r>
                      </m:e>
                    </m:d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是一个群，对任意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𝐺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，都有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𝑎𝑏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证明：因为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𝑎𝑏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𝑒𝑏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，且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𝑎𝑏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𝑎𝑒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𝑎𝑏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的逆元，定理得证。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类似的，对任意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𝐺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i="1" smtClean="0">
                            <a:latin typeface="Cambria Math"/>
                            <a:ea typeface="Cambria Math"/>
                          </a:rPr>
                          <m:t>⋯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en-US" altLang="zh-CN" sz="2400" i="1" smtClean="0">
                        <a:latin typeface="Cambria Math"/>
                        <a:ea typeface="Cambria Math"/>
                      </a:rPr>
                      <m:t>⋯</m:t>
                    </m:r>
                    <m:sSubSup>
                      <m:sSub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sSubSup>
                      <m:sSub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1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−1</m:t>
                        </m:r>
                      </m:sup>
                    </m:sSubSup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276474"/>
                <a:ext cx="8229600" cy="4176861"/>
              </a:xfrm>
              <a:blipFill rotWithShape="1">
                <a:blip r:embed="rId2"/>
                <a:stretch>
                  <a:fillRect l="-1111" t="-16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28626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276474"/>
                <a:ext cx="8229600" cy="4176861"/>
              </a:xfrm>
            </p:spPr>
            <p:txBody>
              <a:bodyPr/>
              <a:lstStyle/>
              <a:p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定义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6.1.18 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𝐺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,⋅</m:t>
                        </m:r>
                      </m:e>
                    </m:d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是一个群，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为其单位元，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𝐺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,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𝑛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∈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𝑍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+</m:t>
                        </m:r>
                      </m:sup>
                    </m:sSup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，定义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；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i="1" smtClean="0">
                        <a:latin typeface="Cambria Math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mPr>
                      <m:mr>
                        <m:e>
                          <m:groupChr>
                            <m:groupChrPr>
                              <m:chr m:val="⏟"/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n-US" altLang="zh-CN" sz="2400" b="0" i="1" smtClean="0">
                                  <a:latin typeface="Cambria Math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zh-CN" sz="2400" i="1">
                                  <a:latin typeface="Cambria Math"/>
                                  <a:ea typeface="Cambria Math"/>
                                </a:rPr>
                                <m:t>⋅</m:t>
                              </m:r>
                              <m:r>
                                <a:rPr lang="en-US" altLang="zh-CN" sz="2400" b="0" i="1" smtClean="0">
                                  <a:latin typeface="Cambria Math"/>
                                  <a:ea typeface="Cambria Math"/>
                                </a:rPr>
                                <m:t>𝑎</m:t>
                              </m:r>
                              <m:r>
                                <a:rPr lang="en-US" altLang="zh-CN" sz="2400" i="1">
                                  <a:latin typeface="Cambria Math"/>
                                  <a:ea typeface="Cambria Math"/>
                                </a:rPr>
                                <m:t>⋅</m:t>
                              </m:r>
                              <m:r>
                                <a:rPr lang="en-US" altLang="zh-CN" sz="2400" i="1" smtClean="0">
                                  <a:latin typeface="Cambria Math"/>
                                  <a:ea typeface="Cambria Math"/>
                                </a:rPr>
                                <m:t>⋯</m:t>
                              </m:r>
                              <m:r>
                                <a:rPr lang="en-US" altLang="zh-CN" sz="2400" i="1">
                                  <a:latin typeface="Cambria Math"/>
                                  <a:ea typeface="Cambria Math"/>
                                </a:rPr>
                                <m:t>⋅</m:t>
                              </m:r>
                              <m:r>
                                <a:rPr lang="en-US" altLang="zh-CN" sz="2400" b="0" i="1" smtClean="0">
                                  <a:latin typeface="Cambria Math"/>
                                  <a:ea typeface="Cambria Math"/>
                                </a:rPr>
                                <m:t>𝑎</m:t>
                              </m:r>
                            </m:e>
                          </m:groupChr>
                        </m:e>
                      </m:mr>
                      <m:mr>
                        <m:e>
                          <m:r>
                            <a:rPr lang="en-US" altLang="zh-CN" sz="2400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400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个</m:t>
                          </m:r>
                        </m:e>
                      </m:mr>
                    </m:m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；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𝑖𝑖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276474"/>
                <a:ext cx="8229600" cy="4176861"/>
              </a:xfrm>
              <a:blipFill rotWithShape="1">
                <a:blip r:embed="rId2"/>
                <a:stretch>
                  <a:fillRect l="-1037" t="-1603" r="-48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72908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276474"/>
                <a:ext cx="8229600" cy="4176861"/>
              </a:xfrm>
            </p:spPr>
            <p:txBody>
              <a:bodyPr/>
              <a:lstStyle/>
              <a:p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定理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6.1.4 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𝐺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,⋅</m:t>
                        </m:r>
                      </m:e>
                    </m:d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是一个群，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𝐺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,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𝑚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,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𝑛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𝑍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，则有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；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i="1" smtClean="0">
                        <a:latin typeface="Cambria Math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</m:sSup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；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𝑖𝑖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𝑚𝑛</m:t>
                        </m:r>
                      </m:sup>
                    </m:sSup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276474"/>
                <a:ext cx="8229600" cy="4176861"/>
              </a:xfrm>
              <a:blipFill rotWithShape="1">
                <a:blip r:embed="rId2"/>
                <a:stretch>
                  <a:fillRect l="-1037" t="-16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23383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276474"/>
                <a:ext cx="8229600" cy="4176861"/>
              </a:xfrm>
            </p:spPr>
            <p:txBody>
              <a:bodyPr/>
              <a:lstStyle/>
              <a:p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定义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6.1.19 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𝐺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,⋅</m:t>
                        </m:r>
                      </m:e>
                    </m:d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是一个群，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𝐻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⊆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𝐺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，如果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关于运算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⋅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也构成群，那么称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𝐻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,⋅</m:t>
                        </m:r>
                      </m:e>
                    </m:d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𝐺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,⋅</m:t>
                        </m:r>
                      </m:e>
                    </m:d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</a:t>
                </a:r>
                <a:r>
                  <a:rPr lang="zh-CN" altLang="en-US" sz="24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子群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，或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/>
                      </a:rPr>
                      <m:t>𝐺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的子群，记作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𝐻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 我们知道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𝑍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+</m:t>
                        </m:r>
                      </m:e>
                    </m:d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是一个群，全体偶数集合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𝑍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/2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关于运算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也构成群，因此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𝑍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/2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的子群。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276474"/>
                <a:ext cx="8229600" cy="4176861"/>
              </a:xfrm>
              <a:blipFill rotWithShape="1">
                <a:blip r:embed="rId2"/>
                <a:stretch>
                  <a:fillRect l="-1037" t="-1603" r="-2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3615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276474"/>
                <a:ext cx="8229600" cy="4176861"/>
              </a:xfrm>
            </p:spPr>
            <p:txBody>
              <a:bodyPr/>
              <a:lstStyle/>
              <a:p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定理 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6.1.5 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是群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的子群，那么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的单位元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必定也是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的单位元。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证明：设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𝑒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的单位元，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𝐻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⊆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𝐺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，则对任意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𝐺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𝑒𝑏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𝑒𝑏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以及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sSup>
                      <m:sSup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𝑏𝑒</m:t>
                    </m:r>
                    <m:sSup>
                      <m:sSup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sSup>
                      <m:sSup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sSup>
                      <m:sSup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𝑏𝑒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𝑒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也是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的单位元，由单位元唯一性可知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，得证。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276474"/>
                <a:ext cx="8229600" cy="4176861"/>
              </a:xfrm>
              <a:blipFill rotWithShape="1">
                <a:blip r:embed="rId2"/>
                <a:stretch>
                  <a:fillRect l="-1111" t="-1603" r="-5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7486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276474"/>
                <a:ext cx="8229600" cy="4176861"/>
              </a:xfrm>
            </p:spPr>
            <p:txBody>
              <a:bodyPr/>
              <a:lstStyle/>
              <a:p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给定群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，显然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</m:d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都是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的子群，我们称这样的群为</a:t>
                </a:r>
                <a:r>
                  <a:rPr lang="zh-CN" altLang="en-US" sz="24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平凡子群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，其它的群称为</a:t>
                </a:r>
                <a:r>
                  <a:rPr lang="zh-CN" altLang="en-US" sz="24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真子群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 已知全体整数集合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关于加法构成一个群，那么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是它的平凡子群，而全体偶数集合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𝑍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/2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是它的真子群。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276474"/>
                <a:ext cx="8229600" cy="4176861"/>
              </a:xfrm>
              <a:blipFill rotWithShape="1">
                <a:blip r:embed="rId2"/>
                <a:stretch>
                  <a:fillRect l="-1037" t="-16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77582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484784"/>
                <a:ext cx="8229600" cy="4752528"/>
              </a:xfrm>
            </p:spPr>
            <p:txBody>
              <a:bodyPr/>
              <a:lstStyle/>
              <a:p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定理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6.1.6 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𝐺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,⋅</m:t>
                        </m:r>
                      </m:e>
                    </m:d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是一个群，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𝐻</m:t>
                    </m:r>
                    <m:r>
                      <a:rPr lang="zh-CN" altLang="en-US" sz="2400" i="1">
                        <a:latin typeface="Cambria Math"/>
                        <a:ea typeface="Cambria Math" panose="02040503050406030204" pitchFamily="18" charset="0"/>
                      </a:rPr>
                      <m:t>是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𝐺</m:t>
                    </m:r>
                    <m:r>
                      <m:rPr>
                        <m:nor/>
                      </m:rPr>
                      <a:rPr lang="zh-CN" altLang="en-US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的非空子集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，那么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/>
                      </a:rPr>
                      <m:t>𝐺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的子群，当且仅当对任意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𝐻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，都有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𝐻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证明：必要性显然，下面证充分性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结合律显然成立。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𝑖𝑖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单位元：因为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非空，任取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𝐻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，令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，则有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𝑒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𝐻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，其中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是群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/>
                      </a:rPr>
                      <m:t>𝐺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的单位元。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𝑖𝑖𝑖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可逆性：对任意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𝐻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，因为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𝑒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𝐻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，所以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𝑒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𝐻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𝑖𝑣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封闭性：对任意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𝐻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400" i="1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𝐻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𝑎𝑏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1" smtClean="0"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US" altLang="zh-CN" sz="2400" b="0" i="1" smtClean="0"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𝐻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，得证。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484784"/>
                <a:ext cx="8229600" cy="4752528"/>
              </a:xfrm>
              <a:blipFill rotWithShape="1">
                <a:blip r:embed="rId2"/>
                <a:stretch>
                  <a:fillRect l="-1111" t="-14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44795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§6.2 </a:t>
            </a:r>
            <a:r>
              <a:rPr lang="zh-CN" altLang="en-US" dirty="0"/>
              <a:t>同态和同构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US" altLang="zh-CN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US" altLang="zh-CN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31148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§6.2 </a:t>
            </a:r>
            <a:r>
              <a:rPr lang="zh-CN" altLang="en-US" dirty="0"/>
              <a:t>同态和同构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定义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6.2.1 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𝐻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,∙)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,⨂)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是两个群，如果映射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: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𝐻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满足对任意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𝐻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，都有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CN" sz="2400" i="1" dirty="0">
                        <a:latin typeface="Cambria Math"/>
                        <a:ea typeface="Cambria Math"/>
                      </a:rPr>
                      <m:t>⨂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𝑓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𝑏</m:t>
                        </m:r>
                      </m:e>
                    </m:d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𝑓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(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𝑎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∙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，那么称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的一个</a:t>
                </a:r>
                <a:r>
                  <a:rPr lang="zh-CN" altLang="en-US" sz="24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同态映射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或</a:t>
                </a:r>
                <a:r>
                  <a:rPr lang="zh-CN" altLang="en-US" sz="24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同态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；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如果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是单射，那么称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的一个</a:t>
                </a:r>
                <a:r>
                  <a:rPr lang="zh-CN" altLang="en-US" sz="24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单同态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；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如果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是满射，那么称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的一个</a:t>
                </a:r>
                <a:r>
                  <a:rPr lang="zh-CN" altLang="en-US" sz="24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满同态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；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如果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是一一映射，那么称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的一个</a:t>
                </a:r>
                <a:r>
                  <a:rPr lang="zh-CN" altLang="en-US" sz="24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同构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如果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𝐻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，那么称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</a:t>
                </a:r>
                <a:r>
                  <a:rPr lang="zh-CN" altLang="en-US" sz="24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自同态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或</a:t>
                </a:r>
                <a:r>
                  <a:rPr lang="zh-CN" altLang="en-US" sz="24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自同构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2"/>
                <a:stretch>
                  <a:fillRect l="-1037" t="-1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77031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定义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6.2.2 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是两个群，则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称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</a:t>
                </a:r>
                <a:r>
                  <a:rPr lang="zh-CN" altLang="en-US" sz="24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同态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的，如果存在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的同态映射，记作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𝐻</m:t>
                    </m:r>
                    <m:r>
                      <a:rPr lang="en-US" altLang="zh-CN" sz="2400" i="1" smtClean="0">
                        <a:latin typeface="Cambria Math"/>
                        <a:ea typeface="Cambria Math"/>
                      </a:rPr>
                      <m:t>≈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𝐺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；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称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</a:t>
                </a:r>
                <a:r>
                  <a:rPr lang="zh-CN" altLang="en-US" sz="24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同构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的，如果存在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的同构映射，记作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𝐻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≅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𝐺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037" t="-1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295463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 给定群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，则恒等映射是群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上的自同态，也是自同构。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 设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是两个群，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是群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的单位元，定义映射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400" b="0" i="1" smtClean="0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altLang="zh-CN" sz="2400" b="0" i="1" smtClean="0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  <m:t>:</m:t>
                                  </m:r>
                                </m:e>
                                <m:e>
                                  <m:r>
                                    <a:rPr lang="en-US" altLang="zh-CN" sz="2400" b="0" i="1" smtClean="0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mr>
                              <m:mr>
                                <m:e/>
                                <m:e>
                                  <m:r>
                                    <a:rPr lang="en-US" altLang="zh-CN" sz="2400" b="0" i="1" smtClean="0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mr>
                            </m:m>
                          </m:e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400" b="0" i="1" smtClean="0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  <m:t>→</m:t>
                                  </m:r>
                                </m:e>
                                <m:e>
                                  <m:r>
                                    <a:rPr lang="en-US" altLang="zh-CN" sz="2400" b="0" i="1" smtClean="0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zh-CN" sz="2400" i="1" smtClean="0">
                                      <a:latin typeface="Cambria Math"/>
                                      <a:ea typeface="Cambria Math"/>
                                    </a:rPr>
                                    <m:t>↦</m:t>
                                  </m:r>
                                </m:e>
                                <m:e>
                                  <m:r>
                                    <a:rPr lang="en-US" altLang="zh-CN" sz="2400" b="0" i="1" smtClean="0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</m:mr>
                            </m:m>
                          </m:e>
                        </m:mr>
                      </m:m>
                    </m:oMath>
                  </m:oMathPara>
                </a14:m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则对任意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𝐻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，都有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𝑎𝑏</m:t>
                        </m:r>
                      </m:e>
                    </m:d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𝑒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𝑒𝑒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是一个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的同态映射，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同态。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11" t="-1741" r="-48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44242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 设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表示所有系数为实数的多项式集合，则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关于多项式加法构成一个群。定义映射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zh-CN" altLang="en-US" sz="2400" b="0" i="1" smtClean="0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  <m:t>𝜙</m:t>
                                  </m:r>
                                  <m:r>
                                    <a:rPr lang="en-US" altLang="zh-CN" sz="2400" b="0" i="1" smtClean="0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  <m:t>:</m:t>
                                  </m:r>
                                </m:e>
                                <m:e>
                                  <m:r>
                                    <a:rPr lang="en-US" altLang="zh-CN" sz="2400" i="1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  <m:r>
                                    <a:rPr lang="en-US" altLang="zh-CN" sz="2400" i="1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US" altLang="zh-CN" sz="2400" i="1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CN" sz="2400" i="1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  <m:t>]</m:t>
                                  </m:r>
                                </m:e>
                              </m:mr>
                              <m:mr>
                                <m:e/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400" b="0" i="1" smtClean="0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mr>
                            </m:m>
                          </m:e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400" b="0" i="1" smtClean="0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  <m:t>→</m:t>
                                  </m:r>
                                </m:e>
                                <m:e>
                                  <m:r>
                                    <a:rPr lang="en-US" altLang="zh-CN" sz="2400" i="1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  <m:r>
                                    <a:rPr lang="en-US" altLang="zh-CN" sz="2400" i="1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US" altLang="zh-CN" sz="2400" i="1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CN" sz="2400" i="1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  <m:t>]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zh-CN" sz="2400" i="1" smtClean="0">
                                      <a:latin typeface="Cambria Math"/>
                                      <a:ea typeface="Cambria Math"/>
                                    </a:rPr>
                                    <m:t>↦</m:t>
                                  </m:r>
                                </m:e>
                                <m:e>
                                  <m:r>
                                    <a:rPr lang="en-US" altLang="zh-CN" sz="2400" b="0" i="1" smtClean="0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altLang="zh-CN" sz="2400" b="0" i="1" smtClean="0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e>
                              </m:mr>
                            </m:m>
                          </m:e>
                        </m:mr>
                      </m:m>
                    </m:oMath>
                  </m:oMathPara>
                </a14:m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其中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</a:t>
                </a: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的导函数，则对任意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𝑔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，都有</a:t>
                </a: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zh-CN" altLang="en-US" sz="2400" i="1">
                        <a:latin typeface="Cambria Math"/>
                        <a:ea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𝑔</m:t>
                            </m:r>
                          </m:e>
                        </m:d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brk m:alnAt="7"/>
                      </m:rPr>
                      <a:rPr lang="zh-CN" altLang="en-US" sz="2400" i="1">
                        <a:latin typeface="Cambria Math"/>
                        <a:ea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+</m:t>
                    </m:r>
                    <m:r>
                      <m:rPr>
                        <m:brk m:alnAt="7"/>
                      </m:rPr>
                      <a:rPr lang="zh-CN" altLang="en-US" sz="2400" i="1">
                        <a:latin typeface="Cambria Math"/>
                        <a:ea typeface="Cambria Math" panose="02040503050406030204" pitchFamily="18" charset="0"/>
                      </a:rPr>
                      <m:t>𝜙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𝑔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zh-CN" altLang="en-US" sz="2400" i="1">
                        <a:latin typeface="Cambria Math"/>
                        <a:ea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是一个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的同态映射，它是一个自同态，而且任意实系数多项式都可积，因此它是一个满同态，又因为显然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的导函数都是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，其中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𝑅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，因此它不是单同态。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11" t="-1741" r="-2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896894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5152" y="2276872"/>
                <a:ext cx="9083352" cy="3849688"/>
              </a:xfrm>
            </p:spPr>
            <p:txBody>
              <a:bodyPr/>
              <a:lstStyle/>
              <a:p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定理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6.2.1 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是两个群，</a:t>
                </a: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是一个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的同态映射，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是群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的单位元，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𝑒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是群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的单位元，令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/>
                            <a:ea typeface="Cambria Math" panose="02040503050406030204" pitchFamily="18" charset="0"/>
                          </a:rPr>
                          <m:t>ker</m:t>
                        </m:r>
                      </m:fName>
                      <m:e>
                        <m:d>
                          <m:d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</m:e>
                    </m:func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={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𝐻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|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𝑓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</m:d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𝑒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}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称为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的核，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dirty="0" smtClean="0">
                        <a:latin typeface="Cambria Math"/>
                        <a:ea typeface="Cambria Math" panose="02040503050406030204" pitchFamily="18" charset="0"/>
                      </a:rPr>
                      <m:t>im</m:t>
                    </m:r>
                    <m:r>
                      <a:rPr lang="en-US" altLang="zh-CN" sz="2400" b="0" i="0" dirty="0" smtClean="0">
                        <a:latin typeface="Cambria Math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)=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𝐻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)={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𝐺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|∃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𝑏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𝐻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,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𝑓</m:t>
                    </m:r>
                    <m:d>
                      <m:d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/>
                          </a:rPr>
                          <m:t>𝑏</m:t>
                        </m:r>
                      </m:e>
                    </m:d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𝑎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}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称为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的象集，则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𝑒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′∈</m:t>
                    </m:r>
                    <m:r>
                      <m:rPr>
                        <m:sty m:val="p"/>
                      </m:rPr>
                      <a:rPr lang="en-US" altLang="zh-CN" sz="2400" b="0" i="0" dirty="0" smtClean="0">
                        <a:latin typeface="Cambria Math"/>
                        <a:ea typeface="Cambria Math"/>
                      </a:rPr>
                      <m:t>ker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(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𝑓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，即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；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(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𝑖𝑖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对任意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𝐻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，都有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；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(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𝑖𝑖𝑖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/>
                            <a:ea typeface="Cambria Math" panose="02040503050406030204" pitchFamily="18" charset="0"/>
                          </a:rPr>
                          <m:t>ker</m:t>
                        </m:r>
                      </m:fName>
                      <m:e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</m:e>
                    </m:func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的子群，且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是单同态的充要条件是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/>
                            <a:ea typeface="Cambria Math" panose="02040503050406030204" pitchFamily="18" charset="0"/>
                          </a:rPr>
                          <m:t>ker</m:t>
                        </m:r>
                      </m:fName>
                      <m:e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</m:e>
                    </m:func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={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𝑒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；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(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𝑖𝑣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𝐻</m:t>
                    </m:r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的子群，且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是满同态的充要条件是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 dirty="0">
                            <a:latin typeface="Cambria Math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</m:d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" y="2276872"/>
                <a:ext cx="9083352" cy="3849688"/>
              </a:xfrm>
              <a:blipFill rotWithShape="1">
                <a:blip r:embed="rId2"/>
                <a:stretch>
                  <a:fillRect l="-940" t="-1743" r="-44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914801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证明：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对任意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𝐻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，由同态性质可知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  <m:sSup>
                          <m:s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以及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dirty="0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b="0" i="1" dirty="0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dirty="0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b="0" i="1" dirty="0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是群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的单位元，又由单位元唯一性可得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𝑖𝑖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对任意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𝐻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，由同态性质及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可知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𝑒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dirty="0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b="0" i="1" dirty="0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  <m:sSup>
                          <m:sSupPr>
                            <m:ctrlP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dirty="0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sz="2400" b="0" i="1" dirty="0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以及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𝑒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dirty="0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b="0" i="1" dirty="0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dirty="0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sz="2400" b="0" i="1" dirty="0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dirty="0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sz="2400" b="0" i="1" dirty="0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，再由逆元唯一性可得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11" t="-1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15264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i="1" smtClean="0">
                        <a:latin typeface="Cambria Math"/>
                        <a:ea typeface="Cambria Math" panose="02040503050406030204" pitchFamily="18" charset="0"/>
                      </a:rPr>
                      <m:t>𝑖𝑖𝑖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先证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/>
                            <a:ea typeface="Cambria Math" panose="02040503050406030204" pitchFamily="18" charset="0"/>
                          </a:rPr>
                          <m:t>ker</m:t>
                        </m:r>
                      </m:fName>
                      <m:e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</m:e>
                    </m:func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的子群，由定义可知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/>
                            <a:ea typeface="Cambria Math" panose="02040503050406030204" pitchFamily="18" charset="0"/>
                          </a:rPr>
                          <m:t>ker</m:t>
                        </m:r>
                      </m:fName>
                      <m:e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</m:e>
                    </m:func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的非空子集，则由定理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6.1.6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，只需证明对任意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∈</m:t>
                    </m:r>
                    <m:func>
                      <m:func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/>
                            <a:ea typeface="Cambria Math" panose="02040503050406030204" pitchFamily="18" charset="0"/>
                          </a:rPr>
                          <m:t>ker</m:t>
                        </m:r>
                      </m:fName>
                      <m:e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</m:e>
                    </m:func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，都有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∈</m:t>
                    </m:r>
                    <m:func>
                      <m:func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/>
                            <a:ea typeface="Cambria Math" panose="02040503050406030204" pitchFamily="18" charset="0"/>
                          </a:rPr>
                          <m:t>ker</m:t>
                        </m:r>
                      </m:fName>
                      <m:e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</m:e>
                    </m:func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。事实上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  <m:sSup>
                          <m:s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d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𝑒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𝑒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400" i="1">
                        <a:latin typeface="Cambria Math"/>
                        <a:ea typeface="Cambria Math"/>
                      </a:rPr>
                      <m:t>∈</m:t>
                    </m:r>
                    <m:func>
                      <m:func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/>
                            <a:ea typeface="Cambria Math" panose="02040503050406030204" pitchFamily="18" charset="0"/>
                          </a:rPr>
                          <m:t>ker</m:t>
                        </m:r>
                      </m:fName>
                      <m:e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</m:e>
                    </m:func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再证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是单同态的充要条件是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/>
                            <a:ea typeface="Cambria Math" panose="02040503050406030204" pitchFamily="18" charset="0"/>
                          </a:rPr>
                          <m:t>ker</m:t>
                        </m:r>
                      </m:fName>
                      <m:e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</m:e>
                    </m:func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{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。必要性显然，事实上由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可知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，再由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是单射可知仅有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𝑒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的象为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，即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/>
                            <a:ea typeface="Cambria Math" panose="02040503050406030204" pitchFamily="18" charset="0"/>
                          </a:rPr>
                          <m:t>ker</m:t>
                        </m:r>
                      </m:fName>
                      <m:e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</m:e>
                    </m:func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。再证充分性，假设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𝐻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，且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  <m:sSup>
                          <m:s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d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d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，所以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/>
                        <a:ea typeface="Cambria Math"/>
                      </a:rPr>
                      <m:t>ker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𝑓</m:t>
                        </m:r>
                      </m:e>
                    </m:d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={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𝑒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′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}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，即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是单射。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11" t="-1741" r="-48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263285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i="1" smtClean="0">
                        <a:latin typeface="Cambria Math"/>
                        <a:ea typeface="Cambria Math" panose="02040503050406030204" pitchFamily="18" charset="0"/>
                      </a:rPr>
                      <m:t>𝑖𝑣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是满同态的充要条件是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 dirty="0">
                            <a:latin typeface="Cambria Math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</m:d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是显然的。下面证明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𝐻</m:t>
                    </m:r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的子群，显然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𝐻</m:t>
                    </m:r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的非空子集，由定理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6.1.6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，只需证明对任意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𝑓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(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𝐻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，都有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𝑓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(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𝐻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，由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𝑓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(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𝐻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可知存在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′∈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𝐻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，使得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1" smtClean="0"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US" altLang="zh-CN" sz="2400" b="0" i="1" smtClean="0"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1" smtClean="0"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US" altLang="zh-CN" sz="2400" b="0" i="1" smtClean="0"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  <m:sup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′</m:t>
                        </m:r>
                        <m:sSup>
                          <m:s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′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𝑓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(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𝐻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，得证。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11" t="-1741" r="-48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612406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 前例中，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是两个群，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是群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的单位元，定义映射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400" i="1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altLang="zh-CN" sz="2400" i="1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  <m:t>:</m:t>
                                  </m:r>
                                </m:e>
                                <m:e>
                                  <m:r>
                                    <a:rPr lang="en-US" altLang="zh-CN" sz="2400" i="1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mr>
                              <m:mr>
                                <m:e/>
                                <m:e>
                                  <m:r>
                                    <a:rPr lang="en-US" altLang="zh-CN" sz="2400" i="1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mr>
                            </m:m>
                          </m:e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400" i="1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  <m:t>→</m:t>
                                  </m:r>
                                </m:e>
                                <m:e>
                                  <m:r>
                                    <a:rPr lang="en-US" altLang="zh-CN" sz="2400" i="1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zh-CN" sz="2400" i="1">
                                      <a:latin typeface="Cambria Math"/>
                                      <a:ea typeface="Cambria Math"/>
                                    </a:rPr>
                                    <m:t>↦</m:t>
                                  </m:r>
                                </m:e>
                                <m:e>
                                  <m:r>
                                    <a:rPr lang="en-US" altLang="zh-CN" sz="2400" i="1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</m:mr>
                            </m:m>
                          </m:e>
                        </m:mr>
                      </m:m>
                    </m:oMath>
                  </m:oMathPara>
                </a14:m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则</a:t>
                </a: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是一个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的同态映射，其中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/>
                            <a:ea typeface="Cambria Math" panose="02040503050406030204" pitchFamily="18" charset="0"/>
                          </a:rPr>
                          <m:t>ker</m:t>
                        </m:r>
                      </m:fName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</m:d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</m:d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。显然当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𝐻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|≠1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时，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不是单同态；当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|≠1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时，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不是满同态。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11" t="-1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304831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 前例中，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关于多项式加法构成一个群，定义映射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zh-CN" altLang="en-US" sz="2400" i="1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  <m:t>𝜙</m:t>
                                  </m:r>
                                  <m:r>
                                    <a:rPr lang="en-US" altLang="zh-CN" sz="2400" i="1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  <m:t>:</m:t>
                                  </m:r>
                                </m:e>
                                <m:e>
                                  <m:r>
                                    <a:rPr lang="en-US" altLang="zh-CN" sz="2400" i="1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  <m:r>
                                    <a:rPr lang="en-US" altLang="zh-CN" sz="2400" i="1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US" altLang="zh-CN" sz="2400" i="1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CN" sz="2400" i="1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  <m:t>]</m:t>
                                  </m:r>
                                </m:e>
                              </m:mr>
                              <m:mr>
                                <m:e/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400" i="1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mr>
                            </m:m>
                          </m:e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400" i="1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  <m:t>→</m:t>
                                  </m:r>
                                </m:e>
                                <m:e>
                                  <m:r>
                                    <a:rPr lang="en-US" altLang="zh-CN" sz="2400" i="1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  <m:r>
                                    <a:rPr lang="en-US" altLang="zh-CN" sz="2400" i="1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US" altLang="zh-CN" sz="2400" i="1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CN" sz="2400" i="1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  <m:t>]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zh-CN" sz="2400" i="1">
                                      <a:latin typeface="Cambria Math"/>
                                      <a:ea typeface="Cambria Math"/>
                                    </a:rPr>
                                    <m:t>↦</m:t>
                                  </m:r>
                                </m:e>
                                <m:e>
                                  <m:r>
                                    <a:rPr lang="en-US" altLang="zh-CN" sz="2400" i="1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altLang="zh-CN" sz="2400" i="1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e>
                              </m:mr>
                            </m:m>
                          </m:e>
                        </m:mr>
                      </m:m>
                    </m:oMath>
                  </m:oMathPara>
                </a14:m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其中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</a:t>
                </a: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的导函数，则</a:t>
                </a: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zh-CN" altLang="en-US" sz="2400" i="1">
                        <a:latin typeface="Cambria Math"/>
                        <a:ea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是一个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的同态映射，它是一个自同态，且是一个满同态，即</a:t>
                </a:r>
                <a14:m>
                  <m:oMath xmlns:m="http://schemas.openxmlformats.org/officeDocument/2006/math">
                    <m:r>
                      <a:rPr lang="zh-CN" altLang="en-US" sz="2400" i="1" smtClean="0">
                        <a:latin typeface="Cambria Math"/>
                        <a:ea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，而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/>
                            <a:ea typeface="Cambria Math" panose="02040503050406030204" pitchFamily="18" charset="0"/>
                          </a:rPr>
                          <m:t>ker</m:t>
                        </m:r>
                      </m:fName>
                      <m:e>
                        <m:d>
                          <m:d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𝜙</m:t>
                            </m:r>
                          </m:e>
                        </m:d>
                      </m:e>
                    </m:func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)∈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𝑅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[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𝑥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]|</m:t>
                        </m:r>
                        <m:sSup>
                          <m:s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/>
                                <a:ea typeface="Cambria Math"/>
                              </a:rPr>
                              <m:t>𝑓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/>
                                <a:ea typeface="Cambria Math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/>
                                <a:ea typeface="Cambria Math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=0</m:t>
                        </m:r>
                      </m:e>
                    </m:d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∈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𝑅</m:t>
                        </m:r>
                      </m:e>
                    </m:d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zh-CN" altLang="en-US" sz="2400" i="1">
                        <a:latin typeface="Cambria Math"/>
                        <a:ea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不是单同态。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11" t="-1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6285360"/>
      </p:ext>
    </p:extLst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11198</TotalTime>
  <Words>4080</Words>
  <Application>Microsoft Office PowerPoint</Application>
  <PresentationFormat>全屏显示(4:3)</PresentationFormat>
  <Paragraphs>297</Paragraphs>
  <Slides>46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46</vt:i4>
      </vt:variant>
    </vt:vector>
  </HeadingPairs>
  <TitlesOfParts>
    <vt:vector size="53" baseType="lpstr">
      <vt:lpstr>等线</vt:lpstr>
      <vt:lpstr>宋体</vt:lpstr>
      <vt:lpstr>微软雅黑</vt:lpstr>
      <vt:lpstr>Arial</vt:lpstr>
      <vt:lpstr>Cambria Math</vt:lpstr>
      <vt:lpstr>Times New Roman</vt:lpstr>
      <vt:lpstr>默认设计模板</vt:lpstr>
      <vt:lpstr>网络安全数学基础(二)</vt:lpstr>
      <vt:lpstr>网络安全数学基础  第六章 群</vt:lpstr>
      <vt:lpstr>PowerPoint 演示文稿</vt:lpstr>
      <vt:lpstr> </vt:lpstr>
      <vt:lpstr>§6.1 半群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§6.2 同态和同构</vt:lpstr>
      <vt:lpstr>§6.2 同态和同构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华东师范大学生命科学学院</dc:title>
  <dc:creator>liuhuan</dc:creator>
  <cp:lastModifiedBy>Adije Shen</cp:lastModifiedBy>
  <cp:revision>307</cp:revision>
  <cp:lastPrinted>2015-09-25T01:40:12Z</cp:lastPrinted>
  <dcterms:created xsi:type="dcterms:W3CDTF">2011-06-14T05:49:02Z</dcterms:created>
  <dcterms:modified xsi:type="dcterms:W3CDTF">2018-01-13T06:02:04Z</dcterms:modified>
</cp:coreProperties>
</file>