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29" r:id="rId2"/>
    <p:sldId id="285" r:id="rId3"/>
    <p:sldId id="330" r:id="rId4"/>
    <p:sldId id="331" r:id="rId5"/>
    <p:sldId id="286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40" r:id="rId14"/>
    <p:sldId id="341" r:id="rId15"/>
    <p:sldId id="343" r:id="rId16"/>
    <p:sldId id="344" r:id="rId17"/>
    <p:sldId id="345" r:id="rId18"/>
    <p:sldId id="346" r:id="rId19"/>
    <p:sldId id="371" r:id="rId20"/>
    <p:sldId id="347" r:id="rId21"/>
    <p:sldId id="348" r:id="rId22"/>
    <p:sldId id="372" r:id="rId23"/>
    <p:sldId id="349" r:id="rId24"/>
    <p:sldId id="351" r:id="rId25"/>
    <p:sldId id="352" r:id="rId26"/>
    <p:sldId id="353" r:id="rId27"/>
    <p:sldId id="355" r:id="rId28"/>
    <p:sldId id="354" r:id="rId29"/>
    <p:sldId id="356" r:id="rId30"/>
    <p:sldId id="357" r:id="rId31"/>
    <p:sldId id="360" r:id="rId32"/>
    <p:sldId id="373" r:id="rId33"/>
    <p:sldId id="374" r:id="rId34"/>
    <p:sldId id="359" r:id="rId35"/>
    <p:sldId id="362" r:id="rId36"/>
    <p:sldId id="363" r:id="rId37"/>
    <p:sldId id="364" r:id="rId38"/>
    <p:sldId id="366" r:id="rId39"/>
    <p:sldId id="367" r:id="rId40"/>
    <p:sldId id="368" r:id="rId41"/>
    <p:sldId id="365" r:id="rId42"/>
    <p:sldId id="369" r:id="rId43"/>
    <p:sldId id="370" r:id="rId44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>
      <p:cViewPr varScale="1">
        <p:scale>
          <a:sx n="74" d="100"/>
          <a:sy n="74" d="100"/>
        </p:scale>
        <p:origin x="108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C13E-23FC-48F3-95A9-E525834D9428}" type="datetimeFigureOut">
              <a:rPr lang="zh-CN" altLang="en-US" smtClean="0"/>
              <a:t>2017/6/14 Wednesday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84C2A-EB87-4311-AF30-7E7E38DDB5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79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1E7615-5A90-41BB-A3DD-B0D5F4BD14B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703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42C865-5457-4219-A943-D19DF3DCC1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321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BC1CDA-6130-4718-92C6-6B8BD3ECA8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690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276475"/>
            <a:ext cx="4038600" cy="3849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276475"/>
            <a:ext cx="4038600" cy="3849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57F577-978C-4BA5-B5DD-275CCA3C12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600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392F2F-4756-4D28-B347-8AEF1074F3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75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9247A9-179F-4D0C-BE11-9A13F8907D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000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4979A-900E-4C85-B5BE-2947393042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4280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D9FDD7-5457-4AAC-8208-15F47735F9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983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0744C8-7A71-4489-B44E-7B5E127F27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127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A919D-2C84-4083-801B-9EA3562612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589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981075"/>
            <a:ext cx="2058988" cy="51450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29325" cy="51450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056FEB-586A-4032-B2F0-1204A477F2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365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8107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276475"/>
            <a:ext cx="8229600" cy="384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B17CC08-7374-4DCA-8706-3D45ED527A6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网络安全数学基础</a:t>
            </a:r>
            <a:r>
              <a:rPr lang="en-US" altLang="zh-CN" dirty="0" smtClean="0"/>
              <a:t>(</a:t>
            </a:r>
            <a:r>
              <a:rPr lang="zh-CN" altLang="en-US" dirty="0" smtClean="0"/>
              <a:t>一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400" dirty="0"/>
              <a:t>沈佳</a:t>
            </a:r>
            <a:r>
              <a:rPr lang="zh-CN" altLang="en-US" sz="2400" dirty="0" smtClean="0"/>
              <a:t>辰</a:t>
            </a:r>
            <a:endParaRPr lang="en-US" altLang="zh-CN" sz="2400" dirty="0" smtClean="0"/>
          </a:p>
          <a:p>
            <a:r>
              <a:rPr lang="en-US" altLang="zh-CN" sz="2400" dirty="0" smtClean="0"/>
              <a:t>jcshen@sei.ecnu.edu.cn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1485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060848"/>
            <a:ext cx="8208143" cy="2304256"/>
          </a:xfrm>
        </p:spPr>
        <p:txBody>
          <a:bodyPr/>
          <a:lstStyle/>
          <a:p>
            <a:r>
              <a:rPr lang="zh-CN" altLang="en-US" dirty="0" smtClean="0"/>
              <a:t>网络安全数学基础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第</a:t>
            </a:r>
            <a:r>
              <a:rPr lang="zh-CN" altLang="en-US" dirty="0"/>
              <a:t>五</a:t>
            </a:r>
            <a:r>
              <a:rPr lang="zh-CN" altLang="en-US" dirty="0" smtClean="0"/>
              <a:t>章 素性检验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94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由费马小定理，我们知道对于大于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的正整数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，如果存在整数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≢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r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08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§5.1 </a:t>
            </a:r>
            <a:r>
              <a:rPr lang="zh-CN" altLang="en-US" dirty="0" smtClean="0"/>
              <a:t>拟素数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由费马小定理，我们知道对于大于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的正整数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，如果存在整数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≢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=63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是否为素数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r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08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§5.1 </a:t>
            </a:r>
            <a:r>
              <a:rPr lang="zh-CN" altLang="en-US" dirty="0" smtClean="0"/>
              <a:t>拟素数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由费马小定理，我们知道对于大于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的正整数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，如果存在整数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≢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判断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=63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是否为素数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63−1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∙10+2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∙4≡1∙4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≢1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不是素数。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111" t="-1741" r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156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那么给定大于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的正整数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，那么能判定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是素数吗？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79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那么给定大于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的正整数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，那么能判定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是素数吗？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i="1" dirty="0" smtClean="0">
                  <a:latin typeface="Cambria Math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不一定是素数。事实上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63−1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31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31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63)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48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5.1.1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为奇合数，若存在整数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称为对于基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48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5.1.1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为奇合数，若存在整数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称为对于基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由前例可知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为对于基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8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87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5.1.1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为奇合数，若存在整数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称为对于基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由前例可知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为对于基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8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340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34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34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=1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341)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341=11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∙31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的拟素数；由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56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40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14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=1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561)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56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1=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11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∙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38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5.1.1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2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163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5.1.1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𝑑𝑞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𝑑𝑞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−1=(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⋯+1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，得证。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111" t="-1266" r="-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068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0808"/>
            <a:ext cx="8229600" cy="4608512"/>
          </a:xfrm>
        </p:spPr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定理</a:t>
            </a:r>
            <a:r>
              <a:rPr lang="en-US" altLang="zh-CN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5.1.2 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存在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无穷多个对于基</a:t>
            </a:r>
            <a:r>
              <a:rPr lang="en-US" altLang="zh-CN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zh-CN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的拟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素数。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01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00808"/>
                <a:ext cx="8229600" cy="4608512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5.1.2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存在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无穷多个对于基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=341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，对于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，如果能证明对于所有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素数，则定理得证。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事实上，由前例可知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=341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存在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𝑑𝑞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可知，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为奇合数。另一方面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|2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1 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𝑚𝑜𝑑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的拟素数，得证。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00808"/>
                <a:ext cx="8229600" cy="4608512"/>
              </a:xfrm>
              <a:blipFill rotWithShape="1">
                <a:blip r:embed="rId2"/>
                <a:stretch>
                  <a:fillRect l="-1111" t="-1455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762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536" y="1988840"/>
                <a:ext cx="8507288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5.1.3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是一个奇合数，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互素的整数，则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的拟素数当且仅当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的次数整除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也是对于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也是对于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拟素数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不成立，那么模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的简化剩余系中至少有一半的数不满足同余式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536" y="1988840"/>
                <a:ext cx="8507288" cy="3849688"/>
              </a:xfrm>
              <a:blipFill rotWithShape="1">
                <a:blip r:embed="rId2"/>
                <a:stretch>
                  <a:fillRect l="-1147" t="-1741" r="-1004" b="-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40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00808"/>
                <a:ext cx="8229600" cy="460851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𝑖𝑣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的证明：设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zh-CN" altLang="en-US" sz="2400" b="0" i="1" smtClean="0">
                            <a:latin typeface="Cambria Math"/>
                            <a:ea typeface="Cambria Math"/>
                          </a:rPr>
                          <m:t>𝜑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的一组简化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剩余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系，其中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⋯</m:t>
                    </m:r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  <a:ea typeface="Cambria Math"/>
                          </a:rPr>
                          <m:t>𝜑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不满足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⋯,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  <a:ea typeface="Cambria Math"/>
                          </a:rPr>
                          <m:t>𝜑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也构成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的一组简化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剩余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系，且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⋯,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⋯,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𝑏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{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  <a:ea typeface="Cambria Math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e>
                        </m:d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，得证。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00808"/>
                <a:ext cx="8229600" cy="4608512"/>
              </a:xfrm>
              <a:blipFill rotWithShape="1">
                <a:blip r:embed="rId2"/>
                <a:stretch>
                  <a:fillRect l="-1111" t="-1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84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700808"/>
                <a:ext cx="8229600" cy="460851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𝑖𝑣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的证明：设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zh-CN" altLang="en-US" sz="2400" b="0" i="1" smtClean="0">
                            <a:latin typeface="Cambria Math"/>
                            <a:ea typeface="Cambria Math"/>
                          </a:rPr>
                          <m:t>𝜑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的一组简化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剩余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系，其中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⋯</m:t>
                    </m:r>
                    <m:r>
                      <a:rPr lang="en-US" altLang="zh-CN" sz="2400" b="0" i="0" smtClean="0">
                        <a:latin typeface="Cambria Math"/>
                        <a:ea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  <a:ea typeface="Cambria Math"/>
                          </a:rPr>
                          <m:t>𝜑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不满足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⋯,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  <a:ea typeface="Cambria Math"/>
                          </a:rPr>
                          <m:t>𝜑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也构成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的一组简化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剩余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系，且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⋯,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满足同余式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⋯,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𝑏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{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⋯,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  <a:ea typeface="Cambria Math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e>
                        </m:d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}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zh-CN" altLang="en-US" sz="2400" b="0" i="1" smtClean="0">
                        <a:latin typeface="Cambria Math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，得证。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此时对于随机选取的与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互素的整数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，至少有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的概率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判断出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700808"/>
                <a:ext cx="8229600" cy="4608512"/>
              </a:xfrm>
              <a:blipFill rotWithShape="1">
                <a:blip r:embed="rId2"/>
                <a:stretch>
                  <a:fillRect l="-1111" t="-1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095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算法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（费马素性检验）给定正奇数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和参数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随机选取小于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的正整数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)≠1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是合数，算法终止；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不成立，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是合数，算法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终止；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若选过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，则判断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是素数，否则返回至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3960837"/>
              </a:xfrm>
              <a:blipFill rotWithShape="1">
                <a:blip r:embed="rId2"/>
                <a:stretch>
                  <a:fillRect l="-1111" t="-1692" r="-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133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算法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（费马素性检验）给定正奇数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和参数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随机选取小于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的正整数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)≠1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是合数，算法终止；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不成立，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是合数，算法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终止；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若选过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，则判断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是素数，否则返回至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。此时对于每一个随机选取的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是合数的可能性不超过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轮之后，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是合数的可能性不超过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，即误判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素数的概率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不超过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29600" cy="3960837"/>
              </a:xfrm>
              <a:blipFill rotWithShape="1">
                <a:blip r:embed="rId2"/>
                <a:stretch>
                  <a:fillRect l="-1111" t="-1692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57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5.1.2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为奇合数，若对于所有整数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Carmichael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38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19256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5.1.2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为奇合数，若对于所有整数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Carmichael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561=3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11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∙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Carmichael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19256" cy="3960837"/>
              </a:xfrm>
              <a:blipFill rotWithShape="1">
                <a:blip r:embed="rId2"/>
                <a:stretch>
                  <a:fillRect l="-1039" t="-1692" r="-48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6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2276474"/>
                <a:ext cx="8219256" cy="3960837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5.1.2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为奇合数，若对于所有整数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Carmichael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561=3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11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∙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17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是一个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Carmichael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事实上，对于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所有整数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,3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,11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,17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 3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 11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17)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560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280</m:t>
                        </m:r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 3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560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/>
                                    <a:ea typeface="Cambria Math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/>
                                  </a:rPr>
                                  <m:t>10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56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 11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560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16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35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17)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，由孙子定理可知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560</m:t>
                        </m:r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≡1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561)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561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Carmichael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2276474"/>
                <a:ext cx="8219256" cy="3960837"/>
              </a:xfrm>
              <a:blipFill rotWithShape="1">
                <a:blip r:embed="rId2"/>
                <a:stretch>
                  <a:fillRect l="-1113" t="-1692" r="-4822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897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5.1.4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为奇合数，则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能被一个大于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的平方数整除，则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不是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Carmichael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⋯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不含大于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的平方因子，则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Carmichael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数的充要条件是对任意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,1≤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−1)|(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111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624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5.1.5 </a:t>
                </a: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Carmichael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数都至少是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个不同素数的乘积；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存在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无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穷个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Carmichael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94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5.1.5 </a:t>
                </a:r>
              </a:p>
              <a:p>
                <a:pPr marL="0" indent="0">
                  <a:buNone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所有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Carmichael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数都至少是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个不同素数的乘积；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存在无穷个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Carmichael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Carmichael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数，则费马素性检验必将产生误判。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23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由欧拉判别法则，对正奇数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和整数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是素数，则有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(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den>
                    </m:f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如果存在与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互素的整数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≡(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𝑏</m:t>
                        </m:r>
                      </m:num>
                      <m:den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𝑛</m:t>
                        </m:r>
                      </m:den>
                    </m:f>
                    <m:r>
                      <a:rPr lang="en-US" altLang="zh-CN" sz="2400" i="1">
                        <a:latin typeface="Cambria Math"/>
                        <a:ea typeface="Cambria Math"/>
                      </a:rPr>
                      <m:t>)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不成立，则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412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对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=341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，我们计算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341−1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17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341)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，另一方面，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341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341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14535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=−1 (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 341)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341−1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≢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341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 341)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341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r="-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896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5.1.3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为奇合数，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若对于整数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≡(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𝑏</m:t>
                        </m:r>
                      </m:num>
                      <m:den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𝑛</m:t>
                        </m:r>
                      </m:den>
                    </m:f>
                    <m:r>
                      <a:rPr lang="en-US" altLang="zh-CN" sz="2400" i="1">
                        <a:latin typeface="Cambria Math"/>
                        <a:ea typeface="Cambria Math"/>
                      </a:rPr>
                      <m:t>)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称为对于基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的欧拉拟素数。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27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 对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1105=5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∙221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1105−1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552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≡1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1105)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，另一方面，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1105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1105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15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2628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=1 (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 1105)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105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1105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 1105)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，所以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1105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的欧拉拟素数。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685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5.1.6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如果奇合数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的欧拉拟素数，那么它也是对于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28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5.1.6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如果奇合数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的欧拉拟素数，那么它也是对于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的欧拉拟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≡(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𝑏</m:t>
                        </m:r>
                      </m:num>
                      <m:den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𝑛</m:t>
                        </m:r>
                      </m:den>
                    </m:f>
                    <m:r>
                      <a:rPr lang="en-US" altLang="zh-CN" sz="2400" i="1">
                        <a:latin typeface="Cambria Math"/>
                        <a:ea typeface="Cambria Math"/>
                      </a:rPr>
                      <m:t>)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，两边平方可得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/>
                                    <a:ea typeface="Cambria Math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=1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111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471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5.1.6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的逆命题不成立，即并非所有对于基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都是对于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的欧拉拟素数。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23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5.1.6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的逆命题不成立，即并非所有对于基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都是对于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的欧拉拟素数。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341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的拟素数，但不是对于基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的欧拉拟素数。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5374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96752"/>
                <a:ext cx="8229600" cy="5256584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算法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Solovay-Strassen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素性检验）给定正奇数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和参数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随机选取小于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的正整数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≢±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  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是合数，算法终止；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(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𝑏</m:t>
                        </m:r>
                      </m:num>
                      <m:den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𝑛</m:t>
                        </m:r>
                      </m:den>
                    </m:f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≢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是合数，算法终止；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若选过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，则判断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是素数，否则返回至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。此时对于每一个随机选取的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，都有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≡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合数但一轮检验通过的概率为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轮之后，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是合数的可能性不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超过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即误判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是素数的概率不超过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。由定理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5.1.6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可知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96752"/>
                <a:ext cx="8229600" cy="5256584"/>
              </a:xfrm>
              <a:blipFill rotWithShape="0">
                <a:blip r:embed="rId2"/>
                <a:stretch>
                  <a:fillRect l="-1111" t="-1275" b="-1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902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916832"/>
                <a:ext cx="8229600" cy="4320480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为正奇数，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  <m:r>
                      <a:rPr lang="en-US" altLang="zh-CN" sz="2400" b="0" i="0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|(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1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𝑡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−1)(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𝑡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+1)(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𝑡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+1)⋯(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𝑡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+1)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为素数，则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</m:t>
                    </m:r>
                  </m:oMath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/>
                              <a:ea typeface="Cambria Math"/>
                            </a:rPr>
                            <m:t>𝑡</m:t>
                          </m:r>
                        </m:sup>
                      </m:sSup>
                      <m:r>
                        <a:rPr lang="en-US" altLang="zh-CN" sz="2400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altLang="zh-CN" sz="2400" i="1">
                          <a:latin typeface="Cambria Math"/>
                          <a:ea typeface="Cambria Math"/>
                        </a:rPr>
                        <m:t>1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,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/>
                              <a:ea typeface="Cambria Math"/>
                            </a:rPr>
                            <m:t>𝑡</m:t>
                          </m:r>
                        </m:sup>
                      </m:sSup>
                      <m:r>
                        <a:rPr lang="en-US" altLang="zh-CN" sz="2400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US" altLang="zh-CN" sz="2400" i="1">
                          <a:latin typeface="Cambria Math"/>
                          <a:ea typeface="Cambria Math"/>
                        </a:rPr>
                        <m:t>1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,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/>
                              <a:ea typeface="Cambria Math"/>
                            </a:rPr>
                            <m:t>𝑡</m:t>
                          </m:r>
                        </m:sup>
                      </m:sSup>
                      <m:r>
                        <a:rPr lang="en-US" altLang="zh-CN" sz="2400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−1,…,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/>
                              <a:ea typeface="Cambria Math"/>
                            </a:rPr>
                            <m:t>𝑡</m:t>
                          </m:r>
                        </m:sup>
                      </m:sSup>
                      <m:r>
                        <a:rPr lang="en-US" altLang="zh-CN" sz="2400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altLang="zh-CN" sz="2400" b="0" i="1" smtClean="0">
                          <a:latin typeface="Cambria Math"/>
                          <a:ea typeface="Cambria Math"/>
                        </a:rPr>
                        <m:t>−1</m:t>
                      </m:r>
                    </m:oMath>
                  </m:oMathPara>
                </a14:m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中有一个成立，那么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1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定义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5.1.4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为奇合数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为奇数，若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或存在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,0≤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𝑟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𝑡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≡−1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称为对于基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的强拟素数。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916832"/>
                <a:ext cx="8229600" cy="4320480"/>
              </a:xfrm>
              <a:blipFill rotWithShape="0">
                <a:blip r:embed="rId2"/>
                <a:stretch>
                  <a:fillRect l="-1111" t="-1551" b="-1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147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916832"/>
                <a:ext cx="8229600" cy="3849688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例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2047=23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∙89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的强拟素数。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事实上，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047−1=2</m:t>
                    </m:r>
                    <m:r>
                      <a:rPr lang="en-US" altLang="zh-CN" sz="2400" b="0" i="1" dirty="0" smtClean="0">
                        <a:latin typeface="Cambria Math"/>
                        <a:ea typeface="Cambria Math"/>
                      </a:rPr>
                      <m:t>∙1023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1023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93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93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=1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2047)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2047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的强拟素数。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916832"/>
                <a:ext cx="8229600" cy="3849688"/>
              </a:xfrm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721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定理</a:t>
            </a:r>
            <a:r>
              <a:rPr lang="en-US" altLang="zh-CN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5.1.7 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存在无穷多个对于基</a:t>
            </a:r>
            <a:r>
              <a:rPr lang="en-US" altLang="zh-CN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zh-CN" altLang="en-US" sz="24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的强拟素数。</a:t>
            </a: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CN" sz="2400" dirty="0" smtClean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92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5.1.7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存在无穷多个对于基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的强拟素数。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证明：首先我们证明若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的强拟素数。事实上，因为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素数，所以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是奇合数且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1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，此时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−1=2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𝑛𝑘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为奇数，计算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𝑛𝑘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≡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/>
                            <a:ea typeface="Cambria Math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=1 (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−1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。再由定理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5.1.2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的拟素数，所以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的拟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的强拟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111" t="-1741" r="-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55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5.1.8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的强拟素数，那么它也是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的欧拉拟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978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5.1.8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的强拟素数，那么它也是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对于基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的欧拉拟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定理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5.1.9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是奇合数，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𝑍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,1≤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是对于基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的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强拟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素数的概率不超过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1037" t="-1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6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96752"/>
                <a:ext cx="8229600" cy="5256584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算法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Miller-Rabin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素性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检验）给定正奇数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和参数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为正奇数，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若已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选过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，则判断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素数，算法终止；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随机选取整数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,2≤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  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1</m:t>
                    </m:r>
                    <m:r>
                      <a:rPr lang="zh-CN" altLang="en-US" sz="2400" b="0" i="1" smtClean="0">
                        <a:latin typeface="Cambria Math"/>
                        <a:ea typeface="Cambria Math"/>
                      </a:rPr>
                      <m:t>或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，则返回至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若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/>
                          </a:rPr>
                          <m:t>−1</m:t>
                        </m:r>
                      </m:sub>
                      <m:sup>
                        <m:r>
                          <a:rPr lang="en-US" altLang="zh-CN" sz="2400" i="1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en-US" altLang="zh-CN" sz="2400" i="1">
                        <a:latin typeface="Cambria Math"/>
                      </a:rPr>
                      <m:t> (</m:t>
                    </m:r>
                    <m:r>
                      <a:rPr lang="en-US" altLang="zh-CN" sz="2400" i="1">
                        <a:latin typeface="Cambria Math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，否则返回至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𝑖𝑣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，则判断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是合数，算法终止，否则返回至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ea typeface="Cambria Math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96752"/>
                <a:ext cx="8229600" cy="5256584"/>
              </a:xfrm>
              <a:blipFill rotWithShape="1">
                <a:blip r:embed="rId2"/>
                <a:stretch>
                  <a:fillRect l="-1111" t="-1275" r="-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148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96752"/>
                <a:ext cx="8229600" cy="5256584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算法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5.1.3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（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Miller-Rabin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素性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检验）给定正奇数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和参数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为正奇数，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若已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选过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，则判断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素数，算法终止；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随机选取整数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,2≤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  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1</m:t>
                    </m:r>
                    <m:r>
                      <a:rPr lang="zh-CN" altLang="en-US" sz="2400" b="0" i="1" smtClean="0">
                        <a:latin typeface="Cambria Math"/>
                        <a:ea typeface="Cambria Math"/>
                      </a:rPr>
                      <m:t>或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，则返回至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dirty="0" smtClean="0">
                        <a:latin typeface="Cambria Math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/>
                          </a:rPr>
                          <m:t>−1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latin typeface="Cambria Math"/>
                      </a:rPr>
                      <m:t> (</m:t>
                    </m:r>
                    <m:r>
                      <a:rPr lang="en-US" altLang="zh-CN" sz="2400" b="0" i="1" smtClean="0">
                        <a:latin typeface="Cambria Math"/>
                      </a:rPr>
                      <m:t>𝑚𝑜𝑑</m:t>
                    </m:r>
                    <m:r>
                      <a:rPr lang="en-US" altLang="zh-CN" sz="2400" b="0" i="1" smtClean="0">
                        <a:latin typeface="Cambria Math"/>
                      </a:rPr>
                      <m:t> </m:t>
                    </m:r>
                    <m:r>
                      <a:rPr lang="en-US" altLang="zh-CN" sz="2400" b="0" i="1" smtClean="0">
                        <a:latin typeface="Cambria Math"/>
                      </a:rPr>
                      <m:t>𝑛</m:t>
                    </m:r>
                    <m:r>
                      <a:rPr lang="en-US" altLang="zh-CN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，否则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返回至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；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altLang="zh-CN" sz="2400" i="1"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，则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是合数，算法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终止，否则返回至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zh-CN" altLang="en-US" sz="2400" dirty="0" smtClean="0">
                    <a:ea typeface="Cambria Math"/>
                  </a:rPr>
                  <a:t>显然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是合数的可能性不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超过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即误判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是素数的概率不超过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96752"/>
                <a:ext cx="8229600" cy="5256584"/>
              </a:xfrm>
              <a:blipFill rotWithShape="1">
                <a:blip r:embed="rId2"/>
                <a:stretch>
                  <a:fillRect l="-1111" t="-1275" r="-74" b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50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536" y="2276872"/>
                <a:ext cx="8460432" cy="3744416"/>
              </a:xfrm>
            </p:spPr>
            <p:txBody>
              <a:bodyPr/>
              <a:lstStyle/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实现算法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5.1.2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，判断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800" b="0" i="1" smtClean="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506951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是素数还是合数，其中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要求输出中间结果，包括每一轮选择的随机数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latin typeface="Cambria Math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400" i="1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算法结束时的总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轮数及结束时的位置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或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𝑖𝑖𝑖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。（若某轮的跳出位置为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>
                        <a:latin typeface="Cambria Math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，可不计算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）</a:t>
                </a:r>
                <a:endParaRPr lang="en-US" altLang="zh-CN" sz="2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536" y="2276872"/>
                <a:ext cx="8460432" cy="3744416"/>
              </a:xfrm>
              <a:blipFill rotWithShape="1">
                <a:blip r:embed="rId2"/>
                <a:stretch>
                  <a:fillRect l="-1081" t="-8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33872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上机练习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542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4111</TotalTime>
  <Words>876</Words>
  <Application>Microsoft Office PowerPoint</Application>
  <PresentationFormat>全屏显示(4:3)</PresentationFormat>
  <Paragraphs>140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9" baseType="lpstr">
      <vt:lpstr>等线</vt:lpstr>
      <vt:lpstr>宋体</vt:lpstr>
      <vt:lpstr>微软雅黑</vt:lpstr>
      <vt:lpstr>Arial</vt:lpstr>
      <vt:lpstr>Cambria Math</vt:lpstr>
      <vt:lpstr>默认设计模板</vt:lpstr>
      <vt:lpstr>网络安全数学基础(一)</vt:lpstr>
      <vt:lpstr>网络安全数学基础  第五章 素性检验</vt:lpstr>
      <vt:lpstr>PowerPoint 演示文稿</vt:lpstr>
      <vt:lpstr>§5.1 拟素数</vt:lpstr>
      <vt:lpstr>§5.1 拟素数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上机练习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华东师范大学生命科学学院</dc:title>
  <dc:creator>liuhuan</dc:creator>
  <cp:lastModifiedBy>Adije Shen</cp:lastModifiedBy>
  <cp:revision>249</cp:revision>
  <cp:lastPrinted>2015-09-25T01:40:12Z</cp:lastPrinted>
  <dcterms:created xsi:type="dcterms:W3CDTF">2011-06-14T05:49:02Z</dcterms:created>
  <dcterms:modified xsi:type="dcterms:W3CDTF">2017-06-14T00:50:53Z</dcterms:modified>
</cp:coreProperties>
</file>