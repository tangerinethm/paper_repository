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0"/>
  </p:notesMasterIdLst>
  <p:sldIdLst>
    <p:sldId id="256" r:id="rId2"/>
    <p:sldId id="329" r:id="rId3"/>
    <p:sldId id="330" r:id="rId4"/>
    <p:sldId id="344" r:id="rId5"/>
    <p:sldId id="272" r:id="rId6"/>
    <p:sldId id="345" r:id="rId7"/>
    <p:sldId id="257" r:id="rId8"/>
    <p:sldId id="258" r:id="rId9"/>
    <p:sldId id="346" r:id="rId10"/>
    <p:sldId id="347" r:id="rId11"/>
    <p:sldId id="348" r:id="rId12"/>
    <p:sldId id="259" r:id="rId13"/>
    <p:sldId id="349" r:id="rId14"/>
    <p:sldId id="350" r:id="rId15"/>
    <p:sldId id="351" r:id="rId16"/>
    <p:sldId id="332" r:id="rId17"/>
    <p:sldId id="333" r:id="rId18"/>
    <p:sldId id="352" r:id="rId19"/>
    <p:sldId id="353" r:id="rId20"/>
    <p:sldId id="334" r:id="rId21"/>
    <p:sldId id="354" r:id="rId22"/>
    <p:sldId id="355" r:id="rId23"/>
    <p:sldId id="356" r:id="rId24"/>
    <p:sldId id="335" r:id="rId25"/>
    <p:sldId id="357" r:id="rId26"/>
    <p:sldId id="358" r:id="rId27"/>
    <p:sldId id="336" r:id="rId28"/>
    <p:sldId id="359" r:id="rId29"/>
    <p:sldId id="331" r:id="rId30"/>
    <p:sldId id="360" r:id="rId31"/>
    <p:sldId id="361" r:id="rId32"/>
    <p:sldId id="276" r:id="rId33"/>
    <p:sldId id="362" r:id="rId34"/>
    <p:sldId id="363" r:id="rId35"/>
    <p:sldId id="260" r:id="rId36"/>
    <p:sldId id="365" r:id="rId37"/>
    <p:sldId id="366" r:id="rId38"/>
    <p:sldId id="367" r:id="rId39"/>
    <p:sldId id="261" r:id="rId40"/>
    <p:sldId id="368" r:id="rId41"/>
    <p:sldId id="262" r:id="rId42"/>
    <p:sldId id="369" r:id="rId43"/>
    <p:sldId id="337" r:id="rId44"/>
    <p:sldId id="370" r:id="rId45"/>
    <p:sldId id="339" r:id="rId46"/>
    <p:sldId id="371" r:id="rId47"/>
    <p:sldId id="342" r:id="rId48"/>
    <p:sldId id="372" r:id="rId49"/>
    <p:sldId id="373" r:id="rId50"/>
    <p:sldId id="374" r:id="rId51"/>
    <p:sldId id="375" r:id="rId52"/>
    <p:sldId id="343" r:id="rId53"/>
    <p:sldId id="376" r:id="rId54"/>
    <p:sldId id="338" r:id="rId55"/>
    <p:sldId id="377" r:id="rId56"/>
    <p:sldId id="263" r:id="rId57"/>
    <p:sldId id="264" r:id="rId58"/>
    <p:sldId id="378" r:id="rId59"/>
    <p:sldId id="380" r:id="rId60"/>
    <p:sldId id="379" r:id="rId61"/>
    <p:sldId id="265" r:id="rId62"/>
    <p:sldId id="266" r:id="rId63"/>
    <p:sldId id="381" r:id="rId64"/>
    <p:sldId id="382" r:id="rId65"/>
    <p:sldId id="279" r:id="rId66"/>
    <p:sldId id="383" r:id="rId67"/>
    <p:sldId id="267" r:id="rId68"/>
    <p:sldId id="268" r:id="rId69"/>
    <p:sldId id="384" r:id="rId70"/>
    <p:sldId id="280" r:id="rId71"/>
    <p:sldId id="275" r:id="rId72"/>
    <p:sldId id="385" r:id="rId73"/>
    <p:sldId id="281" r:id="rId74"/>
    <p:sldId id="386" r:id="rId75"/>
    <p:sldId id="271" r:id="rId76"/>
    <p:sldId id="387" r:id="rId77"/>
    <p:sldId id="388" r:id="rId78"/>
    <p:sldId id="270" r:id="rId79"/>
    <p:sldId id="389" r:id="rId80"/>
    <p:sldId id="390" r:id="rId81"/>
    <p:sldId id="278" r:id="rId82"/>
    <p:sldId id="391" r:id="rId83"/>
    <p:sldId id="392" r:id="rId84"/>
    <p:sldId id="282" r:id="rId85"/>
    <p:sldId id="393" r:id="rId86"/>
    <p:sldId id="394" r:id="rId87"/>
    <p:sldId id="269" r:id="rId88"/>
    <p:sldId id="395" r:id="rId89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60"/>
  </p:normalViewPr>
  <p:slideViewPr>
    <p:cSldViewPr>
      <p:cViewPr varScale="1">
        <p:scale>
          <a:sx n="115" d="100"/>
          <a:sy n="115" d="100"/>
        </p:scale>
        <p:origin x="124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0C13E-23FC-48F3-95A9-E525834D9428}" type="datetimeFigureOut">
              <a:rPr lang="zh-CN" altLang="en-US" smtClean="0"/>
              <a:t>2017/2/21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84C2A-EB87-4311-AF30-7E7E38DDB5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798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此处，整除的定义仅与乘法运算相关，与小学是学的大不相同，但是是一致的。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84C2A-EB87-4311-AF30-7E7E38DDB5B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177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此处，整除的定义仅与乘法运算相关，与小学是学的大不相同，但是是一致的。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84C2A-EB87-4311-AF30-7E7E38DDB5B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022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此处，整除的定义仅与乘法运算相关，与小学是学的大不相同，但是是一致的。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84C2A-EB87-4311-AF30-7E7E38DDB5B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871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1E7615-5A90-41BB-A3DD-B0D5F4BD14B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7038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42C865-5457-4219-A943-D19DF3DCC14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321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BC1CDA-6130-4718-92C6-6B8BD3ECA8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5690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276475"/>
            <a:ext cx="4038600" cy="3849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276475"/>
            <a:ext cx="4038600" cy="3849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57F577-978C-4BA5-B5DD-275CCA3C12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6002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392F2F-4756-4D28-B347-8AEF1074F3F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9750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9247A9-179F-4D0C-BE11-9A13F8907D2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0005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D4979A-900E-4C85-B5BE-2947393042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4280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D9FDD7-5457-4AAC-8208-15F47735F9C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983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0744C8-7A71-4489-B44E-7B5E127F275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127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A919D-2C84-4083-801B-9EA3562612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5892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8925" y="981075"/>
            <a:ext cx="2058988" cy="51450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81075"/>
            <a:ext cx="6029325" cy="51450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056FEB-586A-4032-B2F0-1204A477F2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3657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981075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276475"/>
            <a:ext cx="8229600" cy="384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B17CC08-7374-4DCA-8706-3D45ED527A6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网络安全数学基础</a:t>
            </a:r>
            <a:r>
              <a:rPr lang="en-US" altLang="zh-CN" dirty="0" smtClean="0"/>
              <a:t>(</a:t>
            </a:r>
            <a:r>
              <a:rPr lang="zh-CN" altLang="en-US" dirty="0" smtClean="0"/>
              <a:t>一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2400" dirty="0"/>
              <a:t>沈佳</a:t>
            </a:r>
            <a:r>
              <a:rPr lang="zh-CN" altLang="en-US" sz="2400" dirty="0" smtClean="0"/>
              <a:t>辰</a:t>
            </a:r>
            <a:endParaRPr lang="en-US" altLang="zh-CN" sz="2400" dirty="0" smtClean="0"/>
          </a:p>
          <a:p>
            <a:r>
              <a:rPr lang="en-US" altLang="zh-CN" sz="2400" dirty="0" smtClean="0"/>
              <a:t>jcshen@sei.ecnu.edu.cn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76474"/>
            <a:ext cx="8507288" cy="4320878"/>
          </a:xfrm>
        </p:spPr>
        <p:txBody>
          <a:bodyPr/>
          <a:lstStyle/>
          <a:p>
            <a:r>
              <a:rPr lang="zh-CN" altLang="en-US" dirty="0" smtClean="0"/>
              <a:t>办公室</a:t>
            </a:r>
            <a:r>
              <a:rPr lang="en-US" altLang="zh-CN" dirty="0" smtClean="0"/>
              <a:t>:</a:t>
            </a:r>
            <a:r>
              <a:rPr lang="zh-CN" altLang="en-US" dirty="0" smtClean="0"/>
              <a:t>理科大楼</a:t>
            </a:r>
            <a:r>
              <a:rPr lang="en-US" altLang="zh-CN" dirty="0" smtClean="0"/>
              <a:t>B1203</a:t>
            </a:r>
          </a:p>
          <a:p>
            <a:endParaRPr lang="en-US" altLang="zh-CN" dirty="0"/>
          </a:p>
          <a:p>
            <a:r>
              <a:rPr lang="en-US" altLang="zh-CN" dirty="0" smtClean="0"/>
              <a:t>Email: jcshen@sei.ecnu.edu.cn</a:t>
            </a:r>
          </a:p>
          <a:p>
            <a:endParaRPr lang="en-US" altLang="zh-CN" dirty="0"/>
          </a:p>
          <a:p>
            <a:r>
              <a:rPr lang="zh-CN" altLang="en-US" dirty="0" smtClean="0"/>
              <a:t>电话：</a:t>
            </a:r>
            <a:r>
              <a:rPr lang="en-US" altLang="zh-CN" dirty="0" smtClean="0"/>
              <a:t>62233147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320982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助教信息</a:t>
            </a:r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76474"/>
            <a:ext cx="8507288" cy="4320878"/>
          </a:xfrm>
        </p:spPr>
        <p:txBody>
          <a:bodyPr/>
          <a:lstStyle/>
          <a:p>
            <a:r>
              <a:rPr lang="zh-CN" altLang="en-US" dirty="0" smtClean="0"/>
              <a:t>姓名：陈宏媛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Email</a:t>
            </a:r>
            <a:r>
              <a:rPr lang="en-US" altLang="zh-CN" dirty="0"/>
              <a:t>: </a:t>
            </a:r>
            <a:r>
              <a:rPr lang="en-US" altLang="zh-CN" dirty="0" smtClean="0"/>
              <a:t>sei_chy2012@126.com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答疑时间：周五</a:t>
            </a:r>
            <a:r>
              <a:rPr lang="en-US" altLang="zh-CN" dirty="0" smtClean="0"/>
              <a:t>9:00-11:00</a:t>
            </a:r>
          </a:p>
          <a:p>
            <a:pPr marL="0" indent="0">
              <a:buNone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          </a:t>
            </a:r>
            <a:r>
              <a:rPr lang="zh-CN" altLang="en-US" dirty="0" smtClean="0"/>
              <a:t>地点：理科大楼</a:t>
            </a:r>
            <a:r>
              <a:rPr lang="en-US" altLang="zh-CN" dirty="0" smtClean="0"/>
              <a:t>B224</a:t>
            </a:r>
            <a:r>
              <a:rPr lang="en-US" altLang="zh-CN" sz="2400" dirty="0" smtClean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03037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692696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72816"/>
            <a:ext cx="8229600" cy="4608512"/>
          </a:xfrm>
        </p:spPr>
        <p:txBody>
          <a:bodyPr/>
          <a:lstStyle/>
          <a:p>
            <a:r>
              <a:rPr lang="zh-CN" altLang="en-US" sz="2800" dirty="0" smtClean="0"/>
              <a:t>初等数论</a:t>
            </a:r>
            <a:endParaRPr lang="en-US" altLang="zh-CN" sz="2800" dirty="0" smtClean="0"/>
          </a:p>
          <a:p>
            <a:endParaRPr lang="en-US" altLang="zh-CN" sz="2800" dirty="0" smtClean="0"/>
          </a:p>
        </p:txBody>
      </p:sp>
    </p:spTree>
    <p:extLst>
      <p:ext uri="{BB962C8B-B14F-4D97-AF65-F5344CB8AC3E}">
        <p14:creationId xmlns:p14="http://schemas.microsoft.com/office/powerpoint/2010/main" val="3831427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692696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72816"/>
            <a:ext cx="8229600" cy="4608512"/>
          </a:xfrm>
        </p:spPr>
        <p:txBody>
          <a:bodyPr/>
          <a:lstStyle/>
          <a:p>
            <a:r>
              <a:rPr lang="zh-CN" altLang="en-US" sz="2800" dirty="0" smtClean="0"/>
              <a:t>初等数论</a:t>
            </a:r>
            <a:endParaRPr lang="en-US" altLang="zh-CN" sz="2800" dirty="0" smtClean="0"/>
          </a:p>
          <a:p>
            <a:endParaRPr lang="en-US" altLang="zh-CN" sz="2800" dirty="0" smtClean="0"/>
          </a:p>
          <a:p>
            <a:pPr>
              <a:buFont typeface="宋体" pitchFamily="2" charset="-122"/>
              <a:buChar char="－"/>
            </a:pPr>
            <a:r>
              <a:rPr lang="zh-CN" altLang="en-US" sz="2400" dirty="0" smtClean="0"/>
              <a:t>整除性理论</a:t>
            </a:r>
            <a:endParaRPr lang="en-US" altLang="zh-CN" sz="2400" dirty="0" smtClean="0"/>
          </a:p>
          <a:p>
            <a:pPr>
              <a:buFont typeface="宋体" pitchFamily="2" charset="-122"/>
              <a:buChar char="－"/>
            </a:pPr>
            <a:r>
              <a:rPr lang="zh-CN" altLang="en-US" sz="2400" dirty="0" smtClean="0"/>
              <a:t>同余</a:t>
            </a:r>
            <a:r>
              <a:rPr lang="zh-CN" altLang="en-US" sz="2400" dirty="0" smtClean="0"/>
              <a:t>与一次同余式</a:t>
            </a:r>
            <a:endParaRPr lang="en-US" altLang="zh-CN" sz="2400" dirty="0" smtClean="0"/>
          </a:p>
          <a:p>
            <a:pPr>
              <a:buFont typeface="宋体" pitchFamily="2" charset="-122"/>
              <a:buChar char="－"/>
            </a:pPr>
            <a:r>
              <a:rPr lang="zh-CN" altLang="en-US" sz="2400" dirty="0" smtClean="0"/>
              <a:t>二次剩余与二次同余式</a:t>
            </a:r>
            <a:endParaRPr lang="en-US" altLang="zh-CN" sz="2400" dirty="0" smtClean="0"/>
          </a:p>
          <a:p>
            <a:pPr>
              <a:buFont typeface="宋体" pitchFamily="2" charset="-122"/>
              <a:buChar char="－"/>
            </a:pPr>
            <a:r>
              <a:rPr lang="zh-CN" altLang="en-US" sz="2400" dirty="0" smtClean="0"/>
              <a:t>原根与</a:t>
            </a:r>
            <a:r>
              <a:rPr lang="en-US" altLang="zh-CN" sz="2400" dirty="0" smtClean="0"/>
              <a:t>n</a:t>
            </a:r>
            <a:r>
              <a:rPr lang="zh-CN" altLang="en-US" sz="2400" dirty="0" smtClean="0"/>
              <a:t>次剩余</a:t>
            </a:r>
            <a:endParaRPr lang="en-US" altLang="zh-CN" sz="2400" dirty="0" smtClean="0"/>
          </a:p>
          <a:p>
            <a:pPr>
              <a:buFont typeface="宋体" pitchFamily="2" charset="-122"/>
              <a:buChar char="－"/>
            </a:pPr>
            <a:r>
              <a:rPr lang="zh-CN" altLang="en-US" sz="2400" dirty="0"/>
              <a:t>素性测试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800" dirty="0" smtClean="0"/>
              <a:t>    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01766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132856"/>
            <a:ext cx="8507288" cy="4320878"/>
          </a:xfrm>
        </p:spPr>
        <p:txBody>
          <a:bodyPr/>
          <a:lstStyle/>
          <a:p>
            <a:r>
              <a:rPr lang="zh-CN" altLang="en-US" dirty="0" smtClean="0"/>
              <a:t>教材：</a:t>
            </a:r>
            <a:r>
              <a:rPr lang="en-US" altLang="zh-CN" dirty="0" smtClean="0"/>
              <a:t>《</a:t>
            </a:r>
            <a:r>
              <a:rPr lang="zh-CN" altLang="en-US" dirty="0" smtClean="0"/>
              <a:t>信息安全数学基础</a:t>
            </a:r>
            <a:r>
              <a:rPr lang="en-US" altLang="zh-CN" dirty="0" smtClean="0"/>
              <a:t>》</a:t>
            </a:r>
            <a:r>
              <a:rPr lang="zh-CN" altLang="en-US" dirty="0" smtClean="0"/>
              <a:t>陈恭亮著</a:t>
            </a:r>
            <a:endParaRPr lang="en-US" altLang="zh-CN" dirty="0"/>
          </a:p>
          <a:p>
            <a:r>
              <a:rPr lang="zh-CN" altLang="en-US" dirty="0" smtClean="0"/>
              <a:t>参考书目：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2400" dirty="0" smtClean="0"/>
              <a:t>《</a:t>
            </a:r>
            <a:r>
              <a:rPr lang="zh-CN" altLang="en-US" sz="2400" dirty="0" smtClean="0"/>
              <a:t>数论讲义</a:t>
            </a:r>
            <a:r>
              <a:rPr lang="en-US" altLang="zh-CN" sz="2400" dirty="0" smtClean="0"/>
              <a:t>》</a:t>
            </a:r>
            <a:r>
              <a:rPr lang="zh-CN" altLang="en-US" sz="2400" dirty="0" smtClean="0"/>
              <a:t>（第二版），柯召、孙琦著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/>
              <a:t>《Elements Of Number Theory》</a:t>
            </a:r>
            <a:r>
              <a:rPr lang="zh-CN" altLang="en-US" sz="2400" dirty="0"/>
              <a:t>（英文版），史迪威 </a:t>
            </a:r>
            <a:r>
              <a:rPr lang="en-US" altLang="zh-CN" sz="2400" dirty="0"/>
              <a:t>(John Stillwell)</a:t>
            </a:r>
            <a:r>
              <a:rPr lang="zh-CN" altLang="en-US" sz="2400" dirty="0" smtClean="0"/>
              <a:t>著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 smtClean="0"/>
              <a:t>《</a:t>
            </a:r>
            <a:r>
              <a:rPr lang="zh-CN" altLang="en-US" sz="2400" dirty="0" smtClean="0"/>
              <a:t>离散数学</a:t>
            </a:r>
            <a:r>
              <a:rPr lang="en-US" altLang="zh-CN" sz="2400" dirty="0" smtClean="0"/>
              <a:t>》</a:t>
            </a:r>
            <a:r>
              <a:rPr lang="zh-CN" altLang="en-US" sz="2400" dirty="0" smtClean="0"/>
              <a:t>，董晓蕾、曹珍富著</a:t>
            </a:r>
            <a:endParaRPr lang="en-US" altLang="zh-CN" sz="2400" dirty="0" smtClean="0"/>
          </a:p>
          <a:p>
            <a:pPr marL="0" indent="0">
              <a:buNone/>
            </a:pP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2597469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132856"/>
            <a:ext cx="8507288" cy="4320878"/>
          </a:xfrm>
        </p:spPr>
        <p:txBody>
          <a:bodyPr/>
          <a:lstStyle/>
          <a:p>
            <a:r>
              <a:rPr lang="zh-CN" altLang="en-US" dirty="0" smtClean="0"/>
              <a:t>教材：</a:t>
            </a:r>
            <a:r>
              <a:rPr lang="en-US" altLang="zh-CN" dirty="0" smtClean="0"/>
              <a:t>《</a:t>
            </a:r>
            <a:r>
              <a:rPr lang="zh-CN" altLang="en-US" dirty="0" smtClean="0"/>
              <a:t>信息安全数学基础</a:t>
            </a:r>
            <a:r>
              <a:rPr lang="en-US" altLang="zh-CN" dirty="0" smtClean="0"/>
              <a:t>》</a:t>
            </a:r>
            <a:r>
              <a:rPr lang="zh-CN" altLang="en-US" dirty="0" smtClean="0"/>
              <a:t>陈恭亮著</a:t>
            </a:r>
            <a:endParaRPr lang="en-US" altLang="zh-CN" dirty="0"/>
          </a:p>
          <a:p>
            <a:r>
              <a:rPr lang="zh-CN" altLang="en-US" dirty="0" smtClean="0"/>
              <a:t>参考书目：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2400" dirty="0" smtClean="0"/>
              <a:t>《</a:t>
            </a:r>
            <a:r>
              <a:rPr lang="zh-CN" altLang="en-US" sz="2400" dirty="0" smtClean="0"/>
              <a:t>数论讲义</a:t>
            </a:r>
            <a:r>
              <a:rPr lang="en-US" altLang="zh-CN" sz="2400" dirty="0" smtClean="0"/>
              <a:t>》</a:t>
            </a:r>
            <a:r>
              <a:rPr lang="zh-CN" altLang="en-US" sz="2400" dirty="0" smtClean="0"/>
              <a:t>（第二版），柯召、孙琦著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/>
              <a:t>《Elements Of Number Theory》</a:t>
            </a:r>
            <a:r>
              <a:rPr lang="zh-CN" altLang="en-US" sz="2400" dirty="0"/>
              <a:t>（英文版），史迪威 </a:t>
            </a:r>
            <a:r>
              <a:rPr lang="en-US" altLang="zh-CN" sz="2400" dirty="0"/>
              <a:t>(John Stillwell)</a:t>
            </a:r>
            <a:r>
              <a:rPr lang="zh-CN" altLang="en-US" sz="2400" dirty="0" smtClean="0"/>
              <a:t>著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 smtClean="0"/>
              <a:t>《</a:t>
            </a:r>
            <a:r>
              <a:rPr lang="zh-CN" altLang="en-US" sz="2400" dirty="0" smtClean="0"/>
              <a:t>离散数学</a:t>
            </a:r>
            <a:r>
              <a:rPr lang="en-US" altLang="zh-CN" sz="2400" dirty="0" smtClean="0"/>
              <a:t>》</a:t>
            </a:r>
            <a:r>
              <a:rPr lang="zh-CN" altLang="en-US" sz="2400" dirty="0" smtClean="0"/>
              <a:t>，董晓蕾、曹珍富著</a:t>
            </a:r>
            <a:endParaRPr lang="en-US" altLang="zh-CN" sz="2400" dirty="0" smtClean="0"/>
          </a:p>
          <a:p>
            <a:pPr marL="0" indent="0">
              <a:buNone/>
            </a:pPr>
            <a:endParaRPr lang="en-US" altLang="zh-CN" sz="2400" dirty="0" smtClean="0"/>
          </a:p>
          <a:p>
            <a:pPr>
              <a:buFont typeface="Arial" pitchFamily="34" charset="0"/>
              <a:buChar char="•"/>
            </a:pPr>
            <a:r>
              <a:rPr lang="zh-CN" altLang="en-US" dirty="0" smtClean="0"/>
              <a:t>考核</a:t>
            </a:r>
            <a:r>
              <a:rPr lang="zh-CN" altLang="en-US" dirty="0"/>
              <a:t>方式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sz="2400" dirty="0" smtClean="0"/>
              <a:t>平时成绩</a:t>
            </a:r>
            <a:r>
              <a:rPr lang="en-US" altLang="zh-CN" sz="2400" dirty="0" smtClean="0"/>
              <a:t>40%</a:t>
            </a:r>
            <a:r>
              <a:rPr lang="zh-CN" altLang="en-US" sz="2400" dirty="0" smtClean="0"/>
              <a:t>，期末考试</a:t>
            </a:r>
            <a:r>
              <a:rPr lang="en-US" altLang="zh-CN" sz="2400" dirty="0" smtClean="0"/>
              <a:t>60%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2060848"/>
            <a:ext cx="8208143" cy="2304256"/>
          </a:xfrm>
        </p:spPr>
        <p:txBody>
          <a:bodyPr/>
          <a:lstStyle/>
          <a:p>
            <a:r>
              <a:rPr lang="zh-CN" altLang="en-US" dirty="0" smtClean="0"/>
              <a:t>网络安全数学基础（一）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第一章 整数的可除性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8840"/>
            <a:ext cx="8229600" cy="4392488"/>
          </a:xfrm>
        </p:spPr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数论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是研究整数的学科</a:t>
            </a:r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026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8840"/>
            <a:ext cx="8229600" cy="4392488"/>
          </a:xfrm>
        </p:spPr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数论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是研究整数的学科</a:t>
            </a:r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整数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的集合：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{…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-3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-2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-1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…} </a:t>
            </a:r>
          </a:p>
          <a:p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117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8840"/>
            <a:ext cx="8229600" cy="4392488"/>
          </a:xfrm>
        </p:spPr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数论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是研究整数的学科</a:t>
            </a:r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整数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的集合：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{…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-3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-2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-1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…} </a:t>
            </a:r>
          </a:p>
          <a:p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在数学中有一门称为“整数论”的</a:t>
            </a: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分支</a:t>
            </a: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719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8840"/>
            <a:ext cx="8229600" cy="4392488"/>
          </a:xfrm>
        </p:spPr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数论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是研究整数的学科</a:t>
            </a:r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整数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的集合：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{…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-3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-2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-1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…} </a:t>
            </a:r>
          </a:p>
          <a:p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在数学中有一门称为“整数论”的分支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早在公元前</a:t>
            </a:r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50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年左右，在我国第一部数学专著</a:t>
            </a:r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九章算术</a:t>
            </a:r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（作者不详）的第一章中就开始讨论整数，介绍了辗转相除法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它与公元前三世纪欧几里德所著</a:t>
            </a:r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几何原本</a:t>
            </a:r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中介绍的辗转相除法是各自独立地总结出来的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五世纪时，在我国的</a:t>
            </a:r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孙子算经</a:t>
            </a:r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中更有闻名于世的中国剩余定理（即孙子定理），也对整数做了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研究</a:t>
            </a:r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什么叫整数？</a:t>
            </a: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50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什么叫整数？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整数的一部分</a:t>
            </a:r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—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最简单的数学模型就是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自然数</a:t>
            </a:r>
            <a:endParaRPr lang="en-US" altLang="zh-CN" sz="20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732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什么叫整数？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整数的一部分</a:t>
            </a:r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—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最简单的数学模型就是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自然数</a:t>
            </a:r>
            <a:endParaRPr lang="en-US" altLang="zh-CN" sz="20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自然数是由人类生产和生活实践中产生的，再从具体事物中抽象出来</a:t>
            </a:r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594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什么叫整数？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整数的一部分</a:t>
            </a:r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—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最简单的数学模型就是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自然数</a:t>
            </a:r>
            <a:endParaRPr lang="en-US" altLang="zh-CN" sz="20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自然数是由人类生产和生活实践中产生的，再从具体事物中抽象出来</a:t>
            </a:r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自然数的严格定义是在集合论的基础上，由</a:t>
            </a:r>
            <a:r>
              <a:rPr lang="en-US" altLang="zh-CN" sz="2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Peano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（皮亚诺）给出了自然数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公理</a:t>
            </a:r>
            <a:endParaRPr lang="en-US" altLang="zh-CN" sz="20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如果有一些对象</a:t>
            </a:r>
            <a:r>
              <a:rPr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可数集</a:t>
            </a:r>
            <a:r>
              <a:rPr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，除了它们的数目之外其它性质我们不予考虑的话，我们就可以用自然数来数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它们</a:t>
            </a:r>
            <a:endParaRPr lang="en-US" altLang="zh-CN" sz="16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660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负数也是由人类生产和生活实践中产生的，最初用于表示缺少和亏空之意。</a:t>
            </a:r>
            <a:endParaRPr lang="en-US" altLang="zh-CN" sz="20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战国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时期李悝（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约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前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455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～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395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）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在</a:t>
            </a:r>
            <a:r>
              <a:rPr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法经</a:t>
            </a:r>
            <a:r>
              <a:rPr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中已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出现使用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负数的实例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：“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衣五人终岁用千五百不足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四百五十。”</a:t>
            </a:r>
            <a:endParaRPr lang="en-US" altLang="zh-CN" sz="16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13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负数也是由人类生产和生活实践中产生的，最初用于表示缺少和亏空之意。</a:t>
            </a:r>
            <a:endParaRPr lang="en-US" altLang="zh-CN" sz="20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战国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时期李悝（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约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前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455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～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395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）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在</a:t>
            </a:r>
            <a:r>
              <a:rPr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法经</a:t>
            </a:r>
            <a:r>
              <a:rPr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中已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出现使用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负数的实例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：“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衣五人终岁用千五百不足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四百五十。”</a:t>
            </a:r>
            <a:endParaRPr lang="en-US" altLang="zh-CN" sz="16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负数产生的另一个原因是由于解方程的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需要。</a:t>
            </a:r>
            <a:endParaRPr lang="en-US" altLang="zh-CN" sz="20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据世界上第一部关于负数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完整介绍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的古算书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九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章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算术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记载，由于在解方程组的时候常常会碰到小数减大数的情况，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为了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使方程组能够解下去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，数学家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发明了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负数。</a:t>
            </a:r>
            <a:endParaRPr lang="zh-CN" altLang="en-US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2"/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公元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世纪，刘徽在注解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九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章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算术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时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率先给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出了负数的定义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：“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两算得矢相反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，要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以正负以名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之。”</a:t>
            </a:r>
            <a:endParaRPr lang="en-US" altLang="zh-CN" sz="16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372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负数也是由人类生产和生活实践中产生的，最初用于表示缺少和亏空之意。</a:t>
            </a:r>
            <a:endParaRPr lang="en-US" altLang="zh-CN" sz="20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战国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时期李悝（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约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前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455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～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395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）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在</a:t>
            </a:r>
            <a:r>
              <a:rPr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法经</a:t>
            </a:r>
            <a:r>
              <a:rPr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中已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出现使用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负数的实例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：“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衣五人终岁用千五百不足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四百五十。”</a:t>
            </a:r>
            <a:endParaRPr lang="en-US" altLang="zh-CN" sz="16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负数产生的另一个原因是由于解方程的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需要。</a:t>
            </a:r>
            <a:endParaRPr lang="en-US" altLang="zh-CN" sz="20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据世界上第一部关于负数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完整介绍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的古算书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九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章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算术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记载，由于在解方程组的时候常常会碰到小数减大数的情况，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为了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使方程组能够解下去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，数学家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发明了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负数。</a:t>
            </a:r>
            <a:endParaRPr lang="zh-CN" altLang="en-US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2"/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公元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世纪，刘徽在注解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九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章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算术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时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率先给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出了负数的定义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：“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两算得矢相反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，要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以正负以名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之。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”</a:t>
            </a:r>
            <a:endParaRPr lang="en-US" altLang="zh-CN" sz="16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r>
              <a:rPr lang="en-US" altLang="zh-C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1572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年，意大利数学家邦贝利（</a:t>
            </a:r>
            <a:r>
              <a:rPr lang="en-US" altLang="zh-C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．</a:t>
            </a:r>
            <a:r>
              <a:rPr lang="en-US" altLang="zh-CN" sz="20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Bombelli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1526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～</a:t>
            </a:r>
            <a:r>
              <a:rPr lang="en-US" altLang="zh-C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1572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）在他的</a:t>
            </a:r>
            <a:r>
              <a:rPr lang="en-US" altLang="zh-C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代数学</a:t>
            </a:r>
            <a:r>
              <a:rPr lang="en-US" altLang="zh-C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中才给出了负数的明确定义。</a:t>
            </a:r>
            <a:endParaRPr lang="en-US" altLang="zh-CN" sz="20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75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无穷大</a:t>
            </a: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536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无穷大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总有一些数目由于太大而没有名称。这种现象或许就是人们第一次碰到无穷大</a:t>
            </a: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这在古代就已经导致这种严肃的问题：有没有大得不能数的数？</a:t>
            </a: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898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无穷大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总有一些数目由于太大而没有名称。这种现象或许就是人们第一次碰到无穷大</a:t>
            </a: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这在古代就已经导致这种严肃的问题：有没有大得不能数的数？</a:t>
            </a:r>
          </a:p>
          <a:p>
            <a:pPr lvl="1"/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阿基米德在一本题为</a:t>
            </a:r>
            <a:r>
              <a:rPr lang="en-US" altLang="zh-C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数沙器</a:t>
            </a:r>
            <a:r>
              <a:rPr lang="en-US" altLang="zh-C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（公元前</a:t>
            </a:r>
            <a:r>
              <a:rPr lang="en-US" altLang="zh-C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200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年）的书中列举了一系列增长很快的数目，并且通过体积的估计而证明：这些数目当中有些数目比地球上甚至比太阳系中的沙粒的数目还大</a:t>
            </a: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7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无穷大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总有一些数目由于太大而没有名称。这种现象或许就是人们第一次碰到无穷大</a:t>
            </a: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这在古代就已经导致这种严肃的问题：有没有大得不能数的数？</a:t>
            </a:r>
          </a:p>
          <a:p>
            <a:pPr lvl="1"/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阿基米德在一本题为</a:t>
            </a:r>
            <a:r>
              <a:rPr lang="en-US" altLang="zh-C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数沙器</a:t>
            </a:r>
            <a:r>
              <a:rPr lang="en-US" altLang="zh-C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（公元前</a:t>
            </a:r>
            <a:r>
              <a:rPr lang="en-US" altLang="zh-C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200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年）的书中列举了一系列增长很快的数目，并且通过体积的估计而证明：这些数目当中有些数目比地球上甚至比太阳系中的沙粒的数目还大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有了研究的对象集合，再建立对象集合上的运算。</a:t>
            </a: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一些乘法的经验表明，有些数是一些比</a:t>
            </a:r>
            <a:r>
              <a:rPr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大的其它数的乘积</a:t>
            </a: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而有些数，就没有这种性质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----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素数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（质数）</a:t>
            </a:r>
            <a:endParaRPr lang="zh-CN" altLang="en-US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在欧几里德的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几何原本</a:t>
            </a:r>
            <a:r>
              <a:rPr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中，已经有一个简单而巧妙的推理能够得出结论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：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素数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无穷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多</a:t>
            </a: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10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计算机只能处理有限数和有限个数，计算机的计算模型，硬件体系结构的设计与实现，代数编码，软件设计与实现，计算机通信及密码学等，都广泛使用了整数</a:t>
            </a: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理论</a:t>
            </a:r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而数学可以处理无穷大</a:t>
            </a: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614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整数的特点</a:t>
            </a: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332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整数的特点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任意两个整数可以相加，相减，相乘，结果仍是整数</a:t>
            </a: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114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整数的特点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任意两个整数可以相加，相减，相乘，结果仍是整数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但两个整数不一定能在整数的范围内相除，这是整数系统的特点</a:t>
            </a: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研究整数就针对这一特点加以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分析</a:t>
            </a:r>
            <a:endParaRPr lang="en-US" altLang="zh-CN" sz="16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329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整数的特点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任意两个整数可以相加，相减，相乘，结果仍是整数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但两个整数不一定能在整数的范围内相除，这是整数系统的特点</a:t>
            </a: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研究整数就针对这一特点加以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分析</a:t>
            </a:r>
            <a:endParaRPr lang="en-US" altLang="zh-CN" sz="16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实际上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，研究整数的性质基本上就是要研究整除性和因数分解等问题</a:t>
            </a: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以及由此衍生出的问题</a:t>
            </a: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600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§1.1 </a:t>
            </a:r>
            <a:r>
              <a:rPr lang="zh-CN" altLang="en-US" dirty="0" smtClean="0"/>
              <a:t>整除性</a:t>
            </a:r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837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§1.1 </a:t>
            </a:r>
            <a:r>
              <a:rPr lang="zh-CN" altLang="en-US" dirty="0" smtClean="0"/>
              <a:t>整除性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1.1.1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,且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≠0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𝑍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表示全体整数的集合，如果存在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,使得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𝑏𝑞</m:t>
                      </m:r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则称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整除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被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整除，记作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此时称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为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为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倍数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7333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§1.1 </a:t>
            </a:r>
            <a:r>
              <a:rPr lang="zh-CN" altLang="en-US" dirty="0" smtClean="0"/>
              <a:t>整除性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1.1.1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,且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≠0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𝑍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表示全体整数的集合，如果存在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,使得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𝑏𝑞</m:t>
                      </m:r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则称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整除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被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整除，记作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此时称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为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为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倍数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若不存在这样的整数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不整除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不被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整除，记作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 l="-1037" t="-1741" b="-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9877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ea typeface="Cambria Math" panose="02040503050406030204" pitchFamily="18" charset="0"/>
                  </a:rPr>
                  <a:t>例：</a:t>
                </a:r>
                <a14:m>
                  <m:oMath xmlns:m="http://schemas.openxmlformats.org/officeDocument/2006/math">
                    <m:r>
                      <a:rPr lang="en-US" altLang="zh-CN" sz="2400" dirty="0" smtClean="0">
                        <a:latin typeface="Cambria Math"/>
                        <a:ea typeface="Cambria Math" panose="02040503050406030204" pitchFamily="18" charset="0"/>
                      </a:rPr>
                      <m:t>3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21</m:t>
                        </m:r>
                        <m:r>
                          <a:rPr lang="zh-CN" altLang="en-US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60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24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052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ea typeface="Cambria Math" panose="02040503050406030204" pitchFamily="18" charset="0"/>
                  </a:rPr>
                  <a:t>例：</a:t>
                </a:r>
                <a14:m>
                  <m:oMath xmlns:m="http://schemas.openxmlformats.org/officeDocument/2006/math">
                    <m:r>
                      <a:rPr lang="en-US" altLang="zh-CN" sz="2400" dirty="0" smtClean="0">
                        <a:latin typeface="Cambria Math"/>
                        <a:ea typeface="Cambria Math" panose="02040503050406030204" pitchFamily="18" charset="0"/>
                      </a:rPr>
                      <m:t>3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21</m:t>
                        </m:r>
                        <m:r>
                          <a:rPr lang="zh-CN" altLang="en-US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60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24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那么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3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的因数，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3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的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倍数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b="0" dirty="0" smtClean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5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60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因数，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60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5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的倍数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/>
                        <a:ea typeface="Cambria Math" panose="02040503050406030204" pitchFamily="18" charset="0"/>
                      </a:rPr>
                      <m:t>7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不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24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因数，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24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不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的倍数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i="1" dirty="0" smtClean="0">
                  <a:latin typeface="Cambria Math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不是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35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的因数，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35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不是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11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的倍数。</m:t>
                    </m:r>
                  </m:oMath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963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714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ea typeface="Cambria Math" panose="02040503050406030204" pitchFamily="18" charset="0"/>
                  </a:rPr>
                  <a:t>例：</a:t>
                </a:r>
                <a14:m>
                  <m:oMath xmlns:m="http://schemas.openxmlformats.org/officeDocument/2006/math">
                    <m:r>
                      <a:rPr lang="en-US" altLang="zh-CN" sz="2400" dirty="0" smtClean="0">
                        <a:latin typeface="Cambria Math"/>
                        <a:ea typeface="Cambria Math" panose="02040503050406030204" pitchFamily="18" charset="0"/>
                      </a:rPr>
                      <m:t>3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21</m:t>
                        </m:r>
                        <m:r>
                          <a:rPr lang="zh-CN" altLang="en-US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60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24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那么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3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的因数，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3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的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倍数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b="0" dirty="0" smtClean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5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60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因数，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60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5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的倍数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/>
                        <a:ea typeface="Cambria Math" panose="02040503050406030204" pitchFamily="18" charset="0"/>
                      </a:rPr>
                      <m:t>7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不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24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因数，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24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不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的倍数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i="1" dirty="0" smtClean="0">
                  <a:latin typeface="Cambria Math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不是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35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的因数，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35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不是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11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的倍数。</m:t>
                    </m:r>
                  </m:oMath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是任何非零整数的倍数；</a:t>
                </a:r>
                <a:r>
                  <a:rPr lang="en-US" altLang="zh-CN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是任何非零整数的因数；任何非零整数是其自身的倍数，也是其自身的因数。</a:t>
                </a:r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111" t="-1741" r="-5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807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整除的性质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,则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,则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,则对所有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|(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,且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≠0,则</m:t>
                        </m:r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|≤|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,且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≠0,若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,则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𝑐𝑏</m:t>
                        </m:r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；反之若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则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/>
                  <a:t>。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111" t="-1741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性质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的证明：设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,且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≠0,若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,则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𝑐𝑏</m:t>
                        </m:r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；反之若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则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endParaRPr lang="zh-CN" altLang="en-US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5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21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性质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的证明：设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,且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≠0,若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,则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𝑐𝑏</m:t>
                        </m:r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；反之若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则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endParaRPr lang="zh-CN" altLang="en-US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zh-CN" altLang="en-US" sz="2400" dirty="0">
                        <a:latin typeface="Cambria Math"/>
                        <a:ea typeface="Cambria Math" panose="02040503050406030204" pitchFamily="18" charset="0"/>
                      </a:rPr>
                      <m:t>（</m:t>
                    </m:r>
                    <m:r>
                      <a:rPr lang="zh-CN" altLang="en-US" sz="2400" i="1" dirty="0" smtClean="0">
                        <a:latin typeface="Cambria Math"/>
                        <a:ea typeface="Cambria Math" panose="02040503050406030204" pitchFamily="18" charset="0"/>
                      </a:rPr>
                      <m:t>⇒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）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,因此存在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,使得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𝑏𝑞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,所以我们有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altLang="zh-CN" sz="2400" b="0" dirty="0" smtClean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𝑐𝑏𝑞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,故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；</m:t>
                    </m:r>
                  </m:oMath>
                </a14:m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5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02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性质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的证明：设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,且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≠0,若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,则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𝑐𝑏</m:t>
                        </m:r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；反之若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则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endParaRPr lang="zh-CN" altLang="en-US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zh-CN" altLang="en-US" sz="2400" dirty="0">
                        <a:latin typeface="Cambria Math"/>
                        <a:ea typeface="Cambria Math" panose="02040503050406030204" pitchFamily="18" charset="0"/>
                      </a:rPr>
                      <m:t>（</m:t>
                    </m:r>
                    <m:r>
                      <a:rPr lang="zh-CN" altLang="en-US" sz="2400" i="1" dirty="0" smtClean="0">
                        <a:latin typeface="Cambria Math"/>
                        <a:ea typeface="Cambria Math" panose="02040503050406030204" pitchFamily="18" charset="0"/>
                      </a:rPr>
                      <m:t>⇒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）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,因此存在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,使得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𝑏𝑞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,所以我们有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altLang="zh-CN" sz="2400" b="0" dirty="0" smtClean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𝑐𝑏𝑞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,故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；</m:t>
                    </m:r>
                  </m:oMath>
                </a14:m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zh-CN" altLang="en-US" sz="2400" dirty="0">
                        <a:latin typeface="Cambria Math"/>
                        <a:ea typeface="Cambria Math" panose="02040503050406030204" pitchFamily="18" charset="0"/>
                      </a:rPr>
                      <m:t>（</m:t>
                    </m:r>
                    <m:r>
                      <a:rPr lang="zh-CN" altLang="en-US" sz="2400" i="1" dirty="0" smtClean="0">
                        <a:latin typeface="Cambria Math"/>
                        <a:ea typeface="Cambria Math" panose="02040503050406030204" pitchFamily="18" charset="0"/>
                      </a:rPr>
                      <m:t>⇐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）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𝑐𝑏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,因此存在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,使得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𝑐𝑎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𝑐𝑏𝑞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,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𝑐𝑏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≠0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故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c</m:t>
                    </m:r>
                    <m:r>
                      <a:rPr lang="en-US" altLang="zh-CN" sz="2400" i="1" dirty="0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0,</m:t>
                    </m:r>
                    <m:r>
                      <a:rPr lang="zh-CN" altLang="en-US" sz="2400" i="1" dirty="0">
                        <a:latin typeface="Cambria Math"/>
                        <a:ea typeface="Cambria Math"/>
                      </a:rPr>
                      <m:t>因此</m:t>
                    </m:r>
                    <m:r>
                      <a:rPr lang="zh-CN" altLang="en-US" sz="2400" b="0" i="1" dirty="0" smtClean="0">
                        <a:latin typeface="Cambria Math"/>
                        <a:ea typeface="Cambria Math"/>
                      </a:rPr>
                      <m:t>有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𝑏𝑞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故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b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；</m:t>
                    </m:r>
                  </m:oMath>
                </a14:m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命题得证。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5348" r="-3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744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603648"/>
                <a:ext cx="8229600" cy="384968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1.1.2   </a:t>
                </a:r>
                <a:r>
                  <a:rPr lang="zh-CN" altLang="en-US" sz="2400" dirty="0" smtClean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设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,且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&gt;1,若存在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ea typeface="Cambria Math"/>
                      </a:rPr>
                      <m:t>且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≠1,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,使得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,则称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zh-CN" alt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合数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，否则称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质数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），其中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表示全体正整数的集合。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/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603648"/>
                <a:ext cx="8229600" cy="3849688"/>
              </a:xfrm>
              <a:blipFill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603648"/>
                <a:ext cx="8229600" cy="384968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1.1.2   </a:t>
                </a:r>
                <a:r>
                  <a:rPr lang="zh-CN" altLang="en-US" sz="2400" dirty="0" smtClean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设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,且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&gt;1,若存在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ea typeface="Cambria Math"/>
                      </a:rPr>
                      <m:t>且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≠1,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,使得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,则称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zh-CN" alt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合数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，否则称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质数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），其中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表示全体正整数的集合。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例：由于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|6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，且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≠1</m:t>
                    </m:r>
                    <m:r>
                      <a:rPr lang="zh-CN" altLang="en-US" sz="2400" b="0" i="1" dirty="0" smtClean="0">
                        <a:latin typeface="Cambria Math"/>
                        <a:ea typeface="Cambria Math"/>
                      </a:rPr>
                      <m:t>，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2≠6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是合数；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由于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2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3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4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都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不整除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5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，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因此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5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素数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603648"/>
                <a:ext cx="8229600" cy="3849688"/>
              </a:xfrm>
              <a:blipFill rotWithShape="1">
                <a:blip r:embed="rId2"/>
                <a:stretch>
                  <a:fillRect l="-1037" t="-1741" r="-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994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1.1.1</a:t>
                </a: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一个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正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合数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ea typeface="Cambria Math"/>
                      </a:rPr>
                      <m:t>，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/>
                      </a:rPr>
                      <m:t>𝑝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/>
                      </a:rPr>
                      <m:t>是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/>
                      </a:rPr>
                      <m:t>𝑛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/>
                      </a:rPr>
                      <m:t>的一个大于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/>
                      </a:rPr>
                      <m:t>1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/>
                      </a:rPr>
                      <m:t>的最小正因数，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/>
                      </a:rPr>
                      <m:t>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/>
                      </a:rPr>
                      <m:t>𝑝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一定是素数，且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/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>
                <a:blip r:embed="rId2"/>
                <a:stretch>
                  <a:fillRect l="-1111" t="-1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127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1.1.1</a:t>
                </a: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一个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正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合数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ea typeface="Cambria Math"/>
                      </a:rPr>
                      <m:t>，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/>
                      </a:rPr>
                      <m:t>𝑝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/>
                      </a:rPr>
                      <m:t>是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/>
                      </a:rPr>
                      <m:t>𝑛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/>
                      </a:rPr>
                      <m:t>的一个大于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/>
                      </a:rPr>
                      <m:t>1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/>
                      </a:rPr>
                      <m:t>的最小正因数，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/>
                      </a:rPr>
                      <m:t>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/>
                      </a:rPr>
                      <m:t>𝑝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一定是素数，且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证明：用反证法</a:t>
                </a:r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</a:t>
                </a:r>
                <a14:m>
                  <m:oMath xmlns:m="http://schemas.openxmlformats.org/officeDocument/2006/math">
                    <m:r>
                      <a:rPr lang="zh-CN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则存在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,1&lt;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，又因为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，矛盾，故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</a:t>
                </a:r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又因为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是合数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,1&lt;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𝑝𝑚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>
                <a:blip r:embed="rId4"/>
                <a:stretch>
                  <a:fillRect l="-1111" t="-1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960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推论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1.1.1</a:t>
                </a: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/>
                      </a:rPr>
                      <m:t>若对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/>
                      </a:rPr>
                      <m:t>所有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/>
                      </a:rPr>
                      <m:t>不大于</m:t>
                    </m:r>
                    <m:rad>
                      <m:radPr>
                        <m:deg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的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素数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/>
                      </a:rPr>
                      <m:t>𝑝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 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/>
                      </a:rPr>
                      <m:t>都有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/>
                      </a:rPr>
                      <m:t>𝑝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</a:t>
                </a:r>
                <a14:m>
                  <m:oMath xmlns:m="http://schemas.openxmlformats.org/officeDocument/2006/math">
                    <m:r>
                      <a:rPr lang="zh-CN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/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>
                <a:blip r:embed="rId2"/>
                <a:stretch>
                  <a:fillRect l="-1111" t="-1603" r="-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876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推论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1.1.1</a:t>
                </a: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/>
                      </a:rPr>
                      <m:t>若对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/>
                      </a:rPr>
                      <m:t>所有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/>
                      </a:rPr>
                      <m:t>不大于</m:t>
                    </m:r>
                    <m:rad>
                      <m:radPr>
                        <m:deg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的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素数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/>
                      </a:rPr>
                      <m:t>𝑝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 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/>
                      </a:rPr>
                      <m:t>都有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/>
                      </a:rPr>
                      <m:t>𝑝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</a:t>
                </a:r>
                <a14:m>
                  <m:oMath xmlns:m="http://schemas.openxmlformats.org/officeDocument/2006/math">
                    <m:r>
                      <a:rPr lang="zh-CN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Arial" pitchFamily="34" charset="0"/>
                  <a:buChar char="•"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例：证明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>
                <a:blip r:embed="rId4"/>
                <a:stretch>
                  <a:fillRect l="-1111" t="-1603" r="-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527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如何求所有不超过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的素数？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/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>
                <a:blip r:embed="rId2"/>
                <a:stretch>
                  <a:fillRect l="-1111" t="-1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381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如何求所有不超过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的素数？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厄拉托塞师（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Eratosthenes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）筛法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对任意给定的正整数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，找出不</a:t>
                </a:r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超过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的所有</a:t>
                </a:r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列出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/>
                        <a:ea typeface="Cambria Math" panose="02040503050406030204" pitchFamily="18" charset="0"/>
                      </a:rPr>
                      <m:t>2</m:t>
                    </m:r>
                    <m:r>
                      <a:rPr lang="zh-CN" altLang="en-US" sz="2000" i="1" dirty="0">
                        <a:latin typeface="Cambria Math"/>
                        <a:ea typeface="Cambria Math" panose="02040503050406030204" pitchFamily="18" charset="0"/>
                      </a:rPr>
                      <m:t>至</m:t>
                    </m:r>
                    <m:r>
                      <a:rPr lang="en-US" altLang="zh-CN" sz="2000" i="1" dirty="0">
                        <a:latin typeface="Cambria Math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的所有整数，然后保留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，并删除其余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的倍数，再保留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，并删除其余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的倍数，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直到</a:t>
                </a:r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最后</a:t>
                </a:r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留下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，并删除其余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的倍数，此时剩下的所有整数就是不大于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的全体素数。</a:t>
                </a:r>
                <a:endParaRPr lang="en-US" altLang="zh-C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endParaRPr lang="en-US" altLang="zh-C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>
                <a:blip r:embed="rId2"/>
                <a:stretch>
                  <a:fillRect l="-1111" t="-1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953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268760"/>
            <a:ext cx="8229600" cy="5112568"/>
          </a:xfrm>
        </p:spPr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例：求</a:t>
            </a:r>
            <a:r>
              <a:rPr lang="en-US" altLang="zh-CN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40</a:t>
            </a: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以内的所有素数。</a:t>
            </a:r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altLang="zh-CN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332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7544" y="1268760"/>
                <a:ext cx="8229600" cy="511256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例：求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40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以内的所有素数。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解：因为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40</m:t>
                        </m:r>
                      </m:e>
                    </m:ra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&lt;7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因此找出所有小于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7544" y="1268760"/>
                <a:ext cx="8229600" cy="5112568"/>
              </a:xfrm>
              <a:blipFill>
                <a:blip r:embed="rId2"/>
                <a:stretch>
                  <a:fillRect l="-1111" t="-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9102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7544" y="1268760"/>
                <a:ext cx="8229600" cy="511256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例：求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40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以内的所有素数。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解：因为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40</m:t>
                        </m:r>
                      </m:e>
                    </m:ra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&lt;7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因此找出所有小于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列出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40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以内所有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的倍数（不包含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）：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4,6,8,10,12,14,16,18,20,22,24,26,28,30,32,34,36,38,40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7544" y="1268760"/>
                <a:ext cx="8229600" cy="5112568"/>
              </a:xfrm>
              <a:blipFill>
                <a:blip r:embed="rId2"/>
                <a:stretch>
                  <a:fillRect l="-1185" t="-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333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7544" y="1268760"/>
                <a:ext cx="8229600" cy="511256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例：求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40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以内的所有素数。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解：因为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40</m:t>
                        </m:r>
                      </m:e>
                    </m:ra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&lt;7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因此找出所有小于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列出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40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以内所有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的倍数（不包含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）：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4,6,8,10,12,14,16,18,20,22,24,26,28,30,32,34,36,38,40;</a:t>
                </a: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的倍数（不包含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）：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6,9,12,15,18,21,24,27,30,33,36,39</a:t>
                </a: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的倍数（不包含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）：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10,15,20,25,30,35;</a:t>
                </a: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7544" y="1268760"/>
                <a:ext cx="8229600" cy="5112568"/>
              </a:xfrm>
              <a:blipFill>
                <a:blip r:embed="rId2"/>
                <a:stretch>
                  <a:fillRect l="-1185" t="-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3456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7544" y="1268760"/>
                <a:ext cx="8229600" cy="511256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例：求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40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以内的所有素数。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解：因为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40</m:t>
                        </m:r>
                      </m:e>
                    </m:ra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&lt;7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因此找出所有小于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列出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40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以内所有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的倍数（不包含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）：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4,6,8,10,12,14,16,18,20,22,24,26,28,30,32,34,36,38,40;</a:t>
                </a: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的倍数（不包含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）：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6,9,12,15,18,21,24,27,30,33,36,39</a:t>
                </a: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的倍数（不包含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）：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10,15,20,25,30,35;</a:t>
                </a: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从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40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以内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所有大于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的整数中去除上述整数，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可知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40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以内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的所有素数为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2,3,5,7,11,13,17,19,23,29,31,37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7544" y="1268760"/>
                <a:ext cx="8229600" cy="5112568"/>
              </a:xfrm>
              <a:blipFill>
                <a:blip r:embed="rId2"/>
                <a:stretch>
                  <a:fillRect l="-1185" t="-1311" b="-2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6328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定理</a:t>
            </a:r>
            <a:r>
              <a:rPr lang="en-US" altLang="zh-CN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1.1.2 </a:t>
            </a: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素数的个数是无穷的</a:t>
            </a: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。</a:t>
            </a:r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07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1.1.2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素数的个数是无穷的。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证明：假设素数的个数是有限的，令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⋯&lt;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表示所有素数，观察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⋯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和所有的素数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,1≤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都不相等，因此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是合数，所以存在素数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，由于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是素数，所以存在整数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,1≤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，又因为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显然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𝑠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是素数矛盾，定理得证。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741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084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1.1.3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带余除法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  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,且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&gt;0, 则存在唯一整数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 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使得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𝑏𝑞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,  0≤</m:t>
                      </m:r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𝑟</m:t>
                      </m:r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𝑏</m:t>
                      </m:r>
                    </m:oMath>
                  </m:oMathPara>
                </a14:m>
                <a:endParaRPr lang="en-US" altLang="zh-CN" sz="2400" b="0" dirty="0" smtClean="0">
                  <a:latin typeface="Cambria Math" panose="02040503050406030204" pitchFamily="18" charset="0"/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叫做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被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除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所得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不完全商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𝑟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叫做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被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除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所得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余数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，记作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&gt;。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Arial" pitchFamily="34" charset="0"/>
                  <a:buChar char="•"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/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>
                <a:blip r:embed="rId2"/>
                <a:stretch>
                  <a:fillRect l="-1111" t="-1603" r="-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959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1.1.3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带余除法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  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,且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&gt;0, 则存在唯一整数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 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使得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𝑏𝑞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,  0≤</m:t>
                      </m:r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𝑟</m:t>
                      </m:r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𝑏</m:t>
                      </m:r>
                    </m:oMath>
                  </m:oMathPara>
                </a14:m>
                <a:endParaRPr lang="en-US" altLang="zh-CN" sz="2400" b="0" dirty="0" smtClean="0">
                  <a:latin typeface="Cambria Math" panose="02040503050406030204" pitchFamily="18" charset="0"/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叫做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被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除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所得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不完全商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𝑟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叫做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被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除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所得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余数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，记作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&gt;。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Arial" pitchFamily="34" charset="0"/>
                  <a:buChar char="•"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=17,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=5,则存在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=3,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=2,满足0≤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因此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q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17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被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5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除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所得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的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不完全商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2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17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被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5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除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所得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余数，即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&lt;17&gt;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Arial" pitchFamily="34" charset="0"/>
                  <a:buChar char="•"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>
                <a:blip r:embed="rId2"/>
                <a:stretch>
                  <a:fillRect l="-1111" t="-1603" r="-1111" b="-13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30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性质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,且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&gt;0,则</m:t>
                    </m:r>
                  </m:oMath>
                </a14:m>
                <a:endParaRPr lang="zh-CN" altLang="en-US" sz="2400" b="0" dirty="0" smtClean="0">
                  <a:latin typeface="Cambria Math" panose="02040503050406030204" pitchFamily="18" charset="0"/>
                  <a:ea typeface="Cambria Math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2400" b="0" i="0" smtClean="0">
                        <a:latin typeface="Cambria Math"/>
                        <a:ea typeface="Cambria Math"/>
                      </a:rPr>
                      <m:t>=&lt; &lt;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0" smtClean="0">
                        <a:latin typeface="Cambria Math"/>
                        <a:ea typeface="Cambria Math"/>
                      </a:rPr>
                      <m:t>&gt;+&lt;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0" smtClean="0">
                        <a:latin typeface="Cambria Math"/>
                        <a:ea typeface="Cambria Math"/>
                      </a:rPr>
                      <m:t>&gt; &gt;;</m:t>
                    </m:r>
                  </m:oMath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&gt;=&lt; &lt;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0" smtClean="0">
                        <a:latin typeface="Cambria Math"/>
                        <a:ea typeface="Cambria Math"/>
                      </a:rPr>
                      <m:t>&gt;−&lt;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0" smtClean="0">
                        <a:latin typeface="Cambria Math"/>
                        <a:ea typeface="Cambria Math"/>
                      </a:rPr>
                      <m:t>&gt; &gt;;</m:t>
                    </m:r>
                  </m:oMath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&gt;=&lt; &lt;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0" smtClean="0">
                        <a:latin typeface="Cambria Math"/>
                        <a:ea typeface="Cambria Math"/>
                      </a:rPr>
                      <m:t>&gt;&lt;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0" smtClean="0">
                        <a:latin typeface="Cambria Math"/>
                        <a:ea typeface="Cambria Math"/>
                      </a:rPr>
                      <m:t>&gt; &gt;</m:t>
                    </m:r>
                    <m:r>
                      <a:rPr lang="zh-CN" altLang="en-US" sz="2400" b="0" i="0" smtClean="0">
                        <a:latin typeface="Cambria Math"/>
                        <a:ea typeface="Cambria Math"/>
                      </a:rPr>
                      <m:t>。</m:t>
                    </m:r>
                  </m:oMath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42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§1.2 </a:t>
            </a:r>
            <a:r>
              <a:rPr lang="zh-CN" altLang="en-US" dirty="0" smtClean="0"/>
              <a:t>整数的表示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5"/>
                <a:ext cx="8507288" cy="384968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1.2.1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（整数的表示）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且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&gt;1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则对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任意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n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可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唯一表示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成</m:t>
                    </m:r>
                  </m:oMath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⋯+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的形式，其中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 且0≤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,0≤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−1，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0&lt;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𝑘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5"/>
                <a:ext cx="8507288" cy="3849688"/>
              </a:xfrm>
              <a:blipFill>
                <a:blip r:embed="rId2"/>
                <a:stretch>
                  <a:fillRect l="-1074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5044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§1.2 </a:t>
            </a:r>
            <a:r>
              <a:rPr lang="zh-CN" altLang="en-US" dirty="0" smtClean="0"/>
              <a:t>整数的表示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5"/>
                <a:ext cx="8507288" cy="384968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1.2.1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（整数的表示）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且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&gt;1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则对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任意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n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可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唯一表示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成</m:t>
                    </m:r>
                  </m:oMath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⋯+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的形式，其中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 且0≤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,0≤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−1，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0&lt;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𝑘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Arial" pitchFamily="34" charset="0"/>
                  <a:buChar char="•"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例：十进制整数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78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可表示成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dirty="0">
                          <a:latin typeface="Cambria Math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altLang="zh-CN" sz="2400" b="0" i="1" dirty="0" smtClean="0">
                          <a:latin typeface="Cambria Math"/>
                          <a:ea typeface="Cambria Math" panose="02040503050406030204" pitchFamily="18" charset="0"/>
                        </a:rPr>
                        <m:t>78=3×</m:t>
                      </m:r>
                      <m:sSup>
                        <m:sSup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dirty="0" smtClean="0">
                              <a:latin typeface="Cambria Math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dirty="0" smtClean="0">
                          <a:latin typeface="Cambria Math"/>
                          <a:ea typeface="Cambria Math" panose="02040503050406030204" pitchFamily="18" charset="0"/>
                        </a:rPr>
                        <m:t>+7×</m:t>
                      </m:r>
                      <m:sSup>
                        <m:sSup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dirty="0" smtClean="0">
                              <a:latin typeface="Cambria Math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400" b="0" i="1" dirty="0" smtClean="0">
                          <a:latin typeface="Cambria Math"/>
                          <a:ea typeface="Cambria Math" panose="02040503050406030204" pitchFamily="18" charset="0"/>
                        </a:rPr>
                        <m:t>+8</m:t>
                      </m:r>
                      <m:r>
                        <a:rPr lang="zh-CN" altLang="en-US" sz="2400" b="0" i="1" dirty="0" smtClean="0">
                          <a:latin typeface="Cambria Math"/>
                          <a:ea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即当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=378,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时，有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=3,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=7,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5"/>
                <a:ext cx="8507288" cy="3849688"/>
              </a:xfrm>
              <a:blipFill rotWithShape="1">
                <a:blip r:embed="rId2"/>
                <a:stretch>
                  <a:fillRect l="-1003" t="-1741" b="-6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991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§1.3</a:t>
            </a:r>
            <a:r>
              <a:rPr lang="zh-CN" altLang="zh-CN" dirty="0"/>
              <a:t>最大公因数与欧几里德除法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248869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≥2</m:t>
                        </m:r>
                      </m:e>
                    </m:d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个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整数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𝑑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一个</m:t>
                    </m:r>
                    <m:r>
                      <a:rPr lang="zh-CN" altLang="en-US" sz="2400" i="1" smtClean="0">
                        <a:latin typeface="Cambria Math"/>
                        <a:ea typeface="Cambria Math" panose="02040503050406030204" pitchFamily="18" charset="0"/>
                      </a:rPr>
                      <m:t>整数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若对所有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,都有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的一个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公因数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248869"/>
              </a:xfrm>
              <a:blipFill>
                <a:blip r:embed="rId2"/>
                <a:stretch>
                  <a:fillRect l="-1111" t="-1578" r="-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459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§1.3</a:t>
            </a:r>
            <a:r>
              <a:rPr lang="zh-CN" altLang="zh-CN" dirty="0"/>
              <a:t>最大公因数与欧几里德除法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248869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≥2</m:t>
                        </m:r>
                      </m:e>
                    </m:d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个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整数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𝑑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一个</m:t>
                    </m:r>
                    <m:r>
                      <a:rPr lang="zh-CN" altLang="en-US" sz="2400" i="1" smtClean="0">
                        <a:latin typeface="Cambria Math"/>
                        <a:ea typeface="Cambria Math" panose="02040503050406030204" pitchFamily="18" charset="0"/>
                      </a:rPr>
                      <m:t>整数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若对所有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,都有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的一个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公因数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不全为零，则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的公因数中最大的一个称为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最大公因数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，记作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/>
                            <a:ea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⋯,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248869"/>
              </a:xfrm>
              <a:blipFill>
                <a:blip r:embed="rId2"/>
                <a:stretch>
                  <a:fillRect l="-1111" t="-1578" r="-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785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§1.3</a:t>
            </a:r>
            <a:r>
              <a:rPr lang="zh-CN" altLang="zh-CN" dirty="0"/>
              <a:t>最大公因数与欧几里德除法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248869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≥2</m:t>
                        </m:r>
                      </m:e>
                    </m:d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个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整数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𝑑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一个</m:t>
                    </m:r>
                    <m:r>
                      <a:rPr lang="zh-CN" altLang="en-US" sz="2400" i="1" smtClean="0">
                        <a:latin typeface="Cambria Math"/>
                        <a:ea typeface="Cambria Math" panose="02040503050406030204" pitchFamily="18" charset="0"/>
                      </a:rPr>
                      <m:t>整数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若对所有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,都有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的一个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公因数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不全为零，则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的公因数中最大的一个称为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最大公因数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，记作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/>
                            <a:ea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⋯,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⋯,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24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baseline="-25000" smtClean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0" baseline="-25000" smtClean="0">
                        <a:latin typeface="Cambria Math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,…,</m:t>
                    </m:r>
                    <m:r>
                      <a:rPr lang="en-US" altLang="zh-CN" sz="24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baseline="-25000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baseline="-25000" smtClean="0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互素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互质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）；特别的，当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=2时，若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  <m:r>
                      <m:rPr>
                        <m:nor/>
                      </m:rPr>
                      <a:rPr lang="zh-CN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，则称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aseline="-25000">
                        <a:latin typeface="Cambria Math"/>
                        <a:ea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zh-CN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互素（互质）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248869"/>
              </a:xfrm>
              <a:blipFill rotWithShape="1">
                <a:blip r:embed="rId2"/>
                <a:stretch>
                  <a:fillRect l="-1037" t="-1578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2800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8,56,76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的公因数有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±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1,±2,±4</m:t>
                    </m:r>
                    <m:r>
                      <a:rPr lang="zh-CN" altLang="en-US" sz="2400" b="0" i="1" smtClean="0">
                        <a:latin typeface="Cambria Math"/>
                        <a:ea typeface="Cambria Math"/>
                      </a:rPr>
                      <m:t>，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因此它们的最大公因数是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213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8,56,76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的公因数有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±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1,±2,±4</m:t>
                    </m:r>
                    <m:r>
                      <a:rPr lang="zh-CN" altLang="en-US" sz="2400" b="0" i="1" smtClean="0">
                        <a:latin typeface="Cambria Math"/>
                        <a:ea typeface="Cambria Math"/>
                      </a:rPr>
                      <m:t>，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因此它们的最大公因数是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9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,13,51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的公因数只有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±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，因此它们的最大公因数是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dirty="0">
                            <a:latin typeface="Cambria Math"/>
                            <a:ea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sz="2400" i="1" dirty="0">
                            <a:latin typeface="Cambria Math"/>
                            <a:ea typeface="Cambria Math" panose="02040503050406030204" pitchFamily="18" charset="0"/>
                          </a:rPr>
                          <m:t>,13,51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9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,13,51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互素。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422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8,56,76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的公因数有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±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1,±2,±4</m:t>
                    </m:r>
                    <m:r>
                      <a:rPr lang="zh-CN" altLang="en-US" sz="2400" b="0" i="1" smtClean="0">
                        <a:latin typeface="Cambria Math"/>
                        <a:ea typeface="Cambria Math"/>
                      </a:rPr>
                      <m:t>，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因此它们的最大公因数是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9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,13,51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的公因数只有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±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，因此它们的最大公因数是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dirty="0">
                            <a:latin typeface="Cambria Math"/>
                            <a:ea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sz="2400" i="1" dirty="0">
                            <a:latin typeface="Cambria Math"/>
                            <a:ea typeface="Cambria Math" panose="02040503050406030204" pitchFamily="18" charset="0"/>
                          </a:rPr>
                          <m:t>,13,51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9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,13,51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互素。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(2,3,6)=1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(2,6)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741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572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1.3.1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三个</m:t>
                    </m:r>
                    <m:r>
                      <a:rPr lang="zh-CN" altLang="en-US" sz="2400" i="1" smtClean="0">
                        <a:latin typeface="Cambria Math"/>
                        <a:ea typeface="Cambria Math" panose="02040503050406030204" pitchFamily="18" charset="0"/>
                      </a:rPr>
                      <m:t>不全为零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的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整数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𝑏𝑞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+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𝑐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𝑞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，则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=(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。</a:t>
                </a:r>
                <a:endParaRPr lang="en-US" altLang="zh-CN" sz="2400" b="0" dirty="0" smtClean="0">
                  <a:latin typeface="Cambria Math" panose="02040503050406030204" pitchFamily="18" charset="0"/>
                  <a:ea typeface="Cambria Math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162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1.3.1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三个</m:t>
                    </m:r>
                    <m:r>
                      <a:rPr lang="zh-CN" altLang="en-US" sz="2400" i="1" smtClean="0">
                        <a:latin typeface="Cambria Math"/>
                        <a:ea typeface="Cambria Math" panose="02040503050406030204" pitchFamily="18" charset="0"/>
                      </a:rPr>
                      <m:t>不全为零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的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整数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𝑏𝑞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+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𝑐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𝑞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，则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=(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。</a:t>
                </a:r>
                <a:endParaRPr lang="en-US" altLang="zh-CN" sz="2400" b="0" dirty="0" smtClean="0">
                  <a:latin typeface="Cambria Math" panose="02040503050406030204" pitchFamily="18" charset="0"/>
                  <a:ea typeface="Cambria Math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/>
                </a:endParaRPr>
              </a:p>
              <a:p>
                <a:pPr marL="0" indent="0">
                  <a:buNone/>
                </a:pPr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证明：设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>
                        <a:latin typeface="Cambria Math"/>
                        <a:ea typeface="Cambria Math"/>
                      </a:rPr>
                      <m:t>d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zh-CN" altLang="en-US" sz="2400" b="0" i="1" dirty="0" smtClean="0">
                        <a:latin typeface="Cambria Math"/>
                        <a:ea typeface="Cambria Math"/>
                      </a:rPr>
                      <m:t>则</m:t>
                    </m:r>
                    <m:r>
                      <a:rPr lang="zh-CN" altLang="en-US" sz="2400" i="1" dirty="0">
                        <a:latin typeface="Cambria Math"/>
                        <a:ea typeface="Cambria Math"/>
                      </a:rPr>
                      <m:t>存在</m:t>
                    </m:r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𝑍</m:t>
                    </m:r>
                  </m:oMath>
                </a14:m>
                <a:r>
                  <a:rPr lang="en-US" altLang="zh-CN" sz="2400" b="0" dirty="0" smtClean="0">
                    <a:latin typeface="Cambria Math" panose="02040503050406030204" pitchFamily="18" charset="0"/>
                    <a:ea typeface="Cambria Math"/>
                  </a:rPr>
                  <a:t>,</a:t>
                </a:r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𝑑</m:t>
                    </m:r>
                  </m:oMath>
                </a14:m>
                <a:r>
                  <a:rPr lang="en-US" altLang="zh-CN" sz="2400" b="0" dirty="0" smtClean="0">
                    <a:latin typeface="Cambria Math" panose="02040503050406030204" pitchFamily="18" charset="0"/>
                    <a:ea typeface="Cambria Math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𝑑</m:t>
                    </m:r>
                  </m:oMath>
                </a14:m>
                <a:r>
                  <a:rPr lang="en-US" altLang="zh-CN" sz="2400" b="0" dirty="0" smtClean="0">
                    <a:latin typeface="Cambria Math" panose="02040503050406030204" pitchFamily="18" charset="0"/>
                    <a:ea typeface="Cambria Math"/>
                  </a:rPr>
                  <a:t>,</a:t>
                </a:r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因此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−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𝑏𝑞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𝑑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𝑑𝑞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𝑑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(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𝑞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altLang="zh-CN" sz="2400" b="0" dirty="0" smtClean="0">
                    <a:latin typeface="Cambria Math" panose="02040503050406030204" pitchFamily="18" charset="0"/>
                    <a:ea typeface="Cambria Math"/>
                  </a:rPr>
                  <a:t>,</a:t>
                </a:r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故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|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𝑐</m:t>
                    </m:r>
                  </m:oMath>
                </a14:m>
                <a:r>
                  <a:rPr lang="en-US" altLang="zh-CN" sz="2400" b="0" dirty="0" smtClean="0">
                    <a:latin typeface="Cambria Math" panose="02040503050406030204" pitchFamily="18" charset="0"/>
                    <a:ea typeface="Cambria Math"/>
                  </a:rPr>
                  <a:t>,</a:t>
                </a:r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因此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|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𝑐</m:t>
                        </m:r>
                      </m:e>
                    </m:d>
                    <m:r>
                      <a:rPr lang="zh-CN" altLang="en-US" sz="2400" b="0" i="1" smtClean="0">
                        <a:latin typeface="Cambria Math"/>
                        <a:ea typeface="Cambria Math"/>
                      </a:rPr>
                      <m:t>。</m:t>
                    </m:r>
                  </m:oMath>
                </a14:m>
                <a:endParaRPr lang="en-US" altLang="zh-CN" sz="2400" b="0" dirty="0" smtClean="0">
                  <a:latin typeface="Cambria Math" panose="02040503050406030204" pitchFamily="18" charset="0"/>
                  <a:ea typeface="Cambria Math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/>
                  </a:rPr>
                  <a:t>     同理可证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𝑐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|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zh-CN" altLang="en-US" sz="2400" b="0" i="1" smtClean="0">
                        <a:latin typeface="Cambria Math"/>
                        <a:ea typeface="Cambria Math"/>
                      </a:rPr>
                      <m:t>，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因此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/>
                      </a:rPr>
                      <m:t>=(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/>
                </a:endParaRPr>
              </a:p>
              <a:p>
                <a:pPr marL="0" indent="0">
                  <a:buNone/>
                </a:pPr>
                <a:endParaRPr lang="zh-CN" altLang="en-US" sz="2400" b="0" dirty="0" smtClean="0">
                  <a:latin typeface="Cambria Math" panose="02040503050406030204" pitchFamily="18" charset="0"/>
                  <a:ea typeface="Cambria Math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111" t="-1741" r="-2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854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辗转相除法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sz="2400" b="0" dirty="0" smtClean="0"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，反复使用带余除法，则有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,           </m:t>
                                        </m:r>
                                      </m:e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0≤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&lt;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,           </m:t>
                                        </m:r>
                                      </m:e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0≤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&lt;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US" altLang="zh-CN" sz="2400" i="1">
                                      <a:latin typeface="Cambria Math"/>
                                      <a:ea typeface="Cambria Math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−2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</m:e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0≤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&lt;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,      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=0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(1.1)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经过有限次带余除法后，必然可得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213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1.3.2 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则</m:t>
                    </m:r>
                    <m:d>
                      <m:dPr>
                        <m:begChr m:val="（"/>
                        <m:endChr m:val="）"/>
                        <m:ctrlP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是辗转相除法中最后一个非零余数。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143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1.3.3 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则存在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0077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1.3.4 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则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（"/>
                          <m:endChr m:val="）"/>
                          <m:ctrlP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其中，对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 smtClean="0">
                        <a:latin typeface="Cambria Math"/>
                        <a:ea typeface="Cambria Math" panose="02040503050406030204" pitchFamily="18" charset="0"/>
                      </a:rPr>
                      <m:t>j</m:t>
                    </m:r>
                    <m:r>
                      <a:rPr lang="en-US" altLang="zh-CN" sz="2400" b="0" i="0" dirty="0" smtClean="0">
                        <a:latin typeface="Cambria Math"/>
                        <a:ea typeface="Cambria Math" panose="02040503050406030204" pitchFamily="18" charset="0"/>
                      </a:rPr>
                      <m:t>=0,1,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zh-CN" altLang="en-US" sz="2400" b="0" i="1" dirty="0" smtClean="0">
                        <a:latin typeface="Cambria Math"/>
                        <a:ea typeface="Cambria Math"/>
                      </a:rPr>
                      <m:t>，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1,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0,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CN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400" i="1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400" i="1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400" i="1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由下述引理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1.3.5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可证定理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1.3.4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并进一步证明定理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2963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68760"/>
                <a:ext cx="8229600" cy="4857403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引理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1.3.5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对任意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=0,1,…,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(1.1)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式中的余数，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和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由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定理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1.3.4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递归</m:t>
                    </m:r>
                    <m:r>
                      <a:rPr lang="zh-CN" altLang="en-US" sz="2400" i="1" smtClean="0">
                        <a:latin typeface="Cambria Math"/>
                        <a:ea typeface="Cambria Math" panose="02040503050406030204" pitchFamily="18" charset="0"/>
                      </a:rPr>
                      <m:t>定义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68760"/>
                <a:ext cx="8229600" cy="4857403"/>
              </a:xfrm>
              <a:blipFill>
                <a:blip r:embed="rId2"/>
                <a:stretch>
                  <a:fillRect l="-1111" t="-13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4138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68760"/>
                <a:ext cx="8229600" cy="4857403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引理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1.3.5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对任意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=0,1,…,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(1.1)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式中的余数，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和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由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定理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1.3.4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递归</m:t>
                    </m:r>
                    <m:r>
                      <a:rPr lang="zh-CN" altLang="en-US" sz="2400" i="1" smtClean="0">
                        <a:latin typeface="Cambria Math"/>
                        <a:ea typeface="Cambria Math" panose="02040503050406030204" pitchFamily="18" charset="0"/>
                      </a:rPr>
                      <m:t>定义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证明：用数学归纳法，当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时，因为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=1,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。类似的当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，故结论对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=0和1时都成立。</m:t>
                    </m:r>
                  </m:oMath>
                </a14:m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假设结论对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0≤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都成立，那么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，因为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  <m:e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=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mr>
                      <m:mr>
                        <m:e/>
                        <m:e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=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400" i="1">
                              <a:latin typeface="Cambria Math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mr>
                      <m:mr>
                        <m:e/>
                        <m:e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=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400" i="1">
                              <a:latin typeface="Cambria Math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mr>
                    </m:m>
                  </m:oMath>
                </a14:m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因此结论对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+1≤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也成立，引理得证</a:t>
                </a: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68760"/>
                <a:ext cx="8229600" cy="4857403"/>
              </a:xfrm>
              <a:blipFill rotWithShape="1">
                <a:blip r:embed="rId2"/>
                <a:stretch>
                  <a:fillRect l="-1111" t="-1380" r="-4815" b="-4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752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68760"/>
                <a:ext cx="8229600" cy="4857403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例：求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0" dirty="0" smtClean="0">
                            <a:latin typeface="Cambria Math"/>
                            <a:ea typeface="Cambria Math" panose="02040503050406030204" pitchFamily="18" charset="0"/>
                          </a:rPr>
                          <m:t>235,49</m:t>
                        </m:r>
                      </m:e>
                    </m:d>
                    <m:r>
                      <a:rPr lang="en-US" altLang="zh-CN" sz="2400" b="0" i="0" dirty="0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并求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235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+49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235,49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zh-CN" altLang="en-US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68760"/>
                <a:ext cx="8229600" cy="4857403"/>
              </a:xfrm>
              <a:blipFill>
                <a:blip r:embed="rId2"/>
                <a:stretch>
                  <a:fillRect l="-1111" t="-13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1246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68760"/>
                <a:ext cx="8229600" cy="4857403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例：求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0" dirty="0" smtClean="0">
                            <a:latin typeface="Cambria Math"/>
                            <a:ea typeface="Cambria Math" panose="02040503050406030204" pitchFamily="18" charset="0"/>
                          </a:rPr>
                          <m:t>235,49</m:t>
                        </m:r>
                      </m:e>
                    </m:d>
                    <m:r>
                      <a:rPr lang="en-US" altLang="zh-CN" sz="2400" b="0" i="0" dirty="0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并求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235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+49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235,49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=235,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=49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，由辗转相除法：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dirty="0">
                            <a:latin typeface="Cambria Math"/>
                            <a:ea typeface="Cambria Math" panose="02040503050406030204" pitchFamily="18" charset="0"/>
                          </a:rPr>
                          <m:t>235,49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235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−5</m:t>
                        </m:r>
                      </m:e>
                    </m:d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+49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×24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/>
                            <a:ea typeface="Cambria Math" panose="02040503050406030204" pitchFamily="18" charset="0"/>
                          </a:rPr>
                          <m:t>235,49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68760"/>
                <a:ext cx="8229600" cy="4857403"/>
              </a:xfrm>
              <a:blipFill rotWithShape="1">
                <a:blip r:embed="rId2"/>
                <a:stretch>
                  <a:fillRect l="-1037" t="-1380" r="-4815" b="-7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043608" y="2946716"/>
              <a:ext cx="6096000" cy="2616835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76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mtClean="0">
                                    <a:latin typeface="Cambria Math"/>
                                  </a:rPr>
                                  <m:t>𝒋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𝒋</m:t>
                                    </m:r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𝒋</m:t>
                                    </m:r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𝒋</m:t>
                                    </m:r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235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49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49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39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39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-4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-19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-19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24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9957100"/>
                  </p:ext>
                </p:extLst>
              </p:nvPr>
            </p:nvGraphicFramePr>
            <p:xfrm>
              <a:off x="1043608" y="2946716"/>
              <a:ext cx="6096000" cy="2653983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762000"/>
                    <a:gridCol w="762000"/>
                    <a:gridCol w="762000"/>
                    <a:gridCol w="762000"/>
                    <a:gridCol w="762000"/>
                    <a:gridCol w="762000"/>
                    <a:gridCol w="762000"/>
                    <a:gridCol w="762000"/>
                  </a:tblGrid>
                  <a:tr h="42894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r="-700800" b="-54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000" r="-600800" b="-54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000" r="-500800" b="-54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0000" r="-400800" b="-54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400000" r="-300800" b="-54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0000" r="-200800" b="-54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0000" r="-100800" b="-54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700000" r="-800" b="-544286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235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49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49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39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39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-4</a:t>
                          </a:r>
                          <a:endParaRPr lang="zh-CN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-19</a:t>
                          </a:r>
                          <a:endParaRPr lang="zh-CN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-19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24</a:t>
                          </a:r>
                          <a:endParaRPr lang="zh-CN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46960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1.3.2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≥2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个整数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是一个整数，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若对所有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1≤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,都有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的一个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公倍数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/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0343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1.3.2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≥2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个整数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是一个整数，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若对所有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1≤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,都有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的一个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公倍数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的公倍数中最小的一个称为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最小公倍数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，记作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,⋯,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]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/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741" r="-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390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1.3.2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≥2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个整数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是一个整数，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若对所有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1≤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,都有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的一个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公倍数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的公倍数中最小的一个称为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最小公倍数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，记作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,⋯,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]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8,56,76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的最小公倍数是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1064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 r="-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1924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§1.4 </a:t>
            </a:r>
            <a:r>
              <a:rPr lang="zh-CN" altLang="zh-CN" dirty="0" smtClean="0"/>
              <a:t>素数</a:t>
            </a:r>
            <a:r>
              <a:rPr lang="zh-CN" altLang="zh-CN" dirty="0"/>
              <a:t>与算术基本定理</a:t>
            </a:r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474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§1.4 </a:t>
            </a:r>
            <a:r>
              <a:rPr lang="zh-CN" altLang="zh-CN" dirty="0" smtClean="0"/>
              <a:t>素数</a:t>
            </a:r>
            <a:r>
              <a:rPr lang="zh-CN" altLang="zh-CN" dirty="0"/>
              <a:t>与算术基本定理</a:t>
            </a:r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定理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1.4.1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（</a:t>
            </a:r>
            <a:r>
              <a:rPr lang="zh-CN" alt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算术基本定理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） </a:t>
            </a:r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任一大于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的整数都可以表示成素数的乘积，且在不考虑顺序的情况下，该表示是唯一的</a:t>
            </a: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456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§1.4 </a:t>
            </a:r>
            <a:r>
              <a:rPr lang="zh-CN" altLang="zh-CN" dirty="0" smtClean="0"/>
              <a:t>素数</a:t>
            </a:r>
            <a:r>
              <a:rPr lang="zh-CN" altLang="zh-CN" dirty="0"/>
              <a:t>与算术基本定理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1.4.1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算术基本定理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 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任一大于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的整数都可以表示成素数的乘积，且在不考虑顺序的情况下，该表示是唯一的，即对任一整数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≤⋯≤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(1.2)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是素数。且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≤⋯≤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1.3</m:t>
                            </m:r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是素数，则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,且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,1≤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210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484387"/>
                <a:ext cx="8229600" cy="417686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证明：（存在性）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是素数，则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(1.2)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式成立。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84387"/>
                <a:ext cx="8229600" cy="4176861"/>
              </a:xfrm>
              <a:blipFill>
                <a:blip r:embed="rId2"/>
                <a:stretch>
                  <a:fillRect l="-1111" t="-1606" r="-4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705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484387"/>
                <a:ext cx="8229600" cy="417686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证明：（存在性）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是素数，则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(1.2)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式成立。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假设当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=2,3,…,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时，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(1.2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式都成立，那么对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：若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是素数，则令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，此时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+1=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(1.2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式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成立；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84387"/>
                <a:ext cx="8229600" cy="4176861"/>
              </a:xfrm>
              <a:blipFill>
                <a:blip r:embed="rId2"/>
                <a:stretch>
                  <a:fillRect l="-1111" t="-1606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0020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484387"/>
                <a:ext cx="8229600" cy="417686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证明：（存在性）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是素数，则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(1.2)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式成立。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假设当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=2,3,…,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时，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(1.2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式都成立，那么对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：若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是素数，则令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，此时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+1=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(1.2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式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成立；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若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是合数，则存在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+1=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2≤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，由归纳假设，存在素数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/>
                    </m:sSub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和素数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  <m:sup/>
                    </m:sSub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/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 smtClean="0">
                        <a:latin typeface="Cambria Math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ea typeface="Cambria Math" panose="02040503050406030204" pitchFamily="18" charset="0"/>
                  </a:rPr>
                  <a:t>,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  <m:sup/>
                    </m:sSubSup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+1=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/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(1.2)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式成立。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由数学归纳法可知，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(1.2)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式对所有的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都成立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84387"/>
                <a:ext cx="8229600" cy="4176861"/>
              </a:xfrm>
              <a:blipFill>
                <a:blip r:embed="rId2"/>
                <a:stretch>
                  <a:fillRect l="-1111" t="-1606" r="-4815" b="-29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5232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484387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（唯一性）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假设还存在素数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⋯≤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，所以存在整数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，又因为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和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都是素数，因此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84387"/>
                <a:ext cx="8229600" cy="4176861"/>
              </a:xfrm>
              <a:blipFill>
                <a:blip r:embed="rId2"/>
                <a:stretch>
                  <a:fillRect l="-1111" t="-1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9134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484387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（唯一性）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假设还存在素数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⋯≤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，所以存在整数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，又因为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和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都是素数，因此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同理可知存在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，此时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，进而有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84387"/>
                <a:ext cx="8229600" cy="4176861"/>
              </a:xfrm>
              <a:blipFill>
                <a:blip r:embed="rId2"/>
                <a:stretch>
                  <a:fillRect l="-1111" t="-1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2234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484387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（唯一性）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假设还存在素数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⋯≤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，所以存在整数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，又因为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和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都是素数，因此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同理可知存在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，此时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，进而有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同理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，以此类推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，可依次得到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，以及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定理得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84387"/>
                <a:ext cx="8229600" cy="4176861"/>
              </a:xfrm>
              <a:blipFill>
                <a:blip r:embed="rId2"/>
                <a:stretch>
                  <a:fillRect l="-1111" t="-1606" b="-125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3602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1.4.2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任一大于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的整数可以唯一地表示成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bSup>
                      <m:sSubSup>
                        <m:sSubSupPr>
                          <m:ctrlPr>
                            <a:rPr lang="zh-CN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bSup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sSubSup>
                        <m:sSubSupPr>
                          <m:ctrlPr>
                            <a:rPr lang="zh-CN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sup>
                      </m:sSubSup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  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&lt;⋯&lt;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其中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是素数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/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992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1.4.2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任一大于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的整数可以唯一地表示成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bSup>
                      <m:sSubSup>
                        <m:sSubSupPr>
                          <m:ctrlPr>
                            <a:rPr lang="zh-CN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bSup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sSubSup>
                        <m:sSubSupPr>
                          <m:ctrlPr>
                            <a:rPr lang="zh-CN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sup>
                      </m:sSubSup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  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&lt;⋯&lt;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其中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是素数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上式称为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标准分解式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9696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2839</TotalTime>
  <Words>2507</Words>
  <Application>Microsoft Office PowerPoint</Application>
  <PresentationFormat>全屏显示(4:3)</PresentationFormat>
  <Paragraphs>439</Paragraphs>
  <Slides>88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88</vt:i4>
      </vt:variant>
    </vt:vector>
  </HeadingPairs>
  <TitlesOfParts>
    <vt:vector size="94" baseType="lpstr">
      <vt:lpstr>等线</vt:lpstr>
      <vt:lpstr>宋体</vt:lpstr>
      <vt:lpstr>微软雅黑</vt:lpstr>
      <vt:lpstr>Arial</vt:lpstr>
      <vt:lpstr>Cambria Math</vt:lpstr>
      <vt:lpstr>默认设计模板</vt:lpstr>
      <vt:lpstr>网络安全数学基础(一)</vt:lpstr>
      <vt:lpstr>PowerPoint 演示文稿</vt:lpstr>
      <vt:lpstr>助教信息</vt:lpstr>
      <vt:lpstr>主要内容</vt:lpstr>
      <vt:lpstr>主要内容</vt:lpstr>
      <vt:lpstr>PowerPoint 演示文稿</vt:lpstr>
      <vt:lpstr>PowerPoint 演示文稿</vt:lpstr>
      <vt:lpstr>网络安全数学基础（一）  第一章 整数的可除性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§1.1 整除性</vt:lpstr>
      <vt:lpstr>§1.1 整除性</vt:lpstr>
      <vt:lpstr>§1.1 整除性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§1.2 整数的表示</vt:lpstr>
      <vt:lpstr>§1.2 整数的表示</vt:lpstr>
      <vt:lpstr>§1.3最大公因数与欧几里德除法</vt:lpstr>
      <vt:lpstr>§1.3最大公因数与欧几里德除法</vt:lpstr>
      <vt:lpstr>§1.3最大公因数与欧几里德除法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§1.4 素数与算术基本定理</vt:lpstr>
      <vt:lpstr>§1.4 素数与算术基本定理</vt:lpstr>
      <vt:lpstr>§1.4 素数与算术基本定理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华东师范大学生命科学学院</dc:title>
  <dc:creator>liuhuan</dc:creator>
  <cp:lastModifiedBy>Raymond</cp:lastModifiedBy>
  <cp:revision>167</cp:revision>
  <cp:lastPrinted>2015-09-25T01:40:12Z</cp:lastPrinted>
  <dcterms:created xsi:type="dcterms:W3CDTF">2011-06-14T05:49:02Z</dcterms:created>
  <dcterms:modified xsi:type="dcterms:W3CDTF">2017-02-21T09:23:29Z</dcterms:modified>
</cp:coreProperties>
</file>