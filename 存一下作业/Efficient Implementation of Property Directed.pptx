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409" r:id="rId3"/>
    <p:sldId id="418" r:id="rId4"/>
    <p:sldId id="411" r:id="rId5"/>
    <p:sldId id="415" r:id="rId7"/>
    <p:sldId id="416" r:id="rId8"/>
    <p:sldId id="417" r:id="rId9"/>
    <p:sldId id="419" r:id="rId10"/>
    <p:sldId id="414"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98d36c47-9f46-4379-844a-726877307b7d}">
          <p14:sldIdLst>
            <p14:sldId id="409"/>
          </p14:sldIdLst>
        </p14:section>
        <p14:section name="无标题节" id="{67950c4d-b1fd-45d5-aa16-45fdb7d36b0b}">
          <p14:sldIdLst>
            <p14:sldId id="418"/>
            <p14:sldId id="411"/>
            <p14:sldId id="415"/>
            <p14:sldId id="416"/>
            <p14:sldId id="417"/>
          </p14:sldIdLst>
        </p14:section>
        <p14:section name="无标题节" id="{ccc8eba2-6e49-44f6-b06d-86e01577d972}">
          <p14:sldIdLst>
            <p14:sldId id="414"/>
            <p14:sldId id="419"/>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gl002" initials="w"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commentAuthors" Target="commentAuthors.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首先介绍一下这篇文章的背景</a:t>
            </a:r>
            <a:endParaRPr lang="zh-CN" altLang="en-US"/>
          </a:p>
          <a:p>
            <a:r>
              <a:rPr lang="zh-CN" altLang="en-US"/>
              <a:t>这篇文章是对</a:t>
            </a:r>
            <a:r>
              <a:rPr lang="en-US" altLang="zh-CN"/>
              <a:t>IC3</a:t>
            </a:r>
            <a:r>
              <a:rPr lang="zh-CN" altLang="en-US"/>
              <a:t>提出了更加</a:t>
            </a:r>
            <a:r>
              <a:rPr lang="zh-CN" altLang="en-US"/>
              <a:t>简单高效的实现方法</a:t>
            </a:r>
            <a:endParaRPr lang="zh-CN" altLang="en-US"/>
          </a:p>
          <a:p>
            <a:r>
              <a:rPr lang="zh-CN" altLang="en-US"/>
              <a:t>首先我们简单讲一下</a:t>
            </a:r>
            <a:r>
              <a:rPr lang="en-US" altLang="zh-CN"/>
              <a:t>IC3</a:t>
            </a:r>
            <a:endParaRPr lang="zh-CN" altLang="en-US"/>
          </a:p>
          <a:p>
            <a:r>
              <a:rPr lang="en-US" altLang="zh-CN"/>
              <a:t>IC3</a:t>
            </a:r>
            <a:r>
              <a:rPr lang="zh-CN" altLang="en-US"/>
              <a:t>最初是由一个叫</a:t>
            </a:r>
            <a:r>
              <a:rPr lang="zh-CN" altLang="en-US" b="1">
                <a:sym typeface="+mn-ea"/>
              </a:rPr>
              <a:t>Aaron  Bradley</a:t>
            </a:r>
            <a:r>
              <a:rPr lang="zh-CN" altLang="en-US">
                <a:sym typeface="+mn-ea"/>
              </a:rPr>
              <a:t>的学者提出，它是第一个位级符号模型检查算法。</a:t>
            </a:r>
            <a:r>
              <a:rPr lang="zh-CN" altLang="en-US"/>
              <a:t>它不展开转换关系，而是生成与逼近可达性信息归纳相对的一些子句。通过这种方法，算法逐步改进所要验证的</a:t>
            </a:r>
            <a:r>
              <a:rPr lang="zh-CN" altLang="en-US"/>
              <a:t>性质，最终生成一个归纳强化性质或反例轨迹。</a:t>
            </a:r>
            <a:endParaRPr lang="zh-CN" altLang="en-US"/>
          </a:p>
          <a:p>
            <a:endParaRPr lang="zh-CN" altLang="en-US"/>
          </a:p>
          <a:p>
            <a:r>
              <a:rPr lang="zh-CN" altLang="en-US"/>
              <a:t>由于</a:t>
            </a:r>
            <a:r>
              <a:rPr lang="en-US" altLang="zh-CN"/>
              <a:t>IC3</a:t>
            </a:r>
            <a:r>
              <a:rPr lang="zh-CN" altLang="en-US"/>
              <a:t>的概念很难理解，这个作者后来又写了一篇</a:t>
            </a:r>
            <a:r>
              <a:rPr lang="en-US" altLang="zh-CN"/>
              <a:t>understanding IC3</a:t>
            </a:r>
            <a:r>
              <a:rPr lang="zh-CN" altLang="en-US"/>
              <a:t>。</a:t>
            </a:r>
            <a:endParaRPr lang="zh-CN" altLang="en-US"/>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下面我们介绍一些关于</a:t>
            </a:r>
            <a:r>
              <a:rPr lang="en-US" altLang="zh-CN"/>
              <a:t>IC3</a:t>
            </a:r>
            <a:r>
              <a:rPr lang="zh-CN" altLang="en-US"/>
              <a:t>的相关概念。</a:t>
            </a:r>
            <a:endParaRPr lang="zh-CN" altLang="en-US"/>
          </a:p>
          <a:p>
            <a:r>
              <a:rPr lang="zh-CN" altLang="en-US"/>
              <a:t>我们假设有一个有限状态迁移系统，用一个三元组来表示。其中，</a:t>
            </a:r>
            <a:r>
              <a:rPr lang="en-US" altLang="zh-CN"/>
              <a:t>X</a:t>
            </a:r>
            <a:r>
              <a:rPr lang="zh-CN" altLang="en-US"/>
              <a:t>表示状态变量的集合，逻辑公式</a:t>
            </a:r>
            <a:r>
              <a:rPr lang="en-US" altLang="zh-CN"/>
              <a:t>I(x)</a:t>
            </a:r>
            <a:r>
              <a:rPr lang="zh-CN" altLang="en-US"/>
              <a:t>表示初始状态的集合，逻辑公式</a:t>
            </a:r>
            <a:r>
              <a:rPr lang="en-US" altLang="zh-CN"/>
              <a:t>T(X,X')</a:t>
            </a:r>
            <a:r>
              <a:rPr lang="zh-CN" altLang="en-US"/>
              <a:t>表示迁移关系。</a:t>
            </a:r>
            <a:endParaRPr lang="zh-CN" altLang="en-US"/>
          </a:p>
          <a:p>
            <a:r>
              <a:rPr lang="zh-CN" altLang="en-US"/>
              <a:t>系统中的一个状态是对</a:t>
            </a:r>
            <a:r>
              <a:rPr lang="en-US" altLang="zh-CN"/>
              <a:t>X</a:t>
            </a:r>
            <a:r>
              <a:rPr lang="zh-CN" altLang="en-US"/>
              <a:t>中的所有变量的一个赋值，</a:t>
            </a:r>
            <a:r>
              <a:rPr lang="zh-CN" altLang="en-US">
                <a:sym typeface="+mn-ea"/>
              </a:rPr>
              <a:t>每个变量的赋值可以用一个字来表示，然后整个赋值其实就是这些字的合取。</a:t>
            </a:r>
            <a:endParaRPr lang="zh-CN" altLang="en-US"/>
          </a:p>
          <a:p>
            <a:r>
              <a:rPr lang="zh-CN" altLang="en-US"/>
              <a:t>下面给出一个例子</a:t>
            </a:r>
            <a:endParaRPr lang="zh-CN" altLang="en-US"/>
          </a:p>
          <a:p>
            <a:r>
              <a:rPr lang="en-US" altLang="zh-CN"/>
              <a:t>s</a:t>
            </a:r>
            <a:r>
              <a:rPr lang="zh-CN" altLang="en-US"/>
              <a:t>等于</a:t>
            </a:r>
            <a:r>
              <a:rPr lang="en-US" altLang="zh-CN"/>
              <a:t>a</a:t>
            </a:r>
            <a:r>
              <a:rPr lang="zh-CN" altLang="en-US"/>
              <a:t>合取非</a:t>
            </a:r>
            <a:r>
              <a:rPr lang="en-US" altLang="zh-CN"/>
              <a:t>b</a:t>
            </a:r>
            <a:r>
              <a:rPr lang="zh-CN" altLang="en-US"/>
              <a:t>，对s取反得到的非s等于非</a:t>
            </a:r>
            <a:r>
              <a:rPr lang="en-US" altLang="zh-CN"/>
              <a:t>a</a:t>
            </a:r>
            <a:r>
              <a:rPr lang="zh-CN" altLang="en-US"/>
              <a:t>析取</a:t>
            </a:r>
            <a:r>
              <a:rPr lang="en-US" altLang="zh-CN"/>
              <a:t>b</a:t>
            </a:r>
            <a:r>
              <a:rPr lang="zh-CN" altLang="en-US"/>
              <a:t>，非</a:t>
            </a:r>
            <a:r>
              <a:rPr lang="en-US" altLang="zh-CN"/>
              <a:t>s</a:t>
            </a:r>
            <a:r>
              <a:rPr lang="zh-CN" altLang="en-US"/>
              <a:t>是一个子句</a:t>
            </a:r>
            <a:endParaRPr lang="zh-CN" altLang="en-US"/>
          </a:p>
          <a:p>
            <a:r>
              <a:rPr lang="zh-CN" altLang="en-US"/>
              <a:t>如果</a:t>
            </a:r>
            <a:r>
              <a:rPr lang="en-US" altLang="zh-CN"/>
              <a:t>s</a:t>
            </a:r>
            <a:r>
              <a:rPr lang="zh-CN" altLang="en-US"/>
              <a:t>满足逻辑公式</a:t>
            </a:r>
            <a:r>
              <a:rPr lang="en-US" altLang="zh-CN"/>
              <a:t>F</a:t>
            </a:r>
            <a:r>
              <a:rPr lang="zh-CN" altLang="en-US"/>
              <a:t>，称</a:t>
            </a:r>
            <a:r>
              <a:rPr lang="en-US" altLang="zh-CN"/>
              <a:t>s</a:t>
            </a:r>
            <a:r>
              <a:rPr lang="zh-CN" altLang="en-US"/>
              <a:t>是一个</a:t>
            </a:r>
            <a:r>
              <a:rPr lang="en-US" altLang="zh-CN"/>
              <a:t>F</a:t>
            </a:r>
            <a:r>
              <a:rPr lang="zh-CN" altLang="en-US"/>
              <a:t>状态</a:t>
            </a:r>
            <a:endParaRPr lang="zh-CN" altLang="en-US"/>
          </a:p>
          <a:p>
            <a:endParaRPr lang="en-US" altLang="zh-CN"/>
          </a:p>
          <a:p>
            <a:r>
              <a:rPr lang="zh-CN" altLang="en-US"/>
              <a:t>如果子句</a:t>
            </a:r>
            <a:r>
              <a:rPr lang="en-US" altLang="zh-CN"/>
              <a:t>c</a:t>
            </a:r>
            <a:r>
              <a:rPr lang="zh-CN" altLang="en-US"/>
              <a:t>满足下面这个公式，那么</a:t>
            </a:r>
            <a:r>
              <a:rPr lang="en-US" altLang="zh-CN"/>
              <a:t>c</a:t>
            </a:r>
            <a:r>
              <a:rPr lang="zh-CN" altLang="en-US"/>
              <a:t>是</a:t>
            </a:r>
            <a:r>
              <a:rPr lang="en-US" altLang="zh-CN"/>
              <a:t>s</a:t>
            </a:r>
            <a:r>
              <a:rPr lang="zh-CN" altLang="en-US"/>
              <a:t>的一个归纳推广</a:t>
            </a:r>
            <a:endParaRPr lang="zh-CN" altLang="en-US"/>
          </a:p>
          <a:p>
            <a:endParaRPr lang="zh-CN" altLang="en-US"/>
          </a:p>
          <a:p>
            <a:r>
              <a:rPr lang="zh-CN" altLang="en-US"/>
              <a:t>在给定的有限状态系统上，如果给出一条逻辑公式，这个逻辑公式在所有的可达状态上都满足，则称这个逻辑公式是一个安全属性。</a:t>
            </a:r>
            <a:r>
              <a:rPr lang="en-US" altLang="zh-CN"/>
              <a:t>如果对于给定的</a:t>
            </a:r>
            <a:r>
              <a:rPr lang="zh-CN" altLang="en-US"/>
              <a:t>安全属性</a:t>
            </a:r>
            <a:r>
              <a:rPr lang="en-US" altLang="zh-CN"/>
              <a:t>，存在一个可达状态不满足这条公式，那么称这个状态是一个坏状态（bad state）。</a:t>
            </a:r>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迁移系统上的一个归纳断言是一个逻辑公式F</a:t>
            </a:r>
            <a:r>
              <a:rPr lang="en-US" altLang="zh-CN"/>
              <a:t>,</a:t>
            </a:r>
            <a:r>
              <a:rPr lang="zh-CN" altLang="en-US"/>
              <a:t>满足下面两个公式，前面一条称为初始步，确保所有的初始状态都满足F；后面一条称为归纳步，确保F对于状态迁移是封闭的，当所有可达状态都满足这两个条件，称</a:t>
            </a:r>
            <a:r>
              <a:rPr lang="en-US" altLang="zh-CN"/>
              <a:t>F</a:t>
            </a:r>
            <a:r>
              <a:rPr lang="zh-CN" altLang="en-US"/>
              <a:t>是归纳的，如果在归纳的过程中发现反例，也就是出现了坏状态，则称这个坏状态为归纳的反例。</a:t>
            </a:r>
            <a:endParaRPr lang="zh-CN" altLang="en-US"/>
          </a:p>
          <a:p>
            <a:endParaRPr lang="zh-CN" altLang="en-US"/>
          </a:p>
          <a:p>
            <a:r>
              <a:rPr lang="zh-CN" altLang="en-US"/>
              <a:t>设P是一个安全属性</a:t>
            </a:r>
            <a:r>
              <a:rPr lang="zh-CN" altLang="en-US"/>
              <a:t>，F是一个逻辑公式，如果F合取P是归纳的（也就是满足上面讲的</a:t>
            </a:r>
            <a:r>
              <a:rPr lang="zh-CN" altLang="en-US"/>
              <a:t>那两个条件，那么称F是P的一个归纳强化。</a:t>
            </a:r>
            <a:endParaRPr lang="zh-CN" altLang="en-US"/>
          </a:p>
          <a:p>
            <a:endParaRPr lang="zh-CN" altLang="en-US"/>
          </a:p>
          <a:p>
            <a:r>
              <a:rPr lang="zh-CN" altLang="en-US"/>
              <a:t>结合上面提出的概念，简单地说，</a:t>
            </a:r>
            <a:r>
              <a:rPr lang="zh-CN" altLang="en-US"/>
              <a:t>IC3就是</a:t>
            </a:r>
            <a:r>
              <a:rPr lang="zh-CN" altLang="en-US"/>
              <a:t>生成一个P的强化归纳</a:t>
            </a:r>
            <a:r>
              <a:rPr lang="zh-CN" altLang="en-US"/>
              <a:t>公式F，它能够覆盖掉所有的初始状态。只要</a:t>
            </a:r>
            <a:r>
              <a:rPr lang="zh-CN" altLang="en-US">
                <a:sym typeface="+mn-ea"/>
              </a:rPr>
              <a:t>P的强化归纳公式F存在</a:t>
            </a:r>
            <a:r>
              <a:rPr lang="zh-CN" altLang="en-US"/>
              <a:t>，就能够证明</a:t>
            </a:r>
            <a:r>
              <a:rPr lang="en-US" altLang="zh-CN"/>
              <a:t>P</a:t>
            </a:r>
            <a:r>
              <a:rPr lang="zh-CN" altLang="en-US"/>
              <a:t>是一个安全属性。</a:t>
            </a:r>
            <a:endParaRPr lang="zh-CN" altLang="en-US"/>
          </a:p>
          <a:p>
            <a:endParaRPr lang="zh-CN" altLang="en-US"/>
          </a:p>
          <a:p>
            <a:r>
              <a:rPr lang="en-US" altLang="zh-CN"/>
              <a:t>IC3</a:t>
            </a:r>
            <a:r>
              <a:rPr lang="zh-CN" altLang="en-US"/>
              <a:t>是艾伦提出的实现技术，而</a:t>
            </a:r>
            <a:r>
              <a:rPr lang="en-US" altLang="zh-CN"/>
              <a:t>IC3</a:t>
            </a:r>
            <a:r>
              <a:rPr lang="zh-CN" altLang="en-US"/>
              <a:t>中所使用的方法并没有命名，我们在本文中</a:t>
            </a:r>
            <a:r>
              <a:rPr lang="zh-CN" altLang="en-US"/>
              <a:t>称之为</a:t>
            </a:r>
            <a:r>
              <a:rPr lang="en-US" altLang="zh-CN"/>
              <a:t>PDR</a:t>
            </a:r>
            <a:endParaRPr lang="zh-CN" altLang="en-US"/>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本文的主要贡献是</a:t>
            </a:r>
            <a:endParaRPr lang="zh-CN" altLang="en-US"/>
          </a:p>
          <a:p>
            <a:endParaRPr lang="zh-CN" altLang="en-US"/>
          </a:p>
          <a:p>
            <a:r>
              <a:rPr lang="zh-CN" altLang="en-US"/>
              <a:t>作者不进对</a:t>
            </a:r>
            <a:r>
              <a:rPr lang="en-US" altLang="zh-CN"/>
              <a:t>PDR</a:t>
            </a:r>
            <a:r>
              <a:rPr lang="zh-CN" altLang="en-US"/>
              <a:t>进行了研究学习，还对该算法提出了一系列的改进去简化它的实现，提升它</a:t>
            </a:r>
            <a:r>
              <a:rPr lang="zh-CN" altLang="en-US"/>
              <a:t>的性能。</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本文研究了用有限状态机建模的系统的验证问题。FSM定义了一组初始状态和一组属性状态。所提出的算法验证不存在从初始状态到坏状态</a:t>
            </a:r>
            <a:r>
              <a:rPr lang="zh-CN" altLang="en-US"/>
              <a:t>的转换序列。</a:t>
            </a:r>
            <a:endParaRPr lang="zh-CN" altLang="en-US"/>
          </a:p>
          <a:p>
            <a:endParaRPr lang="zh-CN" altLang="en-US"/>
          </a:p>
          <a:p>
            <a:r>
              <a:rPr lang="zh-CN" altLang="en-US"/>
              <a:t>在本文中，我们将每一个状态变量和它的否看成一个字，在下面的例子中，</a:t>
            </a:r>
            <a:r>
              <a:rPr lang="en-US" altLang="zh-CN"/>
              <a:t>a</a:t>
            </a:r>
            <a:r>
              <a:rPr lang="zh-CN" altLang="en-US"/>
              <a:t>和</a:t>
            </a:r>
            <a:r>
              <a:rPr lang="en-US" altLang="zh-CN"/>
              <a:t>b</a:t>
            </a:r>
            <a:r>
              <a:rPr lang="zh-CN" altLang="en-US"/>
              <a:t>否都是一个字</a:t>
            </a:r>
            <a:endParaRPr lang="zh-CN" altLang="en-US"/>
          </a:p>
          <a:p>
            <a:endParaRPr lang="zh-CN" altLang="en-US"/>
          </a:p>
          <a:p>
            <a:r>
              <a:rPr lang="zh-CN" altLang="en-US"/>
              <a:t>我们称</a:t>
            </a:r>
            <a:r>
              <a:rPr lang="zh-CN" altLang="en-US"/>
              <a:t>字的合取为一个</a:t>
            </a:r>
            <a:r>
              <a:rPr lang="zh-CN" altLang="en-US"/>
              <a:t>立方体</a:t>
            </a:r>
            <a:r>
              <a:rPr lang="en-US" altLang="zh-CN"/>
              <a:t>cube</a:t>
            </a:r>
            <a:endParaRPr lang="en-US" altLang="zh-CN"/>
          </a:p>
          <a:p>
            <a:r>
              <a:rPr lang="zh-CN" altLang="en-US"/>
              <a:t>字的析取为一个子句</a:t>
            </a:r>
            <a:r>
              <a:rPr lang="en-US" altLang="zh-CN"/>
              <a:t>clause</a:t>
            </a:r>
            <a:r>
              <a:rPr lang="zh-CN" altLang="en-US"/>
              <a:t>，一个子句等于相应的立方体</a:t>
            </a:r>
            <a:r>
              <a:rPr lang="zh-CN" altLang="en-US"/>
              <a:t>取否</a:t>
            </a:r>
            <a:endParaRPr lang="zh-CN" altLang="en-US"/>
          </a:p>
          <a:p>
            <a:endParaRPr lang="zh-CN" altLang="en-US"/>
          </a:p>
          <a:p>
            <a:r>
              <a:rPr lang="zh-CN" altLang="en-US"/>
              <a:t>如果一条</a:t>
            </a:r>
            <a:r>
              <a:rPr lang="en-US" altLang="zh-CN"/>
              <a:t>cube</a:t>
            </a:r>
            <a:r>
              <a:rPr lang="zh-CN" altLang="en-US"/>
              <a:t>里包含有限状态机中定义的所有状态变量，我们称这条</a:t>
            </a:r>
            <a:r>
              <a:rPr lang="en-US" altLang="zh-CN"/>
              <a:t>cube</a:t>
            </a:r>
            <a:r>
              <a:rPr lang="zh-CN" altLang="en-US"/>
              <a:t>为最小项</a:t>
            </a:r>
            <a:r>
              <a:rPr lang="en-US" altLang="zh-CN"/>
              <a:t>minterm</a:t>
            </a:r>
            <a:endParaRPr lang="zh-CN" altLang="en-US"/>
          </a:p>
          <a:p>
            <a:endParaRPr lang="zh-CN" altLang="en-US"/>
          </a:p>
          <a:p>
            <a:r>
              <a:rPr lang="zh-CN" altLang="en-US"/>
              <a:t>本文假设系统状态模型以符号化的方式表示，并可以将其转换为命题逻辑进行求解</a:t>
            </a:r>
            <a:r>
              <a:rPr lang="zh-CN" altLang="en-US"/>
              <a:t>。</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None/>
              <a:tabLst>
                <a:tab pos="1609725" algn="l"/>
                <a:tab pos="1609725" algn="l"/>
                <a:tab pos="1609725" algn="l"/>
                <a:tab pos="1609725" algn="l"/>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68.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69.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70.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71.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tags" Target="../tags/tag72.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normAutofit fontScale="90000"/>
          </a:bodyPr>
          <a:p>
            <a:r>
              <a:rPr lang="zh-CN" altLang="zh-CN"/>
              <a:t>Efficient Implementation of Property Directed</a:t>
            </a:r>
            <a:br>
              <a:rPr lang="zh-CN" altLang="zh-CN"/>
            </a:br>
            <a:r>
              <a:rPr lang="zh-CN" altLang="zh-CN"/>
              <a:t>Reachability</a:t>
            </a:r>
            <a:endParaRPr lang="zh-CN" altLang="zh-CN"/>
          </a:p>
        </p:txBody>
      </p:sp>
      <p:sp>
        <p:nvSpPr>
          <p:cNvPr id="3" name="副标题 2"/>
          <p:cNvSpPr>
            <a:spLocks noGrp="1"/>
          </p:cNvSpPr>
          <p:nvPr>
            <p:ph type="subTitle" idx="1"/>
            <p:custDataLst>
              <p:tags r:id="rId2"/>
            </p:custDataLst>
          </p:nvPr>
        </p:nvSpPr>
        <p:spPr/>
        <p:txBody>
          <a:bodyPr/>
          <a:p>
            <a:r>
              <a:rPr lang="zh-CN" altLang="en-US"/>
              <a:t>单击输入您的封面副标题</a:t>
            </a:r>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4" name="标题 3"/>
          <p:cNvSpPr>
            <a:spLocks noGrp="1"/>
          </p:cNvSpPr>
          <p:nvPr>
            <p:ph type="title"/>
          </p:nvPr>
        </p:nvSpPr>
        <p:spPr/>
        <p:txBody>
          <a:bodyPr>
            <a:normAutofit fontScale="90000"/>
          </a:bodyPr>
          <a:p>
            <a:r>
              <a:rPr lang="en-US" altLang="zh-CN">
                <a:sym typeface="+mn-ea"/>
              </a:rPr>
              <a:t>Introduction</a:t>
            </a:r>
            <a:br>
              <a:rPr lang="en-US" altLang="zh-CN"/>
            </a:br>
            <a:endParaRPr lang="zh-CN" altLang="en-US"/>
          </a:p>
        </p:txBody>
      </p:sp>
      <p:sp>
        <p:nvSpPr>
          <p:cNvPr id="5" name="文本占位符 4"/>
          <p:cNvSpPr>
            <a:spLocks noGrp="1"/>
          </p:cNvSpPr>
          <p:nvPr>
            <p:ph type="body" sz="quarter" idx="13"/>
          </p:nvPr>
        </p:nvSpPr>
        <p:spPr/>
        <p:txBody>
          <a:bodyPr>
            <a:normAutofit lnSpcReduction="10000"/>
          </a:bodyPr>
          <a:p>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a:xfrm>
            <a:off x="611575" y="403295"/>
            <a:ext cx="10969200" cy="705600"/>
          </a:xfrm>
        </p:spPr>
        <p:txBody>
          <a:bodyPr/>
          <a:p>
            <a:r>
              <a:rPr lang="en-US" altLang="zh-CN"/>
              <a:t>IC3</a:t>
            </a:r>
            <a:endParaRPr lang="en-US" altLang="zh-CN"/>
          </a:p>
        </p:txBody>
      </p:sp>
      <p:sp>
        <p:nvSpPr>
          <p:cNvPr id="4" name="椭圆 3"/>
          <p:cNvSpPr/>
          <p:nvPr/>
        </p:nvSpPr>
        <p:spPr>
          <a:xfrm>
            <a:off x="297815" y="2604135"/>
            <a:ext cx="2293620" cy="2144395"/>
          </a:xfrm>
          <a:prstGeom prst="ellipse">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solidFill>
                  <a:schemeClr val="tx1"/>
                </a:solidFill>
              </a:rPr>
              <a:t>IC3</a:t>
            </a:r>
            <a:endParaRPr lang="en-US" altLang="zh-CN" sz="3200">
              <a:solidFill>
                <a:schemeClr val="tx1"/>
              </a:solidFill>
            </a:endParaRPr>
          </a:p>
        </p:txBody>
      </p:sp>
      <p:cxnSp>
        <p:nvCxnSpPr>
          <p:cNvPr id="5" name="直接连接符 4"/>
          <p:cNvCxnSpPr>
            <a:stCxn id="4" idx="7"/>
          </p:cNvCxnSpPr>
          <p:nvPr/>
        </p:nvCxnSpPr>
        <p:spPr>
          <a:xfrm flipV="1">
            <a:off x="2255520" y="1900555"/>
            <a:ext cx="1074420" cy="10179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507105" y="1392555"/>
            <a:ext cx="7827645" cy="829945"/>
          </a:xfrm>
          <a:prstGeom prst="rect">
            <a:avLst/>
          </a:prstGeom>
          <a:noFill/>
        </p:spPr>
        <p:txBody>
          <a:bodyPr wrap="square" rtlCol="0">
            <a:spAutoFit/>
          </a:bodyPr>
          <a:p>
            <a:r>
              <a:rPr lang="zh-CN" altLang="en-US" sz="2400" b="1">
                <a:sym typeface="+mn-ea"/>
              </a:rPr>
              <a:t>Aaron Bradley</a:t>
            </a:r>
            <a:r>
              <a:rPr lang="zh-CN" altLang="en-US" sz="2400">
                <a:sym typeface="+mn-ea"/>
              </a:rPr>
              <a:t>, SAT-Based Model Checking without Unrolling, VMCAI 2011</a:t>
            </a:r>
            <a:endParaRPr lang="zh-CN" altLang="en-US" sz="2400">
              <a:sym typeface="+mn-ea"/>
            </a:endParaRPr>
          </a:p>
        </p:txBody>
      </p:sp>
      <p:sp>
        <p:nvSpPr>
          <p:cNvPr id="7" name="文本框 6"/>
          <p:cNvSpPr txBox="1"/>
          <p:nvPr/>
        </p:nvSpPr>
        <p:spPr>
          <a:xfrm>
            <a:off x="3609975" y="5847715"/>
            <a:ext cx="7272655" cy="460375"/>
          </a:xfrm>
          <a:prstGeom prst="rect">
            <a:avLst/>
          </a:prstGeom>
          <a:noFill/>
        </p:spPr>
        <p:txBody>
          <a:bodyPr wrap="square" rtlCol="0">
            <a:spAutoFit/>
          </a:bodyPr>
          <a:p>
            <a:r>
              <a:rPr lang="zh-CN" altLang="en-US" sz="2400" b="1">
                <a:sym typeface="+mn-ea"/>
              </a:rPr>
              <a:t>Aaron Bradley</a:t>
            </a:r>
            <a:r>
              <a:rPr lang="zh-CN" altLang="en-US" sz="2400">
                <a:sym typeface="+mn-ea"/>
              </a:rPr>
              <a:t>, </a:t>
            </a:r>
            <a:r>
              <a:rPr lang="zh-CN" altLang="en-US" sz="2400"/>
              <a:t>Understanding IC3</a:t>
            </a:r>
            <a:endParaRPr lang="zh-CN" altLang="en-US" sz="2400"/>
          </a:p>
        </p:txBody>
      </p:sp>
      <p:cxnSp>
        <p:nvCxnSpPr>
          <p:cNvPr id="8" name="直接连接符 7"/>
          <p:cNvCxnSpPr>
            <a:stCxn id="4" idx="5"/>
          </p:cNvCxnSpPr>
          <p:nvPr/>
        </p:nvCxnSpPr>
        <p:spPr>
          <a:xfrm>
            <a:off x="2255520" y="4434205"/>
            <a:ext cx="1251585" cy="16713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3609975" y="2329815"/>
            <a:ext cx="7724775" cy="3046095"/>
          </a:xfrm>
          <a:prstGeom prst="rect">
            <a:avLst/>
          </a:prstGeom>
          <a:noFill/>
          <a:ln>
            <a:solidFill>
              <a:schemeClr val="bg1">
                <a:lumMod val="50000"/>
              </a:schemeClr>
            </a:solidFill>
          </a:ln>
        </p:spPr>
        <p:txBody>
          <a:bodyPr wrap="square" rtlCol="0" anchor="t">
            <a:spAutoFit/>
          </a:bodyPr>
          <a:p>
            <a:r>
              <a:rPr lang="en-US" altLang="zh-CN" sz="2400"/>
              <a:t>Abstract: </a:t>
            </a:r>
            <a:r>
              <a:rPr lang="zh-CN" altLang="en-US" sz="2400"/>
              <a:t>A new form of SAT-based symbolic model checking is described. Instead of unrolling the transition relation, it incrementally generates clauses that are inductive relative to (and augment) stepwise approximate reachability information. In this way, the algorithm gradually refines the property, eventually producing either an inductive strengthening of the property or a counterexample trace.</a:t>
            </a:r>
            <a:endParaRPr lang="zh-CN" altLang="en-US" sz="240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4" name="标题 1"/>
          <p:cNvSpPr>
            <a:spLocks noGrp="1"/>
          </p:cNvSpPr>
          <p:nvPr/>
        </p:nvSpPr>
        <p:spPr>
          <a:xfrm>
            <a:off x="611575" y="403295"/>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r>
              <a:rPr lang="en-US" altLang="zh-CN"/>
              <a:t>IC3</a:t>
            </a:r>
            <a:endParaRPr lang="en-US" altLang="zh-CN"/>
          </a:p>
        </p:txBody>
      </p:sp>
      <p:sp>
        <p:nvSpPr>
          <p:cNvPr id="5" name="文本框 4"/>
          <p:cNvSpPr txBox="1"/>
          <p:nvPr/>
        </p:nvSpPr>
        <p:spPr>
          <a:xfrm>
            <a:off x="716280" y="1388745"/>
            <a:ext cx="10488930" cy="4030980"/>
          </a:xfrm>
          <a:prstGeom prst="rect">
            <a:avLst/>
          </a:prstGeom>
          <a:noFill/>
        </p:spPr>
        <p:txBody>
          <a:bodyPr wrap="square" rtlCol="0">
            <a:spAutoFit/>
          </a:bodyPr>
          <a:p>
            <a:r>
              <a:rPr lang="en-US" altLang="zh-CN" sz="3200" b="1">
                <a:latin typeface="Times New Roman" panose="02020603050405020304" charset="0"/>
                <a:cs typeface="Times New Roman" panose="02020603050405020304" charset="0"/>
              </a:rPr>
              <a:t>1. F</a:t>
            </a:r>
            <a:r>
              <a:rPr lang="zh-CN" altLang="en-US" sz="3200" b="1">
                <a:latin typeface="Times New Roman" panose="02020603050405020304" charset="0"/>
                <a:cs typeface="Times New Roman" panose="02020603050405020304" charset="0"/>
              </a:rPr>
              <a:t>inite state transition system：</a:t>
            </a:r>
            <a:r>
              <a:rPr lang="zh-CN" altLang="en-US" sz="3200">
                <a:latin typeface="Times New Roman" panose="02020603050405020304" charset="0"/>
                <a:cs typeface="Times New Roman" panose="02020603050405020304" charset="0"/>
              </a:rPr>
              <a:t>S = ( X, I</a:t>
            </a:r>
            <a:r>
              <a:rPr lang="en-US" altLang="zh-CN" sz="3200">
                <a:latin typeface="Times New Roman" panose="02020603050405020304" charset="0"/>
                <a:cs typeface="Times New Roman" panose="02020603050405020304" charset="0"/>
              </a:rPr>
              <a:t>(x) </a:t>
            </a:r>
            <a:r>
              <a:rPr lang="zh-CN" altLang="en-US" sz="3200">
                <a:latin typeface="Times New Roman" panose="02020603050405020304" charset="0"/>
                <a:cs typeface="Times New Roman" panose="02020603050405020304" charset="0"/>
              </a:rPr>
              <a:t>,T</a:t>
            </a:r>
            <a:r>
              <a:rPr lang="en-US" altLang="zh-CN" sz="3200">
                <a:latin typeface="Times New Roman" panose="02020603050405020304" charset="0"/>
                <a:cs typeface="Times New Roman" panose="02020603050405020304" charset="0"/>
              </a:rPr>
              <a:t>(X,X')</a:t>
            </a:r>
            <a:r>
              <a:rPr lang="zh-CN" altLang="en-US" sz="3200">
                <a:latin typeface="Times New Roman" panose="02020603050405020304" charset="0"/>
                <a:cs typeface="Times New Roman" panose="02020603050405020304" charset="0"/>
              </a:rPr>
              <a:t> )</a:t>
            </a:r>
            <a:endParaRPr lang="zh-CN" altLang="en-US" sz="3200">
              <a:latin typeface="Times New Roman" panose="02020603050405020304" charset="0"/>
              <a:cs typeface="Times New Roman" panose="02020603050405020304" charset="0"/>
            </a:endParaRPr>
          </a:p>
          <a:p>
            <a:r>
              <a:rPr lang="en-US" altLang="zh-CN" sz="3200">
                <a:latin typeface="Times New Roman" panose="02020603050405020304" charset="0"/>
                <a:cs typeface="Times New Roman" panose="02020603050405020304" charset="0"/>
              </a:rPr>
              <a:t>	s=a∧¬b</a:t>
            </a:r>
            <a:r>
              <a:rPr lang="zh-CN" altLang="en-US" sz="3200">
                <a:latin typeface="Times New Roman" panose="02020603050405020304" charset="0"/>
                <a:cs typeface="Times New Roman" panose="02020603050405020304" charset="0"/>
              </a:rPr>
              <a:t>     </a:t>
            </a:r>
            <a:endParaRPr lang="zh-CN" altLang="en-US" sz="3200">
              <a:latin typeface="Times New Roman" panose="02020603050405020304" charset="0"/>
              <a:cs typeface="Times New Roman" panose="02020603050405020304" charset="0"/>
            </a:endParaRPr>
          </a:p>
          <a:p>
            <a:r>
              <a:rPr lang="en-US" altLang="zh-CN" sz="3200">
                <a:latin typeface="Times New Roman" panose="02020603050405020304" charset="0"/>
                <a:cs typeface="Times New Roman" panose="02020603050405020304" charset="0"/>
              </a:rPr>
              <a:t>	¬s=¬a∨b</a:t>
            </a:r>
            <a:endParaRPr lang="en-US" altLang="zh-CN" sz="3200">
              <a:latin typeface="Times New Roman" panose="02020603050405020304" charset="0"/>
              <a:cs typeface="Times New Roman" panose="02020603050405020304" charset="0"/>
            </a:endParaRPr>
          </a:p>
          <a:p>
            <a:r>
              <a:rPr lang="en-US" altLang="zh-CN" sz="3200">
                <a:latin typeface="Times New Roman" panose="02020603050405020304" charset="0"/>
                <a:cs typeface="Times New Roman" panose="02020603050405020304" charset="0"/>
              </a:rPr>
              <a:t>	s ⊨ F ------ s is a F-state</a:t>
            </a:r>
            <a:endParaRPr lang="en-US" altLang="zh-CN" sz="3200">
              <a:latin typeface="Times New Roman" panose="02020603050405020304" charset="0"/>
              <a:cs typeface="Times New Roman" panose="02020603050405020304" charset="0"/>
            </a:endParaRPr>
          </a:p>
          <a:p>
            <a:endParaRPr lang="en-US" altLang="zh-CN" sz="3200">
              <a:latin typeface="Times New Roman" panose="02020603050405020304" charset="0"/>
              <a:cs typeface="Times New Roman" panose="02020603050405020304" charset="0"/>
            </a:endParaRPr>
          </a:p>
          <a:p>
            <a:r>
              <a:rPr lang="en-US" altLang="zh-CN" sz="3200" b="1">
                <a:latin typeface="Times New Roman" panose="02020603050405020304" charset="0"/>
                <a:cs typeface="Times New Roman" panose="02020603050405020304" charset="0"/>
              </a:rPr>
              <a:t>2. Inductive generalization:</a:t>
            </a:r>
            <a:endParaRPr lang="en-US" altLang="zh-CN" sz="3200" b="1">
              <a:latin typeface="Times New Roman" panose="02020603050405020304" charset="0"/>
              <a:cs typeface="Times New Roman" panose="02020603050405020304" charset="0"/>
            </a:endParaRPr>
          </a:p>
          <a:p>
            <a:r>
              <a:rPr lang="en-US" altLang="zh-CN" sz="3200" b="1">
                <a:latin typeface="Times New Roman" panose="02020603050405020304" charset="0"/>
                <a:cs typeface="Times New Roman" panose="02020603050405020304" charset="0"/>
              </a:rPr>
              <a:t>	c⇒s   </a:t>
            </a:r>
            <a:endParaRPr lang="en-US" altLang="zh-CN" sz="3200" b="1">
              <a:latin typeface="Times New Roman" panose="02020603050405020304" charset="0"/>
              <a:cs typeface="Times New Roman" panose="02020603050405020304" charset="0"/>
            </a:endParaRPr>
          </a:p>
          <a:p>
            <a:r>
              <a:rPr lang="en-US" altLang="zh-CN" sz="3200" b="1">
                <a:latin typeface="Times New Roman" panose="02020603050405020304" charset="0"/>
                <a:cs typeface="Times New Roman" panose="02020603050405020304" charset="0"/>
              </a:rPr>
              <a:t>3. Safety property &amp; bad state</a:t>
            </a:r>
            <a:endParaRPr lang="en-US" altLang="zh-CN" sz="3200" b="1">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4" name="标题 1"/>
          <p:cNvSpPr>
            <a:spLocks noGrp="1"/>
          </p:cNvSpPr>
          <p:nvPr/>
        </p:nvSpPr>
        <p:spPr>
          <a:xfrm>
            <a:off x="611575" y="403295"/>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r>
              <a:rPr lang="en-US" altLang="zh-CN"/>
              <a:t>IC3</a:t>
            </a:r>
            <a:endParaRPr lang="en-US" altLang="zh-CN"/>
          </a:p>
        </p:txBody>
      </p:sp>
      <p:sp>
        <p:nvSpPr>
          <p:cNvPr id="2" name="文本框 1"/>
          <p:cNvSpPr txBox="1"/>
          <p:nvPr/>
        </p:nvSpPr>
        <p:spPr>
          <a:xfrm>
            <a:off x="612140" y="1384935"/>
            <a:ext cx="11818620" cy="4892675"/>
          </a:xfrm>
          <a:prstGeom prst="rect">
            <a:avLst/>
          </a:prstGeom>
          <a:noFill/>
        </p:spPr>
        <p:txBody>
          <a:bodyPr wrap="square" rtlCol="0" anchor="t">
            <a:spAutoFit/>
          </a:bodyPr>
          <a:p>
            <a:r>
              <a:rPr lang="en-US" altLang="zh-CN" sz="3200" b="1">
                <a:latin typeface="Times New Roman" panose="02020603050405020304" charset="0"/>
                <a:cs typeface="Times New Roman" panose="02020603050405020304" charset="0"/>
              </a:rPr>
              <a:t>4. inductive </a:t>
            </a:r>
            <a:r>
              <a:rPr lang="en-US" altLang="zh-CN" sz="3200" b="1">
                <a:latin typeface="Times New Roman" panose="02020603050405020304" charset="0"/>
                <a:cs typeface="Times New Roman" panose="02020603050405020304" charset="0"/>
              </a:rPr>
              <a:t>assertion —— F</a:t>
            </a:r>
            <a:endParaRPr lang="en-US" altLang="zh-CN" sz="3200" b="1">
              <a:latin typeface="Times New Roman" panose="02020603050405020304" charset="0"/>
              <a:cs typeface="Times New Roman" panose="02020603050405020304" charset="0"/>
            </a:endParaRPr>
          </a:p>
          <a:p>
            <a:pPr algn="l">
              <a:buClrTx/>
              <a:buSzTx/>
              <a:buNone/>
            </a:pPr>
            <a:r>
              <a:rPr lang="en-US" altLang="zh-CN"/>
              <a:t>	</a:t>
            </a:r>
            <a:r>
              <a:rPr lang="en-US" altLang="zh-CN" sz="3200">
                <a:latin typeface="Times New Roman" panose="02020603050405020304" charset="0"/>
                <a:cs typeface="Times New Roman" panose="02020603050405020304" charset="0"/>
              </a:rPr>
              <a:t>I⇒F </a:t>
            </a:r>
            <a:endParaRPr lang="en-US" altLang="zh-CN" sz="3200">
              <a:latin typeface="Times New Roman" panose="02020603050405020304" charset="0"/>
              <a:cs typeface="Times New Roman" panose="02020603050405020304" charset="0"/>
            </a:endParaRPr>
          </a:p>
          <a:p>
            <a:pPr algn="l">
              <a:buClrTx/>
              <a:buSzTx/>
              <a:buNone/>
            </a:pPr>
            <a:r>
              <a:rPr lang="en-US" altLang="zh-CN" sz="3200">
                <a:latin typeface="Times New Roman" panose="02020603050405020304" charset="0"/>
                <a:cs typeface="Times New Roman" panose="02020603050405020304" charset="0"/>
              </a:rPr>
              <a:t>	F∧T⇒F′</a:t>
            </a:r>
            <a:endParaRPr lang="en-US" altLang="zh-CN" sz="3200">
              <a:latin typeface="Times New Roman" panose="02020603050405020304" charset="0"/>
              <a:cs typeface="Times New Roman" panose="02020603050405020304" charset="0"/>
            </a:endParaRPr>
          </a:p>
          <a:p>
            <a:pPr algn="l">
              <a:buClrTx/>
              <a:buSzTx/>
              <a:buNone/>
            </a:pPr>
            <a:endParaRPr lang="en-US" altLang="zh-CN" sz="3200">
              <a:latin typeface="Times New Roman" panose="02020603050405020304" charset="0"/>
              <a:cs typeface="Times New Roman" panose="02020603050405020304" charset="0"/>
            </a:endParaRPr>
          </a:p>
          <a:p>
            <a:pPr algn="l">
              <a:buClrTx/>
              <a:buSzTx/>
              <a:buNone/>
            </a:pPr>
            <a:r>
              <a:rPr lang="en-US" altLang="zh-CN" sz="3200" b="1">
                <a:latin typeface="Times New Roman" panose="02020603050405020304" charset="0"/>
                <a:cs typeface="Times New Roman" panose="02020603050405020304" charset="0"/>
              </a:rPr>
              <a:t>5. inductive strengthening</a:t>
            </a:r>
            <a:endParaRPr lang="en-US" altLang="zh-CN" sz="3200" b="1">
              <a:latin typeface="Times New Roman" panose="02020603050405020304" charset="0"/>
              <a:cs typeface="Times New Roman" panose="02020603050405020304" charset="0"/>
            </a:endParaRPr>
          </a:p>
          <a:p>
            <a:pPr algn="l">
              <a:buClrTx/>
              <a:buSzTx/>
              <a:buNone/>
            </a:pPr>
            <a:r>
              <a:rPr lang="en-US" altLang="zh-CN" sz="3200" b="1">
                <a:latin typeface="Times New Roman" panose="02020603050405020304" charset="0"/>
                <a:cs typeface="Times New Roman" panose="02020603050405020304" charset="0"/>
              </a:rPr>
              <a:t>	</a:t>
            </a:r>
            <a:r>
              <a:rPr lang="en-US" altLang="zh-CN" sz="3200">
                <a:latin typeface="Times New Roman" panose="02020603050405020304" charset="0"/>
                <a:cs typeface="Times New Roman" panose="02020603050405020304" charset="0"/>
              </a:rPr>
              <a:t>F∧P</a:t>
            </a:r>
            <a:endParaRPr lang="en-US" altLang="zh-CN" sz="3200">
              <a:latin typeface="Times New Roman" panose="02020603050405020304" charset="0"/>
              <a:cs typeface="Times New Roman" panose="02020603050405020304" charset="0"/>
            </a:endParaRPr>
          </a:p>
          <a:p>
            <a:pPr algn="l">
              <a:buClrTx/>
              <a:buSzTx/>
              <a:buNone/>
            </a:pPr>
            <a:endParaRPr lang="en-US" altLang="zh-CN" sz="3200">
              <a:latin typeface="Times New Roman" panose="02020603050405020304" charset="0"/>
              <a:cs typeface="Times New Roman" panose="02020603050405020304" charset="0"/>
            </a:endParaRPr>
          </a:p>
          <a:p>
            <a:pPr algn="l">
              <a:buClrTx/>
              <a:buSzTx/>
              <a:buNone/>
            </a:pPr>
            <a:r>
              <a:rPr lang="en-US" altLang="zh-CN" sz="4400" b="1">
                <a:solidFill>
                  <a:srgbClr val="FF0000"/>
                </a:solidFill>
                <a:latin typeface="Times New Roman" panose="02020603050405020304" charset="0"/>
                <a:cs typeface="Times New Roman" panose="02020603050405020304" charset="0"/>
              </a:rPr>
              <a:t>IC3?		</a:t>
            </a:r>
            <a:endParaRPr lang="en-US" altLang="zh-CN" sz="4400" b="1">
              <a:solidFill>
                <a:srgbClr val="FF0000"/>
              </a:solidFill>
              <a:latin typeface="Times New Roman" panose="02020603050405020304" charset="0"/>
              <a:cs typeface="Times New Roman" panose="02020603050405020304" charset="0"/>
            </a:endParaRPr>
          </a:p>
          <a:p>
            <a:pPr algn="l">
              <a:buClrTx/>
              <a:buSzTx/>
              <a:buNone/>
            </a:pPr>
            <a:r>
              <a:rPr lang="en-US" altLang="zh-CN" sz="4400" b="1">
                <a:solidFill>
                  <a:srgbClr val="FF0000"/>
                </a:solidFill>
                <a:latin typeface="Times New Roman" panose="02020603050405020304" charset="0"/>
                <a:cs typeface="Times New Roman" panose="02020603050405020304" charset="0"/>
              </a:rPr>
              <a:t>property directed reachability (PDR)</a:t>
            </a:r>
            <a:endParaRPr lang="en-US" altLang="zh-CN" sz="4400" b="1">
              <a:solidFill>
                <a:srgbClr val="FF0000"/>
              </a:solidFill>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4" name="标题 1"/>
          <p:cNvSpPr>
            <a:spLocks noGrp="1"/>
          </p:cNvSpPr>
          <p:nvPr/>
        </p:nvSpPr>
        <p:spPr>
          <a:xfrm>
            <a:off x="682695" y="471875"/>
            <a:ext cx="10969200" cy="705600"/>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r>
              <a:rPr lang="en-US" altLang="zh-CN"/>
              <a:t>Contribution</a:t>
            </a:r>
            <a:endParaRPr lang="en-US" altLang="zh-CN"/>
          </a:p>
        </p:txBody>
      </p:sp>
      <p:sp>
        <p:nvSpPr>
          <p:cNvPr id="3" name="文本框 2"/>
          <p:cNvSpPr txBox="1"/>
          <p:nvPr/>
        </p:nvSpPr>
        <p:spPr>
          <a:xfrm>
            <a:off x="611505" y="1981200"/>
            <a:ext cx="11111865" cy="2306955"/>
          </a:xfrm>
          <a:prstGeom prst="rect">
            <a:avLst/>
          </a:prstGeom>
          <a:noFill/>
        </p:spPr>
        <p:txBody>
          <a:bodyPr wrap="square" rtlCol="0" anchor="t">
            <a:spAutoFit/>
          </a:bodyPr>
          <a:p>
            <a:r>
              <a:rPr lang="zh-CN" altLang="en-US" sz="3600"/>
              <a:t>In this paper, we explore PDR and try to understand the reason for its effectiveness. We propose a number of changes to the algorithm to improve its performance and to simplify its implementation.</a:t>
            </a:r>
            <a:endParaRPr lang="zh-CN" altLang="en-US" sz="360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5" name="标题 4"/>
          <p:cNvSpPr>
            <a:spLocks noGrp="1"/>
          </p:cNvSpPr>
          <p:nvPr>
            <p:ph type="title"/>
          </p:nvPr>
        </p:nvSpPr>
        <p:spPr/>
        <p:txBody>
          <a:bodyPr/>
          <a:p>
            <a:r>
              <a:rPr lang="en-US" altLang="zh-CN"/>
              <a:t>Preliminaries</a:t>
            </a:r>
            <a:endParaRPr lang="en-US" altLang="zh-CN"/>
          </a:p>
        </p:txBody>
      </p:sp>
      <p:sp>
        <p:nvSpPr>
          <p:cNvPr id="6" name="文本占位符 5"/>
          <p:cNvSpPr>
            <a:spLocks noGrp="1"/>
          </p:cNvSpPr>
          <p:nvPr>
            <p:ph type="body" sz="quarter" idx="13"/>
          </p:nvPr>
        </p:nvSpPr>
        <p:spPr/>
        <p:txBody>
          <a:bodyPr>
            <a:normAutofit lnSpcReduction="10000"/>
          </a:bodyPr>
          <a:p>
            <a:endParaRPr lang="zh-CN"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a:sym typeface="+mn-ea"/>
              </a:rPr>
              <a:t>PRELIMINARIES</a:t>
            </a:r>
            <a:endParaRPr lang="zh-CN" altLang="en-US" b="0"/>
          </a:p>
        </p:txBody>
      </p:sp>
      <p:sp>
        <p:nvSpPr>
          <p:cNvPr id="3" name="内容占位符 2"/>
          <p:cNvSpPr>
            <a:spLocks noGrp="1"/>
          </p:cNvSpPr>
          <p:nvPr>
            <p:ph idx="1"/>
          </p:nvPr>
        </p:nvSpPr>
        <p:spPr/>
        <p:txBody>
          <a:bodyPr/>
          <a:p>
            <a:pPr marL="457200" indent="-457200" algn="l">
              <a:lnSpc>
                <a:spcPct val="100000"/>
              </a:lnSpc>
              <a:buClrTx/>
              <a:buSzTx/>
              <a:buChar char="•"/>
            </a:pPr>
            <a:r>
              <a:rPr lang="en-US" altLang="zh-CN" sz="3200" spc="0">
                <a:solidFill>
                  <a:schemeClr val="tx1"/>
                </a:solidFill>
                <a:latin typeface="+mn-lt"/>
                <a:ea typeface="+mn-ea"/>
              </a:rPr>
              <a:t>FSM</a:t>
            </a:r>
            <a:endParaRPr lang="en-US" altLang="zh-CN" sz="3200" spc="0">
              <a:solidFill>
                <a:schemeClr val="tx1"/>
              </a:solidFill>
              <a:latin typeface="+mn-lt"/>
              <a:ea typeface="+mn-ea"/>
            </a:endParaRPr>
          </a:p>
          <a:p>
            <a:pPr marL="457200" indent="-457200" algn="l">
              <a:lnSpc>
                <a:spcPct val="100000"/>
              </a:lnSpc>
              <a:buClrTx/>
              <a:buSzTx/>
              <a:buChar char="•"/>
            </a:pPr>
            <a:r>
              <a:rPr lang="zh-CN" altLang="en-US" sz="3200" spc="0">
                <a:solidFill>
                  <a:srgbClr val="FF0000"/>
                </a:solidFill>
                <a:latin typeface="+mn-lt"/>
                <a:ea typeface="+mn-ea"/>
              </a:rPr>
              <a:t>literal  cube  clause  minterm</a:t>
            </a:r>
            <a:endParaRPr lang="zh-CN" altLang="en-US" sz="3200" spc="0">
              <a:solidFill>
                <a:srgbClr val="FF0000"/>
              </a:solidFill>
              <a:latin typeface="+mn-lt"/>
              <a:ea typeface="+mn-ea"/>
            </a:endParaRPr>
          </a:p>
        </p:txBody>
      </p:sp>
      <p:sp>
        <p:nvSpPr>
          <p:cNvPr id="4" name="文本框 3"/>
          <p:cNvSpPr txBox="1"/>
          <p:nvPr/>
        </p:nvSpPr>
        <p:spPr>
          <a:xfrm>
            <a:off x="5666740" y="3929380"/>
            <a:ext cx="2630170" cy="706755"/>
          </a:xfrm>
          <a:prstGeom prst="rect">
            <a:avLst/>
          </a:prstGeom>
          <a:noFill/>
        </p:spPr>
        <p:txBody>
          <a:bodyPr wrap="square" rtlCol="0" anchor="t">
            <a:spAutoFit/>
          </a:bodyPr>
          <a:p>
            <a:r>
              <a:rPr lang="zh-CN" altLang="en-US" sz="4000"/>
              <a:t>¬s=¬a∨b</a:t>
            </a:r>
            <a:endParaRPr lang="zh-CN" altLang="en-US" sz="4000"/>
          </a:p>
        </p:txBody>
      </p:sp>
      <p:sp>
        <p:nvSpPr>
          <p:cNvPr id="6" name="文本框 5"/>
          <p:cNvSpPr txBox="1"/>
          <p:nvPr/>
        </p:nvSpPr>
        <p:spPr>
          <a:xfrm>
            <a:off x="2312035" y="3929380"/>
            <a:ext cx="2787015" cy="706755"/>
          </a:xfrm>
          <a:prstGeom prst="rect">
            <a:avLst/>
          </a:prstGeom>
          <a:noFill/>
        </p:spPr>
        <p:txBody>
          <a:bodyPr wrap="square" rtlCol="0" anchor="t">
            <a:spAutoFit/>
          </a:bodyPr>
          <a:p>
            <a:r>
              <a:rPr lang="zh-CN" altLang="en-US" sz="4000"/>
              <a:t>s=a∧¬b</a:t>
            </a:r>
            <a:endParaRPr lang="zh-CN" altLang="en-US" sz="4000"/>
          </a:p>
        </p:txBody>
      </p:sp>
      <p:cxnSp>
        <p:nvCxnSpPr>
          <p:cNvPr id="7" name="直接箭头连接符 6"/>
          <p:cNvCxnSpPr/>
          <p:nvPr>
            <p:custDataLst>
              <p:tags r:id="rId1"/>
            </p:custDataLst>
          </p:nvPr>
        </p:nvCxnSpPr>
        <p:spPr>
          <a:xfrm flipH="1">
            <a:off x="2874010" y="2611755"/>
            <a:ext cx="13335" cy="1317625"/>
          </a:xfrm>
          <a:prstGeom prst="straightConnector1">
            <a:avLst/>
          </a:prstGeom>
          <a:ln w="38100" cmpd="sng">
            <a:solidFill>
              <a:schemeClr val="tx2"/>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4188460" y="2612390"/>
            <a:ext cx="2266315" cy="1316990"/>
          </a:xfrm>
          <a:prstGeom prst="straightConnector1">
            <a:avLst/>
          </a:prstGeom>
          <a:ln w="349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608330" y="4636135"/>
            <a:ext cx="11339830" cy="1076325"/>
          </a:xfrm>
          <a:prstGeom prst="rect">
            <a:avLst/>
          </a:prstGeom>
          <a:noFill/>
        </p:spPr>
        <p:txBody>
          <a:bodyPr wrap="square" rtlCol="0" anchor="t">
            <a:spAutoFit/>
          </a:bodyPr>
          <a:p>
            <a:pPr marL="457200" indent="-457200">
              <a:buFont typeface="Arial" panose="020B0604020202020204" pitchFamily="34" charset="0"/>
              <a:buChar char="•"/>
            </a:pPr>
            <a:r>
              <a:rPr lang="zh-CN" altLang="en-US" sz="3200"/>
              <a:t>FSM is represented </a:t>
            </a:r>
            <a:r>
              <a:rPr lang="zh-CN" altLang="en-US" sz="3200">
                <a:solidFill>
                  <a:srgbClr val="FF0000"/>
                </a:solidFill>
              </a:rPr>
              <a:t>symbolically </a:t>
            </a:r>
            <a:r>
              <a:rPr lang="en-US" altLang="zh-CN" sz="3200">
                <a:solidFill>
                  <a:schemeClr val="tx1"/>
                </a:solidFill>
              </a:rPr>
              <a:t>and can be translated into propositional logic for a SAT-solver.</a:t>
            </a:r>
            <a:endParaRPr lang="en-US" altLang="zh-CN" sz="3200">
              <a:solidFill>
                <a:schemeClr val="tx1"/>
              </a:solidFill>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down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176_1*b*1"/>
  <p:tag name="KSO_WM_TEMPLATE_CATEGORY" val="custom"/>
  <p:tag name="KSO_WM_TEMPLATE_INDEX" val="20205176"/>
  <p:tag name="KSO_WM_UNIT_LAYERLEVEL" val="1"/>
  <p:tag name="KSO_WM_TAG_VERSION" val="1.0"/>
  <p:tag name="KSO_WM_BEAUTIFY_FLAG" val="#wm#"/>
</p:tagLst>
</file>

<file path=ppt/tags/tag65.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BEAUTIFY_FLAG" val="#wm#"/>
  <p:tag name="KSO_WM_TEMPLATE_CATEGORY" val="custom"/>
  <p:tag name="KSO_WM_TEMPLATE_INDEX" val="20205176"/>
</p:tagLst>
</file>

<file path=ppt/tags/tag67.xml><?xml version="1.0" encoding="utf-8"?>
<p:tagLst xmlns:p="http://schemas.openxmlformats.org/presentationml/2006/main">
  <p:tag name="KSO_WM_BEAUTIFY_FLAG" val="#wm#"/>
  <p:tag name="KSO_WM_TEMPLATE_CATEGORY" val="custom"/>
  <p:tag name="KSO_WM_TEMPLATE_INDEX" val="20205176"/>
</p:tagLst>
</file>

<file path=ppt/tags/tag68.xml><?xml version="1.0" encoding="utf-8"?>
<p:tagLst xmlns:p="http://schemas.openxmlformats.org/presentationml/2006/main">
  <p:tag name="KSO_WM_BEAUTIFY_FLAG" val="#wm#"/>
  <p:tag name="KSO_WM_TEMPLATE_CATEGORY" val="custom"/>
  <p:tag name="KSO_WM_TEMPLATE_INDEX" val="20205176"/>
</p:tagLst>
</file>

<file path=ppt/tags/tag69.xml><?xml version="1.0" encoding="utf-8"?>
<p:tagLst xmlns:p="http://schemas.openxmlformats.org/presentationml/2006/main">
  <p:tag name="KSO_WM_BEAUTIFY_FLAG" val="#wm#"/>
  <p:tag name="KSO_WM_TEMPLATE_CATEGORY" val="custom"/>
  <p:tag name="KSO_WM_TEMPLATE_INDEX" val="20205176"/>
</p:tagLst>
</file>

<file path=ppt/tags/tag70.xml><?xml version="1.0" encoding="utf-8"?>
<p:tagLst xmlns:p="http://schemas.openxmlformats.org/presentationml/2006/main">
  <p:tag name="KSO_WM_BEAUTIFY_FLAG" val="#wm#"/>
  <p:tag name="KSO_WM_TEMPLATE_CATEGORY" val="custom"/>
  <p:tag name="KSO_WM_TEMPLATE_INDEX" val="20205176"/>
</p:tagLst>
</file>

<file path=ppt/tags/tag71.xml><?xml version="1.0" encoding="utf-8"?>
<p:tagLst xmlns:p="http://schemas.openxmlformats.org/presentationml/2006/main">
  <p:tag name="KSO_WM_BEAUTIFY_FLAG" val="#wm#"/>
  <p:tag name="KSO_WM_TEMPLATE_CATEGORY" val="custom"/>
  <p:tag name="KSO_WM_TEMPLATE_INDEX" val="20205176"/>
</p:tagLst>
</file>

<file path=ppt/tags/tag72.xml><?xml version="1.0" encoding="utf-8"?>
<p:tagLst xmlns:p="http://schemas.openxmlformats.org/presentationml/2006/main">
  <p:tag name="KSO_WM_UNIT_DIAGRAM_MODELTYPE" val="dynamicNum"/>
  <p:tag name="KSO_WM_BEAUTIFY_FLAG" val="#wm#"/>
  <p:tag name="KSO_WM_UNIT_TYPE" val="ζ_h_f"/>
  <p:tag name="KSO_WM_UNIT_DYNMNUM_TYPE" val="1"/>
  <p:tag name="KSO_WM_DYNAMICNUM_SPEED" val="3"/>
  <p:tag name="KSO_WM_UNIT_DYNMNUM_DGM_ANIMTYPE" val="5"/>
  <p:tag name="KSO_WM_UNIT_INDEX" val="1607334252861_1_1"/>
</p:tagLst>
</file>

<file path=ppt/tags/tag73.xml><?xml version="1.0" encoding="utf-8"?>
<p:tagLst xmlns:p="http://schemas.openxmlformats.org/presentationml/2006/main">
  <p:tag name="KSO_WM_BEAUTIFY_FLAG" val="#wm#"/>
  <p:tag name="KSO_WM_TEMPLATE_CATEGORY" val="custom"/>
  <p:tag name="KSO_WM_TEMPLATE_INDEX" val="20205176"/>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1254</Words>
  <Application>WPS 演示</Application>
  <PresentationFormat>宽屏</PresentationFormat>
  <Paragraphs>56</Paragraphs>
  <Slides>8</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vt:i4>
      </vt:variant>
    </vt:vector>
  </HeadingPairs>
  <TitlesOfParts>
    <vt:vector size="17" baseType="lpstr">
      <vt:lpstr>Arial</vt:lpstr>
      <vt:lpstr>宋体</vt:lpstr>
      <vt:lpstr>Wingdings</vt:lpstr>
      <vt:lpstr>微软雅黑</vt:lpstr>
      <vt:lpstr>Wingdings</vt:lpstr>
      <vt:lpstr>Times New Roman</vt:lpstr>
      <vt:lpstr>Arial Unicode MS</vt:lpstr>
      <vt:lpstr>Calibri</vt:lpstr>
      <vt:lpstr>Office 主题​​</vt:lpstr>
      <vt:lpstr>Efficient Implementation of Property Directed Reachability</vt:lpstr>
      <vt:lpstr>Introduction </vt:lpstr>
      <vt:lpstr>IC3</vt:lpstr>
      <vt:lpstr>PowerPoint 演示文稿</vt:lpstr>
      <vt:lpstr>PowerPoint 演示文稿</vt:lpstr>
      <vt:lpstr>PowerPoint 演示文稿</vt:lpstr>
      <vt:lpstr>Preliminaries</vt:lpstr>
      <vt:lpstr>PRELIMINARIES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wgl002</cp:lastModifiedBy>
  <cp:revision>192</cp:revision>
  <dcterms:created xsi:type="dcterms:W3CDTF">2019-06-19T02:08:00Z</dcterms:created>
  <dcterms:modified xsi:type="dcterms:W3CDTF">2020-12-10T11:28:06Z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2052-11.1.0.10132</vt:lpwstr>
  </property>
</Properties>
</file>