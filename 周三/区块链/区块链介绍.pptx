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60" r:id="rId3"/>
    <p:sldId id="361" r:id="rId5"/>
    <p:sldId id="371" r:id="rId6"/>
    <p:sldId id="373" r:id="rId7"/>
    <p:sldId id="374" r:id="rId8"/>
    <p:sldId id="362" r:id="rId9"/>
    <p:sldId id="369" r:id="rId10"/>
    <p:sldId id="370" r:id="rId11"/>
    <p:sldId id="375" r:id="rId1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242" autoAdjust="0"/>
  </p:normalViewPr>
  <p:slideViewPr>
    <p:cSldViewPr showGuides="1">
      <p:cViewPr varScale="1">
        <p:scale>
          <a:sx n="87" d="100"/>
          <a:sy n="87" d="100"/>
        </p:scale>
        <p:origin x="2304" y="78"/>
      </p:cViewPr>
      <p:guideLst>
        <p:guide orient="horz" pos="214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BF91-41CF-44DD-A8E8-21967EC003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Merkle tree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：一种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拜占庭将军：通信节点中一部分不可信任如何决策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：大整数素数分解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BF91-41CF-44DD-A8E8-21967EC003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BF91-41CF-44DD-A8E8-21967EC003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BF91-41CF-44DD-A8E8-21967EC003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BF91-41CF-44DD-A8E8-21967EC003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BF91-41CF-44DD-A8E8-21967EC003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BF91-41CF-44DD-A8E8-21967EC003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BF91-41CF-44DD-A8E8-21967EC003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276475"/>
            <a:ext cx="4032504" cy="38496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2276475"/>
            <a:ext cx="4032504" cy="38496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735" y="981075"/>
            <a:ext cx="2060178" cy="5145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61104" cy="51450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68313" y="981075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2276475"/>
            <a:ext cx="8229600" cy="38496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5183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1520" y="980728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什么是区块链</a:t>
            </a:r>
            <a:endParaRPr lang="zh-CN" altLang="en-US" sz="2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51520" y="1674811"/>
            <a:ext cx="78488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宋体" panose="02010600030101010101" pitchFamily="2" charset="-122"/>
              </a:rPr>
              <a:t>区块链是一种分布式账本技术，依靠智能合约等逻辑控制功能演变为完整的存储系统</a:t>
            </a:r>
            <a:r>
              <a:rPr lang="zh-CN" altLang="zh-CN" sz="2000" b="1" dirty="0">
                <a:latin typeface="宋体" panose="02010600030101010101" pitchFamily="2" charset="-122"/>
              </a:rPr>
              <a:t>。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zh-CN" sz="2000" b="1" dirty="0">
                <a:latin typeface="宋体" panose="02010600030101010101" pitchFamily="2" charset="-122"/>
              </a:rPr>
              <a:t>从本质上讲，它是一个共享数据库，存储于其中的数据或信息，具有</a:t>
            </a:r>
            <a:r>
              <a:rPr lang="en-US" altLang="zh-CN" sz="2000" b="1" dirty="0">
                <a:latin typeface="宋体" panose="02010600030101010101" pitchFamily="2" charset="-122"/>
              </a:rPr>
              <a:t>“</a:t>
            </a:r>
            <a:r>
              <a:rPr lang="zh-CN" altLang="zh-CN" sz="2000" b="1" dirty="0">
                <a:latin typeface="宋体" panose="02010600030101010101" pitchFamily="2" charset="-122"/>
              </a:rPr>
              <a:t>不可伪造</a:t>
            </a:r>
            <a:r>
              <a:rPr lang="en-US" altLang="zh-CN" sz="2000" b="1" dirty="0">
                <a:latin typeface="宋体" panose="02010600030101010101" pitchFamily="2" charset="-122"/>
              </a:rPr>
              <a:t>”“</a:t>
            </a:r>
            <a:r>
              <a:rPr lang="zh-CN" altLang="zh-CN" sz="2000" b="1" dirty="0">
                <a:latin typeface="宋体" panose="02010600030101010101" pitchFamily="2" charset="-122"/>
              </a:rPr>
              <a:t>全程留痕</a:t>
            </a:r>
            <a:r>
              <a:rPr lang="en-US" altLang="zh-CN" sz="2000" b="1" dirty="0">
                <a:latin typeface="宋体" panose="02010600030101010101" pitchFamily="2" charset="-122"/>
              </a:rPr>
              <a:t>”“</a:t>
            </a:r>
            <a:r>
              <a:rPr lang="zh-CN" altLang="zh-CN" sz="2000" b="1" dirty="0">
                <a:latin typeface="宋体" panose="02010600030101010101" pitchFamily="2" charset="-122"/>
              </a:rPr>
              <a:t>可以追溯</a:t>
            </a:r>
            <a:r>
              <a:rPr lang="en-US" altLang="zh-CN" sz="2000" b="1" dirty="0">
                <a:latin typeface="宋体" panose="02010600030101010101" pitchFamily="2" charset="-122"/>
              </a:rPr>
              <a:t>”“</a:t>
            </a:r>
            <a:r>
              <a:rPr lang="zh-CN" altLang="zh-CN" sz="2000" b="1" dirty="0">
                <a:latin typeface="宋体" panose="02010600030101010101" pitchFamily="2" charset="-122"/>
              </a:rPr>
              <a:t>公开透明</a:t>
            </a:r>
            <a:r>
              <a:rPr lang="en-US" altLang="zh-CN" sz="2000" b="1" dirty="0">
                <a:latin typeface="宋体" panose="02010600030101010101" pitchFamily="2" charset="-122"/>
              </a:rPr>
              <a:t>”“</a:t>
            </a:r>
            <a:r>
              <a:rPr lang="zh-CN" altLang="zh-CN" sz="2000" b="1" dirty="0">
                <a:latin typeface="宋体" panose="02010600030101010101" pitchFamily="2" charset="-122"/>
              </a:rPr>
              <a:t>集体维护</a:t>
            </a:r>
            <a:r>
              <a:rPr lang="en-US" altLang="zh-CN" sz="2000" b="1" dirty="0">
                <a:latin typeface="宋体" panose="02010600030101010101" pitchFamily="2" charset="-122"/>
              </a:rPr>
              <a:t>”</a:t>
            </a:r>
            <a:r>
              <a:rPr lang="zh-CN" altLang="zh-CN" sz="2000" b="1" dirty="0">
                <a:latin typeface="宋体" panose="02010600030101010101" pitchFamily="2" charset="-122"/>
              </a:rPr>
              <a:t>等特征。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1520" y="3642890"/>
            <a:ext cx="78488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区块链中，交易信息以一个个信息块的形式记录，这些块以链条方式，按时间顺序连接起来。新生成的交易信息记录块，不断地被加到区块链中。</a:t>
            </a:r>
            <a:endParaRPr lang="zh-CN" altLang="en-US" sz="2000" dirty="0"/>
          </a:p>
          <a:p>
            <a:br>
              <a:rPr lang="zh-CN" altLang="en-US" sz="2000" dirty="0"/>
            </a:b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4458498"/>
            <a:ext cx="5103663" cy="1829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85"/>
    </mc:Choice>
    <mc:Fallback>
      <p:transition spd="slow" advTm="1608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5183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51520" y="980728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区块链的发展史</a:t>
            </a:r>
            <a:endParaRPr lang="zh-CN" altLang="en-US" sz="2800" b="1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51"/>
          <a:stretch>
            <a:fillRect/>
          </a:stretch>
        </p:blipFill>
        <p:spPr>
          <a:xfrm>
            <a:off x="5720" y="1503949"/>
            <a:ext cx="9144000" cy="43733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85"/>
    </mc:Choice>
    <mc:Fallback>
      <p:transition spd="slow" advTm="1608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5183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51520" y="980728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区块链的发展史</a:t>
            </a:r>
            <a:endParaRPr lang="zh-CN" altLang="en-US" sz="2800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24"/>
          <a:stretch>
            <a:fillRect/>
          </a:stretch>
        </p:blipFill>
        <p:spPr>
          <a:xfrm>
            <a:off x="12738" y="1503949"/>
            <a:ext cx="9144000" cy="47333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85"/>
    </mc:Choice>
    <mc:Fallback>
      <p:transition spd="slow" advTm="1608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5183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51520" y="980728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区块链的发展史</a:t>
            </a:r>
            <a:endParaRPr lang="zh-CN" altLang="en-US" sz="2800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18"/>
          <a:stretch>
            <a:fillRect/>
          </a:stretch>
        </p:blipFill>
        <p:spPr>
          <a:xfrm>
            <a:off x="31197" y="1663859"/>
            <a:ext cx="9144000" cy="42854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85"/>
    </mc:Choice>
    <mc:Fallback>
      <p:transition spd="slow" advTm="1608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5183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51520" y="980728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区块链的发展史</a:t>
            </a:r>
            <a:endParaRPr lang="zh-CN" altLang="en-US" sz="28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81"/>
          <a:stretch>
            <a:fillRect/>
          </a:stretch>
        </p:blipFill>
        <p:spPr>
          <a:xfrm>
            <a:off x="0" y="1561880"/>
            <a:ext cx="9144000" cy="4963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85"/>
    </mc:Choice>
    <mc:Fallback>
      <p:transition spd="slow" advTm="1608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5183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51520" y="980728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区块链的五大特性</a:t>
            </a:r>
            <a:endParaRPr lang="zh-CN" altLang="en-US" sz="2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251520" y="1674811"/>
            <a:ext cx="784887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宋体" panose="02010600030101010101" pitchFamily="2" charset="-122"/>
              </a:rPr>
              <a:t>去中心化：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r>
              <a:rPr lang="zh-CN" altLang="en-US" sz="2000" dirty="0"/>
              <a:t>     区块链最大的特性是“去中心化”，去中心化意味着所有操作都</a:t>
            </a:r>
            <a:r>
              <a:rPr lang="en-US" altLang="zh-CN" sz="2000" dirty="0"/>
              <a:t>   </a:t>
            </a:r>
            <a:r>
              <a:rPr lang="zh-CN" altLang="en-US" sz="2000" dirty="0"/>
              <a:t>部署在分布式账本上，而不再部署在中心化机构的服务器上。通俗来说，去中心化就是无需第三方介入，任何人都可以访问整个数据库及其完整的历史记录，实现人与人、点对点的交易和互动。</a:t>
            </a:r>
            <a:endParaRPr lang="en-US" altLang="zh-CN" sz="2000" dirty="0"/>
          </a:p>
          <a:p>
            <a:endParaRPr lang="en-US" altLang="zh-CN" sz="2000" dirty="0">
              <a:latin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宋体" panose="02010600030101010101" pitchFamily="2" charset="-122"/>
              </a:rPr>
              <a:t>不可篡改：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r>
              <a:rPr lang="zh-CN" altLang="en-US" sz="2000" dirty="0"/>
              <a:t>     由于采用密码学原理将数据上链，且后一个区块包含前一个区块的时间戳，按时间顺序排序，因此区块链可以具备不可篡改或者篡改成本非常高的特性。不可篡改意味着一旦数据写入到区块链 </a:t>
            </a:r>
            <a:r>
              <a:rPr lang="en-US" altLang="zh-CN" sz="2000" dirty="0"/>
              <a:t>,</a:t>
            </a:r>
            <a:r>
              <a:rPr lang="zh-CN" altLang="en-US" sz="2000" dirty="0"/>
              <a:t>任何人都无法轻易擅自更改数据信息。</a:t>
            </a:r>
            <a:endParaRPr lang="en-US" altLang="zh-CN" sz="2000" dirty="0"/>
          </a:p>
          <a:p>
            <a:r>
              <a:rPr lang="zh-CN" altLang="en-US" sz="2000" dirty="0"/>
              <a:t>       只有掌握整个系统</a:t>
            </a:r>
            <a:r>
              <a:rPr lang="en-US" altLang="zh-CN" sz="2000" dirty="0"/>
              <a:t>51%</a:t>
            </a:r>
            <a:r>
              <a:rPr lang="zh-CN" altLang="en-US" sz="2000" dirty="0"/>
              <a:t>节点，才能对区块链信息进行篡改。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algn="just"/>
            <a:r>
              <a:rPr lang="en-US" altLang="zh-CN" sz="2000" dirty="0"/>
              <a:t>     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85"/>
    </mc:Choice>
    <mc:Fallback>
      <p:transition spd="slow" advTm="1608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5183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51520" y="980728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区块链的五大特性</a:t>
            </a:r>
            <a:endParaRPr lang="zh-CN" altLang="en-US" sz="2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251520" y="1674811"/>
            <a:ext cx="784887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宋体" panose="02010600030101010101" pitchFamily="2" charset="-122"/>
              </a:rPr>
              <a:t>可追溯：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r>
              <a:rPr lang="zh-CN" altLang="en-US" sz="2000" dirty="0"/>
              <a:t>    区块链本身是一个块链式数据结构，链上的信息依据时间顺序环环相扣，这就使得区块链具有可追溯性。运用到生活上，就是产品的种植、生产、运输、销售、监管等所有信息均被记录在区块链上。一旦发生任何问题，就可以往前追溯，检测每个环节，以确保产品的安全性。</a:t>
            </a:r>
            <a:endParaRPr lang="en-US" altLang="zh-CN" sz="2000" dirty="0"/>
          </a:p>
          <a:p>
            <a:endParaRPr lang="en-US" altLang="zh-CN" sz="2000" dirty="0">
              <a:latin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宋体" panose="02010600030101010101" pitchFamily="2" charset="-122"/>
              </a:rPr>
              <a:t>开放性：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r>
              <a:rPr lang="zh-CN" altLang="en-US" sz="2000" dirty="0"/>
              <a:t>     由于区块链是去中心化的，所有网络节点都可以参与区块链网络数据的记录维护。这要求区块链网络必须是开放的。区块链网络只有开放了，才能保证所有人都可以参与进来，才能保证数据的安全性。</a:t>
            </a:r>
            <a:endParaRPr lang="zh-CN" altLang="en-US" sz="2000" dirty="0"/>
          </a:p>
          <a:p>
            <a:r>
              <a:rPr lang="zh-CN" altLang="en-US" sz="2000" dirty="0"/>
              <a:t>区块链数据记录和运行规则可以被全网节点审查、追溯</a:t>
            </a:r>
            <a:r>
              <a:rPr lang="en-US" altLang="zh-CN" sz="2000" dirty="0"/>
              <a:t>,</a:t>
            </a:r>
            <a:r>
              <a:rPr lang="zh-CN" altLang="en-US" sz="2000" dirty="0"/>
              <a:t>具有很高的透明度。区块链公有链就是充分展示区块链开放透明的例子。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algn="just"/>
            <a:r>
              <a:rPr lang="en-US" altLang="zh-CN" sz="2000" dirty="0"/>
              <a:t>     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85"/>
    </mc:Choice>
    <mc:Fallback>
      <p:transition spd="slow" advTm="1608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5183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51520" y="980728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区块链的五大特性</a:t>
            </a:r>
            <a:endParaRPr lang="zh-CN" altLang="en-US" sz="2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251520" y="1674811"/>
            <a:ext cx="78488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u"/>
            </a:pPr>
            <a:r>
              <a:rPr lang="zh-CN" altLang="en-US" sz="2000" dirty="0"/>
              <a:t>匿名性：</a:t>
            </a:r>
            <a:endParaRPr lang="en-US" altLang="zh-CN" sz="2000" dirty="0"/>
          </a:p>
          <a:p>
            <a:pPr algn="just"/>
            <a:r>
              <a:rPr lang="zh-CN" altLang="en-US" sz="2000" dirty="0"/>
              <a:t>     如果说去中心化是很多人了解区块链的动力，那么匿名性则是很多人选择区块链的重要原因。区块链运用哈希运算、非对称加密、私钥公钥等密码学手段，在实现数据完全开放的前提下，保护个人交易隐私。</a:t>
            </a:r>
            <a:endParaRPr lang="en-US" altLang="zh-CN" sz="2000" dirty="0"/>
          </a:p>
          <a:p>
            <a:pPr algn="just"/>
            <a:r>
              <a:rPr lang="zh-CN" altLang="en-US" sz="2000" dirty="0"/>
              <a:t>      区块链的匿名性目前也屡受质疑，原因是部分不法分子利用区块链开展洗钱、资产盗取等非法行为，但由于区块链具备匿名性，仅通过地址无法获知不法分子相关身份信息，导致不法分子可以不被发现、逍遥法外，引发监管难题。目前各大项目均通过加强技术防范，降低甚至避免不法行为的发生。 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85"/>
    </mc:Choice>
    <mc:Fallback>
      <p:transition spd="slow" advTm="1608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520" y="980728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区块链的设计思想</a:t>
            </a:r>
            <a:endParaRPr lang="zh-CN" altLang="en-US" sz="2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79512" y="1772816"/>
            <a:ext cx="82089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000" dirty="0"/>
              <a:t>共识机制。共识机制是指定义共识过程的算法、协议和规则，区块链的共识机制具备“少数服从多数”以及“人人平等”的特点。</a:t>
            </a:r>
            <a:endParaRPr lang="en-US" altLang="zh-CN" sz="2000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20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000" dirty="0"/>
              <a:t>密码学原理。在区块链技术中应用了大量的密码学的知识，如：公钥、私钥、哈希、对称加密、非对称加密、同态加密、签名、零知识证明等。</a:t>
            </a:r>
            <a:endParaRPr lang="en-US" altLang="zh-CN" sz="2000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2000" dirty="0"/>
          </a:p>
          <a:p>
            <a:pPr marL="285750" indent="-285750" algn="just">
              <a:buFont typeface="Wingdings" panose="05000000000000000000" pitchFamily="2" charset="2"/>
              <a:buChar char="u"/>
            </a:pPr>
            <a:r>
              <a:rPr lang="zh-CN" altLang="en-US" sz="2000" dirty="0"/>
              <a:t>分布式存储。一是区块链每个节点都按照块链式结构存储完整的数据，二是区块链每个节点存储都是独立的、地位等同的，依靠共识机制保证存储的一致性。</a:t>
            </a:r>
            <a:endParaRPr lang="zh-CN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1226</Words>
  <Application>WPS 演示</Application>
  <PresentationFormat>全屏显示(4:3)</PresentationFormat>
  <Paragraphs>51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华东师范大学生命科学学院</dc:title>
  <dc:creator>liuhuan</dc:creator>
  <cp:lastModifiedBy>Tangerine</cp:lastModifiedBy>
  <cp:revision>32</cp:revision>
  <dcterms:created xsi:type="dcterms:W3CDTF">2011-06-14T05:49:00Z</dcterms:created>
  <dcterms:modified xsi:type="dcterms:W3CDTF">2021-01-05T09:50:04Z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